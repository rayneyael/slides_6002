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3" r:id="rId3"/>
    <p:sldId id="264" r:id="rId5"/>
    <p:sldId id="265" r:id="rId6"/>
    <p:sldId id="256" r:id="rId7"/>
    <p:sldId id="257" r:id="rId8"/>
    <p:sldId id="258" r:id="rId9"/>
    <p:sldId id="259" r:id="rId10"/>
    <p:sldId id="260" r:id="rId11"/>
    <p:sldId id="261" r:id="rId12"/>
    <p:sldId id="262"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6858000" cy="9144000"/>
  <p:custDataLst>
    <p:tags r:id="rId30"/>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ableStyles" Target="tableStyles.xml"/><Relationship Id="rId30"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Title slide. Text-only cover by design: no data graphic here, only the framing question and the one number the whole deck investigates. Group 30.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Contents slide. Section names match the banner on every later slide, so the audience can map any page back to this overview.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Motivation: despite three decades of climate attention, the sample-wide fossil CO2 total still grew 63.8% between 1992 and 2021 (21.97 to 35.98 Gt). This slide poses the investigative question chain that structures the whole deck; the maroon-framed Q4 is the managerial question the Visual Storytelling section answers. Design rationale: two high-salience stat cards establish the contradiction before any methodology, and the numbered chain previews the four analytical stages.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slide establishes the provenance of the analytical panel. OWID is the backbone because it provides consistent country-year coverage for population, total CO₂ and per-capita emissions. Global Carbon Budget 2022 (v27) is used only to supplement coal, oil and gas components when those fields are missing in OWID. The visual separates the roles of the two sources and makes the no-overwrite rule explicit. This improves traceability but does not make the sources conceptually identical; definitions and coverage can still vary by entity and year. Generative AI supported slide composition and wording; the source data and calculations were checked against the project README.</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Our World in Data CO₂ Data; Global Carbon Budget 2022 (v27); Final_data/README.md.</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process diagram explains how the sources become an analysis-ready panel. We restrict the study to 1992–2021, retain valid ISO rows and harmonise ISO-3 and year keys. A left join keeps the OWID backbone, while GCB values fill only missing fuel components. We then remove records without required core or growth fields, derive fuel shares and quality flags, and verify key uniqueness. The result contains 6,378 country-year rows, 213 entities, 30 years and 22 fields; 50.8% of rows receive at least one supplemented fuel value. The panel is intentionally unbalanced. Generative AI supported composition; the workflow and counts follow the project README.</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Final_data/README.md and the merged country-year panel.</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The paired line charts are appropriate because they compare change through time while preserving the distinct units of total and per-capita emissions. From 1992 to 2021, aggregate CO₂ increased from 21.97 to 35.98 Gt, a 63.8% rise. Per-capita emissions increased from about 4.00 to 4.53 tonnes per person, or 13.3%. The contrast shows that growth in global scale was much stronger than growth in individual intensity. Separate vertical scales prevent the smaller per-capita series from being visually flattened. These are panel aggregates rather than a causal decomposition. Generative AI supported placement and explanatory wording; the temporal chart was supplied by the teammate responsible for temporal analysis.</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1992–2021; temporal analysis figure supplied by REYIZA RESIBIEKE.</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scatter plot separates two temporal dimensions for each country: the x-axis is the long-term log trend, and the y-axis is the recent trend minus the long-term trend. Countries in the upper-right combine sustained growth with recent acceleration; countries in the lower-right still have positive long-run growth but are slowing relative to that baseline. Filled and outlined squares distinguish the direction of the per-capita trend. The examples illustrate why one start-to-end change cannot represent timing and momentum simultaneously. Extreme values and short or incomplete series require caution. Generative AI supported slide composition; the plotted temporal results were supplied by the teammate responsible for temporal analysis.</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temporal trend figure supplied by REYIZA RESIBIEKE.</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The treemap is suited to a part-to-whole question: rectangle area encodes each country’s share of 2021 total CO₂, while colour groups countries by region. Asia accounts for 59.8% of the total, China alone for 31.4%, and the twenty largest emitters together for 81.2%. This concentration means that global totals are driven by a relatively small set of countries, but area does not express per-capita responsibility or historical contribution. Very small countries are intentionally unlabeled because the available area is insufficient. Generative AI supported slide composition and wording; the underlying visualization was created from the merged project data.</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2021; project treemap figure.</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map combines two complementary encodings. Land colour represents per-capita CO₂, while vertical bars represent total national emissions; reading both avoids treating national scale and individual intensity as the same concept. China dominates total emissions, whereas Qatar is a high-intensity example despite a much smaller national total. Of 213 entities in the panel, 169 match Natural Earth 110m polygons, covering approximately 99.6% of mapped emissions. Small islands and territories may therefore be absent from land fill. Bar height is comparative rather than a literal geographic measurement. Generative AI supported slide composition; the map was generated from the merged project data.</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2021; Natural Earth 110m; project scale-versus-intensity map.</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sz="1100">
                <a:latin typeface="Arial Narrow"/>
                <a:ea typeface="Arial Narrow"/>
                <a:cs typeface="Arial Narrow"/>
              </a:rPr>
              <a:t>This map shows the dominant fossil-fuel component for each country in 2021: coal, oil or gas. The pie charts add the actual three-fuel shares for selected major emitters, preventing a single dominant-fuel label from hiding mixed national structures. Coal dependence is prominent across much of Asia, oil dominates many countries in Africa, the Middle East and the Americas, and gas is prominent in Russia and parts of Central Asia. Fuel shares describe composition, not total magnitude, and coverage varies across small entities. Generative AI supported slide composition and wording; the map was generated from the merged project data.</a:t>
            </a:r>
            <a:endParaRPr sz="1100">
              <a:latin typeface="Arial Narrow"/>
              <a:ea typeface="Arial Narrow"/>
              <a:cs typeface="Arial Narrow"/>
            </a:endParaRPr>
          </a:p>
          <a:p>
            <a:endParaRPr sz="1100"/>
          </a:p>
          <a:p>
            <a:r>
              <a:rPr sz="1100">
                <a:latin typeface="Arial Narrow"/>
                <a:ea typeface="Arial Narrow"/>
                <a:cs typeface="Arial Narrow"/>
              </a:rPr>
              <a:t>[Sources]</a:t>
            </a:r>
            <a:endParaRPr sz="1100">
              <a:latin typeface="Arial Narrow"/>
              <a:ea typeface="Arial Narrow"/>
              <a:cs typeface="Arial Narrow"/>
            </a:endParaRPr>
          </a:p>
          <a:p>
            <a:r>
              <a:rPr sz="1100">
                <a:latin typeface="Arial Narrow"/>
                <a:ea typeface="Arial Narrow"/>
                <a:cs typeface="Arial Narrow"/>
              </a:rPr>
              <a:t>- Final merged panel, 2021; project dominant-fuel map.</a:t>
            </a:r>
            <a:endParaRPr sz="1100">
              <a:latin typeface="Arial Narrow"/>
              <a:ea typeface="Arial Narrow"/>
              <a:cs typeface="Arial Narrow"/>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funnel defines the modelling sample and makes every exclusion traceable: from 6,378 country-year rows (213 entities) we remove 16 micro states and 4 entities without a complete 1992-2021 history, leaving 193 modelled countries. Design rationale: a narrowing funnel encodes attrition visually; exclusion reasons sit next to the counts so the audience can audit the sample. Source: cohort_audit.csv from our pipeline.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Feature engineering turns each 30-year history into 11 comparable features in four blocks: level (log recent per-capita CO2), direction (long-term slope, recent slope, acceleration), timing (volatility, peak timing, post-peak change) and fuel shift (coal/gas shares and their change). Deliberate exclusion: total emissions and population are NOT features - size must not decide the grouping; size returns only when we interpret the pathways in Visual Storytelling. Design rationale: four parallel cards mirror the four feature families so the audience learns the feature grammar once.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pipeline is deliberately fixed end-to-end so every later figure traces back to one model run: panel -&gt; 193 eleven-feature profiles -&gt; RobustScaler -&gt; PCA (4 components, 87.41% cumulative variance) -&gt; K-means compared over K = 2-8 (n_init = 50, seed = 42). GMM soft membership and 100 x 80% subsampling are validation instruments drawn outside the main flow. Design rationale: a left-to-right pipeline matches reading order; the amber validation boxes hang below to show they check the model rather than train it.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 was chosen by evidence, not convenience: silhouette (0.486, highest), Davies-Bouldin (0.865, lowest) and Calinski-Harabasz (98.3, highest) all rank K = 2 first across K = 2-8. Inertia is plotted for completeness only because it mechanically decreases with K. Design rationale: three small-multiple panels share one x-axis so the same dashed marker at K = 2 can be compared across criteria at a glance. Source: k_selection_metrics.csv.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 PCA projection checks whether the K = 2 structure is real in the feature space rather than an artefact of the algorithm. The amber rapid-growth pathway (24 countries) forms a compact group clearly offset from the broader steel-blue plateauing/slowdown pathway (169). Dark rings flag the 10 boundary countries whose membership is uncertain. Caveat stated on-slide: clustering ran on 4 components (87.41% variance); PC1+PC2 alone show 70.8%, so this view is illustrative. Design rationale: colour encodes only pathway membership; a third visual channel (ring) carries uncertainty instead of a third colour.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full K = 2-8 comparison table lets the audience verify the K choice themselves; each column header states the direction of 'better'. We explicitly state why supervised metrics are not applicable - clustering has no ground-truth labels, so internal validity (this slide) plus stability and membership uncertainty (next slide) carry the evaluation. Design rationale: the selected row uses the deck's maroon accent to pull the eye to the decision before the supporting rows are read. Source: k_selection_metrics.csv.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Stability was tested with 100 refits on 80% country subsamples (scaling, PCA and K-means re-estimated each time): median ARI 0.965 against the full-sample labels, so the macro split is not an initialisation artefact. A GMM fitted on the same PCA space adds soft membership probabilities: median confidence 98.7%, and exactly 10 countries fall below 0.70 - these become the 'boundary countries' carried into Visual Storytelling. Design rationale: histogram plus sorted dot plot show the full distributions rather than a single summary statistic. Sources: stability_results.csv, gmm_membership_probabilities.csv.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stacked area on the left decomposes the rising sample total: the plateauing pathway is the thick base that carries 92.2% of 2017-2021 emissions, while the rapid-growth band is thin but grew far faster (+198% versus +58% since 1992). The right panel shows the two transition shapes: the plateauing pathway peaks around 2009 and flattens, the rapid-growth pathway is still climbing with a median peak only in 2018. Pathways are empirical patterns in the sample window - not country rankings, not predictions. Fuel shares are the median country-level CO2-source shares inside each pathway - the typical country, not the pathway aggregate: weighted by emissions the two pathways look similar (coal 48% vs 44% of 2017-2021 fossil CO2), because a few large coal economies sit inside the plateauing pathway. Design rationale: the figure carries the argument and the two strips below only quantify it, so this page is evidence-led rather than text-led. Sources: co2_panel_1992_2021.csv, cluster_profiles.csv.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Each country is plotted by current burden (x: average annual fossil CO2 2017-2021, log scale) against recent momentum (y: 2012-2021 log-slope of per-capita CO2, % per year); colour is the validated pathway and dark rings are boundary countries. Reading: upper right = burden AND growth (double attention); upper left = future pressure; lower right = today's mitigation lever. Both single-lens failures are stated on the slide. Bubble area is deliberately NOT reused for emissions because the x-axis already carries it.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frozen K = 2 labels are projected onto the world map using only the two pathway colours; boundary countries get a dark outline instead of a third colour, and grey countries were not modelled (micro states or incomplete histories). Geography was never a model feature - this map shows where the data-driven pathways happen to fall. Twenty-eight small island or city-state members (27 plateauing, 1 rapid-growth) are invisible at this 1:110m base-map scale. Design rationale: the same basemap family and legend style as the exploration maps keeps the spatial language consistent. Source: country_features_with_clusters.csv + Natural Earth 110m.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closing storytelling page joins the spatial and the managerial argument. The map reuses the spatial team's centroid method (CO2-weighted country centroids, code/瑞庭_绘图/scripts/_render_p3_trajectory_revised.py) but replaces continents with the two validated pathways: the overall centre of gravity moves from 15E to 44E, the plateauing centre follows it, and the rapid-growth centre sits in South/Southeast Asia the whole time while its total grows +198%. The table then converts pathways into monitoring instructions: growth, fuel shares, peak timing and lock-in for the rapid-growth pathway; absolute decline for the plateauing pathway; data quality and membership stability for boundary countries. Positions are plotted at true coordinates with no magnification.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Conclusions avoid repeating earlier slides and instead summarise the contribution: one rising sample total was decomposed into two validated transition pressures plus an explicitly uncertain boundary set, each with its own monitoring implication. Novelty: the trajectory-profile feature design and the stability-checked use of K-means as a screening device for management attention. Limits are stated plainly: exploratory, non-causal, non-predictive.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Acknowledgements slide. It credits the course, the open-source toolchain and the generative-AI assistance, and lists the six references cited on the slides: the two data sources, the basemap, the clustering library and the two cluster-validity papers behind the silhouette and ARI diagnostics. Generative AI acknowledgement: ChatGPT (OpenAI) assisted with Python code for figure generation and slide assembly; all data processing, model results, and interpretation are the group's own work.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idx="10"/>
          </p:nvPr>
        </p:nvSpPr>
        <p:spPr/>
        <p:txBody>
          <a:bodyPr/>
          <a:lstStyle/>
          <a:p>
            <a:fld id="{54D28968-2D6D-48A2-B9D0-F55DF243ED4A}"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228C1780-0C29-4D1C-AB97-38613CB3A71B}"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a:fld id="{1E6AE7E8-3716-469C-989E-87A700822FC8}"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a:fld id="{6C0DE861-2440-4F5E-88B3-6FDE4E57ECD4}" type="datetime1">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a:xfrm>
            <a:off x="839788" y="365125"/>
            <a:ext cx="10515600" cy="1325563"/>
          </a:xfrm>
        </p:spPr>
        <p:txBody>
          <a:bodyPr/>
          <a:lstStyle/>
          <a:p>
            <a:r>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a:fld id="{1F805EA7-111E-4CDD-9BA2-5013606D53E8}" type="datetime1">
              <a:rPr/>
            </a:fld>
            <a:endParaRPr/>
          </a:p>
        </p:txBody>
      </p:sp>
      <p:sp>
        <p:nvSpPr>
          <p:cNvPr id="8" name="Footer Placeholder 7"/>
          <p:cNvSpPr>
            <a:spLocks noGrp="1"/>
          </p:cNvSpPr>
          <p:nvPr>
            <p:ph type="ftr" idx="11"/>
          </p:nvPr>
        </p:nvSpPr>
        <p:spPr/>
        <p:txBody>
          <a:bodyPr/>
          <a:lstStyle/>
          <a:p/>
        </p:txBody>
      </p:sp>
      <p:sp>
        <p:nvSpPr>
          <p:cNvPr id="9" name="Slide Number Placeholder 8"/>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a:fld id="{A16C0091-ECFB-4ECB-BB63-5B53D407EE7E}" type="datetime1">
              <a:rPr/>
            </a:fld>
            <a:endParaRPr/>
          </a:p>
        </p:txBody>
      </p:sp>
      <p:sp>
        <p:nvSpPr>
          <p:cNvPr id="4" name="Footer Placeholder 3"/>
          <p:cNvSpPr>
            <a:spLocks noGrp="1"/>
          </p:cNvSpPr>
          <p:nvPr>
            <p:ph type="ftr" idx="11"/>
          </p:nvPr>
        </p:nvSpPr>
        <p:spPr/>
        <p:txBody>
          <a:bodyPr/>
          <a:lstStyle/>
          <a:p/>
        </p:txBody>
      </p:sp>
      <p:sp>
        <p:nvSpPr>
          <p:cNvPr id="5" name="Slide Number Placeholder 4"/>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p:txBody>
          <a:bodyPr/>
          <a:lstStyle/>
          <a:p>
            <a:fld id="{B1DFA363-8673-4E94-B192-6D142E51F388}" type="datetime1">
              <a:rPr/>
            </a:fld>
            <a:endParaRPr/>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C2ADB4DB-8147-4901-B0BF-07F7F41BD534}" type="datetime1">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a:fld id="{546F6B78-6B32-470A-8391-BA66CA49170D}" type="datetime1">
              <a:rPr/>
            </a:fld>
            <a:endParaRPr/>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16FCA152-08ED-4419-B653-34979455CF6A}"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a:fld id="{463BF55D-C37F-422E-A25A-70054E1EEFAD}" type="datetime1">
              <a:rPr/>
            </a:fld>
            <a:endParaRPr/>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a:fld id="{C55F2AC1-5349-40F4-976A-E0D325BAD41D}"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C552A40C-D177-43C1-8C81-1F22F41E983D}" type="datetime1">
              <a:rPr/>
            </a:fld>
            <a:endParaRPr/>
          </a:p>
        </p:txBody>
      </p:sp>
      <p:sp>
        <p:nvSpPr>
          <p:cNvPr id="5" name="Footer Placeholder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Slide Number Placeholder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55F2AC1-5349-40F4-976A-E0D325BAD41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15.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6.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7.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8.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9.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0.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3.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5" name="Picture 4" descr="art_hills.png"/>
          <p:cNvPicPr>
            <a:picLocks noChangeAspect="1"/>
          </p:cNvPicPr>
          <p:nvPr/>
        </p:nvPicPr>
        <p:blipFill>
          <a:blip r:embed="rId1"/>
          <a:stretch>
            <a:fillRect/>
          </a:stretch>
        </p:blipFill>
        <p:spPr>
          <a:xfrm>
            <a:off x="0" y="5074920"/>
            <a:ext cx="12192000" cy="1280160"/>
          </a:xfrm>
          <a:prstGeom prst="rect">
            <a:avLst/>
          </a:prstGeom>
        </p:spPr>
      </p:pic>
      <p:sp>
        <p:nvSpPr>
          <p:cNvPr id="6" name="Rectangle 5"/>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7" name="Picture 6" descr="ntu_logo.png"/>
          <p:cNvPicPr>
            <a:picLocks noChangeAspect="1"/>
          </p:cNvPicPr>
          <p:nvPr/>
        </p:nvPicPr>
        <p:blipFill>
          <a:blip r:embed="rId2"/>
          <a:stretch>
            <a:fillRect/>
          </a:stretch>
        </p:blipFill>
        <p:spPr>
          <a:xfrm>
            <a:off x="292608" y="6364224"/>
            <a:ext cx="1133856" cy="457200"/>
          </a:xfrm>
          <a:prstGeom prst="rect">
            <a:avLst/>
          </a:prstGeom>
        </p:spPr>
      </p:pic>
      <p:sp>
        <p:nvSpPr>
          <p:cNvPr id="8" name="Rectangle 7"/>
          <p:cNvSpPr/>
          <p:nvPr/>
        </p:nvSpPr>
        <p:spPr>
          <a:xfrm>
            <a:off x="0" y="0"/>
            <a:ext cx="12192000" cy="310896"/>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Rectangle 8"/>
          <p:cNvSpPr/>
          <p:nvPr/>
        </p:nvSpPr>
        <p:spPr>
          <a:xfrm>
            <a:off x="502920" y="960120"/>
            <a:ext cx="68580" cy="3291840"/>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0" name="anim_1"/>
          <p:cNvSpPr txBox="1"/>
          <p:nvPr/>
        </p:nvSpPr>
        <p:spPr>
          <a:xfrm>
            <a:off x="777240" y="932688"/>
            <a:ext cx="6035040" cy="32918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F5248"/>
                </a:solidFill>
                <a:latin typeface="Times New Roman" panose="02020603050405020304"/>
              </a:rPr>
              <a:t>CA6002  ·  AI UX &amp; DATA VISUALISATION</a:t>
            </a:r>
            <a:endParaRPr sz="1450" b="1">
              <a:solidFill>
                <a:srgbClr val="2F5248"/>
              </a:solidFill>
              <a:latin typeface="Times New Roman" panose="02020603050405020304"/>
            </a:endParaRPr>
          </a:p>
        </p:txBody>
      </p:sp>
      <p:sp>
        <p:nvSpPr>
          <p:cNvPr id="11" name="anim_2"/>
          <p:cNvSpPr txBox="1"/>
          <p:nvPr/>
        </p:nvSpPr>
        <p:spPr>
          <a:xfrm>
            <a:off x="777240" y="1261872"/>
            <a:ext cx="6035040" cy="1051560"/>
          </a:xfrm>
          <a:prstGeom prst="rect">
            <a:avLst/>
          </a:prstGeom>
          <a:noFill/>
          <a:ln>
            <a:noFill/>
          </a:ln>
          <a:effectLst/>
        </p:spPr>
        <p:txBody>
          <a:bodyPr wrap="square" lIns="45720" tIns="18288" rIns="45720" bIns="18288" anchor="t">
            <a:spAutoFit/>
          </a:bodyPr>
          <a:lstStyle/>
          <a:p>
            <a:pPr algn="l">
              <a:lnSpc>
                <a:spcPct val="95000"/>
              </a:lnSpc>
              <a:defRPr>
                <a:latin typeface="Times New Roman" panose="02020603050405020304"/>
              </a:defRPr>
            </a:pPr>
            <a:r>
              <a:rPr sz="3200" b="1">
                <a:solidFill>
                  <a:srgbClr val="252B30"/>
                </a:solidFill>
                <a:latin typeface="Georgia" panose="02040502050405020303"/>
              </a:rPr>
              <a:t>Investigating Country</a:t>
            </a:r>
            <a:endParaRPr sz="3200" b="1">
              <a:solidFill>
                <a:srgbClr val="252B30"/>
              </a:solidFill>
              <a:latin typeface="Georgia" panose="02040502050405020303"/>
            </a:endParaRPr>
          </a:p>
          <a:p>
            <a:pPr algn="l">
              <a:lnSpc>
                <a:spcPct val="95000"/>
              </a:lnSpc>
              <a:defRPr>
                <a:latin typeface="Times New Roman" panose="02020603050405020304"/>
              </a:defRPr>
            </a:pPr>
            <a:r>
              <a:rPr sz="3200" b="1">
                <a:solidFill>
                  <a:srgbClr val="252B30"/>
                </a:solidFill>
                <a:latin typeface="Georgia" panose="02040502050405020303"/>
              </a:rPr>
              <a:t>Carbon Emission Patterns</a:t>
            </a:r>
            <a:endParaRPr sz="3200" b="1">
              <a:solidFill>
                <a:srgbClr val="252B30"/>
              </a:solidFill>
              <a:latin typeface="Georgia" panose="02040502050405020303"/>
            </a:endParaRPr>
          </a:p>
        </p:txBody>
      </p:sp>
      <p:sp>
        <p:nvSpPr>
          <p:cNvPr id="12" name="anim_3"/>
          <p:cNvSpPr txBox="1"/>
          <p:nvPr/>
        </p:nvSpPr>
        <p:spPr>
          <a:xfrm>
            <a:off x="777240" y="2304288"/>
            <a:ext cx="603504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2F5248"/>
                </a:solidFill>
                <a:latin typeface="Times New Roman" panose="02020603050405020304"/>
              </a:rPr>
              <a:t>- one rising total, two transition pathways</a:t>
            </a:r>
            <a:endParaRPr sz="2100" b="1">
              <a:solidFill>
                <a:srgbClr val="2F5248"/>
              </a:solidFill>
              <a:latin typeface="Times New Roman" panose="02020603050405020304"/>
            </a:endParaRPr>
          </a:p>
        </p:txBody>
      </p:sp>
      <p:sp>
        <p:nvSpPr>
          <p:cNvPr id="13" name="anim_4"/>
          <p:cNvSpPr/>
          <p:nvPr/>
        </p:nvSpPr>
        <p:spPr>
          <a:xfrm>
            <a:off x="777240" y="2907792"/>
            <a:ext cx="1371600" cy="41148"/>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4" name="anim_5"/>
          <p:cNvSpPr txBox="1"/>
          <p:nvPr/>
        </p:nvSpPr>
        <p:spPr>
          <a:xfrm>
            <a:off x="777240" y="3231261"/>
            <a:ext cx="5760720" cy="6045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50" b="0">
                <a:solidFill>
                  <a:srgbClr val="252B30"/>
                </a:solidFill>
                <a:latin typeface="Times New Roman" panose="02020603050405020304"/>
              </a:rPr>
              <a:t>Fossil CO2 of 193 countries</a:t>
            </a:r>
            <a:r>
              <a:rPr lang="en-US" sz="1850" b="0">
                <a:solidFill>
                  <a:srgbClr val="252B30"/>
                </a:solidFill>
                <a:latin typeface="Times New Roman" panose="02020603050405020304"/>
              </a:rPr>
              <a:t> </a:t>
            </a:r>
            <a:r>
              <a:rPr sz="1850">
                <a:solidFill>
                  <a:srgbClr val="252B30"/>
                </a:solidFill>
                <a:sym typeface="+mn-ea"/>
              </a:rPr>
              <a:t>rose</a:t>
            </a:r>
            <a:r>
              <a:rPr lang="en-US" sz="1850">
                <a:solidFill>
                  <a:srgbClr val="252B30"/>
                </a:solidFill>
                <a:sym typeface="+mn-ea"/>
              </a:rPr>
              <a:t> </a:t>
            </a:r>
            <a:r>
              <a:rPr sz="1850" b="1">
                <a:solidFill>
                  <a:srgbClr val="2F5248"/>
                </a:solidFill>
                <a:sym typeface="+mn-ea"/>
              </a:rPr>
              <a:t>63.8%</a:t>
            </a:r>
            <a:r>
              <a:rPr sz="1850" b="0">
                <a:solidFill>
                  <a:srgbClr val="252B30"/>
                </a:solidFill>
                <a:latin typeface="Times New Roman" panose="02020603050405020304"/>
              </a:rPr>
              <a:t>, 1992-2021: does one shared trajectory explain the rise?</a:t>
            </a:r>
            <a:endParaRPr sz="1600" b="0">
              <a:solidFill>
                <a:srgbClr val="6E7672"/>
              </a:solidFill>
              <a:latin typeface="Times New Roman" panose="02020603050405020304"/>
            </a:endParaRPr>
          </a:p>
        </p:txBody>
      </p:sp>
      <p:pic>
        <p:nvPicPr>
          <p:cNvPr id="15" name="anim_6" descr="art_sky.png"/>
          <p:cNvPicPr>
            <a:picLocks noChangeAspect="1"/>
          </p:cNvPicPr>
          <p:nvPr/>
        </p:nvPicPr>
        <p:blipFill>
          <a:blip r:embed="rId3"/>
          <a:stretch>
            <a:fillRect/>
          </a:stretch>
        </p:blipFill>
        <p:spPr>
          <a:xfrm>
            <a:off x="7726679" y="502920"/>
            <a:ext cx="4023360" cy="2011680"/>
          </a:xfrm>
          <a:prstGeom prst="rect">
            <a:avLst/>
          </a:prstGeom>
        </p:spPr>
      </p:pic>
      <p:pic>
        <p:nvPicPr>
          <p:cNvPr id="16" name="anim_7" descr="art_plant.png"/>
          <p:cNvPicPr>
            <a:picLocks noChangeAspect="1"/>
          </p:cNvPicPr>
          <p:nvPr/>
        </p:nvPicPr>
        <p:blipFill>
          <a:blip r:embed="rId4"/>
          <a:stretch>
            <a:fillRect/>
          </a:stretch>
        </p:blipFill>
        <p:spPr>
          <a:xfrm>
            <a:off x="960120" y="4754880"/>
            <a:ext cx="2468880" cy="1517904"/>
          </a:xfrm>
          <a:prstGeom prst="rect">
            <a:avLst/>
          </a:prstGeom>
        </p:spPr>
      </p:pic>
      <p:pic>
        <p:nvPicPr>
          <p:cNvPr id="17" name="anim_8" descr="art_smoke1.png"/>
          <p:cNvPicPr>
            <a:picLocks noChangeAspect="1"/>
          </p:cNvPicPr>
          <p:nvPr/>
        </p:nvPicPr>
        <p:blipFill>
          <a:blip r:embed="rId5"/>
          <a:stretch>
            <a:fillRect/>
          </a:stretch>
        </p:blipFill>
        <p:spPr>
          <a:xfrm>
            <a:off x="2057400" y="4306824"/>
            <a:ext cx="475488" cy="729081"/>
          </a:xfrm>
          <a:prstGeom prst="rect">
            <a:avLst/>
          </a:prstGeom>
        </p:spPr>
      </p:pic>
      <p:pic>
        <p:nvPicPr>
          <p:cNvPr id="18" name="anim_9" descr="art_smoke2.png"/>
          <p:cNvPicPr>
            <a:picLocks noChangeAspect="1"/>
          </p:cNvPicPr>
          <p:nvPr/>
        </p:nvPicPr>
        <p:blipFill>
          <a:blip r:embed="rId6"/>
          <a:stretch>
            <a:fillRect/>
          </a:stretch>
        </p:blipFill>
        <p:spPr>
          <a:xfrm>
            <a:off x="2345436" y="4654296"/>
            <a:ext cx="411480" cy="630936"/>
          </a:xfrm>
          <a:prstGeom prst="rect">
            <a:avLst/>
          </a:prstGeom>
        </p:spPr>
      </p:pic>
      <p:pic>
        <p:nvPicPr>
          <p:cNvPr id="19" name="anim_10" descr="art_smoke3.png"/>
          <p:cNvPicPr>
            <a:picLocks noChangeAspect="1"/>
          </p:cNvPicPr>
          <p:nvPr/>
        </p:nvPicPr>
        <p:blipFill>
          <a:blip r:embed="rId7"/>
          <a:stretch>
            <a:fillRect/>
          </a:stretch>
        </p:blipFill>
        <p:spPr>
          <a:xfrm>
            <a:off x="2587752" y="4928616"/>
            <a:ext cx="365760" cy="560832"/>
          </a:xfrm>
          <a:prstGeom prst="rect">
            <a:avLst/>
          </a:prstGeom>
        </p:spPr>
      </p:pic>
      <p:sp>
        <p:nvSpPr>
          <p:cNvPr id="20" name="anim_11"/>
          <p:cNvSpPr txBox="1"/>
          <p:nvPr/>
        </p:nvSpPr>
        <p:spPr>
          <a:xfrm>
            <a:off x="6903720" y="1920240"/>
            <a:ext cx="4572000" cy="1691640"/>
          </a:xfrm>
          <a:prstGeom prst="rect">
            <a:avLst/>
          </a:prstGeom>
          <a:noFill/>
          <a:ln>
            <a:noFill/>
          </a:ln>
          <a:effectLst/>
        </p:spPr>
        <p:txBody>
          <a:bodyPr wrap="none" lIns="0" tIns="0" rIns="0" bIns="0">
            <a:spAutoFit/>
          </a:bodyPr>
          <a:lstStyle/>
          <a:p>
            <a:pPr algn="ctr">
              <a:defRPr>
                <a:latin typeface="Times New Roman" panose="02020603050405020304"/>
              </a:defRPr>
            </a:pPr>
            <a:r>
              <a:rPr sz="13200" b="1">
                <a:ln w="12700">
                  <a:solidFill>
                    <a:srgbClr val="FFFFFF"/>
                  </a:solidFill>
                </a:ln>
                <a:gradFill>
                  <a:gsLst>
                    <a:gs pos="0">
                      <a:srgbClr val="769682"/>
                    </a:gs>
                    <a:gs pos="100000">
                      <a:srgbClr val="2F5248"/>
                    </a:gs>
                  </a:gsLst>
                  <a:lin ang="5400000" scaled="0"/>
                </a:gradFill>
                <a:effectLst>
                  <a:outerShdw blurRad="50800" dist="25400" dir="2700000" algn="tl" rotWithShape="0">
                    <a:srgbClr val="1F2A24">
                      <a:alpha val="20000"/>
                    </a:srgbClr>
                  </a:outerShdw>
                </a:effectLst>
                <a:latin typeface="Georgia" panose="02040502050405020303"/>
              </a:rPr>
              <a:t>CO</a:t>
            </a:r>
            <a:r>
              <a:rPr sz="8185" b="1" baseline="-25000">
                <a:ln w="12700">
                  <a:solidFill>
                    <a:srgbClr val="FFFFFF"/>
                  </a:solidFill>
                </a:ln>
                <a:gradFill>
                  <a:gsLst>
                    <a:gs pos="0">
                      <a:srgbClr val="769682"/>
                    </a:gs>
                    <a:gs pos="100000">
                      <a:srgbClr val="2F5248"/>
                    </a:gs>
                  </a:gsLst>
                  <a:lin ang="5400000" scaled="0"/>
                </a:gradFill>
                <a:effectLst>
                  <a:outerShdw blurRad="50800" dist="25400" dir="2700000" algn="tl" rotWithShape="0">
                    <a:srgbClr val="1F2A24">
                      <a:alpha val="20000"/>
                    </a:srgbClr>
                  </a:outerShdw>
                </a:effectLst>
                <a:latin typeface="Georgia" panose="02040502050405020303"/>
              </a:rPr>
              <a:t>2</a:t>
            </a:r>
            <a:endParaRPr sz="8185" b="1" baseline="-25000">
              <a:ln w="12700">
                <a:solidFill>
                  <a:srgbClr val="FFFFFF"/>
                </a:solidFill>
              </a:ln>
              <a:gradFill>
                <a:gsLst>
                  <a:gs pos="0">
                    <a:srgbClr val="769682"/>
                  </a:gs>
                  <a:gs pos="100000">
                    <a:srgbClr val="2F5248"/>
                  </a:gs>
                </a:gsLst>
                <a:lin ang="5400000" scaled="0"/>
              </a:gradFill>
              <a:effectLst>
                <a:outerShdw blurRad="50800" dist="25400" dir="2700000" algn="tl" rotWithShape="0">
                  <a:srgbClr val="1F2A24">
                    <a:alpha val="20000"/>
                  </a:srgbClr>
                </a:outerShdw>
              </a:effectLst>
              <a:latin typeface="Georgia" panose="02040502050405020303"/>
            </a:endParaRPr>
          </a:p>
        </p:txBody>
      </p:sp>
      <p:grpSp>
        <p:nvGrpSpPr>
          <p:cNvPr id="2" name="组合 1"/>
          <p:cNvGrpSpPr/>
          <p:nvPr/>
        </p:nvGrpSpPr>
        <p:grpSpPr>
          <a:xfrm>
            <a:off x="6697980" y="4154170"/>
            <a:ext cx="4983480" cy="1417320"/>
            <a:chOff x="10512" y="6883"/>
            <a:chExt cx="7848" cy="2232"/>
          </a:xfrm>
        </p:grpSpPr>
        <p:sp>
          <p:nvSpPr>
            <p:cNvPr id="22" name="anim_13"/>
            <p:cNvSpPr/>
            <p:nvPr/>
          </p:nvSpPr>
          <p:spPr>
            <a:xfrm>
              <a:off x="10512" y="6883"/>
              <a:ext cx="7848" cy="2232"/>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3" name="anim_14"/>
            <p:cNvSpPr txBox="1"/>
            <p:nvPr/>
          </p:nvSpPr>
          <p:spPr>
            <a:xfrm>
              <a:off x="10829" y="7085"/>
              <a:ext cx="7272" cy="18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2F5248"/>
                  </a:solidFill>
                  <a:latin typeface="Times New Roman" panose="02020603050405020304"/>
                </a:rPr>
                <a:t>Group 30</a:t>
              </a:r>
              <a:endParaRPr sz="2100" b="1">
                <a:solidFill>
                  <a:srgbClr val="2F5248"/>
                </a:solidFill>
                <a:latin typeface="Times New Roman" panose="02020603050405020304"/>
              </a:endParaRPr>
            </a:p>
            <a:p>
              <a:pPr algn="l">
                <a:spcBef>
                  <a:spcPts val="500"/>
                </a:spcBef>
                <a:defRPr>
                  <a:latin typeface="Times New Roman" panose="02020603050405020304"/>
                </a:defRPr>
              </a:pPr>
              <a:r>
                <a:rPr sz="1500" b="1">
                  <a:solidFill>
                    <a:srgbClr val="252B30"/>
                  </a:solidFill>
                  <a:latin typeface="Times New Roman" panose="02020603050405020304"/>
                </a:rPr>
                <a:t>RAN CHANGMING  ·  REN SIYU  ·  REYIZA RESIBIEKE  ·  SHEN RUITING</a:t>
              </a:r>
              <a:endParaRPr sz="1500" b="1">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6E7672"/>
                  </a:solidFill>
                  <a:latin typeface="Times New Roman" panose="02020603050405020304"/>
                </a:rPr>
                <a:t>Nanyang Technological University  ·  Group Assignment</a:t>
              </a:r>
              <a:endParaRPr sz="1450" b="0">
                <a:solidFill>
                  <a:srgbClr val="6E7672"/>
                </a:solidFill>
                <a:latin typeface="Times New Roman" panose="02020603050405020304"/>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600"/>
                                        <p:tgtEl>
                                          <p:spTgt spid="10"/>
                                        </p:tgtEl>
                                      </p:cBhvr>
                                    </p:animEffect>
                                  </p:childTnLst>
                                </p:cTn>
                              </p:par>
                              <p:par>
                                <p:cTn id="8" presetID="10" presetClass="entr" presetSubtype="0" fill="hold" grpId="0" nodeType="withEffect">
                                  <p:stCondLst>
                                    <p:cond delay="44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600"/>
                                        <p:tgtEl>
                                          <p:spTgt spid="11"/>
                                        </p:tgtEl>
                                      </p:cBhvr>
                                    </p:animEffect>
                                  </p:childTnLst>
                                </p:cTn>
                              </p:par>
                              <p:par>
                                <p:cTn id="11" presetID="10" presetClass="entr" presetSubtype="0" fill="hold" grpId="0" nodeType="withEffect">
                                  <p:stCondLst>
                                    <p:cond delay="68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600"/>
                                        <p:tgtEl>
                                          <p:spTgt spid="12"/>
                                        </p:tgtEl>
                                      </p:cBhvr>
                                    </p:animEffect>
                                  </p:childTnLst>
                                </p:cTn>
                              </p:par>
                              <p:par>
                                <p:cTn id="14" presetID="10" presetClass="entr" presetSubtype="0" fill="hold" grpId="0" nodeType="withEffect">
                                  <p:stCondLst>
                                    <p:cond delay="92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600"/>
                                        <p:tgtEl>
                                          <p:spTgt spid="13"/>
                                        </p:tgtEl>
                                      </p:cBhvr>
                                    </p:animEffect>
                                  </p:childTnLst>
                                </p:cTn>
                              </p:par>
                              <p:par>
                                <p:cTn id="17" presetID="10" presetClass="entr" presetSubtype="0" fill="hold" grpId="0" nodeType="withEffect">
                                  <p:stCondLst>
                                    <p:cond delay="116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600"/>
                                        <p:tgtEl>
                                          <p:spTgt spid="14"/>
                                        </p:tgtEl>
                                      </p:cBhvr>
                                    </p:animEffect>
                                  </p:childTnLst>
                                </p:cTn>
                              </p:par>
                            </p:childTnLst>
                          </p:cTn>
                        </p:par>
                        <p:par>
                          <p:cTn id="20" fill="hold">
                            <p:stCondLst>
                              <p:cond delay="1200"/>
                            </p:stCondLst>
                            <p:childTnLst>
                              <p:par>
                                <p:cTn id="21" presetID="10" presetClass="entr" presetSubtype="0" fill="hold" grpId="0" nodeType="afterEffect">
                                  <p:stCondLst>
                                    <p:cond delay="15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700"/>
                                        <p:tgtEl>
                                          <p:spTgt spid="15"/>
                                        </p:tgtEl>
                                      </p:cBhvr>
                                    </p:animEffect>
                                  </p:childTnLst>
                                </p:cTn>
                              </p:par>
                            </p:childTnLst>
                          </p:cTn>
                        </p:par>
                        <p:par>
                          <p:cTn id="24" fill="hold">
                            <p:stCondLst>
                              <p:cond delay="2350"/>
                            </p:stCondLst>
                            <p:childTnLst>
                              <p:par>
                                <p:cTn id="25" presetID="10" presetClass="entr" presetSubtype="0" fill="hold" grpId="0" nodeType="afterEffect">
                                  <p:stCondLst>
                                    <p:cond delay="150"/>
                                  </p:stCondLst>
                                  <p:childTnLst>
                                    <p:set>
                                      <p:cBhvr>
                                        <p:cTn id="26" dur="1" fill="hold">
                                          <p:stCondLst>
                                            <p:cond delay="0"/>
                                          </p:stCondLst>
                                        </p:cTn>
                                        <p:tgtEl>
                                          <p:spTgt spid="16"/>
                                        </p:tgtEl>
                                        <p:attrNameLst>
                                          <p:attrName>style.visibility</p:attrName>
                                        </p:attrNameLst>
                                      </p:cBhvr>
                                      <p:to>
                                        <p:strVal val="visible"/>
                                      </p:to>
                                    </p:set>
                                    <p:animEffect transition="in" filter="wipe(up)">
                                      <p:cBhvr>
                                        <p:cTn id="27" dur="700"/>
                                        <p:tgtEl>
                                          <p:spTgt spid="16"/>
                                        </p:tgtEl>
                                      </p:cBhvr>
                                    </p:animEffect>
                                  </p:childTnLst>
                                </p:cTn>
                              </p:par>
                            </p:childTnLst>
                          </p:cTn>
                        </p:par>
                        <p:par>
                          <p:cTn id="28" fill="hold">
                            <p:stCondLst>
                              <p:cond delay="3500"/>
                            </p:stCondLst>
                            <p:childTnLst>
                              <p:par>
                                <p:cTn id="29" presetID="10" presetClass="entr" presetSubtype="0" fill="hold" grpId="0" nodeType="afterEffect">
                                  <p:stCondLst>
                                    <p:cond delay="150"/>
                                  </p:stCondLst>
                                  <p:childTnLst>
                                    <p:set>
                                      <p:cBhvr>
                                        <p:cTn id="30" dur="1" fill="hold">
                                          <p:stCondLst>
                                            <p:cond delay="0"/>
                                          </p:stCondLst>
                                        </p:cTn>
                                        <p:tgtEl>
                                          <p:spTgt spid="17"/>
                                        </p:tgtEl>
                                        <p:attrNameLst>
                                          <p:attrName>style.visibility</p:attrName>
                                        </p:attrNameLst>
                                      </p:cBhvr>
                                      <p:to>
                                        <p:strVal val="visible"/>
                                      </p:to>
                                    </p:set>
                                    <p:animEffect transition="in" filter="wipe(up)">
                                      <p:cBhvr>
                                        <p:cTn id="31" dur="900"/>
                                        <p:tgtEl>
                                          <p:spTgt spid="17"/>
                                        </p:tgtEl>
                                      </p:cBhvr>
                                    </p:animEffect>
                                  </p:childTnLst>
                                </p:cTn>
                              </p:par>
                              <p:par>
                                <p:cTn id="32" presetID="10" presetClass="entr" presetSubtype="0" fill="hold" grpId="0" nodeType="withEffect">
                                  <p:stCondLst>
                                    <p:cond delay="450"/>
                                  </p:stCondLst>
                                  <p:childTnLst>
                                    <p:set>
                                      <p:cBhvr>
                                        <p:cTn id="33" dur="1" fill="hold">
                                          <p:stCondLst>
                                            <p:cond delay="0"/>
                                          </p:stCondLst>
                                        </p:cTn>
                                        <p:tgtEl>
                                          <p:spTgt spid="18"/>
                                        </p:tgtEl>
                                        <p:attrNameLst>
                                          <p:attrName>style.visibility</p:attrName>
                                        </p:attrNameLst>
                                      </p:cBhvr>
                                      <p:to>
                                        <p:strVal val="visible"/>
                                      </p:to>
                                    </p:set>
                                    <p:animEffect transition="in" filter="wipe(up)">
                                      <p:cBhvr>
                                        <p:cTn id="34" dur="900"/>
                                        <p:tgtEl>
                                          <p:spTgt spid="18"/>
                                        </p:tgtEl>
                                      </p:cBhvr>
                                    </p:animEffect>
                                  </p:childTnLst>
                                </p:cTn>
                              </p:par>
                              <p:par>
                                <p:cTn id="35" presetID="10" presetClass="entr" presetSubtype="0" fill="hold" grpId="0" nodeType="withEffect">
                                  <p:stCondLst>
                                    <p:cond delay="750"/>
                                  </p:stCondLst>
                                  <p:childTnLst>
                                    <p:set>
                                      <p:cBhvr>
                                        <p:cTn id="36" dur="1" fill="hold">
                                          <p:stCondLst>
                                            <p:cond delay="0"/>
                                          </p:stCondLst>
                                        </p:cTn>
                                        <p:tgtEl>
                                          <p:spTgt spid="19"/>
                                        </p:tgtEl>
                                        <p:attrNameLst>
                                          <p:attrName>style.visibility</p:attrName>
                                        </p:attrNameLst>
                                      </p:cBhvr>
                                      <p:to>
                                        <p:strVal val="visible"/>
                                      </p:to>
                                    </p:set>
                                    <p:animEffect transition="in" filter="wipe(up)">
                                      <p:cBhvr>
                                        <p:cTn id="37" dur="900"/>
                                        <p:tgtEl>
                                          <p:spTgt spid="19"/>
                                        </p:tgtEl>
                                      </p:cBhvr>
                                    </p:animEffect>
                                  </p:childTnLst>
                                </p:cTn>
                              </p:par>
                            </p:childTnLst>
                          </p:cTn>
                        </p:par>
                        <p:par>
                          <p:cTn id="38" fill="hold">
                            <p:stCondLst>
                              <p:cond delay="4650"/>
                            </p:stCondLst>
                            <p:childTnLst>
                              <p:par>
                                <p:cTn id="39" presetID="10" presetClass="entr" presetSubtype="0" fill="hold" grpId="0" nodeType="afterEffect">
                                  <p:stCondLst>
                                    <p:cond delay="15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23647"/>
            <a:ext cx="9966960" cy="430530"/>
          </a:xfrm>
          <a:prstGeom prst="rect">
            <a:avLst/>
          </a:prstGeom>
          <a:noFill/>
          <a:ln>
            <a:noFill/>
          </a:ln>
          <a:effectLst/>
        </p:spPr>
        <p:txBody>
          <a:bodyPr wrap="square" lIns="0" tIns="0" bIns="0" anchor="ctr">
            <a:spAutoFit/>
          </a:bodyPr>
          <a:lstStyle/>
          <a:p>
            <a:pPr algn="l">
              <a:spcBef>
                <a:spcPts val="200"/>
              </a:spcBef>
              <a:defRPr>
                <a:latin typeface="Times New Roman" panose="02020603050405020304"/>
              </a:defRPr>
            </a:pPr>
            <a:r>
              <a:rPr sz="2800" b="1">
                <a:solidFill>
                  <a:srgbClr val="FFFFFF"/>
                </a:solidFill>
                <a:latin typeface="Georgia" panose="02040502050405020303"/>
              </a:rPr>
              <a:t>Contents</a:t>
            </a:r>
            <a:endParaRPr sz="2800" b="1">
              <a:solidFill>
                <a:srgbClr val="FFFFFF"/>
              </a:solidFill>
              <a:latin typeface="Georgia" panose="02040502050405020303"/>
            </a:endParaRPr>
          </a:p>
        </p:txBody>
      </p:sp>
      <p:sp>
        <p:nvSpPr>
          <p:cNvPr id="10" name="TextBox 9"/>
          <p:cNvSpPr txBox="1"/>
          <p:nvPr/>
        </p:nvSpPr>
        <p:spPr>
          <a:xfrm>
            <a:off x="777240" y="969264"/>
            <a:ext cx="10607040" cy="31089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F5248"/>
                </a:solidFill>
                <a:latin typeface="Times New Roman" panose="02020603050405020304"/>
              </a:rPr>
              <a:t>Six blocks, one question: </a:t>
            </a:r>
            <a:r>
              <a:rPr sz="1450" b="0">
                <a:solidFill>
                  <a:srgbClr val="252B30"/>
                </a:solidFill>
                <a:latin typeface="Times New Roman" panose="02020603050405020304"/>
              </a:rPr>
              <a:t>covered fossil CO2 kept rising for 30 years - one shared trajectory, or several transition pathways?</a:t>
            </a:r>
            <a:endParaRPr sz="1450" b="0">
              <a:solidFill>
                <a:srgbClr val="252B30"/>
              </a:solidFill>
              <a:latin typeface="Times New Roman" panose="02020603050405020304"/>
            </a:endParaRPr>
          </a:p>
        </p:txBody>
      </p:sp>
      <p:sp>
        <p:nvSpPr>
          <p:cNvPr id="11" name="Rounded Rectangle 10"/>
          <p:cNvSpPr/>
          <p:nvPr/>
        </p:nvSpPr>
        <p:spPr>
          <a:xfrm>
            <a:off x="777240" y="1353312"/>
            <a:ext cx="10607040" cy="694944"/>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2" name="Rectangle 11"/>
          <p:cNvSpPr/>
          <p:nvPr/>
        </p:nvSpPr>
        <p:spPr>
          <a:xfrm>
            <a:off x="777240" y="1353312"/>
            <a:ext cx="64008" cy="69494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3" name="TextBox 12"/>
          <p:cNvSpPr txBox="1"/>
          <p:nvPr/>
        </p:nvSpPr>
        <p:spPr>
          <a:xfrm>
            <a:off x="987552" y="1444752"/>
            <a:ext cx="548640" cy="502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2F5248"/>
                </a:solidFill>
                <a:latin typeface="Times New Roman" panose="02020603050405020304"/>
              </a:rPr>
              <a:t>1</a:t>
            </a:r>
            <a:endParaRPr sz="2100" b="1">
              <a:solidFill>
                <a:srgbClr val="2F5248"/>
              </a:solidFill>
              <a:latin typeface="Times New Roman" panose="02020603050405020304"/>
            </a:endParaRPr>
          </a:p>
        </p:txBody>
      </p:sp>
      <p:sp>
        <p:nvSpPr>
          <p:cNvPr id="14" name="TextBox 13"/>
          <p:cNvSpPr txBox="1"/>
          <p:nvPr/>
        </p:nvSpPr>
        <p:spPr>
          <a:xfrm>
            <a:off x="1600200" y="1399032"/>
            <a:ext cx="566928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00" b="1">
                <a:solidFill>
                  <a:srgbClr val="252B30"/>
                </a:solidFill>
                <a:latin typeface="Times New Roman" panose="02020603050405020304"/>
              </a:rPr>
              <a:t>Introduction</a:t>
            </a:r>
            <a:endParaRPr sz="1800" b="1">
              <a:solidFill>
                <a:srgbClr val="252B30"/>
              </a:solidFill>
              <a:latin typeface="Times New Roman" panose="02020603050405020304"/>
            </a:endParaRPr>
          </a:p>
          <a:p>
            <a:pPr algn="l">
              <a:defRPr>
                <a:latin typeface="Times New Roman" panose="02020603050405020304"/>
              </a:defRPr>
            </a:pPr>
            <a:r>
              <a:rPr sz="1350" b="0">
                <a:solidFill>
                  <a:srgbClr val="6E7672"/>
                </a:solidFill>
                <a:latin typeface="Times New Roman" panose="02020603050405020304"/>
              </a:rPr>
              <a:t>The puzzle: 30 years of growth, one path or many?</a:t>
            </a:r>
            <a:endParaRPr sz="1350" b="0">
              <a:solidFill>
                <a:srgbClr val="6E7672"/>
              </a:solidFill>
              <a:latin typeface="Times New Roman" panose="02020603050405020304"/>
            </a:endParaRPr>
          </a:p>
        </p:txBody>
      </p:sp>
      <p:sp>
        <p:nvSpPr>
          <p:cNvPr id="15" name="TextBox 14"/>
          <p:cNvSpPr txBox="1"/>
          <p:nvPr/>
        </p:nvSpPr>
        <p:spPr>
          <a:xfrm>
            <a:off x="9418320" y="1499616"/>
            <a:ext cx="1828800" cy="41148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50" b="1">
                <a:solidFill>
                  <a:srgbClr val="2F5248"/>
                </a:solidFill>
                <a:latin typeface="Times New Roman" panose="02020603050405020304"/>
              </a:rPr>
              <a:t>Slide 3</a:t>
            </a:r>
            <a:endParaRPr sz="1450" b="1">
              <a:solidFill>
                <a:srgbClr val="2F5248"/>
              </a:solidFill>
              <a:latin typeface="Times New Roman" panose="02020603050405020304"/>
            </a:endParaRPr>
          </a:p>
        </p:txBody>
      </p:sp>
      <p:sp>
        <p:nvSpPr>
          <p:cNvPr id="16" name="Rounded Rectangle 15"/>
          <p:cNvSpPr/>
          <p:nvPr/>
        </p:nvSpPr>
        <p:spPr>
          <a:xfrm>
            <a:off x="777240" y="2121408"/>
            <a:ext cx="10607040" cy="694944"/>
          </a:xfrm>
          <a:prstGeom prst="roundRect">
            <a:avLst>
              <a:gd name="adj" fmla="val 5500"/>
            </a:avLst>
          </a:prstGeom>
          <a:solidFill>
            <a:srgbClr val="FFFFFF">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7" name="Rectangle 16"/>
          <p:cNvSpPr/>
          <p:nvPr/>
        </p:nvSpPr>
        <p:spPr>
          <a:xfrm>
            <a:off x="777240" y="2121408"/>
            <a:ext cx="64008" cy="694944"/>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8" name="TextBox 17"/>
          <p:cNvSpPr txBox="1"/>
          <p:nvPr/>
        </p:nvSpPr>
        <p:spPr>
          <a:xfrm>
            <a:off x="987552" y="2212848"/>
            <a:ext cx="548640" cy="502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4F6E96"/>
                </a:solidFill>
                <a:latin typeface="Times New Roman" panose="02020603050405020304"/>
              </a:rPr>
              <a:t>2</a:t>
            </a:r>
            <a:endParaRPr sz="2100" b="1">
              <a:solidFill>
                <a:srgbClr val="4F6E96"/>
              </a:solidFill>
              <a:latin typeface="Times New Roman" panose="02020603050405020304"/>
            </a:endParaRPr>
          </a:p>
        </p:txBody>
      </p:sp>
      <p:sp>
        <p:nvSpPr>
          <p:cNvPr id="19" name="TextBox 18"/>
          <p:cNvSpPr txBox="1"/>
          <p:nvPr/>
        </p:nvSpPr>
        <p:spPr>
          <a:xfrm>
            <a:off x="1600200" y="2167127"/>
            <a:ext cx="566928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00" b="1">
                <a:solidFill>
                  <a:srgbClr val="252B30"/>
                </a:solidFill>
                <a:latin typeface="Times New Roman" panose="02020603050405020304"/>
              </a:rPr>
              <a:t>Exploration of Dataset</a:t>
            </a:r>
            <a:endParaRPr sz="1800" b="1">
              <a:solidFill>
                <a:srgbClr val="252B30"/>
              </a:solidFill>
              <a:latin typeface="Times New Roman" panose="02020603050405020304"/>
            </a:endParaRPr>
          </a:p>
          <a:p>
            <a:pPr algn="l">
              <a:defRPr>
                <a:latin typeface="Times New Roman" panose="02020603050405020304"/>
              </a:defRPr>
            </a:pPr>
            <a:r>
              <a:rPr sz="1350" b="0">
                <a:solidFill>
                  <a:srgbClr val="6E7672"/>
                </a:solidFill>
                <a:latin typeface="Times New Roman" panose="02020603050405020304"/>
              </a:rPr>
              <a:t>Sources, conditioning, and where countries differ</a:t>
            </a:r>
            <a:endParaRPr sz="1350" b="0">
              <a:solidFill>
                <a:srgbClr val="6E7672"/>
              </a:solidFill>
              <a:latin typeface="Times New Roman" panose="02020603050405020304"/>
            </a:endParaRPr>
          </a:p>
        </p:txBody>
      </p:sp>
      <p:sp>
        <p:nvSpPr>
          <p:cNvPr id="20" name="TextBox 19"/>
          <p:cNvSpPr txBox="1"/>
          <p:nvPr/>
        </p:nvSpPr>
        <p:spPr>
          <a:xfrm>
            <a:off x="9418320" y="2267712"/>
            <a:ext cx="1828800" cy="41148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50" b="1">
                <a:solidFill>
                  <a:srgbClr val="4F6E96"/>
                </a:solidFill>
                <a:latin typeface="Times New Roman" panose="02020603050405020304"/>
              </a:rPr>
              <a:t>Slides 4-10</a:t>
            </a:r>
            <a:endParaRPr sz="1450" b="1">
              <a:solidFill>
                <a:srgbClr val="4F6E96"/>
              </a:solidFill>
              <a:latin typeface="Times New Roman" panose="02020603050405020304"/>
            </a:endParaRPr>
          </a:p>
        </p:txBody>
      </p:sp>
      <p:sp>
        <p:nvSpPr>
          <p:cNvPr id="21" name="Rounded Rectangle 20"/>
          <p:cNvSpPr/>
          <p:nvPr/>
        </p:nvSpPr>
        <p:spPr>
          <a:xfrm>
            <a:off x="777240" y="2889503"/>
            <a:ext cx="10607040" cy="694944"/>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2" name="Rectangle 21"/>
          <p:cNvSpPr/>
          <p:nvPr/>
        </p:nvSpPr>
        <p:spPr>
          <a:xfrm>
            <a:off x="777240" y="2889503"/>
            <a:ext cx="64008" cy="694944"/>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23" name="TextBox 22"/>
          <p:cNvSpPr txBox="1"/>
          <p:nvPr/>
        </p:nvSpPr>
        <p:spPr>
          <a:xfrm>
            <a:off x="987552" y="2980944"/>
            <a:ext cx="548640" cy="502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BE7F4E"/>
                </a:solidFill>
                <a:latin typeface="Times New Roman" panose="02020603050405020304"/>
              </a:rPr>
              <a:t>3</a:t>
            </a:r>
            <a:endParaRPr sz="2100" b="1">
              <a:solidFill>
                <a:srgbClr val="BE7F4E"/>
              </a:solidFill>
              <a:latin typeface="Times New Roman" panose="02020603050405020304"/>
            </a:endParaRPr>
          </a:p>
        </p:txBody>
      </p:sp>
      <p:sp>
        <p:nvSpPr>
          <p:cNvPr id="24" name="TextBox 23"/>
          <p:cNvSpPr txBox="1"/>
          <p:nvPr/>
        </p:nvSpPr>
        <p:spPr>
          <a:xfrm>
            <a:off x="1600200" y="2935223"/>
            <a:ext cx="566928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00" b="1">
                <a:solidFill>
                  <a:srgbClr val="252B30"/>
                </a:solidFill>
                <a:latin typeface="Times New Roman" panose="02020603050405020304"/>
              </a:rPr>
              <a:t>Design of AI Algorithm</a:t>
            </a:r>
            <a:endParaRPr sz="1800" b="1">
              <a:solidFill>
                <a:srgbClr val="252B30"/>
              </a:solidFill>
              <a:latin typeface="Times New Roman" panose="02020603050405020304"/>
            </a:endParaRPr>
          </a:p>
          <a:p>
            <a:pPr algn="l">
              <a:defRPr>
                <a:latin typeface="Times New Roman" panose="02020603050405020304"/>
              </a:defRPr>
            </a:pPr>
            <a:r>
              <a:rPr sz="1350" b="0">
                <a:solidFill>
                  <a:srgbClr val="6E7672"/>
                </a:solidFill>
                <a:latin typeface="Times New Roman" panose="02020603050405020304"/>
              </a:rPr>
              <a:t>From trajectories to 11 features, PCA and K-means</a:t>
            </a:r>
            <a:endParaRPr sz="1350" b="0">
              <a:solidFill>
                <a:srgbClr val="6E7672"/>
              </a:solidFill>
              <a:latin typeface="Times New Roman" panose="02020603050405020304"/>
            </a:endParaRPr>
          </a:p>
        </p:txBody>
      </p:sp>
      <p:sp>
        <p:nvSpPr>
          <p:cNvPr id="25" name="TextBox 24"/>
          <p:cNvSpPr txBox="1"/>
          <p:nvPr/>
        </p:nvSpPr>
        <p:spPr>
          <a:xfrm>
            <a:off x="9418320" y="3035808"/>
            <a:ext cx="1828800" cy="41148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50" b="1">
                <a:solidFill>
                  <a:srgbClr val="BE7F4E"/>
                </a:solidFill>
                <a:latin typeface="Times New Roman" panose="02020603050405020304"/>
              </a:rPr>
              <a:t>Slides 11-14</a:t>
            </a:r>
            <a:endParaRPr sz="1450" b="1">
              <a:solidFill>
                <a:srgbClr val="BE7F4E"/>
              </a:solidFill>
              <a:latin typeface="Times New Roman" panose="02020603050405020304"/>
            </a:endParaRPr>
          </a:p>
        </p:txBody>
      </p:sp>
      <p:sp>
        <p:nvSpPr>
          <p:cNvPr id="26" name="Rounded Rectangle 25"/>
          <p:cNvSpPr/>
          <p:nvPr/>
        </p:nvSpPr>
        <p:spPr>
          <a:xfrm>
            <a:off x="777240" y="3657599"/>
            <a:ext cx="10607040" cy="694944"/>
          </a:xfrm>
          <a:prstGeom prst="roundRect">
            <a:avLst>
              <a:gd name="adj" fmla="val 5500"/>
            </a:avLst>
          </a:prstGeom>
          <a:solidFill>
            <a:srgbClr val="FFFFFF">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7" name="Rectangle 26"/>
          <p:cNvSpPr/>
          <p:nvPr/>
        </p:nvSpPr>
        <p:spPr>
          <a:xfrm>
            <a:off x="777240" y="3657599"/>
            <a:ext cx="64008" cy="694944"/>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28" name="TextBox 27"/>
          <p:cNvSpPr txBox="1"/>
          <p:nvPr/>
        </p:nvSpPr>
        <p:spPr>
          <a:xfrm>
            <a:off x="987552" y="3749039"/>
            <a:ext cx="548640" cy="502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4F6E96"/>
                </a:solidFill>
                <a:latin typeface="Times New Roman" panose="02020603050405020304"/>
              </a:rPr>
              <a:t>4</a:t>
            </a:r>
            <a:endParaRPr sz="2100" b="1">
              <a:solidFill>
                <a:srgbClr val="4F6E96"/>
              </a:solidFill>
              <a:latin typeface="Times New Roman" panose="02020603050405020304"/>
            </a:endParaRPr>
          </a:p>
        </p:txBody>
      </p:sp>
      <p:sp>
        <p:nvSpPr>
          <p:cNvPr id="29" name="TextBox 28"/>
          <p:cNvSpPr txBox="1"/>
          <p:nvPr/>
        </p:nvSpPr>
        <p:spPr>
          <a:xfrm>
            <a:off x="1600200" y="3703320"/>
            <a:ext cx="566928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00" b="1">
                <a:solidFill>
                  <a:srgbClr val="252B30"/>
                </a:solidFill>
                <a:latin typeface="Times New Roman" panose="02020603050405020304"/>
              </a:rPr>
              <a:t>Model Evaluation and Performance</a:t>
            </a:r>
            <a:endParaRPr sz="1800" b="1">
              <a:solidFill>
                <a:srgbClr val="252B30"/>
              </a:solidFill>
              <a:latin typeface="Times New Roman" panose="02020603050405020304"/>
            </a:endParaRPr>
          </a:p>
          <a:p>
            <a:pPr algn="l">
              <a:defRPr>
                <a:latin typeface="Times New Roman" panose="02020603050405020304"/>
              </a:defRPr>
            </a:pPr>
            <a:r>
              <a:rPr sz="1350" b="0">
                <a:solidFill>
                  <a:srgbClr val="6E7672"/>
                </a:solidFill>
                <a:latin typeface="Times New Roman" panose="02020603050405020304"/>
              </a:rPr>
              <a:t>Validity, stability and membership uncertainty</a:t>
            </a:r>
            <a:endParaRPr sz="1350" b="0">
              <a:solidFill>
                <a:srgbClr val="6E7672"/>
              </a:solidFill>
              <a:latin typeface="Times New Roman" panose="02020603050405020304"/>
            </a:endParaRPr>
          </a:p>
        </p:txBody>
      </p:sp>
      <p:sp>
        <p:nvSpPr>
          <p:cNvPr id="30" name="TextBox 29"/>
          <p:cNvSpPr txBox="1"/>
          <p:nvPr/>
        </p:nvSpPr>
        <p:spPr>
          <a:xfrm>
            <a:off x="9418320" y="3803903"/>
            <a:ext cx="1828800" cy="41148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50" b="1">
                <a:solidFill>
                  <a:srgbClr val="4F6E96"/>
                </a:solidFill>
                <a:latin typeface="Times New Roman" panose="02020603050405020304"/>
              </a:rPr>
              <a:t>Slides 15-17</a:t>
            </a:r>
            <a:endParaRPr sz="1450" b="1">
              <a:solidFill>
                <a:srgbClr val="4F6E96"/>
              </a:solidFill>
              <a:latin typeface="Times New Roman" panose="02020603050405020304"/>
            </a:endParaRPr>
          </a:p>
        </p:txBody>
      </p:sp>
      <p:sp>
        <p:nvSpPr>
          <p:cNvPr id="31" name="Rounded Rectangle 30"/>
          <p:cNvSpPr/>
          <p:nvPr/>
        </p:nvSpPr>
        <p:spPr>
          <a:xfrm>
            <a:off x="777240" y="4425696"/>
            <a:ext cx="10607040" cy="694944"/>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2" name="Rectangle 31"/>
          <p:cNvSpPr/>
          <p:nvPr/>
        </p:nvSpPr>
        <p:spPr>
          <a:xfrm>
            <a:off x="777240" y="4425696"/>
            <a:ext cx="64008" cy="694944"/>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33" name="TextBox 32"/>
          <p:cNvSpPr txBox="1"/>
          <p:nvPr/>
        </p:nvSpPr>
        <p:spPr>
          <a:xfrm>
            <a:off x="987552" y="4517136"/>
            <a:ext cx="548640" cy="502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BE7F4E"/>
                </a:solidFill>
                <a:latin typeface="Times New Roman" panose="02020603050405020304"/>
              </a:rPr>
              <a:t>5</a:t>
            </a:r>
            <a:endParaRPr sz="2100" b="1">
              <a:solidFill>
                <a:srgbClr val="BE7F4E"/>
              </a:solidFill>
              <a:latin typeface="Times New Roman" panose="02020603050405020304"/>
            </a:endParaRPr>
          </a:p>
        </p:txBody>
      </p:sp>
      <p:sp>
        <p:nvSpPr>
          <p:cNvPr id="34" name="TextBox 33"/>
          <p:cNvSpPr txBox="1"/>
          <p:nvPr/>
        </p:nvSpPr>
        <p:spPr>
          <a:xfrm>
            <a:off x="1600200" y="4471416"/>
            <a:ext cx="566928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00" b="1">
                <a:solidFill>
                  <a:srgbClr val="252B30"/>
                </a:solidFill>
                <a:latin typeface="Times New Roman" panose="02020603050405020304"/>
              </a:rPr>
              <a:t>Visual Storytelling</a:t>
            </a:r>
            <a:endParaRPr sz="1800" b="1">
              <a:solidFill>
                <a:srgbClr val="252B30"/>
              </a:solidFill>
              <a:latin typeface="Times New Roman" panose="02020603050405020304"/>
            </a:endParaRPr>
          </a:p>
          <a:p>
            <a:pPr algn="l">
              <a:defRPr>
                <a:latin typeface="Times New Roman" panose="02020603050405020304"/>
              </a:defRPr>
            </a:pPr>
            <a:r>
              <a:rPr sz="1350" b="0">
                <a:solidFill>
                  <a:srgbClr val="6E7672"/>
                </a:solidFill>
                <a:latin typeface="Times New Roman" panose="02020603050405020304"/>
              </a:rPr>
              <a:t>Two pathways, two monitoring priorities</a:t>
            </a:r>
            <a:endParaRPr sz="1350" b="0">
              <a:solidFill>
                <a:srgbClr val="6E7672"/>
              </a:solidFill>
              <a:latin typeface="Times New Roman" panose="02020603050405020304"/>
            </a:endParaRPr>
          </a:p>
        </p:txBody>
      </p:sp>
      <p:sp>
        <p:nvSpPr>
          <p:cNvPr id="35" name="TextBox 34"/>
          <p:cNvSpPr txBox="1"/>
          <p:nvPr/>
        </p:nvSpPr>
        <p:spPr>
          <a:xfrm>
            <a:off x="9418320" y="4572000"/>
            <a:ext cx="1828800" cy="41148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50" b="1">
                <a:solidFill>
                  <a:srgbClr val="BE7F4E"/>
                </a:solidFill>
                <a:latin typeface="Times New Roman" panose="02020603050405020304"/>
              </a:rPr>
              <a:t>Slides 18-21</a:t>
            </a:r>
            <a:endParaRPr sz="1450" b="1">
              <a:solidFill>
                <a:srgbClr val="BE7F4E"/>
              </a:solidFill>
              <a:latin typeface="Times New Roman" panose="02020603050405020304"/>
            </a:endParaRPr>
          </a:p>
        </p:txBody>
      </p:sp>
      <p:sp>
        <p:nvSpPr>
          <p:cNvPr id="36" name="Rounded Rectangle 35"/>
          <p:cNvSpPr/>
          <p:nvPr/>
        </p:nvSpPr>
        <p:spPr>
          <a:xfrm>
            <a:off x="777240" y="5193792"/>
            <a:ext cx="10607040" cy="694944"/>
          </a:xfrm>
          <a:prstGeom prst="roundRect">
            <a:avLst>
              <a:gd name="adj" fmla="val 5500"/>
            </a:avLst>
          </a:prstGeom>
          <a:solidFill>
            <a:srgbClr val="FFFFFF">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7" name="Rectangle 36"/>
          <p:cNvSpPr/>
          <p:nvPr/>
        </p:nvSpPr>
        <p:spPr>
          <a:xfrm>
            <a:off x="777240" y="5193792"/>
            <a:ext cx="64008" cy="69494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38" name="TextBox 37"/>
          <p:cNvSpPr txBox="1"/>
          <p:nvPr/>
        </p:nvSpPr>
        <p:spPr>
          <a:xfrm>
            <a:off x="987552" y="5285231"/>
            <a:ext cx="548640" cy="502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2F5248"/>
                </a:solidFill>
                <a:latin typeface="Times New Roman" panose="02020603050405020304"/>
              </a:rPr>
              <a:t>6</a:t>
            </a:r>
            <a:endParaRPr sz="2100" b="1">
              <a:solidFill>
                <a:srgbClr val="2F5248"/>
              </a:solidFill>
              <a:latin typeface="Times New Roman" panose="02020603050405020304"/>
            </a:endParaRPr>
          </a:p>
        </p:txBody>
      </p:sp>
      <p:sp>
        <p:nvSpPr>
          <p:cNvPr id="39" name="TextBox 38"/>
          <p:cNvSpPr txBox="1"/>
          <p:nvPr/>
        </p:nvSpPr>
        <p:spPr>
          <a:xfrm>
            <a:off x="1600200" y="5239512"/>
            <a:ext cx="566928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800" b="1">
                <a:solidFill>
                  <a:srgbClr val="252B30"/>
                </a:solidFill>
                <a:latin typeface="Times New Roman" panose="02020603050405020304"/>
              </a:rPr>
              <a:t>Conclusions</a:t>
            </a:r>
            <a:endParaRPr sz="1800" b="1">
              <a:solidFill>
                <a:srgbClr val="252B30"/>
              </a:solidFill>
              <a:latin typeface="Times New Roman" panose="02020603050405020304"/>
            </a:endParaRPr>
          </a:p>
          <a:p>
            <a:pPr algn="l">
              <a:defRPr>
                <a:latin typeface="Times New Roman" panose="02020603050405020304"/>
              </a:defRPr>
            </a:pPr>
            <a:r>
              <a:rPr sz="1350" b="0">
                <a:solidFill>
                  <a:srgbClr val="6E7672"/>
                </a:solidFill>
                <a:latin typeface="Times New Roman" panose="02020603050405020304"/>
              </a:rPr>
              <a:t>Contributions, novelty and limitations</a:t>
            </a:r>
            <a:endParaRPr sz="1350" b="0">
              <a:solidFill>
                <a:srgbClr val="6E7672"/>
              </a:solidFill>
              <a:latin typeface="Times New Roman" panose="02020603050405020304"/>
            </a:endParaRPr>
          </a:p>
        </p:txBody>
      </p:sp>
      <p:sp>
        <p:nvSpPr>
          <p:cNvPr id="40" name="TextBox 39"/>
          <p:cNvSpPr txBox="1"/>
          <p:nvPr/>
        </p:nvSpPr>
        <p:spPr>
          <a:xfrm>
            <a:off x="9418320" y="5340096"/>
            <a:ext cx="1828800" cy="41148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50" b="1">
                <a:solidFill>
                  <a:srgbClr val="2F5248"/>
                </a:solidFill>
                <a:latin typeface="Times New Roman" panose="02020603050405020304"/>
              </a:rPr>
              <a:t>Slide 22</a:t>
            </a:r>
            <a:endParaRPr sz="1450" b="1">
              <a:solidFill>
                <a:srgbClr val="2F5248"/>
              </a:solidFill>
              <a:latin typeface="Times New Roman" panose="02020603050405020304"/>
            </a:endParaRPr>
          </a:p>
        </p:txBody>
      </p:sp>
      <p:sp>
        <p:nvSpPr>
          <p:cNvPr id="41" name="TextBox 40"/>
          <p:cNvSpPr txBox="1"/>
          <p:nvPr/>
        </p:nvSpPr>
        <p:spPr>
          <a:xfrm>
            <a:off x="777240" y="5989320"/>
            <a:ext cx="10607040" cy="31089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Each block below names the stage it reports, and every slide banner repeats that stage name.</a:t>
            </a:r>
            <a:endParaRPr sz="1300" b="0">
              <a:solidFill>
                <a:srgbClr val="6E7672"/>
              </a:solidFill>
              <a:latin typeface="Times New Roman" panose="02020603050405020304"/>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INTRODUCTION · Why we investigate country carbon emission patterns</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Emissions kept rising - but not along one shared path</a:t>
            </a:r>
            <a:endParaRPr sz="2300" b="1">
              <a:solidFill>
                <a:srgbClr val="FFFFFF"/>
              </a:solidFill>
              <a:latin typeface="Georgia" panose="02040502050405020303"/>
            </a:endParaRPr>
          </a:p>
        </p:txBody>
      </p:sp>
      <p:sp>
        <p:nvSpPr>
          <p:cNvPr id="10" name="TextBox 9"/>
          <p:cNvSpPr txBox="1"/>
          <p:nvPr/>
        </p:nvSpPr>
        <p:spPr>
          <a:xfrm>
            <a:off x="1572768" y="6456045"/>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11" name="TextBox 10"/>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3</a:t>
            </a:r>
            <a:endParaRPr sz="1400" b="0">
              <a:solidFill>
                <a:srgbClr val="6E7672"/>
              </a:solidFill>
              <a:latin typeface="Times New Roman" panose="02020603050405020304"/>
            </a:endParaRPr>
          </a:p>
        </p:txBody>
      </p:sp>
      <p:sp>
        <p:nvSpPr>
          <p:cNvPr id="12" name="TextBox 11"/>
          <p:cNvSpPr txBox="1"/>
          <p:nvPr/>
        </p:nvSpPr>
        <p:spPr>
          <a:xfrm>
            <a:off x="457200" y="1005840"/>
            <a:ext cx="27432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THE PUZZLE</a:t>
            </a:r>
            <a:endParaRPr sz="1350" b="1">
              <a:solidFill>
                <a:srgbClr val="2F5248"/>
              </a:solidFill>
              <a:latin typeface="Times New Roman" panose="02020603050405020304"/>
            </a:endParaRPr>
          </a:p>
        </p:txBody>
      </p:sp>
      <p:sp>
        <p:nvSpPr>
          <p:cNvPr id="13" name="anim_15"/>
          <p:cNvSpPr/>
          <p:nvPr/>
        </p:nvSpPr>
        <p:spPr>
          <a:xfrm>
            <a:off x="457200" y="1298448"/>
            <a:ext cx="3291840" cy="160020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4" name="anim_16"/>
          <p:cNvSpPr txBox="1"/>
          <p:nvPr/>
        </p:nvSpPr>
        <p:spPr>
          <a:xfrm>
            <a:off x="640080" y="1426464"/>
            <a:ext cx="2926080" cy="13716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800" b="1">
                <a:solidFill>
                  <a:srgbClr val="4F6E96"/>
                </a:solidFill>
                <a:latin typeface="Georgia" panose="02040502050405020303"/>
              </a:rPr>
              <a:t>+63.8%</a:t>
            </a:r>
            <a:endParaRPr sz="2800" b="1">
              <a:solidFill>
                <a:srgbClr val="4F6E96"/>
              </a:solidFill>
              <a:latin typeface="Georgia" panose="02040502050405020303"/>
            </a:endParaRPr>
          </a:p>
          <a:p>
            <a:pPr algn="l">
              <a:spcBef>
                <a:spcPts val="400"/>
              </a:spcBef>
              <a:defRPr>
                <a:latin typeface="Times New Roman" panose="02020603050405020304"/>
              </a:defRPr>
            </a:pPr>
            <a:r>
              <a:rPr sz="1400" b="1">
                <a:solidFill>
                  <a:srgbClr val="252B30"/>
                </a:solidFill>
                <a:latin typeface="Times New Roman" panose="02020603050405020304"/>
              </a:rPr>
              <a:t>Sample-wide fossil CO2, 1992 to 2021</a:t>
            </a:r>
            <a:endParaRPr sz="1400" b="1">
              <a:solidFill>
                <a:srgbClr val="252B30"/>
              </a:solidFill>
              <a:latin typeface="Times New Roman" panose="02020603050405020304"/>
            </a:endParaRPr>
          </a:p>
          <a:p>
            <a:pPr algn="l">
              <a:spcBef>
                <a:spcPts val="300"/>
              </a:spcBef>
              <a:defRPr>
                <a:latin typeface="Times New Roman" panose="02020603050405020304"/>
              </a:defRPr>
            </a:pPr>
            <a:r>
              <a:rPr sz="1300" b="0">
                <a:solidFill>
                  <a:srgbClr val="252B30"/>
                </a:solidFill>
                <a:latin typeface="Times New Roman" panose="02020603050405020304"/>
              </a:rPr>
              <a:t>21.97 to 35.98 Gt across the 193 countries covered by our panel</a:t>
            </a:r>
            <a:endParaRPr sz="1300" b="0">
              <a:solidFill>
                <a:srgbClr val="252B30"/>
              </a:solidFill>
              <a:latin typeface="Times New Roman" panose="02020603050405020304"/>
            </a:endParaRPr>
          </a:p>
        </p:txBody>
      </p:sp>
      <p:sp>
        <p:nvSpPr>
          <p:cNvPr id="15" name="anim_17"/>
          <p:cNvSpPr/>
          <p:nvPr/>
        </p:nvSpPr>
        <p:spPr>
          <a:xfrm>
            <a:off x="457200" y="3063240"/>
            <a:ext cx="3291840" cy="160020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6" name="anim_18"/>
          <p:cNvSpPr txBox="1"/>
          <p:nvPr/>
        </p:nvSpPr>
        <p:spPr>
          <a:xfrm>
            <a:off x="640080" y="3191256"/>
            <a:ext cx="2926080" cy="13716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800" b="1">
                <a:solidFill>
                  <a:srgbClr val="BE7F4E"/>
                </a:solidFill>
                <a:latin typeface="Georgia" panose="02040502050405020303"/>
              </a:rPr>
              <a:t>30 years</a:t>
            </a:r>
            <a:endParaRPr sz="2800" b="1">
              <a:solidFill>
                <a:srgbClr val="BE7F4E"/>
              </a:solidFill>
              <a:latin typeface="Georgia" panose="02040502050405020303"/>
            </a:endParaRPr>
          </a:p>
          <a:p>
            <a:pPr algn="l">
              <a:spcBef>
                <a:spcPts val="400"/>
              </a:spcBef>
              <a:defRPr>
                <a:latin typeface="Times New Roman" panose="02020603050405020304"/>
              </a:defRPr>
            </a:pPr>
            <a:r>
              <a:rPr sz="1400" b="1">
                <a:solidFill>
                  <a:srgbClr val="252B30"/>
                </a:solidFill>
                <a:latin typeface="Times New Roman" panose="02020603050405020304"/>
              </a:rPr>
              <a:t>of sustained global climate attention</a:t>
            </a:r>
            <a:endParaRPr sz="1400" b="1">
              <a:solidFill>
                <a:srgbClr val="252B30"/>
              </a:solidFill>
              <a:latin typeface="Times New Roman" panose="02020603050405020304"/>
            </a:endParaRPr>
          </a:p>
          <a:p>
            <a:pPr algn="l">
              <a:spcBef>
                <a:spcPts val="300"/>
              </a:spcBef>
              <a:defRPr>
                <a:latin typeface="Times New Roman" panose="02020603050405020304"/>
              </a:defRPr>
            </a:pPr>
            <a:r>
              <a:rPr sz="1300" b="0">
                <a:solidFill>
                  <a:srgbClr val="252B30"/>
                </a:solidFill>
                <a:latin typeface="Times New Roman" panose="02020603050405020304"/>
              </a:rPr>
              <a:t>yet the covered total kept growing - why, and driven by whom?</a:t>
            </a:r>
            <a:endParaRPr sz="1300" b="0">
              <a:solidFill>
                <a:srgbClr val="252B30"/>
              </a:solidFill>
              <a:latin typeface="Times New Roman" panose="02020603050405020304"/>
            </a:endParaRPr>
          </a:p>
        </p:txBody>
      </p:sp>
      <p:sp>
        <p:nvSpPr>
          <p:cNvPr id="17" name="TextBox 16"/>
          <p:cNvSpPr txBox="1"/>
          <p:nvPr/>
        </p:nvSpPr>
        <p:spPr>
          <a:xfrm>
            <a:off x="4206240" y="1005840"/>
            <a:ext cx="54864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OUR QUESTION CHAIN</a:t>
            </a:r>
            <a:endParaRPr sz="1350" b="1">
              <a:solidFill>
                <a:srgbClr val="2F5248"/>
              </a:solidFill>
              <a:latin typeface="Times New Roman" panose="02020603050405020304"/>
            </a:endParaRPr>
          </a:p>
        </p:txBody>
      </p:sp>
      <p:sp>
        <p:nvSpPr>
          <p:cNvPr id="18" name="anim_19"/>
          <p:cNvSpPr/>
          <p:nvPr/>
        </p:nvSpPr>
        <p:spPr>
          <a:xfrm>
            <a:off x="4206240" y="1298448"/>
            <a:ext cx="717804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9" name="anim_20"/>
          <p:cNvSpPr txBox="1"/>
          <p:nvPr/>
        </p:nvSpPr>
        <p:spPr>
          <a:xfrm>
            <a:off x="4407408" y="1353312"/>
            <a:ext cx="566928"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700" b="1">
                <a:solidFill>
                  <a:srgbClr val="4F6E96"/>
                </a:solidFill>
                <a:latin typeface="Times New Roman" panose="02020603050405020304"/>
              </a:rPr>
              <a:t>Q1</a:t>
            </a:r>
            <a:endParaRPr sz="1700" b="1">
              <a:solidFill>
                <a:srgbClr val="4F6E96"/>
              </a:solidFill>
              <a:latin typeface="Times New Roman" panose="02020603050405020304"/>
            </a:endParaRPr>
          </a:p>
        </p:txBody>
      </p:sp>
      <p:sp>
        <p:nvSpPr>
          <p:cNvPr id="20" name="anim_21"/>
          <p:cNvSpPr txBox="1"/>
          <p:nvPr/>
        </p:nvSpPr>
        <p:spPr>
          <a:xfrm>
            <a:off x="4983480" y="1353312"/>
            <a:ext cx="6263640"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550" b="0">
                <a:solidFill>
                  <a:srgbClr val="252B30"/>
                </a:solidFill>
                <a:latin typeface="Times New Roman" panose="02020603050405020304"/>
              </a:rPr>
              <a:t>Is the rise one common trajectory - or different transition pathways?</a:t>
            </a:r>
            <a:endParaRPr sz="1550" b="0">
              <a:solidFill>
                <a:srgbClr val="252B30"/>
              </a:solidFill>
              <a:latin typeface="Times New Roman" panose="02020603050405020304"/>
            </a:endParaRPr>
          </a:p>
        </p:txBody>
      </p:sp>
      <p:sp>
        <p:nvSpPr>
          <p:cNvPr id="21" name="anim_22"/>
          <p:cNvSpPr/>
          <p:nvPr/>
        </p:nvSpPr>
        <p:spPr>
          <a:xfrm>
            <a:off x="4206240" y="2194560"/>
            <a:ext cx="717804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2" name="anim_23"/>
          <p:cNvSpPr txBox="1"/>
          <p:nvPr/>
        </p:nvSpPr>
        <p:spPr>
          <a:xfrm>
            <a:off x="4407408" y="2249424"/>
            <a:ext cx="566928"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700" b="1">
                <a:solidFill>
                  <a:srgbClr val="4F6E96"/>
                </a:solidFill>
                <a:latin typeface="Times New Roman" panose="02020603050405020304"/>
              </a:rPr>
              <a:t>Q2</a:t>
            </a:r>
            <a:endParaRPr sz="1700" b="1">
              <a:solidFill>
                <a:srgbClr val="4F6E96"/>
              </a:solidFill>
              <a:latin typeface="Times New Roman" panose="02020603050405020304"/>
            </a:endParaRPr>
          </a:p>
        </p:txBody>
      </p:sp>
      <p:sp>
        <p:nvSpPr>
          <p:cNvPr id="23" name="anim_24"/>
          <p:cNvSpPr txBox="1"/>
          <p:nvPr/>
        </p:nvSpPr>
        <p:spPr>
          <a:xfrm>
            <a:off x="4983480" y="2249424"/>
            <a:ext cx="6263640"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550" b="0">
                <a:solidFill>
                  <a:srgbClr val="252B30"/>
                </a:solidFill>
                <a:latin typeface="Times New Roman" panose="02020603050405020304"/>
              </a:rPr>
              <a:t>Do countries differ only in size, or in speed, timing and fuel mix?</a:t>
            </a:r>
            <a:endParaRPr sz="1550" b="0">
              <a:solidFill>
                <a:srgbClr val="252B30"/>
              </a:solidFill>
              <a:latin typeface="Times New Roman" panose="02020603050405020304"/>
            </a:endParaRPr>
          </a:p>
        </p:txBody>
      </p:sp>
      <p:sp>
        <p:nvSpPr>
          <p:cNvPr id="24" name="anim_25"/>
          <p:cNvSpPr/>
          <p:nvPr/>
        </p:nvSpPr>
        <p:spPr>
          <a:xfrm>
            <a:off x="4206240" y="3090672"/>
            <a:ext cx="717804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5" name="anim_26"/>
          <p:cNvSpPr txBox="1"/>
          <p:nvPr/>
        </p:nvSpPr>
        <p:spPr>
          <a:xfrm>
            <a:off x="4407408" y="3145536"/>
            <a:ext cx="566928"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700" b="1">
                <a:solidFill>
                  <a:srgbClr val="4F6E96"/>
                </a:solidFill>
                <a:latin typeface="Times New Roman" panose="02020603050405020304"/>
              </a:rPr>
              <a:t>Q3</a:t>
            </a:r>
            <a:endParaRPr sz="1700" b="1">
              <a:solidFill>
                <a:srgbClr val="4F6E96"/>
              </a:solidFill>
              <a:latin typeface="Times New Roman" panose="02020603050405020304"/>
            </a:endParaRPr>
          </a:p>
        </p:txBody>
      </p:sp>
      <p:sp>
        <p:nvSpPr>
          <p:cNvPr id="26" name="anim_27"/>
          <p:cNvSpPr txBox="1"/>
          <p:nvPr/>
        </p:nvSpPr>
        <p:spPr>
          <a:xfrm>
            <a:off x="4983480" y="3145536"/>
            <a:ext cx="6263640"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550" b="0">
                <a:solidFill>
                  <a:srgbClr val="252B30"/>
                </a:solidFill>
                <a:latin typeface="Times New Roman" panose="02020603050405020304"/>
              </a:rPr>
              <a:t>Can AI identify these pathways stably from trajectory features?</a:t>
            </a:r>
            <a:endParaRPr sz="1550" b="0">
              <a:solidFill>
                <a:srgbClr val="252B30"/>
              </a:solidFill>
              <a:latin typeface="Times New Roman" panose="02020603050405020304"/>
            </a:endParaRPr>
          </a:p>
        </p:txBody>
      </p:sp>
      <p:sp>
        <p:nvSpPr>
          <p:cNvPr id="27" name="anim_28"/>
          <p:cNvSpPr/>
          <p:nvPr/>
        </p:nvSpPr>
        <p:spPr>
          <a:xfrm>
            <a:off x="4206240" y="3986783"/>
            <a:ext cx="7178040" cy="786384"/>
          </a:xfrm>
          <a:prstGeom prst="roundRect">
            <a:avLst>
              <a:gd name="adj" fmla="val 5500"/>
            </a:avLst>
          </a:prstGeom>
          <a:solidFill>
            <a:srgbClr val="FFFFFF">
              <a:alpha val="74000"/>
            </a:srgbClr>
          </a:solidFill>
          <a:ln w="9525">
            <a:solidFill>
              <a:srgbClr val="2F5248"/>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8" name="anim_29"/>
          <p:cNvSpPr txBox="1"/>
          <p:nvPr/>
        </p:nvSpPr>
        <p:spPr>
          <a:xfrm>
            <a:off x="4407408" y="4041647"/>
            <a:ext cx="566928"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700" b="1">
                <a:solidFill>
                  <a:srgbClr val="2F5248"/>
                </a:solidFill>
                <a:latin typeface="Times New Roman" panose="02020603050405020304"/>
              </a:rPr>
              <a:t>Q4</a:t>
            </a:r>
            <a:endParaRPr sz="1700" b="1">
              <a:solidFill>
                <a:srgbClr val="2F5248"/>
              </a:solidFill>
              <a:latin typeface="Times New Roman" panose="02020603050405020304"/>
            </a:endParaRPr>
          </a:p>
        </p:txBody>
      </p:sp>
      <p:sp>
        <p:nvSpPr>
          <p:cNvPr id="29" name="anim_30"/>
          <p:cNvSpPr txBox="1"/>
          <p:nvPr/>
        </p:nvSpPr>
        <p:spPr>
          <a:xfrm>
            <a:off x="4983480" y="4041647"/>
            <a:ext cx="6263640" cy="676656"/>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550" b="1">
                <a:solidFill>
                  <a:srgbClr val="252B30"/>
                </a:solidFill>
                <a:latin typeface="Times New Roman" panose="02020603050405020304"/>
              </a:rPr>
              <a:t>Where should limited climate-monitoring attention go?</a:t>
            </a:r>
            <a:endParaRPr sz="1550" b="1">
              <a:solidFill>
                <a:srgbClr val="252B30"/>
              </a:solidFill>
              <a:latin typeface="Times New Roman" panose="02020603050405020304"/>
            </a:endParaRPr>
          </a:p>
        </p:txBody>
      </p:sp>
      <p:sp>
        <p:nvSpPr>
          <p:cNvPr id="30" name="anim_31"/>
          <p:cNvSpPr/>
          <p:nvPr/>
        </p:nvSpPr>
        <p:spPr>
          <a:xfrm>
            <a:off x="457200" y="4956048"/>
            <a:ext cx="10927080" cy="114300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32"/>
          <p:cNvSpPr txBox="1"/>
          <p:nvPr/>
        </p:nvSpPr>
        <p:spPr>
          <a:xfrm>
            <a:off x="658368" y="5047488"/>
            <a:ext cx="10515600" cy="763905"/>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F5248"/>
                </a:solidFill>
                <a:latin typeface="Times New Roman" panose="02020603050405020304"/>
              </a:rPr>
              <a:t>Approach</a:t>
            </a:r>
            <a:endParaRPr sz="1400" b="1">
              <a:solidFill>
                <a:srgbClr val="2F5248"/>
              </a:solidFill>
              <a:latin typeface="Times New Roman" panose="02020603050405020304"/>
            </a:endParaRPr>
          </a:p>
          <a:p>
            <a:pPr algn="l">
              <a:spcBef>
                <a:spcPts val="400"/>
              </a:spcBef>
              <a:defRPr>
                <a:latin typeface="Times New Roman" panose="02020603050405020304"/>
              </a:defRPr>
            </a:pPr>
            <a:r>
              <a:rPr sz="1500" b="0">
                <a:solidFill>
                  <a:srgbClr val="252B30"/>
                </a:solidFill>
                <a:latin typeface="Times New Roman" panose="02020603050405020304"/>
              </a:rPr>
              <a:t>explore differences  →  engineer trajectory features  →  K-means (K = 2)  →  evaluate separation and stability  →  pathway-specific monitoring priorities</a:t>
            </a:r>
            <a:endParaRPr sz="1300" b="0">
              <a:solidFill>
                <a:srgbClr val="6E7672"/>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50"/>
                                        <p:tgtEl>
                                          <p:spTgt spid="14"/>
                                        </p:tgtEl>
                                      </p:cBhvr>
                                    </p:animEffect>
                                  </p:childTnLst>
                                </p:cTn>
                              </p:par>
                            </p:childTnLst>
                          </p:cTn>
                        </p:par>
                        <p:par>
                          <p:cTn id="11" fill="hold">
                            <p:stCondLst>
                              <p:cond delay="900"/>
                            </p:stCondLst>
                            <p:childTnLst>
                              <p:par>
                                <p:cTn id="12" presetID="10" presetClass="entr" presetSubtype="0" fill="hold" grpId="0" nodeType="afterEffect">
                                  <p:stCondLst>
                                    <p:cond delay="40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50"/>
                                        <p:tgtEl>
                                          <p:spTgt spid="15"/>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50"/>
                                        <p:tgtEl>
                                          <p:spTgt spid="16"/>
                                        </p:tgtEl>
                                      </p:cBhvr>
                                    </p:animEffect>
                                  </p:childTnLst>
                                </p:cTn>
                              </p:par>
                            </p:childTnLst>
                          </p:cTn>
                        </p:par>
                        <p:par>
                          <p:cTn id="18" fill="hold">
                            <p:stCondLst>
                              <p:cond delay="1800"/>
                            </p:stCondLst>
                            <p:childTnLst>
                              <p:par>
                                <p:cTn id="19" presetID="10" presetClass="entr" presetSubtype="0" fill="hold" grpId="0" nodeType="afterEffect">
                                  <p:stCondLst>
                                    <p:cond delay="40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childTnLst>
                                </p:cTn>
                              </p:par>
                              <p:par>
                                <p:cTn id="22" presetID="10" presetClass="entr" presetSubtype="0" fill="hold" grpId="0" nodeType="withEffect">
                                  <p:stCondLst>
                                    <p:cond delay="53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50"/>
                                        <p:tgtEl>
                                          <p:spTgt spid="19"/>
                                        </p:tgtEl>
                                      </p:cBhvr>
                                    </p:animEffect>
                                  </p:childTnLst>
                                </p:cTn>
                              </p:par>
                              <p:par>
                                <p:cTn id="25" presetID="10" presetClass="entr" presetSubtype="0" fill="hold" grpId="0" nodeType="withEffect">
                                  <p:stCondLst>
                                    <p:cond delay="66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50"/>
                                        <p:tgtEl>
                                          <p:spTgt spid="20"/>
                                        </p:tgtEl>
                                      </p:cBhvr>
                                    </p:animEffect>
                                  </p:childTnLst>
                                </p:cTn>
                              </p:par>
                            </p:childTnLst>
                          </p:cTn>
                        </p:par>
                        <p:par>
                          <p:cTn id="28" fill="hold">
                            <p:stCondLst>
                              <p:cond delay="2700"/>
                            </p:stCondLst>
                            <p:childTnLst>
                              <p:par>
                                <p:cTn id="29" presetID="10" presetClass="entr" presetSubtype="0" fill="hold" grpId="0" nodeType="afterEffect">
                                  <p:stCondLst>
                                    <p:cond delay="40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par>
                                <p:cTn id="32" presetID="10" presetClass="entr" presetSubtype="0" fill="hold" grpId="0" nodeType="withEffect">
                                  <p:stCondLst>
                                    <p:cond delay="53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childTnLst>
                          </p:cTn>
                        </p:par>
                        <p:par>
                          <p:cTn id="38" fill="hold">
                            <p:stCondLst>
                              <p:cond delay="3600"/>
                            </p:stCondLst>
                            <p:childTnLst>
                              <p:par>
                                <p:cTn id="39" presetID="10" presetClass="entr" presetSubtype="0" fill="hold" grpId="0" nodeType="afterEffect">
                                  <p:stCondLst>
                                    <p:cond delay="40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50"/>
                                        <p:tgtEl>
                                          <p:spTgt spid="24"/>
                                        </p:tgtEl>
                                      </p:cBhvr>
                                    </p:animEffect>
                                  </p:childTnLst>
                                </p:cTn>
                              </p:par>
                              <p:par>
                                <p:cTn id="42" presetID="10" presetClass="entr" presetSubtype="0" fill="hold" grpId="0" nodeType="withEffect">
                                  <p:stCondLst>
                                    <p:cond delay="53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450"/>
                                        <p:tgtEl>
                                          <p:spTgt spid="25"/>
                                        </p:tgtEl>
                                      </p:cBhvr>
                                    </p:animEffect>
                                  </p:childTnLst>
                                </p:cTn>
                              </p:par>
                              <p:par>
                                <p:cTn id="45" presetID="10" presetClass="entr" presetSubtype="0" fill="hold" grpId="0" nodeType="withEffect">
                                  <p:stCondLst>
                                    <p:cond delay="66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450"/>
                                        <p:tgtEl>
                                          <p:spTgt spid="26"/>
                                        </p:tgtEl>
                                      </p:cBhvr>
                                    </p:animEffect>
                                  </p:childTnLst>
                                </p:cTn>
                              </p:par>
                            </p:childTnLst>
                          </p:cTn>
                        </p:par>
                        <p:par>
                          <p:cTn id="48" fill="hold">
                            <p:stCondLst>
                              <p:cond delay="4500"/>
                            </p:stCondLst>
                            <p:childTnLst>
                              <p:par>
                                <p:cTn id="49" presetID="10" presetClass="entr" presetSubtype="0" fill="hold" grpId="0" nodeType="afterEffect">
                                  <p:stCondLst>
                                    <p:cond delay="40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50"/>
                                        <p:tgtEl>
                                          <p:spTgt spid="27"/>
                                        </p:tgtEl>
                                      </p:cBhvr>
                                    </p:animEffect>
                                  </p:childTnLst>
                                </p:cTn>
                              </p:par>
                              <p:par>
                                <p:cTn id="52" presetID="10" presetClass="entr" presetSubtype="0" fill="hold" grpId="0" nodeType="withEffect">
                                  <p:stCondLst>
                                    <p:cond delay="53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50"/>
                                        <p:tgtEl>
                                          <p:spTgt spid="28"/>
                                        </p:tgtEl>
                                      </p:cBhvr>
                                    </p:animEffect>
                                  </p:childTnLst>
                                </p:cTn>
                              </p:par>
                              <p:par>
                                <p:cTn id="55" presetID="10" presetClass="entr" presetSubtype="0" fill="hold" grpId="0" nodeType="withEffect">
                                  <p:stCondLst>
                                    <p:cond delay="66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50"/>
                                        <p:tgtEl>
                                          <p:spTgt spid="29"/>
                                        </p:tgtEl>
                                      </p:cBhvr>
                                    </p:animEffect>
                                  </p:childTnLst>
                                </p:cTn>
                              </p:par>
                            </p:childTnLst>
                          </p:cTn>
                        </p:par>
                        <p:par>
                          <p:cTn id="58" fill="hold">
                            <p:stCondLst>
                              <p:cond delay="5400"/>
                            </p:stCondLst>
                            <p:childTnLst>
                              <p:par>
                                <p:cTn id="59" presetID="10" presetClass="entr" presetSubtype="0" fill="hold" grpId="0" nodeType="afterEffect">
                                  <p:stCondLst>
                                    <p:cond delay="40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450"/>
                                        <p:tgtEl>
                                          <p:spTgt spid="30"/>
                                        </p:tgtEl>
                                      </p:cBhvr>
                                    </p:animEffect>
                                  </p:childTnLst>
                                </p:cTn>
                              </p:par>
                              <p:par>
                                <p:cTn id="62" presetID="10" presetClass="entr" presetSubtype="0" fill="hold" grpId="0" nodeType="withEffect">
                                  <p:stCondLst>
                                    <p:cond delay="53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32" name="Rectangle 31"/>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229"/>
          <p:cNvSpPr>
            <a:spLocks noGrp="1"/>
          </p:cNvSpPr>
          <p:nvPr/>
        </p:nvSpPr>
        <p:spPr>
          <a:xfrm>
            <a:off x="400050" y="1028700"/>
            <a:ext cx="2381250" cy="26670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SOURCE ROLES</a:t>
            </a:r>
            <a:endParaRPr>
              <a:solidFill/>
              <a:latin typeface="Times New Roman" panose="02020603050405020304"/>
            </a:endParaRPr>
          </a:p>
        </p:txBody>
      </p:sp>
      <p:sp>
        <p:nvSpPr>
          <p:cNvPr id="7" name="anim_230"/>
          <p:cNvSpPr>
            <a:spLocks noGrp="1"/>
          </p:cNvSpPr>
          <p:nvPr/>
        </p:nvSpPr>
        <p:spPr>
          <a:xfrm>
            <a:off x="400050" y="1381125"/>
            <a:ext cx="5219700" cy="2724150"/>
          </a:xfrm>
          <a:prstGeom prst="roundRect">
            <a:avLst>
              <a:gd name="adj" fmla="val 2797"/>
            </a:avLst>
          </a:prstGeom>
          <a:solidFill>
            <a:srgbClr val="ECEFF4">
              <a:alpha val="74000"/>
            </a:srgbClr>
          </a:solidFill>
          <a:ln w="19050">
            <a:solidFill>
              <a:srgbClr val="4F6E96"/>
            </a:solidFill>
            <a:prstDash val="solid"/>
          </a:ln>
        </p:spPr>
        <p:txBody>
          <a:bodyPr/>
          <a:p>
            <a:pPr>
              <a:defRPr>
                <a:latin typeface="Times New Roman" panose="02020603050405020304"/>
              </a:defRPr>
            </a:pPr>
          </a:p>
        </p:txBody>
      </p:sp>
      <p:sp>
        <p:nvSpPr>
          <p:cNvPr id="8" name="anim_232"/>
          <p:cNvSpPr>
            <a:spLocks noGrp="1"/>
          </p:cNvSpPr>
          <p:nvPr/>
        </p:nvSpPr>
        <p:spPr>
          <a:xfrm>
            <a:off x="647700" y="1571625"/>
            <a:ext cx="3333750" cy="400050"/>
          </a:xfrm>
          <a:prstGeom prst="rect">
            <a:avLst/>
          </a:prstGeom>
          <a:solidFill>
            <a:srgbClr val="ECEFF4">
              <a:alpha val="74000"/>
            </a:srgbClr>
          </a:solidFill>
          <a:ln w="0">
            <a:solidFill>
              <a:srgbClr val="ECEFF4"/>
            </a:solidFill>
            <a:prstDash val="solid"/>
          </a:ln>
        </p:spPr>
        <p:txBody>
          <a:bodyPr anchor="ctr"/>
          <a:lstStyle/>
          <a:p>
            <a:pPr algn="l">
              <a:defRPr sz="195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OWID CO2 Data</a:t>
            </a:r>
            <a:r>
              <a:rPr sz="1100" b="0">
                <a:solidFill>
                  <a:srgbClr val="6E7672"/>
                </a:solidFill>
                <a:latin typeface="Times New Roman"/>
              </a:rPr>
              <a:t> [1]</a:t>
            </a:r>
            <a:endParaRPr>
              <a:solidFill/>
              <a:latin typeface="Times New Roman" panose="02020603050405020304"/>
            </a:endParaRPr>
          </a:p>
        </p:txBody>
      </p:sp>
      <p:sp>
        <p:nvSpPr>
          <p:cNvPr id="9" name="anim_234"/>
          <p:cNvSpPr>
            <a:spLocks noGrp="1"/>
          </p:cNvSpPr>
          <p:nvPr/>
        </p:nvSpPr>
        <p:spPr>
          <a:xfrm>
            <a:off x="4095750" y="1600200"/>
            <a:ext cx="1257300" cy="285750"/>
          </a:xfrm>
          <a:prstGeom prst="rect">
            <a:avLst/>
          </a:prstGeom>
          <a:solidFill>
            <a:srgbClr val="4F6E96"/>
          </a:solidFill>
          <a:ln w="0">
            <a:solidFill>
              <a:srgbClr val="4F6E96"/>
            </a:solidFill>
            <a:prstDash val="solid"/>
          </a:ln>
        </p:spPr>
        <p:txBody>
          <a:bodyPr anchor="ctr"/>
          <a:lstStyle/>
          <a:p>
            <a:pPr algn="ctr">
              <a:defRPr sz="10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PRIMARY BACKBONE</a:t>
            </a:r>
            <a:endParaRPr>
              <a:solidFill/>
              <a:latin typeface="Times New Roman" panose="02020603050405020304"/>
            </a:endParaRPr>
          </a:p>
        </p:txBody>
      </p:sp>
      <p:sp>
        <p:nvSpPr>
          <p:cNvPr id="10" name="anim_236"/>
          <p:cNvSpPr>
            <a:spLocks noGrp="1"/>
          </p:cNvSpPr>
          <p:nvPr/>
        </p:nvSpPr>
        <p:spPr>
          <a:xfrm>
            <a:off x="647700" y="2114550"/>
            <a:ext cx="4429125" cy="361950"/>
          </a:xfrm>
          <a:prstGeom prst="rect">
            <a:avLst/>
          </a:prstGeom>
          <a:solidFill>
            <a:srgbClr val="ECEFF4">
              <a:alpha val="74000"/>
            </a:srgbClr>
          </a:solidFill>
          <a:ln w="0">
            <a:solidFill>
              <a:srgbClr val="ECEFF4"/>
            </a:solidFill>
            <a:prstDash val="solid"/>
          </a:ln>
        </p:spPr>
        <p:txBody>
          <a:bodyPr anchor="ctr"/>
          <a:lstStyle/>
          <a:p>
            <a:pPr algn="l">
              <a:defRPr sz="1425"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1992–2021 country-year coverage</a:t>
            </a:r>
            <a:endParaRPr>
              <a:solidFill/>
              <a:latin typeface="Times New Roman" panose="02020603050405020304"/>
            </a:endParaRPr>
          </a:p>
        </p:txBody>
      </p:sp>
      <p:sp>
        <p:nvSpPr>
          <p:cNvPr id="11" name="anim_238"/>
          <p:cNvSpPr>
            <a:spLocks noGrp="1"/>
          </p:cNvSpPr>
          <p:nvPr/>
        </p:nvSpPr>
        <p:spPr>
          <a:xfrm>
            <a:off x="647700" y="2571750"/>
            <a:ext cx="4429125" cy="876300"/>
          </a:xfrm>
          <a:prstGeom prst="rect">
            <a:avLst/>
          </a:prstGeom>
          <a:solidFill>
            <a:srgbClr val="ECEFF4">
              <a:alpha val="74000"/>
            </a:srgbClr>
          </a:solidFill>
          <a:ln w="0">
            <a:solidFill>
              <a:srgbClr val="ECEFF4"/>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Population · total CO2 · CO2 per person</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Consistent identifiers and broad historical coverage</a:t>
            </a:r>
            <a:endParaRPr>
              <a:solidFill/>
              <a:latin typeface="Times New Roman" panose="02020603050405020304"/>
            </a:endParaRPr>
          </a:p>
        </p:txBody>
      </p:sp>
      <p:sp>
        <p:nvSpPr>
          <p:cNvPr id="12" name="anim_240"/>
          <p:cNvSpPr>
            <a:spLocks noGrp="1"/>
          </p:cNvSpPr>
          <p:nvPr/>
        </p:nvSpPr>
        <p:spPr>
          <a:xfrm>
            <a:off x="647700" y="3600450"/>
            <a:ext cx="4429125" cy="304800"/>
          </a:xfrm>
          <a:prstGeom prst="rect">
            <a:avLst/>
          </a:prstGeom>
          <a:solidFill>
            <a:srgbClr val="ECEFF4">
              <a:alpha val="74000"/>
            </a:srgbClr>
          </a:solidFill>
          <a:ln w="0">
            <a:solidFill>
              <a:srgbClr val="ECEFF4"/>
            </a:solidFill>
            <a:prstDash val="solid"/>
          </a:ln>
        </p:spPr>
        <p:txBody>
          <a:bodyPr anchor="ctr"/>
          <a:lstStyle/>
          <a:p>
            <a:pPr algn="l">
              <a:defRPr sz="130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Defines which rows remain in the final panel</a:t>
            </a:r>
            <a:endParaRPr>
              <a:solidFill/>
              <a:latin typeface="Times New Roman" panose="02020603050405020304"/>
            </a:endParaRPr>
          </a:p>
        </p:txBody>
      </p:sp>
      <p:sp>
        <p:nvSpPr>
          <p:cNvPr id="13" name="anim_231"/>
          <p:cNvSpPr>
            <a:spLocks noGrp="1"/>
          </p:cNvSpPr>
          <p:nvPr/>
        </p:nvSpPr>
        <p:spPr>
          <a:xfrm>
            <a:off x="5953125" y="1381125"/>
            <a:ext cx="5219700" cy="2724150"/>
          </a:xfrm>
          <a:prstGeom prst="roundRect">
            <a:avLst>
              <a:gd name="adj" fmla="val 2797"/>
            </a:avLst>
          </a:prstGeom>
          <a:solidFill>
            <a:srgbClr val="F7F1EA"/>
          </a:solidFill>
          <a:ln w="19050">
            <a:solidFill>
              <a:srgbClr val="BE7F4E"/>
            </a:solidFill>
            <a:prstDash val="solid"/>
          </a:ln>
        </p:spPr>
        <p:txBody>
          <a:bodyPr/>
          <a:p>
            <a:pPr>
              <a:defRPr>
                <a:latin typeface="Times New Roman" panose="02020603050405020304"/>
              </a:defRPr>
            </a:pPr>
          </a:p>
        </p:txBody>
      </p:sp>
      <p:sp>
        <p:nvSpPr>
          <p:cNvPr id="14" name="anim_233"/>
          <p:cNvSpPr>
            <a:spLocks noGrp="1"/>
          </p:cNvSpPr>
          <p:nvPr/>
        </p:nvSpPr>
        <p:spPr>
          <a:xfrm>
            <a:off x="6200775" y="1571625"/>
            <a:ext cx="3619500" cy="400050"/>
          </a:xfrm>
          <a:prstGeom prst="rect">
            <a:avLst/>
          </a:prstGeom>
          <a:solidFill>
            <a:srgbClr val="F7F1EA"/>
          </a:solidFill>
          <a:ln w="0">
            <a:solidFill>
              <a:srgbClr val="F7F1EA"/>
            </a:solidFill>
            <a:prstDash val="solid"/>
          </a:ln>
        </p:spPr>
        <p:txBody>
          <a:bodyPr anchor="ctr"/>
          <a:lstStyle/>
          <a:p>
            <a:pPr algn="l">
              <a:defRPr sz="1575" b="1" i="0">
                <a:solidFill>
                  <a:srgbClr val="5F1118"/>
                </a:solidFill>
                <a:latin typeface="Times New Roman" panose="02020603050405020304"/>
                <a:ea typeface="Times New Roman" panose="02020603050405020304"/>
                <a:cs typeface="Times New Roman" panose="02020603050405020304"/>
              </a:defRPr>
            </a:pPr>
            <a:r>
              <a:rPr>
                <a:solidFill/>
                <a:latin typeface="Times New Roman" panose="02020603050405020304"/>
              </a:rPr>
              <a:t>Global Carbon Budget 2022 (v27)</a:t>
            </a:r>
            <a:r>
              <a:rPr sz="1100" b="0">
                <a:solidFill>
                  <a:srgbClr val="6E7672"/>
                </a:solidFill>
                <a:latin typeface="Times New Roman"/>
              </a:rPr>
              <a:t> [2]</a:t>
            </a:r>
            <a:endParaRPr>
              <a:solidFill/>
              <a:latin typeface="Times New Roman" panose="02020603050405020304"/>
            </a:endParaRPr>
          </a:p>
        </p:txBody>
      </p:sp>
      <p:sp>
        <p:nvSpPr>
          <p:cNvPr id="15" name="anim_235"/>
          <p:cNvSpPr>
            <a:spLocks noGrp="1"/>
          </p:cNvSpPr>
          <p:nvPr/>
        </p:nvSpPr>
        <p:spPr>
          <a:xfrm>
            <a:off x="9906000" y="1600200"/>
            <a:ext cx="1000125" cy="285750"/>
          </a:xfrm>
          <a:prstGeom prst="rect">
            <a:avLst/>
          </a:prstGeom>
          <a:solidFill>
            <a:srgbClr val="BE7F4E"/>
          </a:solidFill>
          <a:ln w="0">
            <a:solidFill>
              <a:srgbClr val="BE7F4E"/>
            </a:solidFill>
            <a:prstDash val="solid"/>
          </a:ln>
        </p:spPr>
        <p:txBody>
          <a:bodyPr wrap="none" anchor="ctr"/>
          <a:lstStyle/>
          <a:p>
            <a:pPr algn="ctr">
              <a:defRPr sz="10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SUPPLEMENT</a:t>
            </a:r>
            <a:endParaRPr>
              <a:solidFill/>
              <a:latin typeface="Times New Roman" panose="02020603050405020304"/>
            </a:endParaRPr>
          </a:p>
        </p:txBody>
      </p:sp>
      <p:sp>
        <p:nvSpPr>
          <p:cNvPr id="16" name="anim_237"/>
          <p:cNvSpPr>
            <a:spLocks noGrp="1"/>
          </p:cNvSpPr>
          <p:nvPr/>
        </p:nvSpPr>
        <p:spPr>
          <a:xfrm>
            <a:off x="6200775" y="2114550"/>
            <a:ext cx="4429125" cy="361950"/>
          </a:xfrm>
          <a:prstGeom prst="rect">
            <a:avLst/>
          </a:prstGeom>
          <a:solidFill>
            <a:srgbClr val="F7F1EA"/>
          </a:solidFill>
          <a:ln w="0">
            <a:solidFill>
              <a:srgbClr val="F7F1EA"/>
            </a:solidFill>
            <a:prstDash val="solid"/>
          </a:ln>
        </p:spPr>
        <p:txBody>
          <a:bodyPr anchor="ctr"/>
          <a:lstStyle/>
          <a:p>
            <a:pPr algn="l">
              <a:defRPr sz="1425"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Fuel-component detail</a:t>
            </a:r>
            <a:endParaRPr>
              <a:solidFill/>
              <a:latin typeface="Times New Roman" panose="02020603050405020304"/>
            </a:endParaRPr>
          </a:p>
        </p:txBody>
      </p:sp>
      <p:sp>
        <p:nvSpPr>
          <p:cNvPr id="17" name="anim_239"/>
          <p:cNvSpPr>
            <a:spLocks noGrp="1"/>
          </p:cNvSpPr>
          <p:nvPr/>
        </p:nvSpPr>
        <p:spPr>
          <a:xfrm>
            <a:off x="6200775" y="2571750"/>
            <a:ext cx="4429125" cy="876300"/>
          </a:xfrm>
          <a:prstGeom prst="rect">
            <a:avLst/>
          </a:prstGeom>
          <a:solidFill>
            <a:srgbClr val="F7F1EA"/>
          </a:solidFill>
          <a:ln w="0">
            <a:solidFill>
              <a:srgbClr val="F7F1EA"/>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Coal CO2 · oil CO2 · gas CO2</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Used only where the OWID component is missing</a:t>
            </a:r>
            <a:endParaRPr>
              <a:solidFill/>
              <a:latin typeface="Times New Roman" panose="02020603050405020304"/>
            </a:endParaRPr>
          </a:p>
        </p:txBody>
      </p:sp>
      <p:sp>
        <p:nvSpPr>
          <p:cNvPr id="18" name="anim_241"/>
          <p:cNvSpPr>
            <a:spLocks noGrp="1"/>
          </p:cNvSpPr>
          <p:nvPr/>
        </p:nvSpPr>
        <p:spPr>
          <a:xfrm>
            <a:off x="6200775" y="3600450"/>
            <a:ext cx="4429125" cy="304800"/>
          </a:xfrm>
          <a:prstGeom prst="rect">
            <a:avLst/>
          </a:prstGeom>
          <a:solidFill>
            <a:srgbClr val="F7F1EA"/>
          </a:solidFill>
          <a:ln w="0">
            <a:solidFill>
              <a:srgbClr val="F7F1EA"/>
            </a:solidFill>
            <a:prstDash val="solid"/>
          </a:ln>
        </p:spPr>
        <p:txBody>
          <a:bodyPr anchor="ctr"/>
          <a:lstStyle/>
          <a:p>
            <a:pPr algn="l">
              <a:defRPr sz="1300" b="1" i="0">
                <a:solidFill>
                  <a:srgbClr val="5F1118"/>
                </a:solidFill>
                <a:latin typeface="Times New Roman" panose="02020603050405020304"/>
                <a:ea typeface="Times New Roman" panose="02020603050405020304"/>
                <a:cs typeface="Times New Roman" panose="02020603050405020304"/>
              </a:defRPr>
            </a:pPr>
            <a:r>
              <a:rPr>
                <a:solidFill/>
                <a:latin typeface="Times New Roman" panose="02020603050405020304"/>
              </a:rPr>
              <a:t>Adds composition without redefining the backbone</a:t>
            </a:r>
            <a:endParaRPr>
              <a:solidFill/>
              <a:latin typeface="Times New Roman" panose="02020603050405020304"/>
            </a:endParaRPr>
          </a:p>
        </p:txBody>
      </p:sp>
      <p:sp>
        <p:nvSpPr>
          <p:cNvPr id="19" name="anim_242"/>
          <p:cNvSpPr>
            <a:spLocks noGrp="1"/>
          </p:cNvSpPr>
          <p:nvPr/>
        </p:nvSpPr>
        <p:spPr>
          <a:xfrm>
            <a:off x="1200150" y="4457700"/>
            <a:ext cx="9172575" cy="1123950"/>
          </a:xfrm>
          <a:prstGeom prst="roundRect">
            <a:avLst>
              <a:gd name="adj" fmla="val 6780"/>
            </a:avLst>
          </a:prstGeom>
          <a:solidFill>
            <a:srgbClr val="FAFBFA">
              <a:alpha val="74000"/>
            </a:srgbClr>
          </a:solidFill>
          <a:ln w="12383">
            <a:solidFill>
              <a:srgbClr val="D5DED6"/>
            </a:solidFill>
            <a:prstDash val="solid"/>
          </a:ln>
        </p:spPr>
        <p:txBody>
          <a:bodyPr/>
          <a:p>
            <a:pPr>
              <a:defRPr>
                <a:latin typeface="Times New Roman" panose="02020603050405020304"/>
              </a:defRPr>
            </a:pPr>
          </a:p>
        </p:txBody>
      </p:sp>
      <p:sp>
        <p:nvSpPr>
          <p:cNvPr id="20" name="anim_243"/>
          <p:cNvSpPr>
            <a:spLocks noGrp="1"/>
          </p:cNvSpPr>
          <p:nvPr/>
        </p:nvSpPr>
        <p:spPr>
          <a:xfrm>
            <a:off x="1342390" y="4518025"/>
            <a:ext cx="2143125" cy="266700"/>
          </a:xfrm>
          <a:prstGeom prst="rect">
            <a:avLst/>
          </a:prstGeom>
          <a:solidFill>
            <a:srgbClr val="FAFBFA">
              <a:alpha val="74000"/>
            </a:srgbClr>
          </a:solidFill>
          <a:ln w="0">
            <a:solidFill>
              <a:srgbClr val="FAFBFA"/>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sz="1600">
                <a:solidFill/>
                <a:latin typeface="Times New Roman" panose="02020603050405020304"/>
              </a:rPr>
              <a:t>MERGE PRINCIPLE</a:t>
            </a:r>
            <a:endParaRPr sz="1600">
              <a:solidFill/>
              <a:latin typeface="Times New Roman" panose="02020603050405020304"/>
            </a:endParaRPr>
          </a:p>
        </p:txBody>
      </p:sp>
      <p:sp>
        <p:nvSpPr>
          <p:cNvPr id="21" name="anim_244"/>
          <p:cNvSpPr>
            <a:spLocks noGrp="1"/>
          </p:cNvSpPr>
          <p:nvPr/>
        </p:nvSpPr>
        <p:spPr>
          <a:xfrm>
            <a:off x="1428750" y="4972050"/>
            <a:ext cx="2143125" cy="361950"/>
          </a:xfrm>
          <a:prstGeom prst="rect">
            <a:avLst/>
          </a:prstGeom>
          <a:solidFill>
            <a:srgbClr val="FAFBFA">
              <a:alpha val="74000"/>
            </a:srgbClr>
          </a:solidFill>
          <a:ln w="0">
            <a:solidFill>
              <a:srgbClr val="FAFBFA"/>
            </a:solidFill>
            <a:prstDash val="solid"/>
          </a:ln>
        </p:spPr>
        <p:txBody>
          <a:bodyPr anchor="ctr"/>
          <a:lstStyle/>
          <a:p>
            <a:pPr algn="ctr">
              <a:defRPr sz="1425" b="1" i="0">
                <a:solidFill>
                  <a:srgbClr val="1F4E79"/>
                </a:solidFill>
                <a:latin typeface="Times New Roman" panose="02020603050405020304"/>
                <a:ea typeface="Times New Roman" panose="02020603050405020304"/>
                <a:cs typeface="Times New Roman" panose="02020603050405020304"/>
              </a:defRPr>
            </a:pPr>
            <a:r>
              <a:rPr sz="1600">
                <a:solidFill/>
                <a:latin typeface="Times New Roman" panose="02020603050405020304"/>
              </a:rPr>
              <a:t>Retain OWID rows</a:t>
            </a:r>
            <a:endParaRPr sz="1600">
              <a:solidFill/>
              <a:latin typeface="Times New Roman" panose="02020603050405020304"/>
            </a:endParaRPr>
          </a:p>
        </p:txBody>
      </p:sp>
      <p:sp>
        <p:nvSpPr>
          <p:cNvPr id="22" name="anim_245"/>
          <p:cNvSpPr>
            <a:spLocks noGrp="1"/>
          </p:cNvSpPr>
          <p:nvPr/>
        </p:nvSpPr>
        <p:spPr>
          <a:xfrm>
            <a:off x="3619500" y="4972050"/>
            <a:ext cx="381000" cy="361950"/>
          </a:xfrm>
          <a:prstGeom prst="rect">
            <a:avLst/>
          </a:prstGeom>
          <a:solidFill>
            <a:srgbClr val="FAFBFA">
              <a:alpha val="74000"/>
            </a:srgbClr>
          </a:solidFill>
          <a:ln w="0">
            <a:solidFill>
              <a:srgbClr val="FAFBFA"/>
            </a:solidFill>
            <a:prstDash val="solid"/>
          </a:ln>
        </p:spPr>
        <p:txBody>
          <a:bodyPr anchor="ctr"/>
          <a:lstStyle/>
          <a:p>
            <a:pPr algn="ctr">
              <a:defRPr sz="1950" b="1" i="0">
                <a:solidFill>
                  <a:srgbClr val="5B6774"/>
                </a:solidFill>
                <a:latin typeface="Times New Roman" panose="02020603050405020304"/>
                <a:ea typeface="Times New Roman" panose="02020603050405020304"/>
                <a:cs typeface="Times New Roman" panose="02020603050405020304"/>
              </a:defRPr>
            </a:pPr>
            <a:r>
              <a:rPr sz="1600">
                <a:solidFill/>
                <a:latin typeface="Times New Roman" panose="02020603050405020304"/>
              </a:rPr>
              <a:t>+</a:t>
            </a:r>
            <a:endParaRPr sz="1600">
              <a:solidFill/>
              <a:latin typeface="Times New Roman" panose="02020603050405020304"/>
            </a:endParaRPr>
          </a:p>
        </p:txBody>
      </p:sp>
      <p:sp>
        <p:nvSpPr>
          <p:cNvPr id="23" name="anim_246"/>
          <p:cNvSpPr>
            <a:spLocks noGrp="1"/>
          </p:cNvSpPr>
          <p:nvPr/>
        </p:nvSpPr>
        <p:spPr>
          <a:xfrm>
            <a:off x="4048125" y="4972050"/>
            <a:ext cx="2667000" cy="361950"/>
          </a:xfrm>
          <a:prstGeom prst="rect">
            <a:avLst/>
          </a:prstGeom>
          <a:solidFill>
            <a:srgbClr val="FAFBFA">
              <a:alpha val="74000"/>
            </a:srgbClr>
          </a:solidFill>
          <a:ln w="0">
            <a:solidFill>
              <a:srgbClr val="FAFBFA"/>
            </a:solidFill>
            <a:prstDash val="solid"/>
          </a:ln>
        </p:spPr>
        <p:txBody>
          <a:bodyPr anchor="ctr"/>
          <a:lstStyle/>
          <a:p>
            <a:pPr algn="ctr">
              <a:defRPr sz="1425" b="1" i="0">
                <a:solidFill>
                  <a:srgbClr val="ED7D31"/>
                </a:solidFill>
                <a:latin typeface="Times New Roman" panose="02020603050405020304"/>
                <a:ea typeface="Times New Roman" panose="02020603050405020304"/>
                <a:cs typeface="Times New Roman" panose="02020603050405020304"/>
              </a:defRPr>
            </a:pPr>
            <a:r>
              <a:rPr sz="1600">
                <a:solidFill/>
                <a:latin typeface="Times New Roman" panose="02020603050405020304"/>
              </a:rPr>
              <a:t>Fill missing fuel fields</a:t>
            </a:r>
            <a:endParaRPr sz="1600">
              <a:solidFill/>
              <a:latin typeface="Times New Roman" panose="02020603050405020304"/>
            </a:endParaRPr>
          </a:p>
        </p:txBody>
      </p:sp>
      <p:sp>
        <p:nvSpPr>
          <p:cNvPr id="24" name="anim_247"/>
          <p:cNvSpPr>
            <a:spLocks noGrp="1"/>
          </p:cNvSpPr>
          <p:nvPr/>
        </p:nvSpPr>
        <p:spPr>
          <a:xfrm>
            <a:off x="6762750" y="4972050"/>
            <a:ext cx="381000" cy="361950"/>
          </a:xfrm>
          <a:prstGeom prst="rect">
            <a:avLst/>
          </a:prstGeom>
          <a:solidFill>
            <a:srgbClr val="FAFBFA">
              <a:alpha val="74000"/>
            </a:srgbClr>
          </a:solidFill>
          <a:ln w="0">
            <a:solidFill>
              <a:srgbClr val="FAFBFA"/>
            </a:solidFill>
            <a:prstDash val="solid"/>
          </a:ln>
        </p:spPr>
        <p:txBody>
          <a:bodyPr anchor="ctr"/>
          <a:lstStyle/>
          <a:p>
            <a:pPr algn="ctr">
              <a:defRPr sz="1950" b="1" i="0">
                <a:solidFill>
                  <a:srgbClr val="5B6774"/>
                </a:solidFill>
                <a:latin typeface="Times New Roman" panose="02020603050405020304"/>
                <a:ea typeface="Times New Roman" panose="02020603050405020304"/>
                <a:cs typeface="Times New Roman" panose="02020603050405020304"/>
              </a:defRPr>
            </a:pPr>
            <a:r>
              <a:rPr sz="1600">
                <a:solidFill/>
                <a:latin typeface="Times New Roman" panose="02020603050405020304"/>
              </a:rPr>
              <a:t>=</a:t>
            </a:r>
            <a:endParaRPr sz="1600">
              <a:solidFill/>
              <a:latin typeface="Times New Roman" panose="02020603050405020304"/>
            </a:endParaRPr>
          </a:p>
        </p:txBody>
      </p:sp>
      <p:sp>
        <p:nvSpPr>
          <p:cNvPr id="25" name="anim_248"/>
          <p:cNvSpPr>
            <a:spLocks noGrp="1"/>
          </p:cNvSpPr>
          <p:nvPr/>
        </p:nvSpPr>
        <p:spPr>
          <a:xfrm>
            <a:off x="7191375" y="4972050"/>
            <a:ext cx="2952750" cy="361950"/>
          </a:xfrm>
          <a:prstGeom prst="rect">
            <a:avLst/>
          </a:prstGeom>
          <a:solidFill>
            <a:srgbClr val="FAFBFA">
              <a:alpha val="74000"/>
            </a:srgbClr>
          </a:solidFill>
          <a:ln w="0">
            <a:solidFill>
              <a:srgbClr val="FAFBFA"/>
            </a:solidFill>
            <a:prstDash val="solid"/>
          </a:ln>
        </p:spPr>
        <p:txBody>
          <a:bodyPr anchor="ctr"/>
          <a:lstStyle/>
          <a:p>
            <a:pPr algn="ctr">
              <a:defRPr sz="1425" b="1" i="0">
                <a:solidFill>
                  <a:srgbClr val="800000"/>
                </a:solidFill>
                <a:latin typeface="Times New Roman" panose="02020603050405020304"/>
                <a:ea typeface="Times New Roman" panose="02020603050405020304"/>
                <a:cs typeface="Times New Roman" panose="02020603050405020304"/>
              </a:defRPr>
            </a:pPr>
            <a:r>
              <a:rPr sz="1600">
                <a:solidFill/>
                <a:latin typeface="Times New Roman" panose="02020603050405020304"/>
              </a:rPr>
              <a:t>Never overwrite observed values</a:t>
            </a:r>
            <a:endParaRPr sz="1600">
              <a:solidFill/>
              <a:latin typeface="Times New Roman" panose="02020603050405020304"/>
            </a:endParaRPr>
          </a:p>
        </p:txBody>
      </p:sp>
      <p:sp>
        <p:nvSpPr>
          <p:cNvPr id="31" name="TextBox 30"/>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1 / 7</a:t>
            </a:r>
            <a:endParaRPr sz="1300" b="1">
              <a:solidFill>
                <a:srgbClr val="D3E3D6"/>
              </a:solidFill>
              <a:latin typeface="Times New Roman" panose="02020603050405020304"/>
            </a:endParaRPr>
          </a:p>
        </p:txBody>
      </p:sp>
      <p:sp>
        <p:nvSpPr>
          <p:cNvPr id="33" name="Rectangle 32"/>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4" name="anim_228"/>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5" name="TextBox 34"/>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Where the emission data comes from</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Two sources create one traceable emissions panel</a:t>
            </a:r>
            <a:endParaRPr sz="2300" b="1">
              <a:solidFill>
                <a:srgbClr val="FFFFFF"/>
              </a:solidFill>
              <a:latin typeface="Georgia" panose="02040502050405020303"/>
            </a:endParaRPr>
          </a:p>
        </p:txBody>
      </p:sp>
      <p:sp>
        <p:nvSpPr>
          <p:cNvPr id="36" name="TextBox 35"/>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1 / 7</a:t>
            </a:r>
            <a:endParaRPr sz="1400" b="1">
              <a:solidFill>
                <a:srgbClr val="D3E3D6"/>
              </a:solidFill>
              <a:latin typeface="Times New Roman" panose="02020603050405020304"/>
            </a:endParaRPr>
          </a:p>
        </p:txBody>
      </p:sp>
      <p:sp>
        <p:nvSpPr>
          <p:cNvPr id="37" name="anim_254"/>
          <p:cNvSpPr txBox="1"/>
          <p:nvPr/>
        </p:nvSpPr>
        <p:spPr>
          <a:xfrm>
            <a:off x="777240" y="5815584"/>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it matters:  </a:t>
            </a:r>
            <a:r>
              <a:rPr sz="1350" b="0">
                <a:solidFill>
                  <a:srgbClr val="252B30"/>
                </a:solidFill>
                <a:latin typeface="Times New Roman" panose="02020603050405020304"/>
              </a:rPr>
              <a:t>every later feature is computed from these same 6,378 country-year rows, so the panel has to be auditable first.</a:t>
            </a:r>
            <a:endParaRPr sz="1350" b="0">
              <a:solidFill>
                <a:srgbClr val="252B30"/>
              </a:solidFill>
              <a:latin typeface="Times New Roman" panose="02020603050405020304"/>
            </a:endParaRPr>
          </a:p>
        </p:txBody>
      </p:sp>
      <p:sp>
        <p:nvSpPr>
          <p:cNvPr id="39" name="anim_253"/>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4</a:t>
            </a:r>
            <a:endParaRPr sz="1400" b="0">
              <a:solidFill>
                <a:srgbClr val="6E7672"/>
              </a:solidFill>
              <a:latin typeface="Times New Roman" panose="02020603050405020304"/>
            </a:endParaRPr>
          </a:p>
        </p:txBody>
      </p:sp>
      <p:sp>
        <p:nvSpPr>
          <p:cNvPr id="3" name="TextBox 9"/>
          <p:cNvSpPr txBox="1"/>
          <p:nvPr/>
        </p:nvSpPr>
        <p:spPr>
          <a:xfrm>
            <a:off x="1695958" y="6419215"/>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4"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450"/>
                                        <p:tgtEl>
                                          <p:spTgt spid="3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50"/>
                                        <p:tgtEl>
                                          <p:spTgt spid="14"/>
                                        </p:tgtEl>
                                      </p:cBhvr>
                                    </p:animEffect>
                                  </p:childTnLst>
                                </p:cTn>
                              </p:par>
                              <p:par>
                                <p:cTn id="23" presetID="10" presetClass="entr" presetSubtype="0" fill="hold" grpId="0" nodeType="withEffect">
                                  <p:stCondLst>
                                    <p:cond delay="118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131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grpId="0" nodeType="withEffect">
                                  <p:stCondLst>
                                    <p:cond delay="144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0" nodeType="withEffect">
                                  <p:stCondLst>
                                    <p:cond delay="157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50"/>
                                        <p:tgtEl>
                                          <p:spTgt spid="16"/>
                                        </p:tgtEl>
                                      </p:cBhvr>
                                    </p:animEffect>
                                  </p:childTnLst>
                                </p:cTn>
                              </p:par>
                              <p:par>
                                <p:cTn id="35" presetID="10" presetClass="entr" presetSubtype="0" fill="hold" grpId="0" nodeType="withEffect">
                                  <p:stCondLst>
                                    <p:cond delay="17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50"/>
                                        <p:tgtEl>
                                          <p:spTgt spid="11"/>
                                        </p:tgtEl>
                                      </p:cBhvr>
                                    </p:animEffect>
                                  </p:childTnLst>
                                </p:cTn>
                              </p:par>
                              <p:par>
                                <p:cTn id="38" presetID="10" presetClass="entr" presetSubtype="0" fill="hold" grpId="0" nodeType="withEffect">
                                  <p:stCondLst>
                                    <p:cond delay="183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childTnLst>
                          </p:cTn>
                        </p:par>
                        <p:par>
                          <p:cTn id="41" fill="hold">
                            <p:stCondLst>
                              <p:cond delay="900"/>
                            </p:stCondLst>
                            <p:childTnLst>
                              <p:par>
                                <p:cTn id="42" presetID="10" presetClass="entr" presetSubtype="0" fill="hold" grpId="0" nodeType="afterEffect">
                                  <p:stCondLst>
                                    <p:cond delay="40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450"/>
                                        <p:tgtEl>
                                          <p:spTgt spid="12"/>
                                        </p:tgtEl>
                                      </p:cBhvr>
                                    </p:animEffect>
                                  </p:childTnLst>
                                </p:cTn>
                              </p:par>
                              <p:par>
                                <p:cTn id="45" presetID="10" presetClass="entr" presetSubtype="0" fill="hold" grpId="0" nodeType="withEffect">
                                  <p:stCondLst>
                                    <p:cond delay="53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48" presetID="10" presetClass="entr" presetSubtype="0" fill="hold" grpId="0" nodeType="withEffect">
                                  <p:stCondLst>
                                    <p:cond delay="66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79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childTnLst>
                          </p:cTn>
                        </p:par>
                        <p:par>
                          <p:cTn id="54" fill="hold">
                            <p:stCondLst>
                              <p:cond delay="1800"/>
                            </p:stCondLst>
                            <p:childTnLst>
                              <p:par>
                                <p:cTn id="55" presetID="10" presetClass="entr" presetSubtype="0" fill="hold" grpId="0" nodeType="afterEffect">
                                  <p:stCondLst>
                                    <p:cond delay="40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50"/>
                                        <p:tgtEl>
                                          <p:spTgt spid="21"/>
                                        </p:tgtEl>
                                      </p:cBhvr>
                                    </p:animEffect>
                                  </p:childTnLst>
                                </p:cTn>
                              </p:par>
                              <p:par>
                                <p:cTn id="58" presetID="10" presetClass="entr" presetSubtype="0" fill="hold" grpId="0" nodeType="withEffect">
                                  <p:stCondLst>
                                    <p:cond delay="53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50"/>
                                        <p:tgtEl>
                                          <p:spTgt spid="22"/>
                                        </p:tgtEl>
                                      </p:cBhvr>
                                    </p:animEffect>
                                  </p:childTnLst>
                                </p:cTn>
                              </p:par>
                              <p:par>
                                <p:cTn id="61" presetID="10" presetClass="entr" presetSubtype="0" fill="hold" grpId="0" nodeType="withEffect">
                                  <p:stCondLst>
                                    <p:cond delay="66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50"/>
                                        <p:tgtEl>
                                          <p:spTgt spid="23"/>
                                        </p:tgtEl>
                                      </p:cBhvr>
                                    </p:animEffect>
                                  </p:childTnLst>
                                </p:cTn>
                              </p:par>
                              <p:par>
                                <p:cTn id="64" presetID="10" presetClass="entr" presetSubtype="0" fill="hold" grpId="0" nodeType="withEffect">
                                  <p:stCondLst>
                                    <p:cond delay="79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50"/>
                                        <p:tgtEl>
                                          <p:spTgt spid="24"/>
                                        </p:tgtEl>
                                      </p:cBhvr>
                                    </p:animEffect>
                                  </p:childTnLst>
                                </p:cTn>
                              </p:par>
                              <p:par>
                                <p:cTn id="67" presetID="10" presetClass="entr" presetSubtype="0" fill="hold" grpId="0" nodeType="withEffect">
                                  <p:stCondLst>
                                    <p:cond delay="92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50"/>
                                        <p:tgtEl>
                                          <p:spTgt spid="25"/>
                                        </p:tgtEl>
                                      </p:cBhvr>
                                    </p:animEffect>
                                  </p:childTnLst>
                                </p:cTn>
                              </p:par>
                              <p:par>
                                <p:cTn id="73" presetID="10" presetClass="entr" presetSubtype="0" fill="hold" grpId="0" nodeType="withEffect">
                                  <p:stCondLst>
                                    <p:cond delay="131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450"/>
                                        <p:tgtEl>
                                          <p:spTgt spid="40"/>
                                        </p:tgtEl>
                                      </p:cBhvr>
                                    </p:animEffect>
                                  </p:childTnLst>
                                </p:cTn>
                              </p:par>
                              <p:par>
                                <p:cTn id="76" presetID="10" presetClass="entr" presetSubtype="0" fill="hold" grpId="0" nodeType="withEffect">
                                  <p:stCondLst>
                                    <p:cond delay="144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50"/>
                                        <p:tgtEl>
                                          <p:spTgt spid="39"/>
                                        </p:tgtEl>
                                      </p:cBhvr>
                                    </p:animEffect>
                                  </p:childTnLst>
                                </p:cTn>
                              </p:par>
                            </p:childTnLst>
                          </p:cTn>
                        </p:par>
                        <p:par>
                          <p:cTn id="79" fill="hold">
                            <p:stCondLst>
                              <p:cond delay="2700"/>
                            </p:stCondLst>
                            <p:childTnLst>
                              <p:par>
                                <p:cTn id="80" presetID="10" presetClass="entr" presetSubtype="0" fill="hold" grpId="0" nodeType="afterEffect">
                                  <p:stCondLst>
                                    <p:cond delay="40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72" name="Rectangle 71"/>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256"/>
          <p:cNvSpPr>
            <a:spLocks noGrp="1"/>
          </p:cNvSpPr>
          <p:nvPr/>
        </p:nvSpPr>
        <p:spPr>
          <a:xfrm>
            <a:off x="400050" y="1028700"/>
            <a:ext cx="2857500" cy="26670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CONDITIONING WORKFLOW</a:t>
            </a:r>
            <a:endParaRPr>
              <a:solidFill/>
              <a:latin typeface="Times New Roman" panose="02020603050405020304"/>
            </a:endParaRPr>
          </a:p>
        </p:txBody>
      </p:sp>
      <p:sp>
        <p:nvSpPr>
          <p:cNvPr id="7" name="anim_257"/>
          <p:cNvSpPr>
            <a:spLocks noGrp="1"/>
          </p:cNvSpPr>
          <p:nvPr/>
        </p:nvSpPr>
        <p:spPr>
          <a:xfrm>
            <a:off x="476250" y="1524000"/>
            <a:ext cx="2247900" cy="1562100"/>
          </a:xfrm>
          <a:prstGeom prst="roundRect">
            <a:avLst>
              <a:gd name="adj" fmla="val 4878"/>
            </a:avLst>
          </a:prstGeom>
          <a:solidFill>
            <a:srgbClr val="ECEFF4">
              <a:alpha val="74000"/>
            </a:srgbClr>
          </a:solidFill>
          <a:ln w="19050">
            <a:solidFill>
              <a:srgbClr val="4F6E96"/>
            </a:solidFill>
            <a:prstDash val="solid"/>
          </a:ln>
        </p:spPr>
        <p:txBody>
          <a:bodyPr/>
          <a:p>
            <a:pPr>
              <a:defRPr>
                <a:latin typeface="Times New Roman" panose="02020603050405020304"/>
              </a:defRPr>
            </a:pPr>
          </a:p>
        </p:txBody>
      </p:sp>
      <p:sp>
        <p:nvSpPr>
          <p:cNvPr id="8" name="anim_265"/>
          <p:cNvSpPr>
            <a:spLocks noGrp="1"/>
          </p:cNvSpPr>
          <p:nvPr/>
        </p:nvSpPr>
        <p:spPr>
          <a:xfrm>
            <a:off x="628650" y="1676400"/>
            <a:ext cx="428625" cy="381000"/>
          </a:xfrm>
          <a:prstGeom prst="ellipse">
            <a:avLst/>
          </a:prstGeom>
          <a:solidFill>
            <a:srgbClr val="4F6E96"/>
          </a:solidFill>
          <a:ln w="0">
            <a:solidFill>
              <a:srgbClr val="4F6E96"/>
            </a:solidFill>
            <a:prstDash val="solid"/>
          </a:ln>
        </p:spPr>
        <p:txBody>
          <a:bodyPr anchor="ctr"/>
          <a:lstStyle/>
          <a:p>
            <a:pPr algn="ctr">
              <a:defRPr sz="1125"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1</a:t>
            </a:r>
            <a:endParaRPr>
              <a:solidFill/>
              <a:latin typeface="Times New Roman" panose="02020603050405020304"/>
            </a:endParaRPr>
          </a:p>
        </p:txBody>
      </p:sp>
      <p:sp>
        <p:nvSpPr>
          <p:cNvPr id="9" name="anim_261"/>
          <p:cNvSpPr>
            <a:spLocks noGrp="1"/>
          </p:cNvSpPr>
          <p:nvPr/>
        </p:nvSpPr>
        <p:spPr>
          <a:xfrm>
            <a:off x="1143000" y="1657350"/>
            <a:ext cx="1381125" cy="419100"/>
          </a:xfrm>
          <a:prstGeom prst="rect">
            <a:avLst/>
          </a:prstGeom>
          <a:solidFill>
            <a:srgbClr val="ECEFF4">
              <a:alpha val="74000"/>
            </a:srgbClr>
          </a:solidFill>
          <a:ln w="0">
            <a:solidFill>
              <a:srgbClr val="ECEFF4"/>
            </a:solidFill>
            <a:prstDash val="solid"/>
          </a:ln>
        </p:spPr>
        <p:txBody>
          <a:bodyPr wrap="none" anchor="ctr"/>
          <a:lstStyle/>
          <a:p>
            <a:pPr algn="l">
              <a:defRPr sz="1725"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Scope</a:t>
            </a:r>
            <a:endParaRPr>
              <a:solidFill/>
              <a:latin typeface="Times New Roman" panose="02020603050405020304"/>
            </a:endParaRPr>
          </a:p>
        </p:txBody>
      </p:sp>
      <p:sp>
        <p:nvSpPr>
          <p:cNvPr id="10" name="anim_269"/>
          <p:cNvSpPr>
            <a:spLocks noGrp="1"/>
          </p:cNvSpPr>
          <p:nvPr/>
        </p:nvSpPr>
        <p:spPr>
          <a:xfrm>
            <a:off x="685800" y="2190750"/>
            <a:ext cx="1828800" cy="666750"/>
          </a:xfrm>
          <a:prstGeom prst="rect">
            <a:avLst/>
          </a:prstGeom>
          <a:solidFill>
            <a:srgbClr val="ECEFF4">
              <a:alpha val="74000"/>
            </a:srgbClr>
          </a:solidFill>
          <a:ln w="0">
            <a:solidFill>
              <a:srgbClr val="ECEFF4"/>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1992–2021</a:t>
            </a:r>
            <a:endParaRPr>
              <a:solidFill/>
              <a:latin typeface="Times New Roman" panose="02020603050405020304"/>
            </a:endParaRPr>
          </a:p>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valid ISO rows</a:t>
            </a:r>
            <a:r>
              <a:rPr sz="1100" b="0">
                <a:solidFill>
                  <a:srgbClr val="6E7672"/>
                </a:solidFill>
                <a:latin typeface="Times New Roman"/>
              </a:rPr>
              <a:t> [1]</a:t>
            </a:r>
            <a:endParaRPr>
              <a:solidFill/>
              <a:latin typeface="Times New Roman" panose="02020603050405020304"/>
            </a:endParaRPr>
          </a:p>
        </p:txBody>
      </p:sp>
      <p:sp>
        <p:nvSpPr>
          <p:cNvPr id="11" name="anim_258"/>
          <p:cNvSpPr>
            <a:spLocks noGrp="1"/>
          </p:cNvSpPr>
          <p:nvPr/>
        </p:nvSpPr>
        <p:spPr>
          <a:xfrm>
            <a:off x="3314700" y="1524000"/>
            <a:ext cx="2247900" cy="1562100"/>
          </a:xfrm>
          <a:prstGeom prst="roundRect">
            <a:avLst>
              <a:gd name="adj" fmla="val 4878"/>
            </a:avLst>
          </a:prstGeom>
          <a:solidFill>
            <a:srgbClr val="F6F2E4"/>
          </a:solidFill>
          <a:ln w="19050">
            <a:solidFill>
              <a:srgbClr val="8A6E42"/>
            </a:solidFill>
            <a:prstDash val="solid"/>
          </a:ln>
        </p:spPr>
        <p:txBody>
          <a:bodyPr/>
          <a:p>
            <a:pPr>
              <a:defRPr>
                <a:latin typeface="Times New Roman" panose="02020603050405020304"/>
              </a:defRPr>
            </a:pPr>
          </a:p>
        </p:txBody>
      </p:sp>
      <p:sp>
        <p:nvSpPr>
          <p:cNvPr id="12" name="anim_266"/>
          <p:cNvSpPr>
            <a:spLocks noGrp="1"/>
          </p:cNvSpPr>
          <p:nvPr/>
        </p:nvSpPr>
        <p:spPr>
          <a:xfrm>
            <a:off x="3467100" y="1676400"/>
            <a:ext cx="428625" cy="381000"/>
          </a:xfrm>
          <a:prstGeom prst="ellipse">
            <a:avLst/>
          </a:prstGeom>
          <a:solidFill>
            <a:srgbClr val="8A6E42"/>
          </a:solidFill>
          <a:ln w="0">
            <a:solidFill>
              <a:srgbClr val="8A6E42"/>
            </a:solidFill>
            <a:prstDash val="solid"/>
          </a:ln>
        </p:spPr>
        <p:txBody>
          <a:bodyPr anchor="ctr"/>
          <a:lstStyle/>
          <a:p>
            <a:pPr algn="ctr">
              <a:defRPr sz="1125"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2</a:t>
            </a:r>
            <a:endParaRPr>
              <a:solidFill/>
              <a:latin typeface="Times New Roman" panose="02020603050405020304"/>
            </a:endParaRPr>
          </a:p>
        </p:txBody>
      </p:sp>
      <p:sp>
        <p:nvSpPr>
          <p:cNvPr id="13" name="anim_262"/>
          <p:cNvSpPr>
            <a:spLocks noGrp="1"/>
          </p:cNvSpPr>
          <p:nvPr/>
        </p:nvSpPr>
        <p:spPr>
          <a:xfrm>
            <a:off x="3981450" y="1657350"/>
            <a:ext cx="1381125" cy="419100"/>
          </a:xfrm>
          <a:prstGeom prst="rect">
            <a:avLst/>
          </a:prstGeom>
          <a:solidFill>
            <a:srgbClr val="F6F2E4"/>
          </a:solidFill>
          <a:ln w="0">
            <a:solidFill>
              <a:srgbClr val="F6F2E4"/>
            </a:solidFill>
            <a:prstDash val="solid"/>
          </a:ln>
        </p:spPr>
        <p:txBody>
          <a:bodyPr wrap="none" anchor="ctr"/>
          <a:lstStyle/>
          <a:p>
            <a:pPr algn="l">
              <a:defRPr sz="1725"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Harmonise</a:t>
            </a:r>
            <a:endParaRPr>
              <a:solidFill/>
              <a:latin typeface="Times New Roman" panose="02020603050405020304"/>
            </a:endParaRPr>
          </a:p>
        </p:txBody>
      </p:sp>
      <p:sp>
        <p:nvSpPr>
          <p:cNvPr id="14" name="anim_270"/>
          <p:cNvSpPr>
            <a:spLocks noGrp="1"/>
          </p:cNvSpPr>
          <p:nvPr/>
        </p:nvSpPr>
        <p:spPr>
          <a:xfrm>
            <a:off x="3524250" y="2190750"/>
            <a:ext cx="1828800" cy="666750"/>
          </a:xfrm>
          <a:prstGeom prst="rect">
            <a:avLst/>
          </a:prstGeom>
          <a:solidFill>
            <a:srgbClr val="F6F2E4"/>
          </a:solidFill>
          <a:ln w="0">
            <a:solidFill>
              <a:srgbClr val="F6F2E4"/>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ISO-3 + year</a:t>
            </a:r>
            <a:endParaRPr>
              <a:solidFill/>
              <a:latin typeface="Times New Roman" panose="02020603050405020304"/>
            </a:endParaRPr>
          </a:p>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units + names</a:t>
            </a:r>
            <a:endParaRPr>
              <a:solidFill/>
              <a:latin typeface="Times New Roman" panose="02020603050405020304"/>
            </a:endParaRPr>
          </a:p>
        </p:txBody>
      </p:sp>
      <p:sp>
        <p:nvSpPr>
          <p:cNvPr id="15" name="anim_259"/>
          <p:cNvSpPr>
            <a:spLocks noGrp="1"/>
          </p:cNvSpPr>
          <p:nvPr/>
        </p:nvSpPr>
        <p:spPr>
          <a:xfrm>
            <a:off x="6153150" y="1524000"/>
            <a:ext cx="2247900" cy="1562100"/>
          </a:xfrm>
          <a:prstGeom prst="roundRect">
            <a:avLst>
              <a:gd name="adj" fmla="val 4878"/>
            </a:avLst>
          </a:prstGeom>
          <a:solidFill>
            <a:srgbClr val="F7F1EA"/>
          </a:solidFill>
          <a:ln w="19050">
            <a:solidFill>
              <a:srgbClr val="BE7F4E"/>
            </a:solidFill>
            <a:prstDash val="solid"/>
          </a:ln>
        </p:spPr>
        <p:txBody>
          <a:bodyPr/>
          <a:p>
            <a:pPr>
              <a:defRPr>
                <a:latin typeface="Times New Roman" panose="02020603050405020304"/>
              </a:defRPr>
            </a:pPr>
          </a:p>
        </p:txBody>
      </p:sp>
      <p:sp>
        <p:nvSpPr>
          <p:cNvPr id="16" name="anim_267"/>
          <p:cNvSpPr>
            <a:spLocks noGrp="1"/>
          </p:cNvSpPr>
          <p:nvPr/>
        </p:nvSpPr>
        <p:spPr>
          <a:xfrm>
            <a:off x="6305550" y="1676400"/>
            <a:ext cx="428625" cy="381000"/>
          </a:xfrm>
          <a:prstGeom prst="ellipse">
            <a:avLst/>
          </a:prstGeom>
          <a:solidFill>
            <a:srgbClr val="BE7F4E"/>
          </a:solidFill>
          <a:ln w="0">
            <a:solidFill>
              <a:srgbClr val="BE7F4E"/>
            </a:solidFill>
            <a:prstDash val="solid"/>
          </a:ln>
        </p:spPr>
        <p:txBody>
          <a:bodyPr anchor="ctr"/>
          <a:lstStyle/>
          <a:p>
            <a:pPr algn="ctr">
              <a:defRPr sz="1125"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3</a:t>
            </a:r>
            <a:endParaRPr>
              <a:solidFill/>
              <a:latin typeface="Times New Roman" panose="02020603050405020304"/>
            </a:endParaRPr>
          </a:p>
        </p:txBody>
      </p:sp>
      <p:sp>
        <p:nvSpPr>
          <p:cNvPr id="17" name="anim_263"/>
          <p:cNvSpPr>
            <a:spLocks noGrp="1"/>
          </p:cNvSpPr>
          <p:nvPr/>
        </p:nvSpPr>
        <p:spPr>
          <a:xfrm>
            <a:off x="6819900" y="1657350"/>
            <a:ext cx="1381125" cy="419100"/>
          </a:xfrm>
          <a:prstGeom prst="rect">
            <a:avLst/>
          </a:prstGeom>
          <a:solidFill>
            <a:srgbClr val="F7F1EA"/>
          </a:solidFill>
          <a:ln w="0">
            <a:solidFill>
              <a:srgbClr val="F7F1EA"/>
            </a:solidFill>
            <a:prstDash val="solid"/>
          </a:ln>
        </p:spPr>
        <p:txBody>
          <a:bodyPr anchor="ctr"/>
          <a:lstStyle/>
          <a:p>
            <a:pPr algn="l">
              <a:defRPr sz="1725"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Left join</a:t>
            </a:r>
            <a:endParaRPr>
              <a:solidFill/>
              <a:latin typeface="Times New Roman" panose="02020603050405020304"/>
            </a:endParaRPr>
          </a:p>
        </p:txBody>
      </p:sp>
      <p:sp>
        <p:nvSpPr>
          <p:cNvPr id="18" name="anim_271"/>
          <p:cNvSpPr>
            <a:spLocks noGrp="1"/>
          </p:cNvSpPr>
          <p:nvPr/>
        </p:nvSpPr>
        <p:spPr>
          <a:xfrm>
            <a:off x="6362700" y="2190750"/>
            <a:ext cx="1828800" cy="666750"/>
          </a:xfrm>
          <a:prstGeom prst="rect">
            <a:avLst/>
          </a:prstGeom>
          <a:solidFill>
            <a:srgbClr val="F7F1EA"/>
          </a:solidFill>
          <a:ln w="0">
            <a:solidFill>
              <a:srgbClr val="F7F1EA"/>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OWID → GCB</a:t>
            </a:r>
            <a:endParaRPr>
              <a:solidFill/>
              <a:latin typeface="Times New Roman" panose="02020603050405020304"/>
            </a:endParaRPr>
          </a:p>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fuel-only fill</a:t>
            </a:r>
            <a:r>
              <a:rPr sz="1100" b="0">
                <a:solidFill>
                  <a:srgbClr val="6E7672"/>
                </a:solidFill>
                <a:latin typeface="Times New Roman"/>
              </a:rPr>
              <a:t> [2]</a:t>
            </a:r>
            <a:endParaRPr>
              <a:solidFill/>
              <a:latin typeface="Times New Roman" panose="02020603050405020304"/>
            </a:endParaRPr>
          </a:p>
        </p:txBody>
      </p:sp>
      <p:sp>
        <p:nvSpPr>
          <p:cNvPr id="19" name="anim_260"/>
          <p:cNvSpPr>
            <a:spLocks noGrp="1"/>
          </p:cNvSpPr>
          <p:nvPr/>
        </p:nvSpPr>
        <p:spPr>
          <a:xfrm>
            <a:off x="8991600" y="1524000"/>
            <a:ext cx="2247900" cy="1562100"/>
          </a:xfrm>
          <a:prstGeom prst="roundRect">
            <a:avLst>
              <a:gd name="adj" fmla="val 4878"/>
            </a:avLst>
          </a:prstGeom>
          <a:solidFill>
            <a:srgbClr val="EEF4EC">
              <a:alpha val="74000"/>
            </a:srgbClr>
          </a:solidFill>
          <a:ln w="19050">
            <a:solidFill>
              <a:srgbClr val="6E8C74"/>
            </a:solidFill>
            <a:prstDash val="solid"/>
          </a:ln>
        </p:spPr>
        <p:txBody>
          <a:bodyPr/>
          <a:p>
            <a:pPr>
              <a:defRPr>
                <a:latin typeface="Times New Roman" panose="02020603050405020304"/>
              </a:defRPr>
            </a:pPr>
          </a:p>
        </p:txBody>
      </p:sp>
      <p:sp>
        <p:nvSpPr>
          <p:cNvPr id="20" name="anim_268"/>
          <p:cNvSpPr>
            <a:spLocks noGrp="1"/>
          </p:cNvSpPr>
          <p:nvPr/>
        </p:nvSpPr>
        <p:spPr>
          <a:xfrm>
            <a:off x="9144000" y="1676400"/>
            <a:ext cx="428625" cy="381000"/>
          </a:xfrm>
          <a:prstGeom prst="ellipse">
            <a:avLst/>
          </a:prstGeom>
          <a:solidFill>
            <a:srgbClr val="6E8C74"/>
          </a:solidFill>
          <a:ln w="0">
            <a:solidFill>
              <a:srgbClr val="6E8C74"/>
            </a:solidFill>
            <a:prstDash val="solid"/>
          </a:ln>
        </p:spPr>
        <p:txBody>
          <a:bodyPr anchor="ctr"/>
          <a:lstStyle/>
          <a:p>
            <a:pPr algn="ctr">
              <a:defRPr sz="1125"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4</a:t>
            </a:r>
            <a:endParaRPr>
              <a:solidFill/>
              <a:latin typeface="Times New Roman" panose="02020603050405020304"/>
            </a:endParaRPr>
          </a:p>
        </p:txBody>
      </p:sp>
      <p:sp>
        <p:nvSpPr>
          <p:cNvPr id="21" name="anim_264"/>
          <p:cNvSpPr>
            <a:spLocks noGrp="1"/>
          </p:cNvSpPr>
          <p:nvPr/>
        </p:nvSpPr>
        <p:spPr>
          <a:xfrm>
            <a:off x="9658350" y="1657350"/>
            <a:ext cx="1381125" cy="419100"/>
          </a:xfrm>
          <a:prstGeom prst="rect">
            <a:avLst/>
          </a:prstGeom>
          <a:solidFill>
            <a:srgbClr val="EEF4EC">
              <a:alpha val="74000"/>
            </a:srgbClr>
          </a:solidFill>
          <a:ln w="0">
            <a:solidFill>
              <a:srgbClr val="EEF4EC"/>
            </a:solidFill>
            <a:prstDash val="solid"/>
          </a:ln>
        </p:spPr>
        <p:txBody>
          <a:bodyPr wrap="none" anchor="ctr"/>
          <a:lstStyle/>
          <a:p>
            <a:pPr algn="l">
              <a:defRPr sz="1725"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Condition</a:t>
            </a:r>
            <a:endParaRPr>
              <a:solidFill/>
              <a:latin typeface="Times New Roman" panose="02020603050405020304"/>
            </a:endParaRPr>
          </a:p>
        </p:txBody>
      </p:sp>
      <p:sp>
        <p:nvSpPr>
          <p:cNvPr id="22" name="anim_272"/>
          <p:cNvSpPr>
            <a:spLocks noGrp="1"/>
          </p:cNvSpPr>
          <p:nvPr/>
        </p:nvSpPr>
        <p:spPr>
          <a:xfrm>
            <a:off x="9201150" y="2190750"/>
            <a:ext cx="1828800" cy="666750"/>
          </a:xfrm>
          <a:prstGeom prst="rect">
            <a:avLst/>
          </a:prstGeom>
          <a:solidFill>
            <a:srgbClr val="EEF4EC">
              <a:alpha val="74000"/>
            </a:srgbClr>
          </a:solidFill>
          <a:ln w="0">
            <a:solidFill>
              <a:srgbClr val="EEF4EC"/>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core + growth</a:t>
            </a:r>
            <a:endParaRPr>
              <a:solidFill/>
              <a:latin typeface="Times New Roman" panose="02020603050405020304"/>
            </a:endParaRPr>
          </a:p>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shares + flags</a:t>
            </a:r>
            <a:endParaRPr>
              <a:solidFill/>
              <a:latin typeface="Times New Roman" panose="02020603050405020304"/>
            </a:endParaRPr>
          </a:p>
        </p:txBody>
      </p:sp>
      <p:cxnSp>
        <p:nvCxnSpPr>
          <p:cNvPr id="63" name="anim_273"/>
          <p:cNvCxnSpPr>
            <a:stCxn id="7" idx="3"/>
            <a:endCxn id="11" idx="1"/>
          </p:cNvCxnSpPr>
          <p:nvPr/>
        </p:nvCxnSpPr>
        <p:spPr>
          <a:xfrm>
            <a:off x="2724150" y="2305050"/>
            <a:ext cx="590550" cy="0"/>
          </a:xfrm>
          <a:prstGeom prst="straightConnector1">
            <a:avLst/>
          </a:prstGeom>
          <a:ln w="23813">
            <a:solidFill>
              <a:srgbClr val="2F5248"/>
            </a:solidFill>
            <a:prstDash val="solid"/>
            <a:tailEnd type="arrow" w="med" len="med"/>
          </a:ln>
        </p:spPr>
      </p:cxnSp>
      <p:cxnSp>
        <p:nvCxnSpPr>
          <p:cNvPr id="64" name="anim_274"/>
          <p:cNvCxnSpPr>
            <a:stCxn id="11" idx="3"/>
            <a:endCxn id="15" idx="1"/>
          </p:cNvCxnSpPr>
          <p:nvPr/>
        </p:nvCxnSpPr>
        <p:spPr>
          <a:xfrm>
            <a:off x="5562600" y="2305050"/>
            <a:ext cx="590550" cy="0"/>
          </a:xfrm>
          <a:prstGeom prst="straightConnector1">
            <a:avLst/>
          </a:prstGeom>
          <a:ln w="23813">
            <a:solidFill>
              <a:srgbClr val="2F5248"/>
            </a:solidFill>
            <a:prstDash val="solid"/>
            <a:tailEnd type="arrow" w="med" len="med"/>
          </a:ln>
        </p:spPr>
      </p:cxnSp>
      <p:cxnSp>
        <p:nvCxnSpPr>
          <p:cNvPr id="65" name="anim_275"/>
          <p:cNvCxnSpPr>
            <a:stCxn id="15" idx="3"/>
            <a:endCxn id="19" idx="1"/>
          </p:cNvCxnSpPr>
          <p:nvPr/>
        </p:nvCxnSpPr>
        <p:spPr>
          <a:xfrm>
            <a:off x="8401050" y="2305050"/>
            <a:ext cx="590550" cy="0"/>
          </a:xfrm>
          <a:prstGeom prst="straightConnector1">
            <a:avLst/>
          </a:prstGeom>
          <a:ln w="23813">
            <a:solidFill>
              <a:srgbClr val="2F5248"/>
            </a:solidFill>
            <a:prstDash val="solid"/>
            <a:tailEnd type="arrow" w="med" len="med"/>
          </a:ln>
        </p:spPr>
      </p:cxnSp>
      <p:sp>
        <p:nvSpPr>
          <p:cNvPr id="26" name="anim_276"/>
          <p:cNvSpPr>
            <a:spLocks noGrp="1"/>
          </p:cNvSpPr>
          <p:nvPr/>
        </p:nvSpPr>
        <p:spPr>
          <a:xfrm>
            <a:off x="476250" y="3133725"/>
            <a:ext cx="10763250" cy="228600"/>
          </a:xfrm>
          <a:prstGeom prst="rect">
            <a:avLst/>
          </a:prstGeom>
          <a:solidFill>
            <a:srgbClr val="FFFFFF">
              <a:alpha val="74000"/>
            </a:srgbClr>
          </a:solidFill>
          <a:ln w="0">
            <a:solidFill>
              <a:srgbClr val="FFFFFF"/>
            </a:solidFill>
            <a:prstDash val="solid"/>
          </a:ln>
        </p:spPr>
        <p:txBody>
          <a:bodyPr anchor="ctr"/>
          <a:lstStyle/>
          <a:p>
            <a:pPr algn="ctr">
              <a:defRPr sz="1000" b="1"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Final checks: unique country-year keys · consistent units · traceable source fields</a:t>
            </a:r>
            <a:endParaRPr>
              <a:solidFill/>
              <a:latin typeface="Times New Roman" panose="02020603050405020304"/>
            </a:endParaRPr>
          </a:p>
        </p:txBody>
      </p:sp>
      <p:sp>
        <p:nvSpPr>
          <p:cNvPr id="27" name="anim_277"/>
          <p:cNvSpPr>
            <a:spLocks noGrp="1"/>
          </p:cNvSpPr>
          <p:nvPr/>
        </p:nvSpPr>
        <p:spPr>
          <a:xfrm>
            <a:off x="46672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6,378</a:t>
            </a:r>
            <a:endParaRPr>
              <a:solidFill/>
              <a:latin typeface="Times New Roman" panose="02020603050405020304"/>
            </a:endParaRPr>
          </a:p>
        </p:txBody>
      </p:sp>
      <p:sp>
        <p:nvSpPr>
          <p:cNvPr id="28" name="anim_282"/>
          <p:cNvSpPr>
            <a:spLocks noGrp="1"/>
          </p:cNvSpPr>
          <p:nvPr/>
        </p:nvSpPr>
        <p:spPr>
          <a:xfrm>
            <a:off x="46672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country-year rows</a:t>
            </a:r>
            <a:endParaRPr>
              <a:solidFill/>
              <a:latin typeface="Times New Roman" panose="02020603050405020304"/>
            </a:endParaRPr>
          </a:p>
        </p:txBody>
      </p:sp>
      <p:sp>
        <p:nvSpPr>
          <p:cNvPr id="29" name="anim_278"/>
          <p:cNvSpPr>
            <a:spLocks noGrp="1"/>
          </p:cNvSpPr>
          <p:nvPr/>
        </p:nvSpPr>
        <p:spPr>
          <a:xfrm>
            <a:off x="273367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213</a:t>
            </a:r>
            <a:endParaRPr>
              <a:solidFill/>
              <a:latin typeface="Times New Roman" panose="02020603050405020304"/>
            </a:endParaRPr>
          </a:p>
        </p:txBody>
      </p:sp>
      <p:sp>
        <p:nvSpPr>
          <p:cNvPr id="30" name="anim_283"/>
          <p:cNvSpPr>
            <a:spLocks noGrp="1"/>
          </p:cNvSpPr>
          <p:nvPr/>
        </p:nvSpPr>
        <p:spPr>
          <a:xfrm>
            <a:off x="273367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ISO entities</a:t>
            </a:r>
            <a:endParaRPr>
              <a:solidFill/>
              <a:latin typeface="Times New Roman" panose="02020603050405020304"/>
            </a:endParaRPr>
          </a:p>
        </p:txBody>
      </p:sp>
      <p:sp>
        <p:nvSpPr>
          <p:cNvPr id="31" name="anim_279"/>
          <p:cNvSpPr>
            <a:spLocks noGrp="1"/>
          </p:cNvSpPr>
          <p:nvPr/>
        </p:nvSpPr>
        <p:spPr>
          <a:xfrm>
            <a:off x="500062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30</a:t>
            </a:r>
            <a:endParaRPr>
              <a:solidFill/>
              <a:latin typeface="Times New Roman" panose="02020603050405020304"/>
            </a:endParaRPr>
          </a:p>
        </p:txBody>
      </p:sp>
      <p:sp>
        <p:nvSpPr>
          <p:cNvPr id="32" name="anim_284"/>
          <p:cNvSpPr>
            <a:spLocks noGrp="1"/>
          </p:cNvSpPr>
          <p:nvPr/>
        </p:nvSpPr>
        <p:spPr>
          <a:xfrm>
            <a:off x="500062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years</a:t>
            </a:r>
            <a:endParaRPr>
              <a:solidFill/>
              <a:latin typeface="Times New Roman" panose="02020603050405020304"/>
            </a:endParaRPr>
          </a:p>
        </p:txBody>
      </p:sp>
      <p:sp>
        <p:nvSpPr>
          <p:cNvPr id="33" name="anim_280"/>
          <p:cNvSpPr>
            <a:spLocks noGrp="1"/>
          </p:cNvSpPr>
          <p:nvPr/>
        </p:nvSpPr>
        <p:spPr>
          <a:xfrm>
            <a:off x="726757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22</a:t>
            </a:r>
            <a:endParaRPr>
              <a:solidFill/>
              <a:latin typeface="Times New Roman" panose="02020603050405020304"/>
            </a:endParaRPr>
          </a:p>
        </p:txBody>
      </p:sp>
      <p:sp>
        <p:nvSpPr>
          <p:cNvPr id="34" name="anim_285"/>
          <p:cNvSpPr>
            <a:spLocks noGrp="1"/>
          </p:cNvSpPr>
          <p:nvPr/>
        </p:nvSpPr>
        <p:spPr>
          <a:xfrm>
            <a:off x="726757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fields</a:t>
            </a:r>
            <a:endParaRPr>
              <a:solidFill/>
              <a:latin typeface="Times New Roman" panose="02020603050405020304"/>
            </a:endParaRPr>
          </a:p>
        </p:txBody>
      </p:sp>
      <p:sp>
        <p:nvSpPr>
          <p:cNvPr id="35" name="anim_281"/>
          <p:cNvSpPr>
            <a:spLocks noGrp="1"/>
          </p:cNvSpPr>
          <p:nvPr/>
        </p:nvSpPr>
        <p:spPr>
          <a:xfrm>
            <a:off x="9534525" y="3448050"/>
            <a:ext cx="2038350" cy="495300"/>
          </a:xfrm>
          <a:prstGeom prst="rect">
            <a:avLst/>
          </a:prstGeom>
          <a:solidFill>
            <a:srgbClr val="FFFFFF">
              <a:alpha val="74000"/>
            </a:srgbClr>
          </a:solidFill>
          <a:ln w="9525">
            <a:solidFill>
              <a:srgbClr val="D5DED6"/>
            </a:solidFill>
            <a:prstDash val="solid"/>
          </a:ln>
        </p:spPr>
        <p:txBody>
          <a:bodyPr anchor="ctr"/>
          <a:lstStyle/>
          <a:p>
            <a:pPr algn="ctr">
              <a:defRPr sz="2100" b="1" i="0">
                <a:solidFill>
                  <a:srgbClr val="ED7D31"/>
                </a:solidFill>
                <a:latin typeface="Times New Roman" panose="02020603050405020304"/>
                <a:ea typeface="Times New Roman" panose="02020603050405020304"/>
                <a:cs typeface="Times New Roman" panose="02020603050405020304"/>
              </a:defRPr>
            </a:pPr>
            <a:r>
              <a:rPr>
                <a:solidFill/>
                <a:latin typeface="Times New Roman" panose="02020603050405020304"/>
              </a:rPr>
              <a:t>50.8%</a:t>
            </a:r>
            <a:endParaRPr>
              <a:solidFill/>
              <a:latin typeface="Times New Roman" panose="02020603050405020304"/>
            </a:endParaRPr>
          </a:p>
        </p:txBody>
      </p:sp>
      <p:sp>
        <p:nvSpPr>
          <p:cNvPr id="36" name="anim_286"/>
          <p:cNvSpPr>
            <a:spLocks noGrp="1"/>
          </p:cNvSpPr>
          <p:nvPr/>
        </p:nvSpPr>
        <p:spPr>
          <a:xfrm>
            <a:off x="9534525" y="3943350"/>
            <a:ext cx="2038350" cy="304800"/>
          </a:xfrm>
          <a:prstGeom prst="rect">
            <a:avLst/>
          </a:prstGeom>
          <a:solidFill>
            <a:srgbClr val="FFFFFF">
              <a:alpha val="74000"/>
            </a:srgbClr>
          </a:solidFill>
          <a:ln w="9525">
            <a:solidFill>
              <a:srgbClr val="D5DED6"/>
            </a:solidFill>
            <a:prstDash val="solid"/>
          </a:ln>
        </p:spPr>
        <p:txBody>
          <a:bodyPr anchor="ctr"/>
          <a:lstStyle/>
          <a:p>
            <a:pPr algn="ctr">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rows supplemented</a:t>
            </a:r>
            <a:endParaRPr>
              <a:solidFill/>
              <a:latin typeface="Times New Roman" panose="02020603050405020304"/>
            </a:endParaRPr>
          </a:p>
        </p:txBody>
      </p:sp>
      <p:sp>
        <p:nvSpPr>
          <p:cNvPr id="37" name="anim_287"/>
          <p:cNvSpPr>
            <a:spLocks noGrp="1"/>
          </p:cNvSpPr>
          <p:nvPr/>
        </p:nvSpPr>
        <p:spPr>
          <a:xfrm>
            <a:off x="476250" y="4572000"/>
            <a:ext cx="5314950" cy="971550"/>
          </a:xfrm>
          <a:prstGeom prst="roundRect">
            <a:avLst>
              <a:gd name="adj" fmla="val 7843"/>
            </a:avLst>
          </a:prstGeom>
          <a:solidFill>
            <a:srgbClr val="ECEFF4">
              <a:alpha val="74000"/>
            </a:srgbClr>
          </a:solidFill>
          <a:ln w="13335">
            <a:solidFill>
              <a:srgbClr val="4F6E96"/>
            </a:solidFill>
            <a:prstDash val="solid"/>
          </a:ln>
        </p:spPr>
        <p:txBody>
          <a:bodyPr/>
          <a:p>
            <a:pPr>
              <a:defRPr>
                <a:latin typeface="Times New Roman" panose="02020603050405020304"/>
              </a:defRPr>
            </a:pPr>
          </a:p>
        </p:txBody>
      </p:sp>
      <p:sp>
        <p:nvSpPr>
          <p:cNvPr id="38" name="anim_289"/>
          <p:cNvSpPr>
            <a:spLocks noGrp="1"/>
          </p:cNvSpPr>
          <p:nvPr/>
        </p:nvSpPr>
        <p:spPr>
          <a:xfrm>
            <a:off x="666750" y="4695825"/>
            <a:ext cx="1428750" cy="266700"/>
          </a:xfrm>
          <a:prstGeom prst="rect">
            <a:avLst/>
          </a:prstGeom>
          <a:solidFill>
            <a:srgbClr val="ECEFF4">
              <a:alpha val="74000"/>
            </a:srgbClr>
          </a:solidFill>
          <a:ln w="0">
            <a:solidFill>
              <a:srgbClr val="ECEFF4"/>
            </a:solidFill>
            <a:prstDash val="solid"/>
          </a:ln>
        </p:spPr>
        <p:txBody>
          <a:bodyPr wrap="none" anchor="ctr"/>
          <a:lstStyle/>
          <a:p>
            <a:pPr algn="l">
              <a:defRPr sz="100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STRENGTH</a:t>
            </a:r>
            <a:endParaRPr>
              <a:solidFill/>
              <a:latin typeface="Times New Roman" panose="02020603050405020304"/>
            </a:endParaRPr>
          </a:p>
        </p:txBody>
      </p:sp>
      <p:sp>
        <p:nvSpPr>
          <p:cNvPr id="39" name="anim_291"/>
          <p:cNvSpPr>
            <a:spLocks noGrp="1"/>
          </p:cNvSpPr>
          <p:nvPr/>
        </p:nvSpPr>
        <p:spPr>
          <a:xfrm>
            <a:off x="666750" y="4991100"/>
            <a:ext cx="4905375" cy="400050"/>
          </a:xfrm>
          <a:prstGeom prst="rect">
            <a:avLst/>
          </a:prstGeom>
          <a:solidFill>
            <a:srgbClr val="ECEFF4">
              <a:alpha val="74000"/>
            </a:srgbClr>
          </a:solidFill>
          <a:ln w="0">
            <a:solidFill>
              <a:srgbClr val="ECEFF4"/>
            </a:solidFill>
            <a:prstDash val="solid"/>
          </a:ln>
        </p:spPr>
        <p:txBody>
          <a:bodyPr anchor="ctr"/>
          <a:lstStyle/>
          <a:p>
            <a:pPr algn="l">
              <a:defRPr sz="13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Traceable row retention and field-level supplementation</a:t>
            </a:r>
            <a:endParaRPr>
              <a:solidFill/>
              <a:latin typeface="Times New Roman" panose="02020603050405020304"/>
            </a:endParaRPr>
          </a:p>
        </p:txBody>
      </p:sp>
      <p:sp>
        <p:nvSpPr>
          <p:cNvPr id="40" name="anim_288"/>
          <p:cNvSpPr>
            <a:spLocks noGrp="1"/>
          </p:cNvSpPr>
          <p:nvPr/>
        </p:nvSpPr>
        <p:spPr>
          <a:xfrm>
            <a:off x="5981700" y="4572000"/>
            <a:ext cx="5257800" cy="971550"/>
          </a:xfrm>
          <a:prstGeom prst="roundRect">
            <a:avLst>
              <a:gd name="adj" fmla="val 7843"/>
            </a:avLst>
          </a:prstGeom>
          <a:solidFill>
            <a:srgbClr val="F6F2E4"/>
          </a:solidFill>
          <a:ln w="13335">
            <a:solidFill>
              <a:srgbClr val="A98A52"/>
            </a:solidFill>
            <a:prstDash val="solid"/>
          </a:ln>
        </p:spPr>
        <p:txBody>
          <a:bodyPr/>
          <a:p>
            <a:pPr>
              <a:defRPr>
                <a:latin typeface="Times New Roman" panose="02020603050405020304"/>
              </a:defRPr>
            </a:pPr>
          </a:p>
        </p:txBody>
      </p:sp>
      <p:sp>
        <p:nvSpPr>
          <p:cNvPr id="41" name="anim_290"/>
          <p:cNvSpPr>
            <a:spLocks noGrp="1"/>
          </p:cNvSpPr>
          <p:nvPr/>
        </p:nvSpPr>
        <p:spPr>
          <a:xfrm>
            <a:off x="6172200" y="4695825"/>
            <a:ext cx="1428750" cy="266700"/>
          </a:xfrm>
          <a:prstGeom prst="rect">
            <a:avLst/>
          </a:prstGeom>
          <a:solidFill>
            <a:srgbClr val="F6F2E4"/>
          </a:solidFill>
          <a:ln w="0">
            <a:solidFill>
              <a:srgbClr val="F6F2E4"/>
            </a:solidFill>
            <a:prstDash val="solid"/>
          </a:ln>
        </p:spPr>
        <p:txBody>
          <a:bodyPr wrap="none" anchor="ctr"/>
          <a:lstStyle/>
          <a:p>
            <a:pPr algn="l">
              <a:defRPr sz="1000" b="1" i="0">
                <a:solidFill>
                  <a:srgbClr val="825E00"/>
                </a:solidFill>
                <a:latin typeface="Times New Roman" panose="02020603050405020304"/>
                <a:ea typeface="Times New Roman" panose="02020603050405020304"/>
                <a:cs typeface="Times New Roman" panose="02020603050405020304"/>
              </a:defRPr>
            </a:pPr>
            <a:r>
              <a:rPr>
                <a:solidFill/>
                <a:latin typeface="Times New Roman" panose="02020603050405020304"/>
              </a:rPr>
              <a:t>LIMITATION</a:t>
            </a:r>
            <a:endParaRPr>
              <a:solidFill/>
              <a:latin typeface="Times New Roman" panose="02020603050405020304"/>
            </a:endParaRPr>
          </a:p>
        </p:txBody>
      </p:sp>
      <p:sp>
        <p:nvSpPr>
          <p:cNvPr id="42" name="anim_292"/>
          <p:cNvSpPr>
            <a:spLocks noGrp="1"/>
          </p:cNvSpPr>
          <p:nvPr/>
        </p:nvSpPr>
        <p:spPr>
          <a:xfrm>
            <a:off x="6172200" y="4991100"/>
            <a:ext cx="4857750" cy="400050"/>
          </a:xfrm>
          <a:prstGeom prst="rect">
            <a:avLst/>
          </a:prstGeom>
          <a:solidFill>
            <a:srgbClr val="F6F2E4"/>
          </a:solidFill>
          <a:ln w="0">
            <a:solidFill>
              <a:srgbClr val="F6F2E4"/>
            </a:solidFill>
            <a:prstDash val="solid"/>
          </a:ln>
        </p:spPr>
        <p:txBody>
          <a:bodyPr anchor="ctr"/>
          <a:lstStyle/>
          <a:p>
            <a:pPr algn="l">
              <a:defRPr sz="13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Unbalanced country panel; coverage varies across small entities</a:t>
            </a:r>
            <a:endParaRPr>
              <a:solidFill/>
              <a:latin typeface="Times New Roman" panose="02020603050405020304"/>
            </a:endParaRPr>
          </a:p>
        </p:txBody>
      </p:sp>
      <p:sp>
        <p:nvSpPr>
          <p:cNvPr id="71" name="TextBox 70"/>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2 / 7</a:t>
            </a:r>
            <a:endParaRPr sz="1300" b="1">
              <a:solidFill>
                <a:srgbClr val="D3E3D6"/>
              </a:solidFill>
              <a:latin typeface="Times New Roman" panose="02020603050405020304"/>
            </a:endParaRPr>
          </a:p>
        </p:txBody>
      </p:sp>
      <p:sp>
        <p:nvSpPr>
          <p:cNvPr id="73" name="Rectangle 72"/>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74" name="anim_255"/>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75" name="TextBox 74"/>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Building one comparable country-year panel</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A controlled left join keeps the OWID backbone intact</a:t>
            </a:r>
            <a:endParaRPr sz="2300" b="1">
              <a:solidFill>
                <a:srgbClr val="FFFFFF"/>
              </a:solidFill>
              <a:latin typeface="Georgia" panose="02040502050405020303"/>
            </a:endParaRPr>
          </a:p>
        </p:txBody>
      </p:sp>
      <p:sp>
        <p:nvSpPr>
          <p:cNvPr id="76" name="TextBox 75"/>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2 / 7</a:t>
            </a:r>
            <a:endParaRPr sz="1400" b="1">
              <a:solidFill>
                <a:srgbClr val="D3E3D6"/>
              </a:solidFill>
              <a:latin typeface="Times New Roman" panose="02020603050405020304"/>
            </a:endParaRPr>
          </a:p>
        </p:txBody>
      </p:sp>
      <p:sp>
        <p:nvSpPr>
          <p:cNvPr id="77" name="anim_298"/>
          <p:cNvSpPr txBox="1"/>
          <p:nvPr/>
        </p:nvSpPr>
        <p:spPr>
          <a:xfrm>
            <a:off x="777240" y="5815584"/>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it matters:  </a:t>
            </a:r>
            <a:r>
              <a:rPr sz="1350" b="0">
                <a:solidFill>
                  <a:srgbClr val="252B30"/>
                </a:solidFill>
                <a:latin typeface="Times New Roman" panose="02020603050405020304"/>
              </a:rPr>
              <a:t>conditioning is where a study can silently bias itself, so no observed value is overwritten and every filled field stays flagged.</a:t>
            </a:r>
            <a:endParaRPr sz="1350" b="0">
              <a:solidFill>
                <a:srgbClr val="252B30"/>
              </a:solidFill>
              <a:latin typeface="Times New Roman" panose="02020603050405020304"/>
            </a:endParaRPr>
          </a:p>
        </p:txBody>
      </p:sp>
      <p:sp>
        <p:nvSpPr>
          <p:cNvPr id="79" name="anim_297"/>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5</a:t>
            </a:r>
            <a:endParaRPr sz="1400" b="0">
              <a:solidFill>
                <a:srgbClr val="6E7672"/>
              </a:solidFill>
              <a:latin typeface="Times New Roman" panose="02020603050405020304"/>
            </a:endParaRPr>
          </a:p>
        </p:txBody>
      </p:sp>
      <p:sp>
        <p:nvSpPr>
          <p:cNvPr id="3" name="TextBox 9"/>
          <p:cNvSpPr txBox="1"/>
          <p:nvPr/>
        </p:nvSpPr>
        <p:spPr>
          <a:xfrm>
            <a:off x="1695958" y="6419215"/>
            <a:ext cx="6400800" cy="292608"/>
          </a:xfrm>
          <a:prstGeom prst="rect">
            <a:avLst/>
          </a:prstGeom>
          <a:noFill/>
          <a:ln>
            <a:noFill/>
          </a:ln>
          <a:effectLst/>
        </p:spPr>
        <p:txBody>
          <a:bodyPr wrap="square" lIns="45720" tIns="18288" rIns="45720" bIns="18288" anchor="ctr">
            <a:spAutoFit/>
          </a:bodyPr>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2"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450"/>
                                        <p:tgtEl>
                                          <p:spTgt spid="7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50"/>
                                        <p:tgtEl>
                                          <p:spTgt spid="15"/>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50"/>
                                        <p:tgtEl>
                                          <p:spTgt spid="19"/>
                                        </p:tgtEl>
                                      </p:cBhvr>
                                    </p:animEffect>
                                  </p:childTnLst>
                                </p:cTn>
                              </p:par>
                              <p:par>
                                <p:cTn id="23" presetID="10" presetClass="entr" presetSubtype="0" fill="hold" grpId="0" nodeType="withEffect">
                                  <p:stCondLst>
                                    <p:cond delay="118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131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grpId="0" nodeType="withEffect">
                                  <p:stCondLst>
                                    <p:cond delay="144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50"/>
                                        <p:tgtEl>
                                          <p:spTgt spid="17"/>
                                        </p:tgtEl>
                                      </p:cBhvr>
                                    </p:animEffect>
                                  </p:childTnLst>
                                </p:cTn>
                              </p:par>
                              <p:par>
                                <p:cTn id="32" presetID="10" presetClass="entr" presetSubtype="0" fill="hold" grpId="0" nodeType="withEffect">
                                  <p:stCondLst>
                                    <p:cond delay="157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50"/>
                                        <p:tgtEl>
                                          <p:spTgt spid="21"/>
                                        </p:tgtEl>
                                      </p:cBhvr>
                                    </p:animEffect>
                                  </p:childTnLst>
                                </p:cTn>
                              </p:par>
                              <p:par>
                                <p:cTn id="35" presetID="10" presetClass="entr" presetSubtype="0" fill="hold" grpId="0" nodeType="withEffect">
                                  <p:stCondLst>
                                    <p:cond delay="170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450"/>
                                        <p:tgtEl>
                                          <p:spTgt spid="8"/>
                                        </p:tgtEl>
                                      </p:cBhvr>
                                    </p:animEffect>
                                  </p:childTnLst>
                                </p:cTn>
                              </p:par>
                              <p:par>
                                <p:cTn id="38" presetID="10" presetClass="entr" presetSubtype="0" fill="hold" grpId="0" nodeType="withEffect">
                                  <p:stCondLst>
                                    <p:cond delay="183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450"/>
                                        <p:tgtEl>
                                          <p:spTgt spid="12"/>
                                        </p:tgtEl>
                                      </p:cBhvr>
                                    </p:animEffect>
                                  </p:childTnLst>
                                </p:cTn>
                              </p:par>
                              <p:par>
                                <p:cTn id="41" presetID="10" presetClass="entr" presetSubtype="0" fill="hold" grpId="0" nodeType="withEffect">
                                  <p:stCondLst>
                                    <p:cond delay="196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209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50"/>
                                        <p:tgtEl>
                                          <p:spTgt spid="20"/>
                                        </p:tgtEl>
                                      </p:cBhvr>
                                    </p:animEffect>
                                  </p:childTnLst>
                                </p:cTn>
                              </p:par>
                              <p:par>
                                <p:cTn id="47" presetID="10" presetClass="entr" presetSubtype="0" fill="hold" grpId="0" nodeType="withEffect">
                                  <p:stCondLst>
                                    <p:cond delay="222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450"/>
                                        <p:tgtEl>
                                          <p:spTgt spid="10"/>
                                        </p:tgtEl>
                                      </p:cBhvr>
                                    </p:animEffect>
                                  </p:childTnLst>
                                </p:cTn>
                              </p:par>
                              <p:par>
                                <p:cTn id="50" presetID="10" presetClass="entr" presetSubtype="0" fill="hold" grpId="0" nodeType="withEffect">
                                  <p:stCondLst>
                                    <p:cond delay="235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childTnLst>
                                </p:cTn>
                              </p:par>
                              <p:par>
                                <p:cTn id="53" presetID="10" presetClass="entr" presetSubtype="0" fill="hold" grpId="0" nodeType="withEffect">
                                  <p:stCondLst>
                                    <p:cond delay="248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par>
                                <p:cTn id="56" presetID="10" presetClass="entr" presetSubtype="0" fill="hold" grpId="0" nodeType="withEffect">
                                  <p:stCondLst>
                                    <p:cond delay="261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50"/>
                                        <p:tgtEl>
                                          <p:spTgt spid="22"/>
                                        </p:tgtEl>
                                      </p:cBhvr>
                                    </p:animEffect>
                                  </p:childTnLst>
                                </p:cTn>
                              </p:par>
                              <p:par>
                                <p:cTn id="59" presetID="10" presetClass="entr" presetSubtype="0" fill="hold" grpId="0" nodeType="withEffect">
                                  <p:stCondLst>
                                    <p:cond delay="2740"/>
                                  </p:stCondLst>
                                  <p:childTnLst>
                                    <p:set>
                                      <p:cBhvr>
                                        <p:cTn id="60" dur="1" fill="hold">
                                          <p:stCondLst>
                                            <p:cond delay="0"/>
                                          </p:stCondLst>
                                        </p:cTn>
                                        <p:tgtEl>
                                          <p:spTgt spid="63"/>
                                        </p:tgtEl>
                                        <p:attrNameLst>
                                          <p:attrName>style.visibility</p:attrName>
                                        </p:attrNameLst>
                                      </p:cBhvr>
                                      <p:to>
                                        <p:strVal val="visible"/>
                                      </p:to>
                                    </p:set>
                                    <p:animEffect transition="in" filter="fade">
                                      <p:cBhvr>
                                        <p:cTn id="61" dur="450"/>
                                        <p:tgtEl>
                                          <p:spTgt spid="63"/>
                                        </p:tgtEl>
                                      </p:cBhvr>
                                    </p:animEffect>
                                  </p:childTnLst>
                                </p:cTn>
                              </p:par>
                              <p:par>
                                <p:cTn id="62" presetID="10" presetClass="entr" presetSubtype="0" fill="hold" grpId="0" nodeType="withEffect">
                                  <p:stCondLst>
                                    <p:cond delay="2870"/>
                                  </p:stCondLst>
                                  <p:childTnLst>
                                    <p:set>
                                      <p:cBhvr>
                                        <p:cTn id="63" dur="1" fill="hold">
                                          <p:stCondLst>
                                            <p:cond delay="0"/>
                                          </p:stCondLst>
                                        </p:cTn>
                                        <p:tgtEl>
                                          <p:spTgt spid="64"/>
                                        </p:tgtEl>
                                        <p:attrNameLst>
                                          <p:attrName>style.visibility</p:attrName>
                                        </p:attrNameLst>
                                      </p:cBhvr>
                                      <p:to>
                                        <p:strVal val="visible"/>
                                      </p:to>
                                    </p:set>
                                    <p:animEffect transition="in" filter="fade">
                                      <p:cBhvr>
                                        <p:cTn id="64" dur="450"/>
                                        <p:tgtEl>
                                          <p:spTgt spid="64"/>
                                        </p:tgtEl>
                                      </p:cBhvr>
                                    </p:animEffect>
                                  </p:childTnLst>
                                </p:cTn>
                              </p:par>
                              <p:par>
                                <p:cTn id="65" presetID="10" presetClass="entr" presetSubtype="0" fill="hold" grpId="0" nodeType="withEffect">
                                  <p:stCondLst>
                                    <p:cond delay="3000"/>
                                  </p:stCondLst>
                                  <p:childTnLst>
                                    <p:set>
                                      <p:cBhvr>
                                        <p:cTn id="66" dur="1" fill="hold">
                                          <p:stCondLst>
                                            <p:cond delay="0"/>
                                          </p:stCondLst>
                                        </p:cTn>
                                        <p:tgtEl>
                                          <p:spTgt spid="65"/>
                                        </p:tgtEl>
                                        <p:attrNameLst>
                                          <p:attrName>style.visibility</p:attrName>
                                        </p:attrNameLst>
                                      </p:cBhvr>
                                      <p:to>
                                        <p:strVal val="visible"/>
                                      </p:to>
                                    </p:set>
                                    <p:animEffect transition="in" filter="fade">
                                      <p:cBhvr>
                                        <p:cTn id="67" dur="450"/>
                                        <p:tgtEl>
                                          <p:spTgt spid="65"/>
                                        </p:tgtEl>
                                      </p:cBhvr>
                                    </p:animEffect>
                                  </p:childTnLst>
                                </p:cTn>
                              </p:par>
                            </p:childTnLst>
                          </p:cTn>
                        </p:par>
                        <p:par>
                          <p:cTn id="68" fill="hold">
                            <p:stCondLst>
                              <p:cond delay="900"/>
                            </p:stCondLst>
                            <p:childTnLst>
                              <p:par>
                                <p:cTn id="69" presetID="10" presetClass="entr" presetSubtype="0" fill="hold" grpId="0" nodeType="afterEffect">
                                  <p:stCondLst>
                                    <p:cond delay="40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50"/>
                                        <p:tgtEl>
                                          <p:spTgt spid="26"/>
                                        </p:tgtEl>
                                      </p:cBhvr>
                                    </p:animEffect>
                                  </p:childTnLst>
                                </p:cTn>
                              </p:par>
                              <p:par>
                                <p:cTn id="72" presetID="10" presetClass="entr" presetSubtype="0" fill="hold" grpId="0" nodeType="withEffect">
                                  <p:stCondLst>
                                    <p:cond delay="53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grpId="0" nodeType="withEffect">
                                  <p:stCondLst>
                                    <p:cond delay="66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50"/>
                                        <p:tgtEl>
                                          <p:spTgt spid="29"/>
                                        </p:tgtEl>
                                      </p:cBhvr>
                                    </p:animEffect>
                                  </p:childTnLst>
                                </p:cTn>
                              </p:par>
                              <p:par>
                                <p:cTn id="78" presetID="10" presetClass="entr" presetSubtype="0" fill="hold" grpId="0" nodeType="withEffect">
                                  <p:stCondLst>
                                    <p:cond delay="79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50"/>
                                        <p:tgtEl>
                                          <p:spTgt spid="31"/>
                                        </p:tgtEl>
                                      </p:cBhvr>
                                    </p:animEffect>
                                  </p:childTnLst>
                                </p:cTn>
                              </p:par>
                              <p:par>
                                <p:cTn id="81" presetID="10" presetClass="entr" presetSubtype="0" fill="hold" grpId="0" nodeType="withEffect">
                                  <p:stCondLst>
                                    <p:cond delay="92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450"/>
                                        <p:tgtEl>
                                          <p:spTgt spid="33"/>
                                        </p:tgtEl>
                                      </p:cBhvr>
                                    </p:animEffect>
                                  </p:childTnLst>
                                </p:cTn>
                              </p:par>
                              <p:par>
                                <p:cTn id="84" presetID="10" presetClass="entr" presetSubtype="0" fill="hold" grpId="0" nodeType="withEffect">
                                  <p:stCondLst>
                                    <p:cond delay="105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450"/>
                                        <p:tgtEl>
                                          <p:spTgt spid="35"/>
                                        </p:tgtEl>
                                      </p:cBhvr>
                                    </p:animEffect>
                                  </p:childTnLst>
                                </p:cTn>
                              </p:par>
                              <p:par>
                                <p:cTn id="87" presetID="10" presetClass="entr" presetSubtype="0" fill="hold" grpId="0" nodeType="withEffect">
                                  <p:stCondLst>
                                    <p:cond delay="118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450"/>
                                        <p:tgtEl>
                                          <p:spTgt spid="28"/>
                                        </p:tgtEl>
                                      </p:cBhvr>
                                    </p:animEffect>
                                  </p:childTnLst>
                                </p:cTn>
                              </p:par>
                              <p:par>
                                <p:cTn id="90" presetID="10" presetClass="entr" presetSubtype="0" fill="hold" grpId="0" nodeType="withEffect">
                                  <p:stCondLst>
                                    <p:cond delay="131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450"/>
                                        <p:tgtEl>
                                          <p:spTgt spid="30"/>
                                        </p:tgtEl>
                                      </p:cBhvr>
                                    </p:animEffect>
                                  </p:childTnLst>
                                </p:cTn>
                              </p:par>
                              <p:par>
                                <p:cTn id="93" presetID="10" presetClass="entr" presetSubtype="0" fill="hold" grpId="0" nodeType="withEffect">
                                  <p:stCondLst>
                                    <p:cond delay="144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450"/>
                                        <p:tgtEl>
                                          <p:spTgt spid="32"/>
                                        </p:tgtEl>
                                      </p:cBhvr>
                                    </p:animEffect>
                                  </p:childTnLst>
                                </p:cTn>
                              </p:par>
                              <p:par>
                                <p:cTn id="96" presetID="10" presetClass="entr" presetSubtype="0" fill="hold" grpId="0" nodeType="withEffect">
                                  <p:stCondLst>
                                    <p:cond delay="157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450"/>
                                        <p:tgtEl>
                                          <p:spTgt spid="34"/>
                                        </p:tgtEl>
                                      </p:cBhvr>
                                    </p:animEffect>
                                  </p:childTnLst>
                                </p:cTn>
                              </p:par>
                              <p:par>
                                <p:cTn id="99" presetID="10" presetClass="entr" presetSubtype="0" fill="hold" grpId="0" nodeType="withEffect">
                                  <p:stCondLst>
                                    <p:cond delay="170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par>
                                <p:cTn id="102" presetID="10" presetClass="entr" presetSubtype="0" fill="hold" grpId="0" nodeType="withEffect">
                                  <p:stCondLst>
                                    <p:cond delay="1830"/>
                                  </p:stCondLst>
                                  <p:childTnLst>
                                    <p:set>
                                      <p:cBhvr>
                                        <p:cTn id="103" dur="1" fill="hold">
                                          <p:stCondLst>
                                            <p:cond delay="0"/>
                                          </p:stCondLst>
                                        </p:cTn>
                                        <p:tgtEl>
                                          <p:spTgt spid="37"/>
                                        </p:tgtEl>
                                        <p:attrNameLst>
                                          <p:attrName>style.visibility</p:attrName>
                                        </p:attrNameLst>
                                      </p:cBhvr>
                                      <p:to>
                                        <p:strVal val="visible"/>
                                      </p:to>
                                    </p:set>
                                    <p:animEffect transition="in" filter="fade">
                                      <p:cBhvr>
                                        <p:cTn id="104" dur="450"/>
                                        <p:tgtEl>
                                          <p:spTgt spid="37"/>
                                        </p:tgtEl>
                                      </p:cBhvr>
                                    </p:animEffect>
                                  </p:childTnLst>
                                </p:cTn>
                              </p:par>
                              <p:par>
                                <p:cTn id="105" presetID="10" presetClass="entr" presetSubtype="0" fill="hold" grpId="0" nodeType="withEffect">
                                  <p:stCondLst>
                                    <p:cond delay="196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7" dur="450"/>
                                        <p:tgtEl>
                                          <p:spTgt spid="40"/>
                                        </p:tgtEl>
                                      </p:cBhvr>
                                    </p:animEffect>
                                  </p:childTnLst>
                                </p:cTn>
                              </p:par>
                              <p:par>
                                <p:cTn id="108" presetID="10" presetClass="entr" presetSubtype="0" fill="hold" grpId="0" nodeType="withEffect">
                                  <p:stCondLst>
                                    <p:cond delay="209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450"/>
                                        <p:tgtEl>
                                          <p:spTgt spid="38"/>
                                        </p:tgtEl>
                                      </p:cBhvr>
                                    </p:animEffect>
                                  </p:childTnLst>
                                </p:cTn>
                              </p:par>
                              <p:par>
                                <p:cTn id="111" presetID="10" presetClass="entr" presetSubtype="0" fill="hold" grpId="0" nodeType="withEffect">
                                  <p:stCondLst>
                                    <p:cond delay="222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450"/>
                                        <p:tgtEl>
                                          <p:spTgt spid="41"/>
                                        </p:tgtEl>
                                      </p:cBhvr>
                                    </p:animEffect>
                                  </p:childTnLst>
                                </p:cTn>
                              </p:par>
                            </p:childTnLst>
                          </p:cTn>
                        </p:par>
                        <p:par>
                          <p:cTn id="114" fill="hold">
                            <p:stCondLst>
                              <p:cond delay="1800"/>
                            </p:stCondLst>
                            <p:childTnLst>
                              <p:par>
                                <p:cTn id="115" presetID="10" presetClass="entr" presetSubtype="0" fill="hold" grpId="0" nodeType="afterEffect">
                                  <p:stCondLst>
                                    <p:cond delay="400"/>
                                  </p:stCondLst>
                                  <p:childTnLst>
                                    <p:set>
                                      <p:cBhvr>
                                        <p:cTn id="116" dur="1" fill="hold">
                                          <p:stCondLst>
                                            <p:cond delay="0"/>
                                          </p:stCondLst>
                                        </p:cTn>
                                        <p:tgtEl>
                                          <p:spTgt spid="39"/>
                                        </p:tgtEl>
                                        <p:attrNameLst>
                                          <p:attrName>style.visibility</p:attrName>
                                        </p:attrNameLst>
                                      </p:cBhvr>
                                      <p:to>
                                        <p:strVal val="visible"/>
                                      </p:to>
                                    </p:set>
                                    <p:animEffect transition="in" filter="fade">
                                      <p:cBhvr>
                                        <p:cTn id="117" dur="450"/>
                                        <p:tgtEl>
                                          <p:spTgt spid="39"/>
                                        </p:tgtEl>
                                      </p:cBhvr>
                                    </p:animEffect>
                                  </p:childTnLst>
                                </p:cTn>
                              </p:par>
                              <p:par>
                                <p:cTn id="118" presetID="10" presetClass="entr" presetSubtype="0" fill="hold" grpId="0" nodeType="withEffect">
                                  <p:stCondLst>
                                    <p:cond delay="530"/>
                                  </p:stCondLst>
                                  <p:childTnLst>
                                    <p:set>
                                      <p:cBhvr>
                                        <p:cTn id="119" dur="1" fill="hold">
                                          <p:stCondLst>
                                            <p:cond delay="0"/>
                                          </p:stCondLst>
                                        </p:cTn>
                                        <p:tgtEl>
                                          <p:spTgt spid="42"/>
                                        </p:tgtEl>
                                        <p:attrNameLst>
                                          <p:attrName>style.visibility</p:attrName>
                                        </p:attrNameLst>
                                      </p:cBhvr>
                                      <p:to>
                                        <p:strVal val="visible"/>
                                      </p:to>
                                    </p:set>
                                    <p:animEffect transition="in" filter="fade">
                                      <p:cBhvr>
                                        <p:cTn id="120" dur="450"/>
                                        <p:tgtEl>
                                          <p:spTgt spid="42"/>
                                        </p:tgtEl>
                                      </p:cBhvr>
                                    </p:animEffect>
                                  </p:childTnLst>
                                </p:cTn>
                              </p:par>
                              <p:par>
                                <p:cTn id="124" presetID="10" presetClass="entr" presetSubtype="0" fill="hold" grpId="0" nodeType="withEffect">
                                  <p:stCondLst>
                                    <p:cond delay="920"/>
                                  </p:stCondLst>
                                  <p:childTnLst>
                                    <p:set>
                                      <p:cBhvr>
                                        <p:cTn id="125" dur="1" fill="hold">
                                          <p:stCondLst>
                                            <p:cond delay="0"/>
                                          </p:stCondLst>
                                        </p:cTn>
                                        <p:tgtEl>
                                          <p:spTgt spid="80"/>
                                        </p:tgtEl>
                                        <p:attrNameLst>
                                          <p:attrName>style.visibility</p:attrName>
                                        </p:attrNameLst>
                                      </p:cBhvr>
                                      <p:to>
                                        <p:strVal val="visible"/>
                                      </p:to>
                                    </p:set>
                                    <p:animEffect transition="in" filter="fade">
                                      <p:cBhvr>
                                        <p:cTn id="126" dur="450"/>
                                        <p:tgtEl>
                                          <p:spTgt spid="80"/>
                                        </p:tgtEl>
                                      </p:cBhvr>
                                    </p:animEffect>
                                  </p:childTnLst>
                                </p:cTn>
                              </p:par>
                              <p:par>
                                <p:cTn id="127" presetID="10" presetClass="entr" presetSubtype="0" fill="hold" grpId="0" nodeType="withEffect">
                                  <p:stCondLst>
                                    <p:cond delay="1050"/>
                                  </p:stCondLst>
                                  <p:childTnLst>
                                    <p:set>
                                      <p:cBhvr>
                                        <p:cTn id="128" dur="1" fill="hold">
                                          <p:stCondLst>
                                            <p:cond delay="0"/>
                                          </p:stCondLst>
                                        </p:cTn>
                                        <p:tgtEl>
                                          <p:spTgt spid="79"/>
                                        </p:tgtEl>
                                        <p:attrNameLst>
                                          <p:attrName>style.visibility</p:attrName>
                                        </p:attrNameLst>
                                      </p:cBhvr>
                                      <p:to>
                                        <p:strVal val="visible"/>
                                      </p:to>
                                    </p:set>
                                    <p:animEffect transition="in" filter="fade">
                                      <p:cBhvr>
                                        <p:cTn id="129" dur="450"/>
                                        <p:tgtEl>
                                          <p:spTgt spid="79"/>
                                        </p:tgtEl>
                                      </p:cBhvr>
                                    </p:animEffect>
                                  </p:childTnLst>
                                </p:cTn>
                              </p:par>
                            </p:childTnLst>
                          </p:cTn>
                        </p:par>
                        <p:par>
                          <p:cTn id="130" fill="hold">
                            <p:stCondLst>
                              <p:cond delay="2700"/>
                            </p:stCondLst>
                            <p:childTnLst>
                              <p:par>
                                <p:cTn id="131" presetID="10" presetClass="entr" presetSubtype="0" fill="hold" grpId="0" nodeType="afterEffect">
                                  <p:stCondLst>
                                    <p:cond delay="400"/>
                                  </p:stCondLst>
                                  <p:childTnLst>
                                    <p:set>
                                      <p:cBhvr>
                                        <p:cTn id="132" dur="1" fill="hold">
                                          <p:stCondLst>
                                            <p:cond delay="0"/>
                                          </p:stCondLst>
                                        </p:cTn>
                                        <p:tgtEl>
                                          <p:spTgt spid="77"/>
                                        </p:tgtEl>
                                        <p:attrNameLst>
                                          <p:attrName>style.visibility</p:attrName>
                                        </p:attrNameLst>
                                      </p:cBhvr>
                                      <p:to>
                                        <p:strVal val="visible"/>
                                      </p:to>
                                    </p:set>
                                    <p:animEffect transition="in" filter="fade">
                                      <p:cBhvr>
                                        <p:cTn id="133" dur="45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29" name="Rectangle 28"/>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300"/>
          <p:cNvSpPr>
            <a:spLocks noGrp="1"/>
          </p:cNvSpPr>
          <p:nvPr/>
        </p:nvSpPr>
        <p:spPr>
          <a:xfrm>
            <a:off x="361950" y="1123950"/>
            <a:ext cx="7915275" cy="4514850"/>
          </a:xfrm>
          <a:prstGeom prst="roundRect">
            <a:avLst>
              <a:gd name="adj" fmla="val 1688"/>
            </a:avLst>
          </a:prstGeom>
          <a:solidFill>
            <a:srgbClr val="FAFBFA">
              <a:alpha val="74000"/>
            </a:srgbClr>
          </a:solidFill>
          <a:ln w="11430">
            <a:solidFill>
              <a:srgbClr val="D5DED6"/>
            </a:solidFill>
            <a:prstDash val="solid"/>
          </a:ln>
        </p:spPr>
        <p:txBody>
          <a:bodyPr/>
          <a:p>
            <a:pPr>
              <a:defRPr>
                <a:latin typeface="Times New Roman" panose="02020603050405020304"/>
              </a:defRPr>
            </a:pPr>
          </a:p>
        </p:txBody>
      </p:sp>
      <p:pic>
        <p:nvPicPr>
          <p:cNvPr id="22" name="anim_302"/>
          <p:cNvPicPr>
            <a:picLocks noChangeAspect="1"/>
          </p:cNvPicPr>
          <p:nvPr/>
        </p:nvPicPr>
        <p:blipFill>
          <a:blip r:embed="rId2"/>
          <a:stretch>
            <a:fillRect/>
          </a:stretch>
        </p:blipFill>
        <p:spPr>
          <a:xfrm>
            <a:off x="494172" y="1162050"/>
            <a:ext cx="7650831" cy="4438650"/>
          </a:xfrm>
          <a:prstGeom prst="rect">
            <a:avLst/>
          </a:prstGeom>
        </p:spPr>
      </p:pic>
      <p:sp>
        <p:nvSpPr>
          <p:cNvPr id="8" name="anim_301"/>
          <p:cNvSpPr>
            <a:spLocks noGrp="1"/>
          </p:cNvSpPr>
          <p:nvPr/>
        </p:nvSpPr>
        <p:spPr>
          <a:xfrm>
            <a:off x="8572500" y="1143000"/>
            <a:ext cx="2190750" cy="26670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1992 → 2021</a:t>
            </a:r>
            <a:endParaRPr>
              <a:solidFill/>
              <a:latin typeface="Times New Roman" panose="02020603050405020304"/>
            </a:endParaRPr>
          </a:p>
        </p:txBody>
      </p:sp>
      <p:sp>
        <p:nvSpPr>
          <p:cNvPr id="9" name="anim_303"/>
          <p:cNvSpPr>
            <a:spLocks noGrp="1"/>
          </p:cNvSpPr>
          <p:nvPr/>
        </p:nvSpPr>
        <p:spPr>
          <a:xfrm>
            <a:off x="8572500" y="1504950"/>
            <a:ext cx="2609850" cy="1123950"/>
          </a:xfrm>
          <a:prstGeom prst="roundRect">
            <a:avLst>
              <a:gd name="adj" fmla="val 10169"/>
            </a:avLst>
          </a:prstGeom>
          <a:solidFill>
            <a:srgbClr val="ECEFF4">
              <a:alpha val="74000"/>
            </a:srgbClr>
          </a:solidFill>
          <a:ln w="14288">
            <a:solidFill>
              <a:srgbClr val="4F6E96"/>
            </a:solidFill>
            <a:prstDash val="solid"/>
          </a:ln>
        </p:spPr>
        <p:txBody>
          <a:bodyPr/>
          <a:p>
            <a:pPr>
              <a:defRPr>
                <a:latin typeface="Times New Roman" panose="02020603050405020304"/>
              </a:defRPr>
            </a:pPr>
          </a:p>
        </p:txBody>
      </p:sp>
      <p:sp>
        <p:nvSpPr>
          <p:cNvPr id="10" name="anim_304"/>
          <p:cNvSpPr>
            <a:spLocks noGrp="1"/>
          </p:cNvSpPr>
          <p:nvPr/>
        </p:nvSpPr>
        <p:spPr>
          <a:xfrm>
            <a:off x="8705850" y="1600200"/>
            <a:ext cx="2343150" cy="514350"/>
          </a:xfrm>
          <a:prstGeom prst="rect">
            <a:avLst/>
          </a:prstGeom>
          <a:solidFill>
            <a:srgbClr val="ECEFF4">
              <a:alpha val="74000"/>
            </a:srgbClr>
          </a:solidFill>
          <a:ln w="0">
            <a:solidFill>
              <a:srgbClr val="ECEFF4"/>
            </a:solidFill>
            <a:prstDash val="solid"/>
          </a:ln>
        </p:spPr>
        <p:txBody>
          <a:bodyPr anchor="ctr"/>
          <a:lstStyle/>
          <a:p>
            <a:pPr algn="l">
              <a:defRPr sz="2550" b="1" i="0">
                <a:solidFill>
                  <a:srgbClr val="4472C4"/>
                </a:solidFill>
                <a:latin typeface="Times New Roman" panose="02020603050405020304"/>
                <a:ea typeface="Times New Roman" panose="02020603050405020304"/>
                <a:cs typeface="Times New Roman" panose="02020603050405020304"/>
              </a:defRPr>
            </a:pPr>
            <a:r>
              <a:rPr>
                <a:solidFill/>
                <a:latin typeface="Times New Roman" panose="02020603050405020304"/>
              </a:rPr>
              <a:t>+63.8%</a:t>
            </a:r>
            <a:endParaRPr>
              <a:solidFill/>
              <a:latin typeface="Times New Roman" panose="02020603050405020304"/>
            </a:endParaRPr>
          </a:p>
        </p:txBody>
      </p:sp>
      <p:sp>
        <p:nvSpPr>
          <p:cNvPr id="11" name="anim_305"/>
          <p:cNvSpPr>
            <a:spLocks noGrp="1"/>
          </p:cNvSpPr>
          <p:nvPr/>
        </p:nvSpPr>
        <p:spPr>
          <a:xfrm>
            <a:off x="8705850" y="2114550"/>
            <a:ext cx="2343150" cy="381000"/>
          </a:xfrm>
          <a:prstGeom prst="rect">
            <a:avLst/>
          </a:prstGeom>
          <a:solidFill>
            <a:srgbClr val="ECEFF4">
              <a:alpha val="74000"/>
            </a:srgbClr>
          </a:solidFill>
          <a:ln w="0">
            <a:solidFill>
              <a:srgbClr val="ECEFF4"/>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Global total</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21.97 → 35.98 Gt</a:t>
            </a:r>
            <a:endParaRPr>
              <a:solidFill/>
              <a:latin typeface="Times New Roman" panose="02020603050405020304"/>
            </a:endParaRPr>
          </a:p>
        </p:txBody>
      </p:sp>
      <p:sp>
        <p:nvSpPr>
          <p:cNvPr id="12" name="anim_306"/>
          <p:cNvSpPr>
            <a:spLocks noGrp="1"/>
          </p:cNvSpPr>
          <p:nvPr/>
        </p:nvSpPr>
        <p:spPr>
          <a:xfrm>
            <a:off x="8572500" y="2819400"/>
            <a:ext cx="2609850" cy="1123950"/>
          </a:xfrm>
          <a:prstGeom prst="roundRect">
            <a:avLst>
              <a:gd name="adj" fmla="val 10169"/>
            </a:avLst>
          </a:prstGeom>
          <a:solidFill>
            <a:srgbClr val="F7F1EA"/>
          </a:solidFill>
          <a:ln w="14288">
            <a:solidFill>
              <a:srgbClr val="BE7F4E"/>
            </a:solidFill>
            <a:prstDash val="solid"/>
          </a:ln>
        </p:spPr>
        <p:txBody>
          <a:bodyPr/>
          <a:p>
            <a:pPr>
              <a:defRPr>
                <a:latin typeface="Times New Roman" panose="02020603050405020304"/>
              </a:defRPr>
            </a:pPr>
          </a:p>
        </p:txBody>
      </p:sp>
      <p:sp>
        <p:nvSpPr>
          <p:cNvPr id="13" name="anim_307"/>
          <p:cNvSpPr>
            <a:spLocks noGrp="1"/>
          </p:cNvSpPr>
          <p:nvPr/>
        </p:nvSpPr>
        <p:spPr>
          <a:xfrm>
            <a:off x="8705850" y="2914650"/>
            <a:ext cx="2343150" cy="514350"/>
          </a:xfrm>
          <a:prstGeom prst="rect">
            <a:avLst/>
          </a:prstGeom>
          <a:solidFill>
            <a:srgbClr val="F7F1EA"/>
          </a:solidFill>
          <a:ln w="0">
            <a:solidFill>
              <a:srgbClr val="F7F1EA"/>
            </a:solidFill>
            <a:prstDash val="solid"/>
          </a:ln>
        </p:spPr>
        <p:txBody>
          <a:bodyPr anchor="ctr"/>
          <a:lstStyle/>
          <a:p>
            <a:pPr algn="l">
              <a:defRPr sz="2550" b="1" i="0">
                <a:solidFill>
                  <a:srgbClr val="ED7D31"/>
                </a:solidFill>
                <a:latin typeface="Times New Roman" panose="02020603050405020304"/>
                <a:ea typeface="Times New Roman" panose="02020603050405020304"/>
                <a:cs typeface="Times New Roman" panose="02020603050405020304"/>
              </a:defRPr>
            </a:pPr>
            <a:r>
              <a:rPr>
                <a:solidFill/>
                <a:latin typeface="Times New Roman" panose="02020603050405020304"/>
              </a:rPr>
              <a:t>+13.3%</a:t>
            </a:r>
            <a:endParaRPr>
              <a:solidFill/>
              <a:latin typeface="Times New Roman" panose="02020603050405020304"/>
            </a:endParaRPr>
          </a:p>
        </p:txBody>
      </p:sp>
      <p:sp>
        <p:nvSpPr>
          <p:cNvPr id="14" name="anim_308"/>
          <p:cNvSpPr>
            <a:spLocks noGrp="1"/>
          </p:cNvSpPr>
          <p:nvPr/>
        </p:nvSpPr>
        <p:spPr>
          <a:xfrm>
            <a:off x="8705850" y="3429000"/>
            <a:ext cx="2343150" cy="381000"/>
          </a:xfrm>
          <a:prstGeom prst="rect">
            <a:avLst/>
          </a:prstGeom>
          <a:solidFill>
            <a:srgbClr val="F7F1EA"/>
          </a:solidFill>
          <a:ln w="0">
            <a:solidFill>
              <a:srgbClr val="F7F1EA"/>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Per person</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4.00 → 4.53 t</a:t>
            </a:r>
            <a:endParaRPr>
              <a:solidFill/>
              <a:latin typeface="Times New Roman" panose="02020603050405020304"/>
            </a:endParaRPr>
          </a:p>
        </p:txBody>
      </p:sp>
      <p:sp>
        <p:nvSpPr>
          <p:cNvPr id="15" name="anim_309"/>
          <p:cNvSpPr>
            <a:spLocks noGrp="1"/>
          </p:cNvSpPr>
          <p:nvPr/>
        </p:nvSpPr>
        <p:spPr>
          <a:xfrm>
            <a:off x="8572500" y="4238625"/>
            <a:ext cx="2609850" cy="1362075"/>
          </a:xfrm>
          <a:prstGeom prst="roundRect">
            <a:avLst>
              <a:gd name="adj" fmla="val 5594"/>
            </a:avLst>
          </a:prstGeom>
          <a:solidFill>
            <a:srgbClr val="FAFBFA">
              <a:alpha val="74000"/>
            </a:srgbClr>
          </a:solidFill>
          <a:ln w="11430">
            <a:solidFill>
              <a:srgbClr val="D5DED6"/>
            </a:solidFill>
            <a:prstDash val="solid"/>
          </a:ln>
        </p:spPr>
        <p:txBody>
          <a:bodyPr/>
          <a:p>
            <a:pPr>
              <a:defRPr>
                <a:latin typeface="Times New Roman" panose="02020603050405020304"/>
              </a:defRPr>
            </a:pPr>
          </a:p>
        </p:txBody>
      </p:sp>
      <p:sp>
        <p:nvSpPr>
          <p:cNvPr id="16" name="anim_310"/>
          <p:cNvSpPr>
            <a:spLocks noGrp="1"/>
          </p:cNvSpPr>
          <p:nvPr/>
        </p:nvSpPr>
        <p:spPr>
          <a:xfrm>
            <a:off x="8743950" y="4343400"/>
            <a:ext cx="2095500" cy="266700"/>
          </a:xfrm>
          <a:prstGeom prst="rect">
            <a:avLst/>
          </a:prstGeom>
          <a:solidFill>
            <a:srgbClr val="FAFBFA">
              <a:alpha val="74000"/>
            </a:srgbClr>
          </a:solidFill>
          <a:ln w="0">
            <a:solidFill>
              <a:srgbClr val="FAFBFA"/>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INTERPRETATION</a:t>
            </a:r>
            <a:endParaRPr>
              <a:solidFill/>
              <a:latin typeface="Times New Roman" panose="02020603050405020304"/>
            </a:endParaRPr>
          </a:p>
        </p:txBody>
      </p:sp>
      <p:sp>
        <p:nvSpPr>
          <p:cNvPr id="17" name="anim_311"/>
          <p:cNvSpPr>
            <a:spLocks noGrp="1"/>
          </p:cNvSpPr>
          <p:nvPr/>
        </p:nvSpPr>
        <p:spPr>
          <a:xfrm>
            <a:off x="8743950" y="4686300"/>
            <a:ext cx="2266950" cy="723900"/>
          </a:xfrm>
          <a:prstGeom prst="rect">
            <a:avLst/>
          </a:prstGeom>
          <a:solidFill>
            <a:srgbClr val="FAFBFA">
              <a:alpha val="74000"/>
            </a:srgbClr>
          </a:solidFill>
          <a:ln w="0">
            <a:solidFill>
              <a:srgbClr val="FAFBFA"/>
            </a:solidFill>
            <a:prstDash val="solid"/>
          </a:ln>
        </p:spPr>
        <p:txBody>
          <a:bodyPr anchor="t"/>
          <a:lstStyle/>
          <a:p>
            <a:pPr algn="l">
              <a:defRPr sz="13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Most growth came from scale, not equal growth in emissions intensity.</a:t>
            </a:r>
            <a:endParaRPr>
              <a:solidFill/>
              <a:latin typeface="Times New Roman" panose="02020603050405020304"/>
            </a:endParaRPr>
          </a:p>
        </p:txBody>
      </p:sp>
      <p:sp>
        <p:nvSpPr>
          <p:cNvPr id="28" name="TextBox 27"/>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3 / 7</a:t>
            </a:r>
            <a:endParaRPr sz="1300" b="1">
              <a:solidFill>
                <a:srgbClr val="D3E3D6"/>
              </a:solidFill>
              <a:latin typeface="Times New Roman" panose="02020603050405020304"/>
            </a:endParaRPr>
          </a:p>
        </p:txBody>
      </p:sp>
      <p:sp>
        <p:nvSpPr>
          <p:cNvPr id="30" name="Rectangle 29"/>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299"/>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2" name="TextBox 31"/>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How much did the covered emissions rise, 1992-2021?</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Total CO2 grew nearly five times faster than per person</a:t>
            </a:r>
            <a:endParaRPr sz="2300" b="1">
              <a:solidFill>
                <a:srgbClr val="FFFFFF"/>
              </a:solidFill>
              <a:latin typeface="Georgia" panose="02040502050405020303"/>
            </a:endParaRPr>
          </a:p>
        </p:txBody>
      </p:sp>
      <p:sp>
        <p:nvSpPr>
          <p:cNvPr id="33" name="TextBox 32"/>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3 / 7</a:t>
            </a:r>
            <a:endParaRPr sz="1400" b="1">
              <a:solidFill>
                <a:srgbClr val="D3E3D6"/>
              </a:solidFill>
              <a:latin typeface="Times New Roman" panose="02020603050405020304"/>
            </a:endParaRPr>
          </a:p>
        </p:txBody>
      </p:sp>
      <p:sp>
        <p:nvSpPr>
          <p:cNvPr id="34" name="anim_316"/>
          <p:cNvSpPr txBox="1"/>
          <p:nvPr/>
        </p:nvSpPr>
        <p:spPr>
          <a:xfrm>
            <a:off x="777240" y="5815584"/>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it matters:  </a:t>
            </a:r>
            <a:r>
              <a:rPr sz="1350" b="0">
                <a:solidFill>
                  <a:srgbClr val="252B30"/>
                </a:solidFill>
                <a:latin typeface="Times New Roman" panose="02020603050405020304"/>
              </a:rPr>
              <a:t>the aggregate tells us the total grew, not which countries produced the growth or how their paths differ.</a:t>
            </a:r>
            <a:endParaRPr sz="1350" b="0">
              <a:solidFill>
                <a:srgbClr val="252B30"/>
              </a:solidFill>
              <a:latin typeface="Times New Roman" panose="02020603050405020304"/>
            </a:endParaRPr>
          </a:p>
        </p:txBody>
      </p:sp>
      <p:sp>
        <p:nvSpPr>
          <p:cNvPr id="35" name="anim_314"/>
          <p:cNvSpPr txBox="1"/>
          <p:nvPr/>
        </p:nvSpPr>
        <p:spPr>
          <a:xfrm>
            <a:off x="1615948" y="6376035"/>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REYIZA RESIBIEKE</a:t>
            </a:r>
            <a:endParaRPr sz="1300" b="1">
              <a:solidFill>
                <a:srgbClr val="6E7672"/>
              </a:solidFill>
              <a:latin typeface="Times New Roman" panose="02020603050405020304"/>
            </a:endParaRPr>
          </a:p>
        </p:txBody>
      </p:sp>
      <p:sp>
        <p:nvSpPr>
          <p:cNvPr id="36" name="anim_315"/>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6</a:t>
            </a:r>
            <a:endParaRPr sz="1400" b="0">
              <a:solidFill>
                <a:srgbClr val="6E7672"/>
              </a:solidFill>
              <a:latin typeface="Times New Roman" panose="02020603050405020304"/>
            </a:endParaRPr>
          </a:p>
        </p:txBody>
      </p:sp>
      <p:sp>
        <p:nvSpPr>
          <p:cNvPr id="2"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50"/>
                                        <p:tgtEl>
                                          <p:spTgt spid="31"/>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450"/>
                                        <p:tgtEl>
                                          <p:spTgt spid="22"/>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50"/>
                                        <p:tgtEl>
                                          <p:spTgt spid="9"/>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par>
                                <p:cTn id="23" presetID="10" presetClass="entr" presetSubtype="0" fill="hold" grpId="0" nodeType="withEffect">
                                  <p:stCondLst>
                                    <p:cond delay="1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131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childTnLst>
                          </p:cTn>
                        </p:par>
                        <p:par>
                          <p:cTn id="29" fill="hold">
                            <p:stCondLst>
                              <p:cond delay="900"/>
                            </p:stCondLst>
                            <p:childTnLst>
                              <p:par>
                                <p:cTn id="30" presetID="10" presetClass="entr" presetSubtype="0" fill="hold" grpId="0" nodeType="afterEffect">
                                  <p:stCondLst>
                                    <p:cond delay="40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childTnLst>
                                </p:cTn>
                              </p:par>
                              <p:par>
                                <p:cTn id="33" presetID="10" presetClass="entr" presetSubtype="0" fill="hold" grpId="0" nodeType="withEffect">
                                  <p:stCondLst>
                                    <p:cond delay="53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66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79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92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par>
                          <p:cTn id="45" fill="hold">
                            <p:stCondLst>
                              <p:cond delay="1800"/>
                            </p:stCondLst>
                            <p:childTnLst>
                              <p:par>
                                <p:cTn id="49" presetID="10" presetClass="entr" presetSubtype="0" fill="hold" grpId="0" nodeType="withEffect">
                                  <p:stCondLst>
                                    <p:cond delay="53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450"/>
                                        <p:tgtEl>
                                          <p:spTgt spid="35"/>
                                        </p:tgtEl>
                                      </p:cBhvr>
                                    </p:animEffect>
                                  </p:childTnLst>
                                </p:cTn>
                              </p:par>
                              <p:par>
                                <p:cTn id="52" presetID="10" presetClass="entr" presetSubtype="0" fill="hold" grpId="0" nodeType="withEffect">
                                  <p:stCondLst>
                                    <p:cond delay="66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450"/>
                                        <p:tgtEl>
                                          <p:spTgt spid="36"/>
                                        </p:tgtEl>
                                      </p:cBhvr>
                                    </p:animEffect>
                                  </p:childTnLst>
                                </p:cTn>
                              </p:par>
                            </p:childTnLst>
                          </p:cTn>
                        </p:par>
                        <p:par>
                          <p:cTn id="55" fill="hold">
                            <p:stCondLst>
                              <p:cond delay="2700"/>
                            </p:stCondLst>
                            <p:childTnLst>
                              <p:par>
                                <p:cTn id="56" presetID="10" presetClass="entr" presetSubtype="0" fill="hold" grpId="0" nodeType="afterEffect">
                                  <p:stCondLst>
                                    <p:cond delay="400"/>
                                  </p:stCondLst>
                                  <p:childTnLst>
                                    <p:set>
                                      <p:cBhvr>
                                        <p:cTn id="57" dur="1" fill="hold">
                                          <p:stCondLst>
                                            <p:cond delay="0"/>
                                          </p:stCondLst>
                                        </p:cTn>
                                        <p:tgtEl>
                                          <p:spTgt spid="34"/>
                                        </p:tgtEl>
                                        <p:attrNameLst>
                                          <p:attrName>style.visibility</p:attrName>
                                        </p:attrNameLst>
                                      </p:cBhvr>
                                      <p:to>
                                        <p:strVal val="visible"/>
                                      </p:to>
                                    </p:set>
                                    <p:animEffect transition="in" filter="fade">
                                      <p:cBhvr>
                                        <p:cTn id="58"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43" name="Rectangle 42"/>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319"/>
          <p:cNvSpPr>
            <a:spLocks noGrp="1"/>
          </p:cNvSpPr>
          <p:nvPr/>
        </p:nvSpPr>
        <p:spPr>
          <a:xfrm>
            <a:off x="400050" y="1181100"/>
            <a:ext cx="2628900" cy="4400550"/>
          </a:xfrm>
          <a:prstGeom prst="roundRect">
            <a:avLst>
              <a:gd name="adj" fmla="val 2899"/>
            </a:avLst>
          </a:prstGeom>
          <a:solidFill>
            <a:srgbClr val="FAFBFA">
              <a:alpha val="74000"/>
            </a:srgbClr>
          </a:solidFill>
          <a:ln w="11430">
            <a:solidFill>
              <a:srgbClr val="D5DED6"/>
            </a:solidFill>
            <a:prstDash val="solid"/>
          </a:ln>
        </p:spPr>
        <p:txBody>
          <a:bodyPr/>
          <a:p>
            <a:pPr>
              <a:defRPr>
                <a:latin typeface="Times New Roman" panose="02020603050405020304"/>
              </a:defRPr>
            </a:pPr>
          </a:p>
        </p:txBody>
      </p:sp>
      <p:sp>
        <p:nvSpPr>
          <p:cNvPr id="7" name="anim_321"/>
          <p:cNvSpPr>
            <a:spLocks noGrp="1"/>
          </p:cNvSpPr>
          <p:nvPr/>
        </p:nvSpPr>
        <p:spPr>
          <a:xfrm>
            <a:off x="590550" y="1352550"/>
            <a:ext cx="2095500" cy="266700"/>
          </a:xfrm>
          <a:prstGeom prst="rect">
            <a:avLst/>
          </a:prstGeom>
          <a:solidFill>
            <a:srgbClr val="FAFBFA">
              <a:alpha val="74000"/>
            </a:srgbClr>
          </a:solidFill>
          <a:ln w="0">
            <a:solidFill>
              <a:srgbClr val="FAFBFA"/>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HOW TO READ</a:t>
            </a:r>
            <a:endParaRPr>
              <a:solidFill/>
              <a:latin typeface="Times New Roman" panose="02020603050405020304"/>
            </a:endParaRPr>
          </a:p>
        </p:txBody>
      </p:sp>
      <p:sp>
        <p:nvSpPr>
          <p:cNvPr id="8" name="anim_322"/>
          <p:cNvSpPr>
            <a:spLocks noGrp="1"/>
          </p:cNvSpPr>
          <p:nvPr/>
        </p:nvSpPr>
        <p:spPr>
          <a:xfrm>
            <a:off x="590550" y="1752600"/>
            <a:ext cx="361950" cy="400050"/>
          </a:xfrm>
          <a:prstGeom prst="rect">
            <a:avLst/>
          </a:prstGeom>
          <a:solidFill>
            <a:srgbClr val="4F6E96"/>
          </a:solidFill>
          <a:ln w="0">
            <a:solidFill>
              <a:srgbClr val="4F6E96"/>
            </a:solidFill>
            <a:prstDash val="solid"/>
          </a:ln>
        </p:spPr>
        <p:txBody>
          <a:bodyPr anchor="ctr"/>
          <a:lstStyle/>
          <a:p>
            <a:pPr algn="ctr">
              <a:defRPr sz="15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X</a:t>
            </a:r>
            <a:endParaRPr>
              <a:solidFill/>
              <a:latin typeface="Times New Roman" panose="02020603050405020304"/>
            </a:endParaRPr>
          </a:p>
        </p:txBody>
      </p:sp>
      <p:sp>
        <p:nvSpPr>
          <p:cNvPr id="9" name="anim_323"/>
          <p:cNvSpPr>
            <a:spLocks noGrp="1"/>
          </p:cNvSpPr>
          <p:nvPr/>
        </p:nvSpPr>
        <p:spPr>
          <a:xfrm>
            <a:off x="1066800" y="1752600"/>
            <a:ext cx="1695450" cy="400050"/>
          </a:xfrm>
          <a:prstGeom prst="rect">
            <a:avLst/>
          </a:prstGeom>
          <a:solidFill>
            <a:srgbClr val="FAFBFA">
              <a:alpha val="74000"/>
            </a:srgbClr>
          </a:solidFill>
          <a:ln w="0">
            <a:solidFill>
              <a:srgbClr val="FAFBFA"/>
            </a:solidFill>
            <a:prstDash val="solid"/>
          </a:ln>
        </p:spPr>
        <p:txBody>
          <a:bodyPr anchor="ctr"/>
          <a:lstStyle/>
          <a:p>
            <a:pPr algn="l">
              <a:defRPr sz="13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Long-term log trend</a:t>
            </a:r>
            <a:endParaRPr>
              <a:solidFill/>
              <a:latin typeface="Times New Roman" panose="02020603050405020304"/>
            </a:endParaRPr>
          </a:p>
        </p:txBody>
      </p:sp>
      <p:sp>
        <p:nvSpPr>
          <p:cNvPr id="10" name="anim_325"/>
          <p:cNvSpPr>
            <a:spLocks noGrp="1"/>
          </p:cNvSpPr>
          <p:nvPr/>
        </p:nvSpPr>
        <p:spPr>
          <a:xfrm>
            <a:off x="590550" y="2324100"/>
            <a:ext cx="361950" cy="400050"/>
          </a:xfrm>
          <a:prstGeom prst="rect">
            <a:avLst/>
          </a:prstGeom>
          <a:solidFill>
            <a:srgbClr val="BE7F4E"/>
          </a:solidFill>
          <a:ln w="0">
            <a:solidFill>
              <a:srgbClr val="BE7F4E"/>
            </a:solidFill>
            <a:prstDash val="solid"/>
          </a:ln>
        </p:spPr>
        <p:txBody>
          <a:bodyPr anchor="ctr"/>
          <a:lstStyle/>
          <a:p>
            <a:pPr algn="ctr">
              <a:defRPr sz="15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Y</a:t>
            </a:r>
            <a:endParaRPr>
              <a:solidFill/>
              <a:latin typeface="Times New Roman" panose="02020603050405020304"/>
            </a:endParaRPr>
          </a:p>
        </p:txBody>
      </p:sp>
      <p:sp>
        <p:nvSpPr>
          <p:cNvPr id="11" name="anim_324"/>
          <p:cNvSpPr>
            <a:spLocks noGrp="1"/>
          </p:cNvSpPr>
          <p:nvPr/>
        </p:nvSpPr>
        <p:spPr>
          <a:xfrm>
            <a:off x="1066800" y="2266950"/>
            <a:ext cx="1695450" cy="514350"/>
          </a:xfrm>
          <a:prstGeom prst="rect">
            <a:avLst/>
          </a:prstGeom>
          <a:solidFill>
            <a:srgbClr val="FAFBFA">
              <a:alpha val="74000"/>
            </a:srgbClr>
          </a:solidFill>
          <a:ln w="0">
            <a:solidFill>
              <a:srgbClr val="FAFBFA"/>
            </a:solidFill>
            <a:prstDash val="solid"/>
          </a:ln>
        </p:spPr>
        <p:txBody>
          <a:bodyPr anchor="ctr"/>
          <a:lstStyle/>
          <a:p>
            <a:pPr algn="l">
              <a:defRPr sz="13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Recent minus long-term</a:t>
            </a:r>
            <a:endParaRPr>
              <a:solidFill/>
              <a:latin typeface="Times New Roman" panose="02020603050405020304"/>
            </a:endParaRPr>
          </a:p>
        </p:txBody>
      </p:sp>
      <p:sp>
        <p:nvSpPr>
          <p:cNvPr id="12" name="anim_327"/>
          <p:cNvSpPr>
            <a:spLocks noGrp="1"/>
          </p:cNvSpPr>
          <p:nvPr/>
        </p:nvSpPr>
        <p:spPr>
          <a:xfrm>
            <a:off x="590550" y="3048000"/>
            <a:ext cx="323850" cy="323850"/>
          </a:xfrm>
          <a:prstGeom prst="rect">
            <a:avLst/>
          </a:prstGeom>
          <a:solidFill>
            <a:srgbClr val="FAFBFA">
              <a:alpha val="74000"/>
            </a:srgbClr>
          </a:solidFill>
          <a:ln w="0">
            <a:solidFill>
              <a:srgbClr val="FAFBFA"/>
            </a:solidFill>
            <a:prstDash val="solid"/>
          </a:ln>
        </p:spPr>
        <p:txBody>
          <a:bodyPr anchor="ctr"/>
          <a:lstStyle/>
          <a:p>
            <a:pPr algn="ctr">
              <a:defRPr sz="1500" b="0" i="0">
                <a:solidFill>
                  <a:srgbClr val="4472C4"/>
                </a:solidFill>
                <a:latin typeface="Times New Roman" panose="02020603050405020304"/>
                <a:ea typeface="Times New Roman" panose="02020603050405020304"/>
                <a:cs typeface="Times New Roman" panose="02020603050405020304"/>
              </a:defRPr>
            </a:pPr>
            <a:r>
              <a:rPr>
                <a:solidFill/>
                <a:latin typeface="Times New Roman" panose="02020603050405020304"/>
              </a:rPr>
              <a:t>■</a:t>
            </a:r>
            <a:endParaRPr>
              <a:solidFill/>
              <a:latin typeface="Times New Roman" panose="02020603050405020304"/>
            </a:endParaRPr>
          </a:p>
        </p:txBody>
      </p:sp>
      <p:sp>
        <p:nvSpPr>
          <p:cNvPr id="13" name="anim_326"/>
          <p:cNvSpPr>
            <a:spLocks noGrp="1"/>
          </p:cNvSpPr>
          <p:nvPr/>
        </p:nvSpPr>
        <p:spPr>
          <a:xfrm>
            <a:off x="1000125" y="3000375"/>
            <a:ext cx="1762125" cy="400050"/>
          </a:xfrm>
          <a:prstGeom prst="rect">
            <a:avLst/>
          </a:prstGeom>
          <a:solidFill>
            <a:srgbClr val="FAFBFA">
              <a:alpha val="74000"/>
            </a:srgbClr>
          </a:solidFill>
          <a:ln w="0">
            <a:solidFill>
              <a:srgbClr val="FAFBFA"/>
            </a:solidFill>
            <a:prstDash val="solid"/>
          </a:ln>
        </p:spPr>
        <p:txBody>
          <a:bodyPr anchor="ctr"/>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Per-capita trend rising</a:t>
            </a:r>
            <a:endParaRPr>
              <a:solidFill/>
              <a:latin typeface="Times New Roman" panose="02020603050405020304"/>
            </a:endParaRPr>
          </a:p>
        </p:txBody>
      </p:sp>
      <p:sp>
        <p:nvSpPr>
          <p:cNvPr id="14" name="anim_329"/>
          <p:cNvSpPr>
            <a:spLocks noGrp="1"/>
          </p:cNvSpPr>
          <p:nvPr/>
        </p:nvSpPr>
        <p:spPr>
          <a:xfrm>
            <a:off x="590550" y="3524250"/>
            <a:ext cx="323850" cy="323850"/>
          </a:xfrm>
          <a:prstGeom prst="rect">
            <a:avLst/>
          </a:prstGeom>
          <a:solidFill>
            <a:srgbClr val="FAFBFA">
              <a:alpha val="74000"/>
            </a:srgbClr>
          </a:solidFill>
          <a:ln w="0">
            <a:solidFill>
              <a:srgbClr val="FAFBFA"/>
            </a:solidFill>
            <a:prstDash val="solid"/>
          </a:ln>
        </p:spPr>
        <p:txBody>
          <a:bodyPr anchor="ctr"/>
          <a:lstStyle/>
          <a:p>
            <a:pPr algn="ctr">
              <a:defRPr sz="1650" b="0" i="0">
                <a:solidFill>
                  <a:srgbClr val="4472C4"/>
                </a:solidFill>
                <a:latin typeface="Times New Roman" panose="02020603050405020304"/>
                <a:ea typeface="Times New Roman" panose="02020603050405020304"/>
                <a:cs typeface="Times New Roman" panose="02020603050405020304"/>
              </a:defRPr>
            </a:pPr>
            <a:r>
              <a:rPr>
                <a:solidFill/>
                <a:latin typeface="Times New Roman" panose="02020603050405020304"/>
              </a:rPr>
              <a:t>□</a:t>
            </a:r>
            <a:endParaRPr>
              <a:solidFill/>
              <a:latin typeface="Times New Roman" panose="02020603050405020304"/>
            </a:endParaRPr>
          </a:p>
        </p:txBody>
      </p:sp>
      <p:sp>
        <p:nvSpPr>
          <p:cNvPr id="15" name="anim_328"/>
          <p:cNvSpPr>
            <a:spLocks noGrp="1"/>
          </p:cNvSpPr>
          <p:nvPr/>
        </p:nvSpPr>
        <p:spPr>
          <a:xfrm>
            <a:off x="1000125" y="3476625"/>
            <a:ext cx="1762125" cy="400050"/>
          </a:xfrm>
          <a:prstGeom prst="rect">
            <a:avLst/>
          </a:prstGeom>
          <a:solidFill>
            <a:srgbClr val="FAFBFA">
              <a:alpha val="74000"/>
            </a:srgbClr>
          </a:solidFill>
          <a:ln w="0">
            <a:solidFill>
              <a:srgbClr val="FAFBFA"/>
            </a:solidFill>
            <a:prstDash val="solid"/>
          </a:ln>
        </p:spPr>
        <p:txBody>
          <a:bodyPr anchor="ctr"/>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Per-capita trend falling</a:t>
            </a:r>
            <a:endParaRPr>
              <a:solidFill/>
              <a:latin typeface="Times New Roman" panose="02020603050405020304"/>
            </a:endParaRPr>
          </a:p>
        </p:txBody>
      </p:sp>
      <p:sp>
        <p:nvSpPr>
          <p:cNvPr id="16" name="anim_330"/>
          <p:cNvSpPr>
            <a:spLocks noGrp="1"/>
          </p:cNvSpPr>
          <p:nvPr/>
        </p:nvSpPr>
        <p:spPr>
          <a:xfrm>
            <a:off x="590550" y="4171950"/>
            <a:ext cx="2247900" cy="1162050"/>
          </a:xfrm>
          <a:prstGeom prst="roundRect">
            <a:avLst>
              <a:gd name="adj" fmla="val 6557"/>
            </a:avLst>
          </a:prstGeom>
          <a:solidFill>
            <a:srgbClr val="ECEFF4">
              <a:alpha val="74000"/>
            </a:srgbClr>
          </a:solidFill>
          <a:ln w="11430">
            <a:solidFill>
              <a:srgbClr val="4F6E96"/>
            </a:solidFill>
            <a:prstDash val="solid"/>
          </a:ln>
        </p:spPr>
        <p:txBody>
          <a:bodyPr/>
          <a:p>
            <a:pPr>
              <a:defRPr>
                <a:latin typeface="Times New Roman" panose="02020603050405020304"/>
              </a:defRPr>
            </a:pPr>
          </a:p>
        </p:txBody>
      </p:sp>
      <p:sp>
        <p:nvSpPr>
          <p:cNvPr id="17" name="anim_331"/>
          <p:cNvSpPr>
            <a:spLocks noGrp="1"/>
          </p:cNvSpPr>
          <p:nvPr/>
        </p:nvSpPr>
        <p:spPr>
          <a:xfrm>
            <a:off x="762000" y="4343400"/>
            <a:ext cx="1905000" cy="800100"/>
          </a:xfrm>
          <a:prstGeom prst="rect">
            <a:avLst/>
          </a:prstGeom>
          <a:solidFill>
            <a:srgbClr val="ECEFF4">
              <a:alpha val="74000"/>
            </a:srgbClr>
          </a:solidFill>
          <a:ln w="0">
            <a:solidFill>
              <a:srgbClr val="ECEFF4"/>
            </a:solidFill>
            <a:prstDash val="solid"/>
          </a:ln>
        </p:spPr>
        <p:txBody>
          <a:bodyPr anchor="ctr"/>
          <a:lstStyle/>
          <a:p>
            <a:pPr algn="ctr">
              <a:defRPr sz="130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One endpoint change cannot capture both direction and momentum.</a:t>
            </a:r>
            <a:endParaRPr>
              <a:solidFill/>
              <a:latin typeface="Times New Roman" panose="02020603050405020304"/>
            </a:endParaRPr>
          </a:p>
        </p:txBody>
      </p:sp>
      <p:sp>
        <p:nvSpPr>
          <p:cNvPr id="18" name="anim_318"/>
          <p:cNvSpPr>
            <a:spLocks noGrp="1"/>
          </p:cNvSpPr>
          <p:nvPr/>
        </p:nvSpPr>
        <p:spPr>
          <a:xfrm>
            <a:off x="3238500" y="1143000"/>
            <a:ext cx="7991475" cy="4476750"/>
          </a:xfrm>
          <a:prstGeom prst="roundRect">
            <a:avLst>
              <a:gd name="adj" fmla="val 1702"/>
            </a:avLst>
          </a:prstGeom>
          <a:solidFill>
            <a:srgbClr val="FAFBFA">
              <a:alpha val="74000"/>
            </a:srgbClr>
          </a:solidFill>
          <a:ln w="11430">
            <a:solidFill>
              <a:srgbClr val="D5DED6"/>
            </a:solidFill>
            <a:prstDash val="solid"/>
          </a:ln>
        </p:spPr>
        <p:txBody>
          <a:bodyPr/>
          <a:p>
            <a:pPr>
              <a:defRPr>
                <a:latin typeface="Times New Roman" panose="02020603050405020304"/>
              </a:defRPr>
            </a:pPr>
          </a:p>
        </p:txBody>
      </p:sp>
      <p:pic>
        <p:nvPicPr>
          <p:cNvPr id="36" name="anim_320"/>
          <p:cNvPicPr>
            <a:picLocks noChangeAspect="1"/>
          </p:cNvPicPr>
          <p:nvPr/>
        </p:nvPicPr>
        <p:blipFill>
          <a:blip r:embed="rId2"/>
          <a:stretch>
            <a:fillRect/>
          </a:stretch>
        </p:blipFill>
        <p:spPr>
          <a:xfrm>
            <a:off x="3917881" y="1181100"/>
            <a:ext cx="6632713" cy="4400550"/>
          </a:xfrm>
          <a:prstGeom prst="rect">
            <a:avLst/>
          </a:prstGeom>
        </p:spPr>
      </p:pic>
      <p:sp>
        <p:nvSpPr>
          <p:cNvPr id="42" name="TextBox 41"/>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4 / 7</a:t>
            </a:r>
            <a:endParaRPr sz="1300" b="1">
              <a:solidFill>
                <a:srgbClr val="D3E3D6"/>
              </a:solidFill>
              <a:latin typeface="Times New Roman" panose="02020603050405020304"/>
            </a:endParaRPr>
          </a:p>
        </p:txBody>
      </p:sp>
      <p:sp>
        <p:nvSpPr>
          <p:cNvPr id="44" name="Rectangle 43"/>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5" name="anim_31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6" name="TextBox 45"/>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Is the rise one shared trajectory or many?</a:t>
            </a:r>
            <a:endParaRPr sz="1300" b="1">
              <a:solidFill>
                <a:srgbClr val="D3E3D6"/>
              </a:solidFill>
              <a:latin typeface="Georgia" panose="02040502050405020303"/>
            </a:endParaRPr>
          </a:p>
          <a:p>
            <a:pPr algn="l">
              <a:spcBef>
                <a:spcPts val="200"/>
              </a:spcBef>
              <a:defRPr>
                <a:latin typeface="Times New Roman" panose="02020603050405020304"/>
              </a:defRPr>
            </a:pPr>
            <a:r>
              <a:rPr sz="2500" b="1">
                <a:solidFill>
                  <a:srgbClr val="FFFFFF"/>
                </a:solidFill>
                <a:latin typeface="Georgia" panose="02040502050405020303"/>
              </a:rPr>
              <a:t>Long-term growth differs from recent momentum</a:t>
            </a:r>
            <a:endParaRPr sz="2500" b="1">
              <a:solidFill>
                <a:srgbClr val="FFFFFF"/>
              </a:solidFill>
              <a:latin typeface="Georgia" panose="02040502050405020303"/>
            </a:endParaRPr>
          </a:p>
        </p:txBody>
      </p:sp>
      <p:sp>
        <p:nvSpPr>
          <p:cNvPr id="47" name="TextBox 46"/>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4 / 7</a:t>
            </a:r>
            <a:endParaRPr sz="1400" b="1">
              <a:solidFill>
                <a:srgbClr val="D3E3D6"/>
              </a:solidFill>
              <a:latin typeface="Times New Roman" panose="02020603050405020304"/>
            </a:endParaRPr>
          </a:p>
        </p:txBody>
      </p:sp>
      <p:sp>
        <p:nvSpPr>
          <p:cNvPr id="48" name="anim_336"/>
          <p:cNvSpPr txBox="1"/>
          <p:nvPr/>
        </p:nvSpPr>
        <p:spPr>
          <a:xfrm>
            <a:off x="777240" y="5815584"/>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Reading the puzzle:  </a:t>
            </a:r>
            <a:r>
              <a:rPr sz="1350" b="0">
                <a:solidFill>
                  <a:srgbClr val="252B30"/>
                </a:solidFill>
                <a:latin typeface="Times New Roman" panose="02020603050405020304"/>
              </a:rPr>
              <a:t>long-term growth and recent momentum disagree, so no single growth number can describe a 30-year trajectory.</a:t>
            </a:r>
            <a:endParaRPr sz="1350" b="0">
              <a:solidFill>
                <a:srgbClr val="252B30"/>
              </a:solidFill>
              <a:latin typeface="Times New Roman" panose="02020603050405020304"/>
            </a:endParaRPr>
          </a:p>
        </p:txBody>
      </p:sp>
      <p:sp>
        <p:nvSpPr>
          <p:cNvPr id="50" name="anim_335"/>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7</a:t>
            </a:r>
            <a:endParaRPr sz="1400" b="0">
              <a:solidFill>
                <a:srgbClr val="6E7672"/>
              </a:solidFill>
              <a:latin typeface="Times New Roman" panose="02020603050405020304"/>
            </a:endParaRPr>
          </a:p>
        </p:txBody>
      </p:sp>
      <p:sp>
        <p:nvSpPr>
          <p:cNvPr id="35" name="anim_314"/>
          <p:cNvSpPr txBox="1"/>
          <p:nvPr/>
        </p:nvSpPr>
        <p:spPr>
          <a:xfrm>
            <a:off x="1615948" y="6376035"/>
            <a:ext cx="6400800" cy="292608"/>
          </a:xfrm>
          <a:prstGeom prst="rect">
            <a:avLst/>
          </a:prstGeom>
          <a:noFill/>
          <a:ln>
            <a:noFill/>
          </a:ln>
          <a:effectLst/>
        </p:spPr>
        <p:txBody>
          <a:bodyPr wrap="square" lIns="45720" tIns="18288" rIns="45720" bIns="18288" anchor="ctr">
            <a:spAutoFit/>
          </a:bodyPr>
          <a:p>
            <a:pPr algn="l">
              <a:defRPr>
                <a:latin typeface="Times New Roman" panose="02020603050405020304"/>
              </a:defRPr>
            </a:pPr>
            <a:r>
              <a:rPr sz="1300" b="1">
                <a:solidFill>
                  <a:srgbClr val="6E7672"/>
                </a:solidFill>
                <a:latin typeface="Times New Roman" panose="02020603050405020304"/>
              </a:rPr>
              <a:t>Responsible: REYIZA RESIBIEKE</a:t>
            </a:r>
            <a:endParaRPr sz="1300" b="1">
              <a:solidFill>
                <a:srgbClr val="6E7672"/>
              </a:solidFill>
              <a:latin typeface="Times New Roman" panose="02020603050405020304"/>
            </a:endParaRPr>
          </a:p>
        </p:txBody>
      </p:sp>
      <p:sp>
        <p:nvSpPr>
          <p:cNvPr id="2"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450"/>
                                        <p:tgtEl>
                                          <p:spTgt spid="45"/>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50"/>
                                        <p:tgtEl>
                                          <p:spTgt spid="18"/>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450"/>
                                        <p:tgtEl>
                                          <p:spTgt spid="36"/>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0" nodeType="withEffect">
                                  <p:stCondLst>
                                    <p:cond delay="118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131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144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childTnLst>
                          </p:cTn>
                        </p:par>
                        <p:par>
                          <p:cTn id="32" fill="hold">
                            <p:stCondLst>
                              <p:cond delay="900"/>
                            </p:stCondLst>
                            <p:childTnLst>
                              <p:par>
                                <p:cTn id="33" presetID="10" presetClass="entr" presetSubtype="0" fill="hold" grpId="0" nodeType="afterEffect">
                                  <p:stCondLst>
                                    <p:cond delay="40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50"/>
                                        <p:tgtEl>
                                          <p:spTgt spid="13"/>
                                        </p:tgtEl>
                                      </p:cBhvr>
                                    </p:animEffect>
                                  </p:childTnLst>
                                </p:cTn>
                              </p:par>
                              <p:par>
                                <p:cTn id="36" presetID="10" presetClass="entr" presetSubtype="0" fill="hold" grpId="0" nodeType="withEffect">
                                  <p:stCondLst>
                                    <p:cond delay="53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50"/>
                                        <p:tgtEl>
                                          <p:spTgt spid="12"/>
                                        </p:tgtEl>
                                      </p:cBhvr>
                                    </p:animEffect>
                                  </p:childTnLst>
                                </p:cTn>
                              </p:par>
                              <p:par>
                                <p:cTn id="39" presetID="10" presetClass="entr" presetSubtype="0" fill="hold" grpId="0" nodeType="withEffect">
                                  <p:stCondLst>
                                    <p:cond delay="66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50"/>
                                        <p:tgtEl>
                                          <p:spTgt spid="15"/>
                                        </p:tgtEl>
                                      </p:cBhvr>
                                    </p:animEffect>
                                  </p:childTnLst>
                                </p:cTn>
                              </p:par>
                              <p:par>
                                <p:cTn id="42" presetID="10" presetClass="entr" presetSubtype="0" fill="hold" grpId="0" nodeType="withEffect">
                                  <p:stCondLst>
                                    <p:cond delay="79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50"/>
                                        <p:tgtEl>
                                          <p:spTgt spid="14"/>
                                        </p:tgtEl>
                                      </p:cBhvr>
                                    </p:animEffect>
                                  </p:childTnLst>
                                </p:cTn>
                              </p:par>
                              <p:par>
                                <p:cTn id="45" presetID="10" presetClass="entr" presetSubtype="0" fill="hold" grpId="0" nodeType="withEffect">
                                  <p:stCondLst>
                                    <p:cond delay="92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par>
                                <p:cTn id="48" presetID="10" presetClass="entr" presetSubtype="0" fill="hold" grpId="0" nodeType="withEffect">
                                  <p:stCondLst>
                                    <p:cond delay="105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childTnLst>
                                </p:cTn>
                              </p:par>
                            </p:childTnLst>
                          </p:cTn>
                        </p:par>
                        <p:par>
                          <p:cTn id="51" fill="hold">
                            <p:stCondLst>
                              <p:cond delay="1800"/>
                            </p:stCondLst>
                            <p:childTnLst>
                              <p:par>
                                <p:cTn id="55" presetID="10" presetClass="entr" presetSubtype="0" fill="hold" grpId="0" nodeType="withEffect">
                                  <p:stCondLst>
                                    <p:cond delay="660"/>
                                  </p:stCondLst>
                                  <p:childTnLst>
                                    <p:set>
                                      <p:cBhvr>
                                        <p:cTn id="56" dur="1" fill="hold">
                                          <p:stCondLst>
                                            <p:cond delay="0"/>
                                          </p:stCondLst>
                                        </p:cTn>
                                        <p:tgtEl>
                                          <p:spTgt spid="50"/>
                                        </p:tgtEl>
                                        <p:attrNameLst>
                                          <p:attrName>style.visibility</p:attrName>
                                        </p:attrNameLst>
                                      </p:cBhvr>
                                      <p:to>
                                        <p:strVal val="visible"/>
                                      </p:to>
                                    </p:set>
                                    <p:animEffect transition="in" filter="fade">
                                      <p:cBhvr>
                                        <p:cTn id="57" dur="450"/>
                                        <p:tgtEl>
                                          <p:spTgt spid="50"/>
                                        </p:tgtEl>
                                      </p:cBhvr>
                                    </p:animEffect>
                                  </p:childTnLst>
                                </p:cTn>
                              </p:par>
                            </p:childTnLst>
                          </p:cTn>
                        </p:par>
                        <p:par>
                          <p:cTn id="58" fill="hold">
                            <p:stCondLst>
                              <p:cond delay="2700"/>
                            </p:stCondLst>
                            <p:childTnLst>
                              <p:par>
                                <p:cTn id="59" presetID="10" presetClass="entr" presetSubtype="0" fill="hold" grpId="0" nodeType="afterEffect">
                                  <p:stCondLst>
                                    <p:cond delay="400"/>
                                  </p:stCondLst>
                                  <p:childTnLst>
                                    <p:set>
                                      <p:cBhvr>
                                        <p:cTn id="60" dur="1" fill="hold">
                                          <p:stCondLst>
                                            <p:cond delay="0"/>
                                          </p:stCondLst>
                                        </p:cTn>
                                        <p:tgtEl>
                                          <p:spTgt spid="48"/>
                                        </p:tgtEl>
                                        <p:attrNameLst>
                                          <p:attrName>style.visibility</p:attrName>
                                        </p:attrNameLst>
                                      </p:cBhvr>
                                      <p:to>
                                        <p:strVal val="visible"/>
                                      </p:to>
                                    </p:set>
                                    <p:animEffect transition="in" filter="fade">
                                      <p:cBhvr>
                                        <p:cTn id="61" dur="450"/>
                                        <p:tgtEl>
                                          <p:spTgt spid="48"/>
                                        </p:tgtEl>
                                      </p:cBhvr>
                                    </p:animEffect>
                                  </p:childTnLst>
                                </p:cTn>
                              </p:par>
                              <p:par>
                                <p:cTn id="62" presetID="10" presetClass="entr" presetSubtype="0" fill="hold" grpId="0" nodeType="withEffect">
                                  <p:stCondLst>
                                    <p:cond delay="53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29" name="Rectangle 28"/>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338"/>
          <p:cNvSpPr>
            <a:spLocks noGrp="1"/>
          </p:cNvSpPr>
          <p:nvPr/>
        </p:nvSpPr>
        <p:spPr>
          <a:xfrm>
            <a:off x="361950" y="1085850"/>
            <a:ext cx="8077200" cy="4610100"/>
          </a:xfrm>
          <a:prstGeom prst="roundRect">
            <a:avLst>
              <a:gd name="adj" fmla="val 1653"/>
            </a:avLst>
          </a:prstGeom>
          <a:solidFill>
            <a:srgbClr val="FAFBFA">
              <a:alpha val="74000"/>
            </a:srgbClr>
          </a:solidFill>
          <a:ln w="11430">
            <a:solidFill>
              <a:srgbClr val="D5DED6"/>
            </a:solidFill>
            <a:prstDash val="solid"/>
          </a:ln>
        </p:spPr>
        <p:txBody>
          <a:bodyPr/>
          <a:p>
            <a:pPr>
              <a:defRPr>
                <a:latin typeface="Times New Roman" panose="02020603050405020304"/>
              </a:defRPr>
            </a:pPr>
          </a:p>
        </p:txBody>
      </p:sp>
      <p:pic>
        <p:nvPicPr>
          <p:cNvPr id="22" name="anim_339"/>
          <p:cNvPicPr>
            <a:picLocks noChangeAspect="1"/>
          </p:cNvPicPr>
          <p:nvPr/>
        </p:nvPicPr>
        <p:blipFill>
          <a:blip r:embed="rId2"/>
          <a:srcRect t="6582" b="6582"/>
          <a:stretch>
            <a:fillRect/>
          </a:stretch>
        </p:blipFill>
        <p:spPr>
          <a:xfrm>
            <a:off x="400050" y="1123950"/>
            <a:ext cx="8001000" cy="4533900"/>
          </a:xfrm>
          <a:prstGeom prst="rect">
            <a:avLst/>
          </a:prstGeom>
        </p:spPr>
      </p:pic>
      <p:sp>
        <p:nvSpPr>
          <p:cNvPr id="8" name="anim_340"/>
          <p:cNvSpPr>
            <a:spLocks noGrp="1"/>
          </p:cNvSpPr>
          <p:nvPr/>
        </p:nvSpPr>
        <p:spPr>
          <a:xfrm>
            <a:off x="8743950" y="1123950"/>
            <a:ext cx="2333625" cy="26670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CONCENTRATION</a:t>
            </a:r>
            <a:endParaRPr>
              <a:solidFill/>
              <a:latin typeface="Times New Roman" panose="02020603050405020304"/>
            </a:endParaRPr>
          </a:p>
        </p:txBody>
      </p:sp>
      <p:sp>
        <p:nvSpPr>
          <p:cNvPr id="9" name="anim_341"/>
          <p:cNvSpPr>
            <a:spLocks noGrp="1"/>
          </p:cNvSpPr>
          <p:nvPr/>
        </p:nvSpPr>
        <p:spPr>
          <a:xfrm>
            <a:off x="8743950" y="1457325"/>
            <a:ext cx="2438400" cy="1123950"/>
          </a:xfrm>
          <a:prstGeom prst="roundRect">
            <a:avLst>
              <a:gd name="adj" fmla="val 10169"/>
            </a:avLst>
          </a:prstGeom>
          <a:solidFill>
            <a:srgbClr val="EEF4EC">
              <a:alpha val="74000"/>
            </a:srgbClr>
          </a:solidFill>
          <a:ln w="14288">
            <a:solidFill>
              <a:srgbClr val="2F5248"/>
            </a:solidFill>
            <a:prstDash val="solid"/>
          </a:ln>
        </p:spPr>
        <p:txBody>
          <a:bodyPr/>
          <a:p>
            <a:pPr>
              <a:defRPr>
                <a:latin typeface="Times New Roman" panose="02020603050405020304"/>
              </a:defRPr>
            </a:pPr>
          </a:p>
        </p:txBody>
      </p:sp>
      <p:sp>
        <p:nvSpPr>
          <p:cNvPr id="10" name="anim_342"/>
          <p:cNvSpPr>
            <a:spLocks noGrp="1"/>
          </p:cNvSpPr>
          <p:nvPr/>
        </p:nvSpPr>
        <p:spPr>
          <a:xfrm>
            <a:off x="8877300" y="1552575"/>
            <a:ext cx="2171700" cy="514350"/>
          </a:xfrm>
          <a:prstGeom prst="rect">
            <a:avLst/>
          </a:prstGeom>
          <a:solidFill>
            <a:srgbClr val="EEF4EC">
              <a:alpha val="74000"/>
            </a:srgbClr>
          </a:solidFill>
          <a:ln w="0">
            <a:solidFill>
              <a:srgbClr val="EEF4EC"/>
            </a:solidFill>
            <a:prstDash val="solid"/>
          </a:ln>
        </p:spPr>
        <p:txBody>
          <a:bodyPr anchor="ctr"/>
          <a:lstStyle/>
          <a:p>
            <a:pPr algn="l">
              <a:defRPr sz="255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59.8%</a:t>
            </a:r>
            <a:endParaRPr>
              <a:solidFill/>
              <a:latin typeface="Times New Roman" panose="02020603050405020304"/>
            </a:endParaRPr>
          </a:p>
        </p:txBody>
      </p:sp>
      <p:sp>
        <p:nvSpPr>
          <p:cNvPr id="11" name="anim_343"/>
          <p:cNvSpPr>
            <a:spLocks noGrp="1"/>
          </p:cNvSpPr>
          <p:nvPr/>
        </p:nvSpPr>
        <p:spPr>
          <a:xfrm>
            <a:off x="8877300" y="2066925"/>
            <a:ext cx="2171700" cy="381000"/>
          </a:xfrm>
          <a:prstGeom prst="rect">
            <a:avLst/>
          </a:prstGeom>
          <a:solidFill>
            <a:srgbClr val="EEF4EC">
              <a:alpha val="74000"/>
            </a:srgbClr>
          </a:solidFill>
          <a:ln w="0">
            <a:solidFill>
              <a:srgbClr val="EEF4EC"/>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Asia's share of</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2021 emissions</a:t>
            </a:r>
            <a:endParaRPr>
              <a:solidFill/>
              <a:latin typeface="Times New Roman" panose="02020603050405020304"/>
            </a:endParaRPr>
          </a:p>
        </p:txBody>
      </p:sp>
      <p:sp>
        <p:nvSpPr>
          <p:cNvPr id="12" name="anim_344"/>
          <p:cNvSpPr>
            <a:spLocks noGrp="1"/>
          </p:cNvSpPr>
          <p:nvPr/>
        </p:nvSpPr>
        <p:spPr>
          <a:xfrm>
            <a:off x="8743950" y="2733675"/>
            <a:ext cx="2438400" cy="1123950"/>
          </a:xfrm>
          <a:prstGeom prst="roundRect">
            <a:avLst>
              <a:gd name="adj" fmla="val 10169"/>
            </a:avLst>
          </a:prstGeom>
          <a:solidFill>
            <a:srgbClr val="F7F1EA"/>
          </a:solidFill>
          <a:ln w="14288">
            <a:solidFill>
              <a:srgbClr val="BE7F4E"/>
            </a:solidFill>
            <a:prstDash val="solid"/>
          </a:ln>
        </p:spPr>
        <p:txBody>
          <a:bodyPr/>
          <a:p>
            <a:pPr>
              <a:defRPr>
                <a:latin typeface="Times New Roman" panose="02020603050405020304"/>
              </a:defRPr>
            </a:pPr>
          </a:p>
        </p:txBody>
      </p:sp>
      <p:sp>
        <p:nvSpPr>
          <p:cNvPr id="13" name="anim_345"/>
          <p:cNvSpPr>
            <a:spLocks noGrp="1"/>
          </p:cNvSpPr>
          <p:nvPr/>
        </p:nvSpPr>
        <p:spPr>
          <a:xfrm>
            <a:off x="8877300" y="2828925"/>
            <a:ext cx="2171700" cy="514350"/>
          </a:xfrm>
          <a:prstGeom prst="rect">
            <a:avLst/>
          </a:prstGeom>
          <a:solidFill>
            <a:srgbClr val="F7F1EA"/>
          </a:solidFill>
          <a:ln w="0">
            <a:solidFill>
              <a:srgbClr val="F7F1EA"/>
            </a:solidFill>
            <a:prstDash val="solid"/>
          </a:ln>
        </p:spPr>
        <p:txBody>
          <a:bodyPr anchor="ctr"/>
          <a:lstStyle/>
          <a:p>
            <a:pPr algn="l">
              <a:defRPr sz="2550" b="1" i="0">
                <a:solidFill>
                  <a:srgbClr val="ED7D31"/>
                </a:solidFill>
                <a:latin typeface="Times New Roman" panose="02020603050405020304"/>
                <a:ea typeface="Times New Roman" panose="02020603050405020304"/>
                <a:cs typeface="Times New Roman" panose="02020603050405020304"/>
              </a:defRPr>
            </a:pPr>
            <a:r>
              <a:rPr>
                <a:solidFill/>
                <a:latin typeface="Times New Roman" panose="02020603050405020304"/>
              </a:rPr>
              <a:t>31.4%</a:t>
            </a:r>
            <a:endParaRPr>
              <a:solidFill/>
              <a:latin typeface="Times New Roman" panose="02020603050405020304"/>
            </a:endParaRPr>
          </a:p>
        </p:txBody>
      </p:sp>
      <p:sp>
        <p:nvSpPr>
          <p:cNvPr id="14" name="anim_346"/>
          <p:cNvSpPr>
            <a:spLocks noGrp="1"/>
          </p:cNvSpPr>
          <p:nvPr/>
        </p:nvSpPr>
        <p:spPr>
          <a:xfrm>
            <a:off x="8877300" y="3343275"/>
            <a:ext cx="2171700" cy="381000"/>
          </a:xfrm>
          <a:prstGeom prst="rect">
            <a:avLst/>
          </a:prstGeom>
          <a:solidFill>
            <a:srgbClr val="F7F1EA"/>
          </a:solidFill>
          <a:ln w="0">
            <a:solidFill>
              <a:srgbClr val="F7F1EA"/>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China's share of</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the global total</a:t>
            </a:r>
            <a:endParaRPr>
              <a:solidFill/>
              <a:latin typeface="Times New Roman" panose="02020603050405020304"/>
            </a:endParaRPr>
          </a:p>
        </p:txBody>
      </p:sp>
      <p:sp>
        <p:nvSpPr>
          <p:cNvPr id="15" name="anim_347"/>
          <p:cNvSpPr>
            <a:spLocks noGrp="1"/>
          </p:cNvSpPr>
          <p:nvPr/>
        </p:nvSpPr>
        <p:spPr>
          <a:xfrm>
            <a:off x="8743950" y="4010025"/>
            <a:ext cx="2438400" cy="1123950"/>
          </a:xfrm>
          <a:prstGeom prst="roundRect">
            <a:avLst>
              <a:gd name="adj" fmla="val 10169"/>
            </a:avLst>
          </a:prstGeom>
          <a:solidFill>
            <a:srgbClr val="ECEFF4">
              <a:alpha val="74000"/>
            </a:srgbClr>
          </a:solidFill>
          <a:ln w="14288">
            <a:solidFill>
              <a:srgbClr val="4F6E96"/>
            </a:solidFill>
            <a:prstDash val="solid"/>
          </a:ln>
        </p:spPr>
        <p:txBody>
          <a:bodyPr/>
          <a:p>
            <a:pPr>
              <a:defRPr>
                <a:latin typeface="Times New Roman" panose="02020603050405020304"/>
              </a:defRPr>
            </a:pPr>
          </a:p>
        </p:txBody>
      </p:sp>
      <p:sp>
        <p:nvSpPr>
          <p:cNvPr id="16" name="anim_348"/>
          <p:cNvSpPr>
            <a:spLocks noGrp="1"/>
          </p:cNvSpPr>
          <p:nvPr/>
        </p:nvSpPr>
        <p:spPr>
          <a:xfrm>
            <a:off x="8877300" y="4105275"/>
            <a:ext cx="2171700" cy="514350"/>
          </a:xfrm>
          <a:prstGeom prst="rect">
            <a:avLst/>
          </a:prstGeom>
          <a:solidFill>
            <a:srgbClr val="ECEFF4">
              <a:alpha val="74000"/>
            </a:srgbClr>
          </a:solidFill>
          <a:ln w="0">
            <a:solidFill>
              <a:srgbClr val="ECEFF4"/>
            </a:solidFill>
            <a:prstDash val="solid"/>
          </a:ln>
        </p:spPr>
        <p:txBody>
          <a:bodyPr anchor="ctr"/>
          <a:lstStyle/>
          <a:p>
            <a:pPr algn="l">
              <a:defRPr sz="2550" b="1" i="0">
                <a:solidFill>
                  <a:srgbClr val="4472C4"/>
                </a:solidFill>
                <a:latin typeface="Times New Roman" panose="02020603050405020304"/>
                <a:ea typeface="Times New Roman" panose="02020603050405020304"/>
                <a:cs typeface="Times New Roman" panose="02020603050405020304"/>
              </a:defRPr>
            </a:pPr>
            <a:r>
              <a:rPr>
                <a:solidFill/>
                <a:latin typeface="Times New Roman" panose="02020603050405020304"/>
              </a:rPr>
              <a:t>81.2%</a:t>
            </a:r>
            <a:endParaRPr>
              <a:solidFill/>
              <a:latin typeface="Times New Roman" panose="02020603050405020304"/>
            </a:endParaRPr>
          </a:p>
        </p:txBody>
      </p:sp>
      <p:sp>
        <p:nvSpPr>
          <p:cNvPr id="17" name="anim_349"/>
          <p:cNvSpPr>
            <a:spLocks noGrp="1"/>
          </p:cNvSpPr>
          <p:nvPr/>
        </p:nvSpPr>
        <p:spPr>
          <a:xfrm>
            <a:off x="8877300" y="4619625"/>
            <a:ext cx="2171700" cy="381000"/>
          </a:xfrm>
          <a:prstGeom prst="rect">
            <a:avLst/>
          </a:prstGeom>
          <a:solidFill>
            <a:srgbClr val="ECEFF4">
              <a:alpha val="74000"/>
            </a:srgbClr>
          </a:solidFill>
          <a:ln w="0">
            <a:solidFill>
              <a:srgbClr val="ECEFF4"/>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Combined share of</a:t>
            </a:r>
            <a:endParaRPr>
              <a:solidFill/>
              <a:latin typeface="Times New Roman" panose="02020603050405020304"/>
            </a:endParaRPr>
          </a:p>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the top 20 emitters</a:t>
            </a:r>
            <a:endParaRPr>
              <a:solidFill/>
              <a:latin typeface="Times New Roman" panose="02020603050405020304"/>
            </a:endParaRPr>
          </a:p>
        </p:txBody>
      </p:sp>
      <p:sp>
        <p:nvSpPr>
          <p:cNvPr id="28" name="TextBox 27"/>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5 / 7</a:t>
            </a:r>
            <a:endParaRPr sz="1300" b="1">
              <a:solidFill>
                <a:srgbClr val="D3E3D6"/>
              </a:solidFill>
              <a:latin typeface="Times New Roman" panose="02020603050405020304"/>
            </a:endParaRPr>
          </a:p>
        </p:txBody>
      </p:sp>
      <p:sp>
        <p:nvSpPr>
          <p:cNvPr id="30" name="Rectangle 29"/>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33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2" name="TextBox 31"/>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Who carries the current emission burden?</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A small set of countries drives most 2021 emissions</a:t>
            </a:r>
            <a:endParaRPr sz="2300" b="1">
              <a:solidFill>
                <a:srgbClr val="FFFFFF"/>
              </a:solidFill>
              <a:latin typeface="Georgia" panose="02040502050405020303"/>
            </a:endParaRPr>
          </a:p>
        </p:txBody>
      </p:sp>
      <p:sp>
        <p:nvSpPr>
          <p:cNvPr id="33" name="TextBox 32"/>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5 / 7</a:t>
            </a:r>
            <a:endParaRPr sz="1400" b="1">
              <a:solidFill>
                <a:srgbClr val="D3E3D6"/>
              </a:solidFill>
              <a:latin typeface="Times New Roman" panose="02020603050405020304"/>
            </a:endParaRPr>
          </a:p>
        </p:txBody>
      </p:sp>
      <p:sp>
        <p:nvSpPr>
          <p:cNvPr id="34" name="anim_354"/>
          <p:cNvSpPr txBox="1"/>
          <p:nvPr/>
        </p:nvSpPr>
        <p:spPr>
          <a:xfrm>
            <a:off x="777240" y="5815584"/>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it matters:  </a:t>
            </a:r>
            <a:r>
              <a:rPr sz="1350" b="0">
                <a:solidFill>
                  <a:srgbClr val="252B30"/>
                </a:solidFill>
                <a:latin typeface="Times New Roman" panose="02020603050405020304"/>
              </a:rPr>
              <a:t>monitoring built around today's biggest emitters alone will overlook the fast-growing rest.</a:t>
            </a:r>
            <a:endParaRPr sz="1350" b="0">
              <a:solidFill>
                <a:srgbClr val="252B30"/>
              </a:solidFill>
              <a:latin typeface="Times New Roman" panose="02020603050405020304"/>
            </a:endParaRPr>
          </a:p>
        </p:txBody>
      </p:sp>
      <p:sp>
        <p:nvSpPr>
          <p:cNvPr id="36" name="anim_353"/>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8</a:t>
            </a:r>
            <a:endParaRPr sz="1400" b="0">
              <a:solidFill>
                <a:srgbClr val="6E7672"/>
              </a:solidFill>
              <a:latin typeface="Times New Roman" panose="02020603050405020304"/>
            </a:endParaRPr>
          </a:p>
        </p:txBody>
      </p:sp>
      <p:sp>
        <p:nvSpPr>
          <p:cNvPr id="3" name="TextBox 9"/>
          <p:cNvSpPr txBox="1"/>
          <p:nvPr/>
        </p:nvSpPr>
        <p:spPr>
          <a:xfrm>
            <a:off x="1695958" y="6419215"/>
            <a:ext cx="6400800" cy="292608"/>
          </a:xfrm>
          <a:prstGeom prst="rect">
            <a:avLst/>
          </a:prstGeom>
          <a:noFill/>
          <a:ln>
            <a:noFill/>
          </a:ln>
          <a:effectLst/>
        </p:spPr>
        <p:txBody>
          <a:bodyPr wrap="square" lIns="45720" tIns="18288" rIns="45720" bIns="18288" anchor="ctr">
            <a:spAutoFit/>
          </a:bodyPr>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2"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50"/>
                                        <p:tgtEl>
                                          <p:spTgt spid="31"/>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50"/>
                                        <p:tgtEl>
                                          <p:spTgt spid="22"/>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50"/>
                                        <p:tgtEl>
                                          <p:spTgt spid="9"/>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par>
                                <p:cTn id="23" presetID="10" presetClass="entr" presetSubtype="0" fill="hold" grpId="0" nodeType="withEffect">
                                  <p:stCondLst>
                                    <p:cond delay="118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131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50"/>
                                        <p:tgtEl>
                                          <p:spTgt spid="12"/>
                                        </p:tgtEl>
                                      </p:cBhvr>
                                    </p:animEffect>
                                  </p:childTnLst>
                                </p:cTn>
                              </p:par>
                              <p:par>
                                <p:cTn id="29" presetID="10" presetClass="entr" presetSubtype="0" fill="hold" grpId="0" nodeType="withEffect">
                                  <p:stCondLst>
                                    <p:cond delay="144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50"/>
                                        <p:tgtEl>
                                          <p:spTgt spid="13"/>
                                        </p:tgtEl>
                                      </p:cBhvr>
                                    </p:animEffect>
                                  </p:childTnLst>
                                </p:cTn>
                              </p:par>
                            </p:childTnLst>
                          </p:cTn>
                        </p:par>
                        <p:par>
                          <p:cTn id="32" fill="hold">
                            <p:stCondLst>
                              <p:cond delay="900"/>
                            </p:stCondLst>
                            <p:childTnLst>
                              <p:par>
                                <p:cTn id="33" presetID="10" presetClass="entr" presetSubtype="0" fill="hold" grpId="0" nodeType="afterEffect">
                                  <p:stCondLst>
                                    <p:cond delay="4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50"/>
                                        <p:tgtEl>
                                          <p:spTgt spid="14"/>
                                        </p:tgtEl>
                                      </p:cBhvr>
                                    </p:animEffect>
                                  </p:childTnLst>
                                </p:cTn>
                              </p:par>
                              <p:par>
                                <p:cTn id="36" presetID="10" presetClass="entr" presetSubtype="0" fill="hold" grpId="0" nodeType="withEffect">
                                  <p:stCondLst>
                                    <p:cond delay="5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50"/>
                                        <p:tgtEl>
                                          <p:spTgt spid="15"/>
                                        </p:tgtEl>
                                      </p:cBhvr>
                                    </p:animEffect>
                                  </p:childTnLst>
                                </p:cTn>
                              </p:par>
                              <p:par>
                                <p:cTn id="39" presetID="10" presetClass="entr" presetSubtype="0" fill="hold" grpId="0" nodeType="withEffect">
                                  <p:stCondLst>
                                    <p:cond delay="6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par>
                                <p:cTn id="42" presetID="10" presetClass="entr" presetSubtype="0" fill="hold" grpId="0" nodeType="withEffect">
                                  <p:stCondLst>
                                    <p:cond delay="7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50"/>
                                        <p:tgtEl>
                                          <p:spTgt spid="17"/>
                                        </p:tgtEl>
                                      </p:cBhvr>
                                    </p:animEffect>
                                  </p:childTnLst>
                                </p:cTn>
                              </p:par>
                            </p:childTnLst>
                          </p:cTn>
                        </p:par>
                        <p:par>
                          <p:cTn id="45" fill="hold">
                            <p:stCondLst>
                              <p:cond delay="1800"/>
                            </p:stCondLst>
                            <p:childTnLst>
                              <p:par>
                                <p:cTn id="49" presetID="10" presetClass="entr" presetSubtype="0" fill="hold" grpId="0" nodeType="withEffect">
                                  <p:stCondLst>
                                    <p:cond delay="66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450"/>
                                        <p:tgtEl>
                                          <p:spTgt spid="36"/>
                                        </p:tgtEl>
                                      </p:cBhvr>
                                    </p:animEffect>
                                  </p:childTnLst>
                                </p:cTn>
                              </p:par>
                            </p:childTnLst>
                          </p:cTn>
                        </p:par>
                        <p:par>
                          <p:cTn id="52" fill="hold">
                            <p:stCondLst>
                              <p:cond delay="2700"/>
                            </p:stCondLst>
                            <p:childTnLst>
                              <p:par>
                                <p:cTn id="53" presetID="10" presetClass="entr" presetSubtype="0" fill="hold" grpId="0" nodeType="afterEffect">
                                  <p:stCondLst>
                                    <p:cond delay="40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42" name="Rectangle 41"/>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356"/>
          <p:cNvSpPr>
            <a:spLocks noGrp="1"/>
          </p:cNvSpPr>
          <p:nvPr/>
        </p:nvSpPr>
        <p:spPr>
          <a:xfrm>
            <a:off x="342900" y="1143000"/>
            <a:ext cx="9370060" cy="3950970"/>
          </a:xfrm>
          <a:prstGeom prst="roundRect">
            <a:avLst>
              <a:gd name="adj" fmla="val 2036"/>
            </a:avLst>
          </a:prstGeom>
          <a:solidFill>
            <a:srgbClr val="E4E9F0"/>
          </a:solidFill>
          <a:ln w="11430">
            <a:solidFill>
              <a:srgbClr val="D5DED6"/>
            </a:solidFill>
            <a:prstDash val="solid"/>
          </a:ln>
        </p:spPr>
        <p:txBody>
          <a:bodyPr/>
          <a:p>
            <a:pPr>
              <a:defRPr>
                <a:latin typeface="Times New Roman" panose="02020603050405020304"/>
              </a:defRPr>
            </a:pPr>
          </a:p>
        </p:txBody>
      </p:sp>
      <p:pic>
        <p:nvPicPr>
          <p:cNvPr id="29" name="anim_357"/>
          <p:cNvPicPr>
            <a:picLocks noChangeAspect="1"/>
          </p:cNvPicPr>
          <p:nvPr/>
        </p:nvPicPr>
        <p:blipFill>
          <a:blip r:embed="rId2"/>
          <a:srcRect l="766" r="766"/>
          <a:stretch>
            <a:fillRect/>
          </a:stretch>
        </p:blipFill>
        <p:spPr>
          <a:xfrm>
            <a:off x="381000" y="1181100"/>
            <a:ext cx="9286240" cy="3870960"/>
          </a:xfrm>
          <a:prstGeom prst="rect">
            <a:avLst/>
          </a:prstGeom>
        </p:spPr>
      </p:pic>
      <p:sp>
        <p:nvSpPr>
          <p:cNvPr id="8" name="anim_367"/>
          <p:cNvSpPr>
            <a:spLocks noGrp="1"/>
          </p:cNvSpPr>
          <p:nvPr/>
        </p:nvSpPr>
        <p:spPr>
          <a:xfrm>
            <a:off x="419100" y="5170805"/>
            <a:ext cx="2381250" cy="24765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LAND FILL · CO2 PER PERSON</a:t>
            </a:r>
            <a:endParaRPr>
              <a:solidFill/>
              <a:latin typeface="Times New Roman" panose="02020603050405020304"/>
            </a:endParaRPr>
          </a:p>
        </p:txBody>
      </p:sp>
      <p:pic>
        <p:nvPicPr>
          <p:cNvPr id="31" name="anim_370"/>
          <p:cNvPicPr>
            <a:picLocks noChangeAspect="1"/>
          </p:cNvPicPr>
          <p:nvPr/>
        </p:nvPicPr>
        <p:blipFill>
          <a:blip r:embed="rId3"/>
          <a:srcRect t="17391" b="17391"/>
          <a:stretch>
            <a:fillRect/>
          </a:stretch>
        </p:blipFill>
        <p:spPr>
          <a:xfrm>
            <a:off x="2724150" y="5237480"/>
            <a:ext cx="2628900" cy="114300"/>
          </a:xfrm>
          <a:prstGeom prst="rect">
            <a:avLst/>
          </a:prstGeom>
        </p:spPr>
      </p:pic>
      <p:sp>
        <p:nvSpPr>
          <p:cNvPr id="10" name="anim_368"/>
          <p:cNvSpPr>
            <a:spLocks noGrp="1"/>
          </p:cNvSpPr>
          <p:nvPr/>
        </p:nvSpPr>
        <p:spPr>
          <a:xfrm>
            <a:off x="5429250" y="5170805"/>
            <a:ext cx="342900" cy="247650"/>
          </a:xfrm>
          <a:prstGeom prst="rect">
            <a:avLst/>
          </a:prstGeom>
          <a:solidFill>
            <a:srgbClr val="FFFFFF">
              <a:alpha val="74000"/>
            </a:srgbClr>
          </a:solidFill>
          <a:ln w="0">
            <a:solidFill>
              <a:srgbClr val="FFFFFF"/>
            </a:solidFill>
            <a:prstDash val="solid"/>
          </a:ln>
        </p:spPr>
        <p:txBody>
          <a:bodyPr wrap="none" anchor="ctr"/>
          <a:lstStyle/>
          <a:p>
            <a:pPr algn="ctr">
              <a:defRPr sz="10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low</a:t>
            </a:r>
            <a:endParaRPr>
              <a:solidFill/>
              <a:latin typeface="Times New Roman" panose="02020603050405020304"/>
            </a:endParaRPr>
          </a:p>
        </p:txBody>
      </p:sp>
      <p:sp>
        <p:nvSpPr>
          <p:cNvPr id="11" name="anim_369"/>
          <p:cNvSpPr>
            <a:spLocks noGrp="1"/>
          </p:cNvSpPr>
          <p:nvPr/>
        </p:nvSpPr>
        <p:spPr>
          <a:xfrm>
            <a:off x="5772150" y="5170805"/>
            <a:ext cx="400050" cy="247650"/>
          </a:xfrm>
          <a:prstGeom prst="rect">
            <a:avLst/>
          </a:prstGeom>
          <a:solidFill>
            <a:srgbClr val="FFFFFF">
              <a:alpha val="74000"/>
            </a:srgbClr>
          </a:solidFill>
          <a:ln w="0">
            <a:solidFill>
              <a:srgbClr val="FFFFFF"/>
            </a:solidFill>
            <a:prstDash val="solid"/>
          </a:ln>
        </p:spPr>
        <p:txBody>
          <a:bodyPr wrap="none" anchor="ctr"/>
          <a:lstStyle/>
          <a:p>
            <a:pPr algn="ctr">
              <a:defRPr sz="10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high</a:t>
            </a:r>
            <a:endParaRPr>
              <a:solidFill/>
              <a:latin typeface="Times New Roman" panose="02020603050405020304"/>
            </a:endParaRPr>
          </a:p>
        </p:txBody>
      </p:sp>
      <p:sp>
        <p:nvSpPr>
          <p:cNvPr id="12" name="anim_371"/>
          <p:cNvSpPr>
            <a:spLocks noGrp="1"/>
          </p:cNvSpPr>
          <p:nvPr/>
        </p:nvSpPr>
        <p:spPr>
          <a:xfrm>
            <a:off x="419100" y="5428615"/>
            <a:ext cx="2381250" cy="247650"/>
          </a:xfrm>
          <a:prstGeom prst="rect">
            <a:avLst/>
          </a:prstGeom>
          <a:solidFill>
            <a:srgbClr val="FFFFFF">
              <a:alpha val="74000"/>
            </a:srgbClr>
          </a:solidFill>
          <a:ln w="0">
            <a:solidFill>
              <a:srgbClr val="FFFFFF"/>
            </a:solidFill>
            <a:prstDash val="solid"/>
          </a:ln>
        </p:spPr>
        <p:txBody>
          <a:bodyPr anchor="ctr"/>
          <a:lstStyle/>
          <a:p>
            <a:pPr algn="l">
              <a:defRPr sz="100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BAR HEIGHT · TOTAL CO2</a:t>
            </a:r>
            <a:endParaRPr>
              <a:solidFill/>
              <a:latin typeface="Times New Roman" panose="02020603050405020304"/>
            </a:endParaRPr>
          </a:p>
        </p:txBody>
      </p:sp>
      <p:pic>
        <p:nvPicPr>
          <p:cNvPr id="35" name="anim_374"/>
          <p:cNvPicPr>
            <a:picLocks noChangeAspect="1"/>
          </p:cNvPicPr>
          <p:nvPr/>
        </p:nvPicPr>
        <p:blipFill>
          <a:blip r:embed="rId4"/>
          <a:srcRect t="17391" b="17391"/>
          <a:stretch>
            <a:fillRect/>
          </a:stretch>
        </p:blipFill>
        <p:spPr>
          <a:xfrm>
            <a:off x="2724150" y="5495290"/>
            <a:ext cx="2628900" cy="114300"/>
          </a:xfrm>
          <a:prstGeom prst="rect">
            <a:avLst/>
          </a:prstGeom>
        </p:spPr>
      </p:pic>
      <p:sp>
        <p:nvSpPr>
          <p:cNvPr id="14" name="anim_372"/>
          <p:cNvSpPr>
            <a:spLocks noGrp="1"/>
          </p:cNvSpPr>
          <p:nvPr/>
        </p:nvSpPr>
        <p:spPr>
          <a:xfrm>
            <a:off x="5429250" y="5428615"/>
            <a:ext cx="419100" cy="247650"/>
          </a:xfrm>
          <a:prstGeom prst="rect">
            <a:avLst/>
          </a:prstGeom>
          <a:solidFill>
            <a:srgbClr val="FFFFFF">
              <a:alpha val="74000"/>
            </a:srgbClr>
          </a:solidFill>
          <a:ln w="0">
            <a:solidFill>
              <a:srgbClr val="FFFFFF"/>
            </a:solidFill>
            <a:prstDash val="solid"/>
          </a:ln>
        </p:spPr>
        <p:txBody>
          <a:bodyPr wrap="none" anchor="ctr"/>
          <a:lstStyle/>
          <a:p>
            <a:pPr algn="ctr">
              <a:defRPr sz="900" b="0" i="0">
                <a:solidFill>
                  <a:srgbClr val="5B6774"/>
                </a:solidFill>
                <a:latin typeface="Times New Roman" panose="02020603050405020304"/>
                <a:ea typeface="Times New Roman" panose="02020603050405020304"/>
                <a:cs typeface="Times New Roman" panose="02020603050405020304"/>
              </a:defRPr>
            </a:pPr>
            <a:r>
              <a:rPr sz="1000">
                <a:solidFill/>
                <a:latin typeface="Times New Roman" panose="02020603050405020304"/>
              </a:rPr>
              <a:t>short</a:t>
            </a:r>
            <a:endParaRPr sz="1000">
              <a:solidFill/>
              <a:latin typeface="Times New Roman" panose="02020603050405020304"/>
            </a:endParaRPr>
          </a:p>
        </p:txBody>
      </p:sp>
      <p:sp>
        <p:nvSpPr>
          <p:cNvPr id="15" name="anim_373"/>
          <p:cNvSpPr>
            <a:spLocks noGrp="1"/>
          </p:cNvSpPr>
          <p:nvPr/>
        </p:nvSpPr>
        <p:spPr>
          <a:xfrm>
            <a:off x="5848350" y="5428615"/>
            <a:ext cx="361950" cy="247650"/>
          </a:xfrm>
          <a:prstGeom prst="rect">
            <a:avLst/>
          </a:prstGeom>
          <a:solidFill>
            <a:srgbClr val="FFFFFF">
              <a:alpha val="74000"/>
            </a:srgbClr>
          </a:solidFill>
          <a:ln w="0">
            <a:solidFill>
              <a:srgbClr val="FFFFFF"/>
            </a:solidFill>
            <a:prstDash val="solid"/>
          </a:ln>
        </p:spPr>
        <p:txBody>
          <a:bodyPr wrap="none" anchor="ctr"/>
          <a:lstStyle/>
          <a:p>
            <a:pPr algn="ctr">
              <a:defRPr sz="10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tall</a:t>
            </a:r>
            <a:endParaRPr>
              <a:solidFill/>
              <a:latin typeface="Times New Roman" panose="02020603050405020304"/>
            </a:endParaRPr>
          </a:p>
        </p:txBody>
      </p:sp>
      <p:sp>
        <p:nvSpPr>
          <p:cNvPr id="16" name="anim_358"/>
          <p:cNvSpPr>
            <a:spLocks noGrp="1"/>
          </p:cNvSpPr>
          <p:nvPr/>
        </p:nvSpPr>
        <p:spPr>
          <a:xfrm>
            <a:off x="9855835" y="1165860"/>
            <a:ext cx="2095500" cy="4381500"/>
          </a:xfrm>
          <a:prstGeom prst="roundRect">
            <a:avLst>
              <a:gd name="adj" fmla="val 3636"/>
            </a:avLst>
          </a:prstGeom>
          <a:solidFill>
            <a:srgbClr val="FAFBFA">
              <a:alpha val="74000"/>
            </a:srgbClr>
          </a:solidFill>
          <a:ln w="11430">
            <a:solidFill>
              <a:srgbClr val="D5DED6"/>
            </a:solidFill>
            <a:prstDash val="solid"/>
          </a:ln>
        </p:spPr>
        <p:txBody>
          <a:bodyPr/>
          <a:p>
            <a:pPr>
              <a:defRPr>
                <a:latin typeface="Times New Roman" panose="02020603050405020304"/>
              </a:defRPr>
            </a:pPr>
          </a:p>
        </p:txBody>
      </p:sp>
      <p:sp>
        <p:nvSpPr>
          <p:cNvPr id="17" name="anim_359"/>
          <p:cNvSpPr>
            <a:spLocks noGrp="1"/>
          </p:cNvSpPr>
          <p:nvPr/>
        </p:nvSpPr>
        <p:spPr>
          <a:xfrm>
            <a:off x="10036810" y="1318260"/>
            <a:ext cx="1714500" cy="266700"/>
          </a:xfrm>
          <a:prstGeom prst="rect">
            <a:avLst/>
          </a:prstGeom>
          <a:solidFill>
            <a:srgbClr val="FAFBFA">
              <a:alpha val="74000"/>
            </a:srgbClr>
          </a:solidFill>
          <a:ln w="0">
            <a:solidFill>
              <a:srgbClr val="FAFBFA"/>
            </a:solidFill>
            <a:prstDash val="solid"/>
          </a:ln>
        </p:spPr>
        <p:txBody>
          <a:bodyPr anchor="ctr"/>
          <a:lstStyle/>
          <a:p>
            <a:pPr algn="l">
              <a:defRPr sz="1000" b="1" i="0">
                <a:solidFill>
                  <a:srgbClr val="800000"/>
                </a:solidFill>
                <a:latin typeface="Times New Roman" panose="02020603050405020304"/>
                <a:ea typeface="Times New Roman" panose="02020603050405020304"/>
                <a:cs typeface="Times New Roman" panose="02020603050405020304"/>
              </a:defRPr>
            </a:pPr>
            <a:r>
              <a:rPr>
                <a:solidFill/>
                <a:latin typeface="Times New Roman" panose="02020603050405020304"/>
              </a:rPr>
              <a:t>TWO LENSES</a:t>
            </a:r>
            <a:endParaRPr>
              <a:solidFill/>
              <a:latin typeface="Times New Roman" panose="02020603050405020304"/>
            </a:endParaRPr>
          </a:p>
        </p:txBody>
      </p:sp>
      <p:sp>
        <p:nvSpPr>
          <p:cNvPr id="18" name="anim_360"/>
          <p:cNvSpPr>
            <a:spLocks noGrp="1"/>
          </p:cNvSpPr>
          <p:nvPr/>
        </p:nvSpPr>
        <p:spPr>
          <a:xfrm>
            <a:off x="10036810" y="1765935"/>
            <a:ext cx="723900" cy="285750"/>
          </a:xfrm>
          <a:prstGeom prst="rect">
            <a:avLst/>
          </a:prstGeom>
          <a:solidFill>
            <a:srgbClr val="4F6E96"/>
          </a:solidFill>
          <a:ln w="0">
            <a:solidFill>
              <a:srgbClr val="4F6E96"/>
            </a:solidFill>
            <a:prstDash val="solid"/>
          </a:ln>
        </p:spPr>
        <p:txBody>
          <a:bodyPr wrap="none" anchor="ctr"/>
          <a:lstStyle/>
          <a:p>
            <a:pPr algn="ctr">
              <a:defRPr sz="900" b="1" i="0">
                <a:solidFill>
                  <a:srgbClr val="FFFFFF"/>
                </a:solidFill>
                <a:latin typeface="Times New Roman" panose="02020603050405020304"/>
                <a:ea typeface="Times New Roman" panose="02020603050405020304"/>
                <a:cs typeface="Times New Roman" panose="02020603050405020304"/>
              </a:defRPr>
            </a:pPr>
            <a:r>
              <a:rPr>
                <a:solidFill>
                  <a:schemeClr val="bg1"/>
                </a:solidFill>
                <a:latin typeface="Times New Roman" panose="02020603050405020304"/>
              </a:rPr>
              <a:t>TOTAL</a:t>
            </a:r>
            <a:endParaRPr>
              <a:solidFill>
                <a:schemeClr val="bg1"/>
              </a:solidFill>
              <a:latin typeface="Times New Roman" panose="02020603050405020304"/>
            </a:endParaRPr>
          </a:p>
        </p:txBody>
      </p:sp>
      <p:sp>
        <p:nvSpPr>
          <p:cNvPr id="19" name="anim_361"/>
          <p:cNvSpPr>
            <a:spLocks noGrp="1"/>
          </p:cNvSpPr>
          <p:nvPr/>
        </p:nvSpPr>
        <p:spPr>
          <a:xfrm>
            <a:off x="10036810" y="2137410"/>
            <a:ext cx="1714500" cy="400050"/>
          </a:xfrm>
          <a:prstGeom prst="rect">
            <a:avLst/>
          </a:prstGeom>
          <a:solidFill>
            <a:srgbClr val="FAFBFA">
              <a:alpha val="74000"/>
            </a:srgbClr>
          </a:solidFill>
          <a:ln w="0">
            <a:solidFill>
              <a:srgbClr val="FAFBFA"/>
            </a:solidFill>
            <a:prstDash val="solid"/>
          </a:ln>
        </p:spPr>
        <p:txBody>
          <a:bodyPr anchor="ctr"/>
          <a:lstStyle/>
          <a:p>
            <a:pPr algn="l">
              <a:defRPr sz="18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China</a:t>
            </a:r>
            <a:endParaRPr>
              <a:solidFill/>
              <a:latin typeface="Times New Roman" panose="02020603050405020304"/>
            </a:endParaRPr>
          </a:p>
        </p:txBody>
      </p:sp>
      <p:sp>
        <p:nvSpPr>
          <p:cNvPr id="20" name="anim_362"/>
          <p:cNvSpPr>
            <a:spLocks noGrp="1"/>
          </p:cNvSpPr>
          <p:nvPr/>
        </p:nvSpPr>
        <p:spPr>
          <a:xfrm>
            <a:off x="10036810" y="2518410"/>
            <a:ext cx="1714500" cy="428625"/>
          </a:xfrm>
          <a:prstGeom prst="rect">
            <a:avLst/>
          </a:prstGeom>
          <a:solidFill>
            <a:srgbClr val="FAFBFA">
              <a:alpha val="74000"/>
            </a:srgbClr>
          </a:solidFill>
          <a:ln w="0">
            <a:solidFill>
              <a:srgbClr val="FAFBFA"/>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Largest national burden</a:t>
            </a:r>
            <a:endParaRPr>
              <a:solidFill/>
              <a:latin typeface="Times New Roman" panose="02020603050405020304"/>
            </a:endParaRPr>
          </a:p>
        </p:txBody>
      </p:sp>
      <p:sp>
        <p:nvSpPr>
          <p:cNvPr id="21" name="anim_363"/>
          <p:cNvSpPr>
            <a:spLocks noGrp="1"/>
          </p:cNvSpPr>
          <p:nvPr/>
        </p:nvSpPr>
        <p:spPr>
          <a:xfrm>
            <a:off x="10036810" y="3166110"/>
            <a:ext cx="1280160" cy="285750"/>
          </a:xfrm>
          <a:prstGeom prst="rect">
            <a:avLst/>
          </a:prstGeom>
          <a:solidFill>
            <a:srgbClr val="BE7F4E"/>
          </a:solidFill>
          <a:ln w="0">
            <a:solidFill>
              <a:srgbClr val="BE7F4E"/>
            </a:solidFill>
            <a:prstDash val="solid"/>
          </a:ln>
        </p:spPr>
        <p:txBody>
          <a:bodyPr anchor="ctr"/>
          <a:lstStyle/>
          <a:p>
            <a:pPr algn="ctr">
              <a:defRPr sz="1000" b="1" i="0">
                <a:solidFill>
                  <a:srgbClr val="FFFFFF"/>
                </a:solidFill>
                <a:latin typeface="Times New Roman" panose="02020603050405020304"/>
                <a:ea typeface="Times New Roman" panose="02020603050405020304"/>
                <a:cs typeface="Times New Roman" panose="02020603050405020304"/>
              </a:defRPr>
            </a:pPr>
            <a:r>
              <a:rPr>
                <a:solidFill>
                  <a:schemeClr val="bg1"/>
                </a:solidFill>
                <a:latin typeface="Times New Roman" panose="02020603050405020304"/>
              </a:rPr>
              <a:t>PER PERSON</a:t>
            </a:r>
            <a:endParaRPr>
              <a:solidFill>
                <a:schemeClr val="bg1"/>
              </a:solidFill>
              <a:latin typeface="Times New Roman" panose="02020603050405020304"/>
            </a:endParaRPr>
          </a:p>
        </p:txBody>
      </p:sp>
      <p:sp>
        <p:nvSpPr>
          <p:cNvPr id="22" name="anim_364"/>
          <p:cNvSpPr>
            <a:spLocks noGrp="1"/>
          </p:cNvSpPr>
          <p:nvPr/>
        </p:nvSpPr>
        <p:spPr>
          <a:xfrm>
            <a:off x="10036810" y="3537585"/>
            <a:ext cx="1714500" cy="400050"/>
          </a:xfrm>
          <a:prstGeom prst="rect">
            <a:avLst/>
          </a:prstGeom>
          <a:solidFill>
            <a:srgbClr val="FAFBFA">
              <a:alpha val="74000"/>
            </a:srgbClr>
          </a:solidFill>
          <a:ln w="0">
            <a:solidFill>
              <a:srgbClr val="FAFBFA"/>
            </a:solidFill>
            <a:prstDash val="solid"/>
          </a:ln>
        </p:spPr>
        <p:txBody>
          <a:bodyPr anchor="ctr"/>
          <a:lstStyle/>
          <a:p>
            <a:pPr algn="l">
              <a:defRPr sz="18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Qatar</a:t>
            </a:r>
            <a:endParaRPr>
              <a:solidFill/>
              <a:latin typeface="Times New Roman" panose="02020603050405020304"/>
            </a:endParaRPr>
          </a:p>
        </p:txBody>
      </p:sp>
      <p:sp>
        <p:nvSpPr>
          <p:cNvPr id="23" name="anim_365"/>
          <p:cNvSpPr>
            <a:spLocks noGrp="1"/>
          </p:cNvSpPr>
          <p:nvPr/>
        </p:nvSpPr>
        <p:spPr>
          <a:xfrm>
            <a:off x="10036810" y="3918585"/>
            <a:ext cx="1714500" cy="590550"/>
          </a:xfrm>
          <a:prstGeom prst="rect">
            <a:avLst/>
          </a:prstGeom>
          <a:solidFill>
            <a:srgbClr val="FAFBFA">
              <a:alpha val="74000"/>
            </a:srgbClr>
          </a:solidFill>
          <a:ln w="0">
            <a:solidFill>
              <a:srgbClr val="FAFBFA"/>
            </a:solidFill>
            <a:prstDash val="solid"/>
          </a:ln>
        </p:spPr>
        <p:txBody>
          <a:bodyPr anchor="t"/>
          <a:lstStyle/>
          <a:p>
            <a:pPr algn="l">
              <a:defRPr sz="1300" b="0" i="0">
                <a:solidFill>
                  <a:srgbClr val="5B6774"/>
                </a:solidFill>
                <a:latin typeface="Times New Roman" panose="02020603050405020304"/>
                <a:ea typeface="Times New Roman" panose="02020603050405020304"/>
                <a:cs typeface="Times New Roman" panose="02020603050405020304"/>
              </a:defRPr>
            </a:pPr>
            <a:r>
              <a:rPr>
                <a:solidFill/>
                <a:latin typeface="Times New Roman" panose="02020603050405020304"/>
              </a:rPr>
              <a:t>High intensity, much smaller total</a:t>
            </a:r>
            <a:endParaRPr>
              <a:solidFill/>
              <a:latin typeface="Times New Roman" panose="02020603050405020304"/>
            </a:endParaRPr>
          </a:p>
        </p:txBody>
      </p:sp>
      <p:sp>
        <p:nvSpPr>
          <p:cNvPr id="24" name="anim_366"/>
          <p:cNvSpPr>
            <a:spLocks noGrp="1"/>
          </p:cNvSpPr>
          <p:nvPr/>
        </p:nvSpPr>
        <p:spPr>
          <a:xfrm>
            <a:off x="10036810" y="4615180"/>
            <a:ext cx="1714500" cy="342900"/>
          </a:xfrm>
          <a:prstGeom prst="rect">
            <a:avLst/>
          </a:prstGeom>
          <a:solidFill>
            <a:srgbClr val="2F5248"/>
          </a:solidFill>
          <a:ln w="0">
            <a:solidFill>
              <a:srgbClr val="2F5248"/>
            </a:solidFill>
            <a:prstDash val="solid"/>
          </a:ln>
        </p:spPr>
        <p:txBody>
          <a:bodyPr anchor="ctr"/>
          <a:lstStyle/>
          <a:p>
            <a:pPr algn="ctr">
              <a:defRPr sz="1300" b="1" i="0">
                <a:solidFill>
                  <a:srgbClr val="FFFFFF"/>
                </a:solidFill>
                <a:latin typeface="Times New Roman" panose="02020603050405020304"/>
                <a:ea typeface="Times New Roman" panose="02020603050405020304"/>
                <a:cs typeface="Times New Roman" panose="02020603050405020304"/>
              </a:defRPr>
            </a:pPr>
            <a:r>
              <a:rPr>
                <a:solidFill>
                  <a:schemeClr val="bg1"/>
                </a:solidFill>
                <a:latin typeface="Times New Roman" panose="02020603050405020304"/>
              </a:rPr>
              <a:t>Scale ≠ intensity</a:t>
            </a:r>
            <a:endParaRPr>
              <a:solidFill>
                <a:schemeClr val="bg1"/>
              </a:solidFill>
              <a:latin typeface="Times New Roman" panose="02020603050405020304"/>
            </a:endParaRPr>
          </a:p>
        </p:txBody>
      </p:sp>
      <p:sp>
        <p:nvSpPr>
          <p:cNvPr id="41" name="TextBox 40"/>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6 / 7</a:t>
            </a:r>
            <a:endParaRPr sz="1300" b="1">
              <a:solidFill>
                <a:srgbClr val="D3E3D6"/>
              </a:solidFill>
              <a:latin typeface="Times New Roman" panose="02020603050405020304"/>
            </a:endParaRPr>
          </a:p>
        </p:txBody>
      </p:sp>
      <p:sp>
        <p:nvSpPr>
          <p:cNvPr id="43" name="Rectangle 42"/>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4" name="anim_355"/>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5" name="TextBox 44"/>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Emission scale versus emission intensity</a:t>
            </a:r>
            <a:endParaRPr sz="1300" b="1">
              <a:solidFill>
                <a:srgbClr val="D3E3D6"/>
              </a:solidFill>
              <a:latin typeface="Georgia" panose="02040502050405020303"/>
            </a:endParaRPr>
          </a:p>
          <a:p>
            <a:pPr algn="l">
              <a:spcBef>
                <a:spcPts val="200"/>
              </a:spcBef>
              <a:defRPr>
                <a:latin typeface="Times New Roman" panose="02020603050405020304"/>
              </a:defRPr>
            </a:pPr>
            <a:r>
              <a:rPr sz="2100" b="1">
                <a:solidFill>
                  <a:srgbClr val="FFFFFF"/>
                </a:solidFill>
                <a:latin typeface="Georgia" panose="02040502050405020303"/>
              </a:rPr>
              <a:t>Total burden and per-capita intensity tell different stories</a:t>
            </a:r>
            <a:endParaRPr sz="2100" b="1">
              <a:solidFill>
                <a:srgbClr val="FFFFFF"/>
              </a:solidFill>
              <a:latin typeface="Georgia" panose="02040502050405020303"/>
            </a:endParaRPr>
          </a:p>
        </p:txBody>
      </p:sp>
      <p:sp>
        <p:nvSpPr>
          <p:cNvPr id="46" name="TextBox 45"/>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6 / 7</a:t>
            </a:r>
            <a:endParaRPr sz="1400" b="1">
              <a:solidFill>
                <a:srgbClr val="D3E3D6"/>
              </a:solidFill>
              <a:latin typeface="Times New Roman" panose="02020603050405020304"/>
            </a:endParaRPr>
          </a:p>
        </p:txBody>
      </p:sp>
      <p:sp>
        <p:nvSpPr>
          <p:cNvPr id="47" name="anim_379"/>
          <p:cNvSpPr txBox="1"/>
          <p:nvPr/>
        </p:nvSpPr>
        <p:spPr>
          <a:xfrm>
            <a:off x="777240" y="5815584"/>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it matters:  </a:t>
            </a:r>
            <a:r>
              <a:rPr sz="1350" b="0">
                <a:solidFill>
                  <a:srgbClr val="252B30"/>
                </a:solidFill>
                <a:latin typeface="Times New Roman" panose="02020603050405020304"/>
              </a:rPr>
              <a:t>scale and intensity rank countries differently, which is the first evidence that one ranking cannot serve as one diagnosis.</a:t>
            </a:r>
            <a:endParaRPr sz="1350" b="0">
              <a:solidFill>
                <a:srgbClr val="252B30"/>
              </a:solidFill>
              <a:latin typeface="Times New Roman" panose="02020603050405020304"/>
            </a:endParaRPr>
          </a:p>
        </p:txBody>
      </p:sp>
      <p:sp>
        <p:nvSpPr>
          <p:cNvPr id="49" name="anim_378"/>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9</a:t>
            </a:r>
            <a:endParaRPr sz="1400" b="0">
              <a:solidFill>
                <a:srgbClr val="6E7672"/>
              </a:solidFill>
              <a:latin typeface="Times New Roman" panose="02020603050405020304"/>
            </a:endParaRPr>
          </a:p>
        </p:txBody>
      </p:sp>
      <p:sp>
        <p:nvSpPr>
          <p:cNvPr id="3" name="TextBox 9"/>
          <p:cNvSpPr txBox="1"/>
          <p:nvPr/>
        </p:nvSpPr>
        <p:spPr>
          <a:xfrm>
            <a:off x="1695958" y="6419215"/>
            <a:ext cx="6400800" cy="292608"/>
          </a:xfrm>
          <a:prstGeom prst="rect">
            <a:avLst/>
          </a:prstGeom>
          <a:noFill/>
          <a:ln>
            <a:noFill/>
          </a:ln>
          <a:effectLst/>
        </p:spPr>
        <p:txBody>
          <a:bodyPr wrap="square" lIns="45720" tIns="18288" rIns="45720" bIns="18288" anchor="ctr">
            <a:spAutoFit/>
          </a:bodyPr>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2"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450"/>
                                        <p:tgtEl>
                                          <p:spTgt spid="4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450"/>
                                        <p:tgtEl>
                                          <p:spTgt spid="29"/>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50"/>
                                        <p:tgtEl>
                                          <p:spTgt spid="16"/>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par>
                                <p:cTn id="23" presetID="10" presetClass="entr" presetSubtype="0" fill="hold" grpId="0" nodeType="withEffect">
                                  <p:stCondLst>
                                    <p:cond delay="118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50"/>
                                        <p:tgtEl>
                                          <p:spTgt spid="19"/>
                                        </p:tgtEl>
                                      </p:cBhvr>
                                    </p:animEffect>
                                  </p:childTnLst>
                                </p:cTn>
                              </p:par>
                              <p:par>
                                <p:cTn id="26" presetID="10" presetClass="entr" presetSubtype="0" fill="hold" grpId="0" nodeType="withEffect">
                                  <p:stCondLst>
                                    <p:cond delay="131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50"/>
                                        <p:tgtEl>
                                          <p:spTgt spid="20"/>
                                        </p:tgtEl>
                                      </p:cBhvr>
                                    </p:animEffect>
                                  </p:childTnLst>
                                </p:cTn>
                              </p:par>
                            </p:childTnLst>
                          </p:cTn>
                        </p:par>
                        <p:par>
                          <p:cTn id="29" fill="hold">
                            <p:stCondLst>
                              <p:cond delay="900"/>
                            </p:stCondLst>
                            <p:childTnLst>
                              <p:par>
                                <p:cTn id="30" presetID="10" presetClass="entr" presetSubtype="0" fill="hold" grpId="0" nodeType="afterEffect">
                                  <p:stCondLst>
                                    <p:cond delay="40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50"/>
                                        <p:tgtEl>
                                          <p:spTgt spid="21"/>
                                        </p:tgtEl>
                                      </p:cBhvr>
                                    </p:animEffect>
                                  </p:childTnLst>
                                </p:cTn>
                              </p:par>
                              <p:par>
                                <p:cTn id="33" presetID="10" presetClass="entr" presetSubtype="0" fill="hold" grpId="0" nodeType="withEffect">
                                  <p:stCondLst>
                                    <p:cond delay="53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450"/>
                                        <p:tgtEl>
                                          <p:spTgt spid="22"/>
                                        </p:tgtEl>
                                      </p:cBhvr>
                                    </p:animEffect>
                                  </p:childTnLst>
                                </p:cTn>
                              </p:par>
                              <p:par>
                                <p:cTn id="36" presetID="10" presetClass="entr" presetSubtype="0" fill="hold" grpId="0" nodeType="withEffect">
                                  <p:stCondLst>
                                    <p:cond delay="66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450"/>
                                        <p:tgtEl>
                                          <p:spTgt spid="23"/>
                                        </p:tgtEl>
                                      </p:cBhvr>
                                    </p:animEffect>
                                  </p:childTnLst>
                                </p:cTn>
                              </p:par>
                            </p:childTnLst>
                          </p:cTn>
                        </p:par>
                        <p:par>
                          <p:cTn id="39" fill="hold">
                            <p:stCondLst>
                              <p:cond delay="1800"/>
                            </p:stCondLst>
                            <p:childTnLst>
                              <p:par>
                                <p:cTn id="40" presetID="10" presetClass="entr" presetSubtype="0" fill="hold" grpId="0" nodeType="afterEffect">
                                  <p:stCondLst>
                                    <p:cond delay="40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50"/>
                                        <p:tgtEl>
                                          <p:spTgt spid="24"/>
                                        </p:tgtEl>
                                      </p:cBhvr>
                                    </p:animEffect>
                                  </p:childTnLst>
                                </p:cTn>
                              </p:par>
                              <p:par>
                                <p:cTn id="43" presetID="10" presetClass="entr" presetSubtype="0" fill="hold" grpId="0" nodeType="withEffect">
                                  <p:stCondLst>
                                    <p:cond delay="53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450"/>
                                        <p:tgtEl>
                                          <p:spTgt spid="8"/>
                                        </p:tgtEl>
                                      </p:cBhvr>
                                    </p:animEffect>
                                  </p:childTnLst>
                                </p:cTn>
                              </p:par>
                              <p:par>
                                <p:cTn id="46" presetID="10" presetClass="entr" presetSubtype="0" fill="hold" grpId="0" nodeType="withEffect">
                                  <p:stCondLst>
                                    <p:cond delay="66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450"/>
                                        <p:tgtEl>
                                          <p:spTgt spid="10"/>
                                        </p:tgtEl>
                                      </p:cBhvr>
                                    </p:animEffect>
                                  </p:childTnLst>
                                </p:cTn>
                              </p:par>
                              <p:par>
                                <p:cTn id="49" presetID="10" presetClass="entr" presetSubtype="0" fill="hold" grpId="0" nodeType="withEffect">
                                  <p:stCondLst>
                                    <p:cond delay="79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450"/>
                                        <p:tgtEl>
                                          <p:spTgt spid="11"/>
                                        </p:tgtEl>
                                      </p:cBhvr>
                                    </p:animEffect>
                                  </p:childTnLst>
                                </p:cTn>
                              </p:par>
                              <p:par>
                                <p:cTn id="52" presetID="10" presetClass="entr" presetSubtype="0" fill="hold" grpId="0" nodeType="withEffect">
                                  <p:stCondLst>
                                    <p:cond delay="92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450"/>
                                        <p:tgtEl>
                                          <p:spTgt spid="31"/>
                                        </p:tgtEl>
                                      </p:cBhvr>
                                    </p:animEffect>
                                  </p:childTnLst>
                                </p:cTn>
                              </p:par>
                              <p:par>
                                <p:cTn id="55" presetID="10" presetClass="entr" presetSubtype="0" fill="hold" grpId="0" nodeType="withEffect">
                                  <p:stCondLst>
                                    <p:cond delay="105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450"/>
                                        <p:tgtEl>
                                          <p:spTgt spid="12"/>
                                        </p:tgtEl>
                                      </p:cBhvr>
                                    </p:animEffect>
                                  </p:childTnLst>
                                </p:cTn>
                              </p:par>
                              <p:par>
                                <p:cTn id="58" presetID="10" presetClass="entr" presetSubtype="0" fill="hold" grpId="0" nodeType="withEffect">
                                  <p:stCondLst>
                                    <p:cond delay="118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450"/>
                                        <p:tgtEl>
                                          <p:spTgt spid="14"/>
                                        </p:tgtEl>
                                      </p:cBhvr>
                                    </p:animEffect>
                                  </p:childTnLst>
                                </p:cTn>
                              </p:par>
                              <p:par>
                                <p:cTn id="61" presetID="10" presetClass="entr" presetSubtype="0" fill="hold" grpId="0" nodeType="withEffect">
                                  <p:stCondLst>
                                    <p:cond delay="131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450"/>
                                        <p:tgtEl>
                                          <p:spTgt spid="15"/>
                                        </p:tgtEl>
                                      </p:cBhvr>
                                    </p:animEffect>
                                  </p:childTnLst>
                                </p:cTn>
                              </p:par>
                              <p:par>
                                <p:cTn id="64" presetID="10" presetClass="entr" presetSubtype="0" fill="hold" grpId="0" nodeType="withEffect">
                                  <p:stCondLst>
                                    <p:cond delay="144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450"/>
                                        <p:tgtEl>
                                          <p:spTgt spid="35"/>
                                        </p:tgtEl>
                                      </p:cBhvr>
                                    </p:animEffect>
                                  </p:childTnLst>
                                </p:cTn>
                              </p:par>
                              <p:par>
                                <p:cTn id="70" presetID="10" presetClass="entr" presetSubtype="0" fill="hold" grpId="0" nodeType="withEffect">
                                  <p:stCondLst>
                                    <p:cond delay="1830"/>
                                  </p:stCondLst>
                                  <p:childTnLst>
                                    <p:set>
                                      <p:cBhvr>
                                        <p:cTn id="71" dur="1" fill="hold">
                                          <p:stCondLst>
                                            <p:cond delay="0"/>
                                          </p:stCondLst>
                                        </p:cTn>
                                        <p:tgtEl>
                                          <p:spTgt spid="49"/>
                                        </p:tgtEl>
                                        <p:attrNameLst>
                                          <p:attrName>style.visibility</p:attrName>
                                        </p:attrNameLst>
                                      </p:cBhvr>
                                      <p:to>
                                        <p:strVal val="visible"/>
                                      </p:to>
                                    </p:set>
                                    <p:animEffect transition="in" filter="fade">
                                      <p:cBhvr>
                                        <p:cTn id="72" dur="450"/>
                                        <p:tgtEl>
                                          <p:spTgt spid="49"/>
                                        </p:tgtEl>
                                      </p:cBhvr>
                                    </p:animEffect>
                                  </p:childTnLst>
                                </p:cTn>
                              </p:par>
                            </p:childTnLst>
                          </p:cTn>
                        </p:par>
                        <p:par>
                          <p:cTn id="73" fill="hold">
                            <p:stCondLst>
                              <p:cond delay="2700"/>
                            </p:stCondLst>
                            <p:childTnLst>
                              <p:par>
                                <p:cTn id="74" presetID="10" presetClass="entr" presetSubtype="0" fill="hold" grpId="0" nodeType="afterEffect">
                                  <p:stCondLst>
                                    <p:cond delay="400"/>
                                  </p:stCondLst>
                                  <p:childTnLst>
                                    <p:set>
                                      <p:cBhvr>
                                        <p:cTn id="75" dur="1" fill="hold">
                                          <p:stCondLst>
                                            <p:cond delay="0"/>
                                          </p:stCondLst>
                                        </p:cTn>
                                        <p:tgtEl>
                                          <p:spTgt spid="47"/>
                                        </p:tgtEl>
                                        <p:attrNameLst>
                                          <p:attrName>style.visibility</p:attrName>
                                        </p:attrNameLst>
                                      </p:cBhvr>
                                      <p:to>
                                        <p:strVal val="visible"/>
                                      </p:to>
                                    </p:set>
                                    <p:animEffect transition="in" filter="fade">
                                      <p:cBhvr>
                                        <p:cTn id="76" dur="4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28" name="Rectangle 27"/>
          <p:cNvSpPr/>
          <p:nvPr/>
        </p:nvSpPr>
        <p:spPr>
          <a:xfrm>
            <a:off x="0" y="0"/>
            <a:ext cx="12192000" cy="6272784"/>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6" name="anim_381"/>
          <p:cNvSpPr>
            <a:spLocks noGrp="1"/>
          </p:cNvSpPr>
          <p:nvPr/>
        </p:nvSpPr>
        <p:spPr>
          <a:xfrm>
            <a:off x="342900" y="1076325"/>
            <a:ext cx="11410950" cy="4810125"/>
          </a:xfrm>
          <a:prstGeom prst="roundRect">
            <a:avLst>
              <a:gd name="adj" fmla="val 1584"/>
            </a:avLst>
          </a:prstGeom>
          <a:solidFill>
            <a:srgbClr val="EDF3EF">
              <a:alpha val="74000"/>
            </a:srgbClr>
          </a:solidFill>
          <a:ln w="11430">
            <a:solidFill>
              <a:srgbClr val="D5DED6"/>
            </a:solidFill>
            <a:prstDash val="solid"/>
          </a:ln>
        </p:spPr>
        <p:txBody>
          <a:bodyPr/>
          <a:p>
            <a:pPr>
              <a:defRPr>
                <a:latin typeface="Times New Roman" panose="02020603050405020304"/>
              </a:defRPr>
            </a:pPr>
          </a:p>
        </p:txBody>
      </p:sp>
      <p:pic>
        <p:nvPicPr>
          <p:cNvPr id="21" name="anim_382"/>
          <p:cNvPicPr>
            <a:picLocks noChangeAspect="1"/>
          </p:cNvPicPr>
          <p:nvPr/>
        </p:nvPicPr>
        <p:blipFill>
          <a:blip r:embed="rId2"/>
          <a:srcRect t="50" b="50"/>
          <a:stretch>
            <a:fillRect/>
          </a:stretch>
        </p:blipFill>
        <p:spPr>
          <a:xfrm>
            <a:off x="381000" y="1114425"/>
            <a:ext cx="11334750" cy="4733925"/>
          </a:xfrm>
          <a:prstGeom prst="rect">
            <a:avLst/>
          </a:prstGeom>
        </p:spPr>
      </p:pic>
      <p:sp>
        <p:nvSpPr>
          <p:cNvPr id="8" name="anim_383"/>
          <p:cNvSpPr>
            <a:spLocks noGrp="1"/>
          </p:cNvSpPr>
          <p:nvPr/>
        </p:nvSpPr>
        <p:spPr>
          <a:xfrm>
            <a:off x="723900" y="5194300"/>
            <a:ext cx="7962900" cy="581025"/>
          </a:xfrm>
          <a:prstGeom prst="roundRect">
            <a:avLst>
              <a:gd name="adj" fmla="val 13115"/>
            </a:avLst>
          </a:prstGeom>
          <a:solidFill>
            <a:srgbClr val="FAFBFA">
              <a:alpha val="74000"/>
            </a:srgbClr>
          </a:solidFill>
          <a:ln w="9525">
            <a:solidFill>
              <a:srgbClr val="D5DED6"/>
            </a:solidFill>
            <a:prstDash val="solid"/>
          </a:ln>
        </p:spPr>
        <p:txBody>
          <a:bodyPr/>
          <a:p>
            <a:pPr>
              <a:defRPr>
                <a:latin typeface="Times New Roman" panose="02020603050405020304"/>
              </a:defRPr>
            </a:pPr>
          </a:p>
        </p:txBody>
      </p:sp>
      <p:sp>
        <p:nvSpPr>
          <p:cNvPr id="9" name="anim_386"/>
          <p:cNvSpPr>
            <a:spLocks noGrp="1"/>
          </p:cNvSpPr>
          <p:nvPr/>
        </p:nvSpPr>
        <p:spPr>
          <a:xfrm>
            <a:off x="895350" y="5337175"/>
            <a:ext cx="685800" cy="285750"/>
          </a:xfrm>
          <a:prstGeom prst="rect">
            <a:avLst/>
          </a:prstGeom>
          <a:solidFill>
            <a:srgbClr val="6B6250"/>
          </a:solidFill>
          <a:ln w="0">
            <a:solidFill>
              <a:srgbClr val="6B6250"/>
            </a:solidFill>
            <a:prstDash val="solid"/>
          </a:ln>
        </p:spPr>
        <p:txBody>
          <a:bodyPr wrap="none" anchor="ctr"/>
          <a:lstStyle/>
          <a:p>
            <a:pPr algn="ctr">
              <a:defRPr sz="10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COAL</a:t>
            </a:r>
            <a:endParaRPr>
              <a:solidFill/>
              <a:latin typeface="Times New Roman" panose="02020603050405020304"/>
            </a:endParaRPr>
          </a:p>
        </p:txBody>
      </p:sp>
      <p:sp>
        <p:nvSpPr>
          <p:cNvPr id="10" name="anim_387"/>
          <p:cNvSpPr>
            <a:spLocks noGrp="1"/>
          </p:cNvSpPr>
          <p:nvPr/>
        </p:nvSpPr>
        <p:spPr>
          <a:xfrm>
            <a:off x="1657350" y="5337175"/>
            <a:ext cx="952500" cy="285750"/>
          </a:xfrm>
          <a:prstGeom prst="rect">
            <a:avLst/>
          </a:prstGeom>
          <a:solidFill>
            <a:srgbClr val="FAFBFA">
              <a:alpha val="74000"/>
            </a:srgbClr>
          </a:solidFill>
          <a:ln w="0">
            <a:solidFill>
              <a:srgbClr val="FAFBFA"/>
            </a:solidFill>
            <a:prstDash val="solid"/>
          </a:ln>
        </p:spPr>
        <p:txBody>
          <a:bodyPr wrap="none" anchor="ctr"/>
          <a:lstStyle/>
          <a:p>
            <a:pPr algn="l">
              <a:defRPr sz="105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Asia</a:t>
            </a:r>
            <a:endParaRPr>
              <a:solidFill/>
              <a:latin typeface="Times New Roman" panose="02020603050405020304"/>
            </a:endParaRPr>
          </a:p>
        </p:txBody>
      </p:sp>
      <p:sp>
        <p:nvSpPr>
          <p:cNvPr id="11" name="anim_388"/>
          <p:cNvSpPr>
            <a:spLocks noGrp="1"/>
          </p:cNvSpPr>
          <p:nvPr/>
        </p:nvSpPr>
        <p:spPr>
          <a:xfrm>
            <a:off x="2857500" y="5337175"/>
            <a:ext cx="685800" cy="285750"/>
          </a:xfrm>
          <a:prstGeom prst="rect">
            <a:avLst/>
          </a:prstGeom>
          <a:solidFill>
            <a:srgbClr val="BE7F4E"/>
          </a:solidFill>
          <a:ln w="0">
            <a:solidFill>
              <a:srgbClr val="BE7F4E"/>
            </a:solidFill>
            <a:prstDash val="solid"/>
          </a:ln>
        </p:spPr>
        <p:txBody>
          <a:bodyPr wrap="none" anchor="ctr"/>
          <a:lstStyle/>
          <a:p>
            <a:pPr algn="ctr">
              <a:defRPr sz="10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OIL</a:t>
            </a:r>
            <a:endParaRPr>
              <a:solidFill/>
              <a:latin typeface="Times New Roman" panose="02020603050405020304"/>
            </a:endParaRPr>
          </a:p>
        </p:txBody>
      </p:sp>
      <p:sp>
        <p:nvSpPr>
          <p:cNvPr id="12" name="anim_389"/>
          <p:cNvSpPr>
            <a:spLocks noGrp="1"/>
          </p:cNvSpPr>
          <p:nvPr/>
        </p:nvSpPr>
        <p:spPr>
          <a:xfrm>
            <a:off x="3619500" y="5337175"/>
            <a:ext cx="2476500" cy="285750"/>
          </a:xfrm>
          <a:prstGeom prst="rect">
            <a:avLst/>
          </a:prstGeom>
          <a:solidFill>
            <a:srgbClr val="FAFBFA">
              <a:alpha val="74000"/>
            </a:srgbClr>
          </a:solidFill>
          <a:ln w="0">
            <a:solidFill>
              <a:srgbClr val="FAFBFA"/>
            </a:solidFill>
            <a:prstDash val="solid"/>
          </a:ln>
        </p:spPr>
        <p:txBody>
          <a:bodyPr anchor="ctr"/>
          <a:lstStyle/>
          <a:p>
            <a:pPr algn="l">
              <a:defRPr sz="130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Africa · Middle East · Americas</a:t>
            </a:r>
            <a:endParaRPr>
              <a:solidFill/>
              <a:latin typeface="Times New Roman" panose="02020603050405020304"/>
            </a:endParaRPr>
          </a:p>
        </p:txBody>
      </p:sp>
      <p:sp>
        <p:nvSpPr>
          <p:cNvPr id="13" name="anim_390"/>
          <p:cNvSpPr>
            <a:spLocks noGrp="1"/>
          </p:cNvSpPr>
          <p:nvPr/>
        </p:nvSpPr>
        <p:spPr>
          <a:xfrm>
            <a:off x="6305550" y="5337175"/>
            <a:ext cx="685800" cy="285750"/>
          </a:xfrm>
          <a:prstGeom prst="rect">
            <a:avLst/>
          </a:prstGeom>
          <a:solidFill>
            <a:srgbClr val="4F6E96"/>
          </a:solidFill>
          <a:ln w="0">
            <a:solidFill>
              <a:srgbClr val="4F6E96"/>
            </a:solidFill>
            <a:prstDash val="solid"/>
          </a:ln>
        </p:spPr>
        <p:txBody>
          <a:bodyPr wrap="none" anchor="ctr"/>
          <a:lstStyle/>
          <a:p>
            <a:pPr algn="ctr">
              <a:defRPr sz="1000" b="1" i="0">
                <a:solidFill>
                  <a:srgbClr val="FFFFFF"/>
                </a:solidFill>
                <a:latin typeface="Times New Roman" panose="02020603050405020304"/>
                <a:ea typeface="Times New Roman" panose="02020603050405020304"/>
                <a:cs typeface="Times New Roman" panose="02020603050405020304"/>
              </a:defRPr>
            </a:pPr>
            <a:r>
              <a:rPr>
                <a:solidFill/>
                <a:latin typeface="Times New Roman" panose="02020603050405020304"/>
              </a:rPr>
              <a:t>GAS</a:t>
            </a:r>
            <a:endParaRPr>
              <a:solidFill/>
              <a:latin typeface="Times New Roman" panose="02020603050405020304"/>
            </a:endParaRPr>
          </a:p>
        </p:txBody>
      </p:sp>
      <p:sp>
        <p:nvSpPr>
          <p:cNvPr id="14" name="anim_391"/>
          <p:cNvSpPr>
            <a:spLocks noGrp="1"/>
          </p:cNvSpPr>
          <p:nvPr/>
        </p:nvSpPr>
        <p:spPr>
          <a:xfrm>
            <a:off x="7067550" y="5337175"/>
            <a:ext cx="1447800" cy="285750"/>
          </a:xfrm>
          <a:prstGeom prst="rect">
            <a:avLst/>
          </a:prstGeom>
          <a:solidFill>
            <a:srgbClr val="FAFBFA">
              <a:alpha val="74000"/>
            </a:srgbClr>
          </a:solidFill>
          <a:ln w="0">
            <a:solidFill>
              <a:srgbClr val="FAFBFA"/>
            </a:solidFill>
            <a:prstDash val="solid"/>
          </a:ln>
        </p:spPr>
        <p:txBody>
          <a:bodyPr anchor="ctr"/>
          <a:lstStyle/>
          <a:p>
            <a:pPr algn="l">
              <a:defRPr sz="1050" b="1" i="0">
                <a:solidFill>
                  <a:srgbClr val="25313C"/>
                </a:solidFill>
                <a:latin typeface="Times New Roman" panose="02020603050405020304"/>
                <a:ea typeface="Times New Roman" panose="02020603050405020304"/>
                <a:cs typeface="Times New Roman" panose="02020603050405020304"/>
              </a:defRPr>
            </a:pPr>
            <a:r>
              <a:rPr>
                <a:solidFill/>
                <a:latin typeface="Times New Roman" panose="02020603050405020304"/>
              </a:rPr>
              <a:t>Russia · Central Asia</a:t>
            </a:r>
            <a:endParaRPr>
              <a:solidFill/>
              <a:latin typeface="Times New Roman" panose="02020603050405020304"/>
            </a:endParaRPr>
          </a:p>
        </p:txBody>
      </p:sp>
      <p:sp>
        <p:nvSpPr>
          <p:cNvPr id="15" name="anim_384"/>
          <p:cNvSpPr>
            <a:spLocks noGrp="1"/>
          </p:cNvSpPr>
          <p:nvPr/>
        </p:nvSpPr>
        <p:spPr>
          <a:xfrm>
            <a:off x="8896350" y="5194300"/>
            <a:ext cx="2724150" cy="581025"/>
          </a:xfrm>
          <a:prstGeom prst="roundRect">
            <a:avLst>
              <a:gd name="adj" fmla="val 13115"/>
            </a:avLst>
          </a:prstGeom>
          <a:solidFill>
            <a:srgbClr val="ECEFF4">
              <a:alpha val="74000"/>
            </a:srgbClr>
          </a:solidFill>
          <a:ln w="11430">
            <a:solidFill>
              <a:srgbClr val="4F6E96"/>
            </a:solidFill>
            <a:prstDash val="solid"/>
          </a:ln>
        </p:spPr>
        <p:txBody>
          <a:bodyPr/>
          <a:p>
            <a:pPr>
              <a:defRPr>
                <a:latin typeface="Times New Roman" panose="02020603050405020304"/>
              </a:defRPr>
            </a:pPr>
          </a:p>
        </p:txBody>
      </p:sp>
      <p:sp>
        <p:nvSpPr>
          <p:cNvPr id="16" name="anim_385"/>
          <p:cNvSpPr>
            <a:spLocks noGrp="1"/>
          </p:cNvSpPr>
          <p:nvPr/>
        </p:nvSpPr>
        <p:spPr>
          <a:xfrm>
            <a:off x="9048750" y="5289550"/>
            <a:ext cx="2419350" cy="390525"/>
          </a:xfrm>
          <a:prstGeom prst="rect">
            <a:avLst/>
          </a:prstGeom>
          <a:solidFill>
            <a:srgbClr val="ECEFF4">
              <a:alpha val="74000"/>
            </a:srgbClr>
          </a:solidFill>
          <a:ln w="0">
            <a:solidFill>
              <a:srgbClr val="ECEFF4"/>
            </a:solidFill>
            <a:prstDash val="solid"/>
          </a:ln>
        </p:spPr>
        <p:txBody>
          <a:bodyPr anchor="ctr"/>
          <a:lstStyle/>
          <a:p>
            <a:pPr algn="ctr">
              <a:defRPr sz="1300" b="1" i="0">
                <a:solidFill>
                  <a:srgbClr val="1F4E79"/>
                </a:solidFill>
                <a:latin typeface="Times New Roman" panose="02020603050405020304"/>
                <a:ea typeface="Times New Roman" panose="02020603050405020304"/>
                <a:cs typeface="Times New Roman" panose="02020603050405020304"/>
              </a:defRPr>
            </a:pPr>
            <a:r>
              <a:rPr>
                <a:solidFill/>
                <a:latin typeface="Times New Roman" panose="02020603050405020304"/>
              </a:rPr>
              <a:t>Dominant fuel shows category; pies retain the actual mix.</a:t>
            </a:r>
            <a:endParaRPr>
              <a:solidFill/>
              <a:latin typeface="Times New Roman" panose="02020603050405020304"/>
            </a:endParaRPr>
          </a:p>
        </p:txBody>
      </p:sp>
      <p:sp>
        <p:nvSpPr>
          <p:cNvPr id="27" name="TextBox 26"/>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300" b="1">
                <a:solidFill>
                  <a:srgbClr val="D3E3D6"/>
                </a:solidFill>
                <a:latin typeface="Times New Roman" panose="02020603050405020304"/>
              </a:rPr>
              <a:t>7 / 7</a:t>
            </a:r>
            <a:endParaRPr sz="1300" b="1">
              <a:solidFill>
                <a:srgbClr val="D3E3D6"/>
              </a:solidFill>
              <a:latin typeface="Times New Roman" panose="02020603050405020304"/>
            </a:endParaRPr>
          </a:p>
        </p:txBody>
      </p:sp>
      <p:sp>
        <p:nvSpPr>
          <p:cNvPr id="29" name="Rectangle 28"/>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0" name="anim_380"/>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TextBox 30"/>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EXPLORATION OF DATASET · What the emissions are actually made of</a:t>
            </a:r>
            <a:endParaRPr sz="1300" b="1">
              <a:solidFill>
                <a:srgbClr val="D3E3D6"/>
              </a:solidFill>
              <a:latin typeface="Georgia" panose="02040502050405020303"/>
            </a:endParaRPr>
          </a:p>
          <a:p>
            <a:pPr algn="l">
              <a:spcBef>
                <a:spcPts val="200"/>
              </a:spcBef>
              <a:defRPr>
                <a:latin typeface="Times New Roman" panose="02020603050405020304"/>
              </a:defRPr>
            </a:pPr>
            <a:r>
              <a:rPr sz="2500" b="1">
                <a:solidFill>
                  <a:srgbClr val="FFFFFF"/>
                </a:solidFill>
                <a:latin typeface="Georgia" panose="02040502050405020303"/>
              </a:rPr>
              <a:t>Fuel dependence is geographically uneven</a:t>
            </a:r>
            <a:endParaRPr sz="2500" b="1">
              <a:solidFill>
                <a:srgbClr val="FFFFFF"/>
              </a:solidFill>
              <a:latin typeface="Georgia" panose="02040502050405020303"/>
            </a:endParaRPr>
          </a:p>
        </p:txBody>
      </p:sp>
      <p:sp>
        <p:nvSpPr>
          <p:cNvPr id="32" name="TextBox 31"/>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7 / 7</a:t>
            </a:r>
            <a:endParaRPr sz="1400" b="1">
              <a:solidFill>
                <a:srgbClr val="D3E3D6"/>
              </a:solidFill>
              <a:latin typeface="Times New Roman" panose="02020603050405020304"/>
            </a:endParaRPr>
          </a:p>
        </p:txBody>
      </p:sp>
      <p:sp>
        <p:nvSpPr>
          <p:cNvPr id="33" name="anim_396"/>
          <p:cNvSpPr txBox="1"/>
          <p:nvPr/>
        </p:nvSpPr>
        <p:spPr>
          <a:xfrm>
            <a:off x="777240" y="5941949"/>
            <a:ext cx="10607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it matters:  </a:t>
            </a:r>
            <a:r>
              <a:rPr sz="1350" b="0">
                <a:solidFill>
                  <a:srgbClr val="252B30"/>
                </a:solidFill>
                <a:latin typeface="Times New Roman" panose="02020603050405020304"/>
              </a:rPr>
              <a:t>fuel composition is what makes a transition easy or locked in, so coal and gas shares enter the model as the fuel-shift block.</a:t>
            </a:r>
            <a:endParaRPr sz="1350" b="0">
              <a:solidFill>
                <a:srgbClr val="252B30"/>
              </a:solidFill>
              <a:latin typeface="Times New Roman" panose="02020603050405020304"/>
            </a:endParaRPr>
          </a:p>
        </p:txBody>
      </p:sp>
      <p:sp>
        <p:nvSpPr>
          <p:cNvPr id="35" name="anim_395"/>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10</a:t>
            </a:r>
            <a:endParaRPr sz="1400" b="0">
              <a:solidFill>
                <a:srgbClr val="6E7672"/>
              </a:solidFill>
              <a:latin typeface="Times New Roman" panose="02020603050405020304"/>
            </a:endParaRPr>
          </a:p>
        </p:txBody>
      </p:sp>
      <p:sp>
        <p:nvSpPr>
          <p:cNvPr id="3" name="TextBox 9"/>
          <p:cNvSpPr txBox="1"/>
          <p:nvPr/>
        </p:nvSpPr>
        <p:spPr>
          <a:xfrm>
            <a:off x="1695958" y="6419215"/>
            <a:ext cx="6400800" cy="292608"/>
          </a:xfrm>
          <a:prstGeom prst="rect">
            <a:avLst/>
          </a:prstGeom>
          <a:noFill/>
          <a:ln>
            <a:noFill/>
          </a:ln>
          <a:effectLst/>
        </p:spPr>
        <p:txBody>
          <a:bodyPr wrap="square" lIns="45720" tIns="18288" rIns="45720" bIns="18288" anchor="ctr">
            <a:spAutoFit/>
          </a:bodyPr>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2"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defRPr>
                <a:latin typeface="Times New Roman" panose="02020603050405020304"/>
              </a:defRPr>
            </a:p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50"/>
                                        <p:tgtEl>
                                          <p:spTgt spid="30"/>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50"/>
                                        <p:tgtEl>
                                          <p:spTgt spid="21"/>
                                        </p:tgtEl>
                                      </p:cBhvr>
                                    </p:animEffect>
                                  </p:childTnLst>
                                </p:cTn>
                              </p:par>
                            </p:childTnLst>
                          </p:cTn>
                        </p:par>
                        <p:par>
                          <p:cTn id="14" fill="hold">
                            <p:stCondLst>
                              <p:cond delay="900"/>
                            </p:stCondLst>
                            <p:childTnLst>
                              <p:par>
                                <p:cTn id="15" presetID="10" presetClass="entr" presetSubtype="0" fill="hold" grpId="0" nodeType="afterEffect">
                                  <p:stCondLst>
                                    <p:cond delay="40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50"/>
                                        <p:tgtEl>
                                          <p:spTgt spid="8"/>
                                        </p:tgtEl>
                                      </p:cBhvr>
                                    </p:animEffect>
                                  </p:childTnLst>
                                </p:cTn>
                              </p:par>
                              <p:par>
                                <p:cTn id="18" presetID="10" presetClass="entr" presetSubtype="0" fill="hold" grpId="0" nodeType="withEffect">
                                  <p:stCondLst>
                                    <p:cond delay="53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66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4" presetID="10" presetClass="entr" presetSubtype="0" fill="hold" grpId="0" nodeType="withEffect">
                                  <p:stCondLst>
                                    <p:cond delay="79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50"/>
                                        <p:tgtEl>
                                          <p:spTgt spid="9"/>
                                        </p:tgtEl>
                                      </p:cBhvr>
                                    </p:animEffect>
                                  </p:childTnLst>
                                </p:cTn>
                              </p:par>
                              <p:par>
                                <p:cTn id="27" presetID="10" presetClass="entr" presetSubtype="0" fill="hold" grpId="0" nodeType="withEffect">
                                  <p:stCondLst>
                                    <p:cond delay="92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0" nodeType="withEffect">
                                  <p:stCondLst>
                                    <p:cond delay="105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0" nodeType="withEffect">
                                  <p:stCondLst>
                                    <p:cond delay="118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0" nodeType="withEffect">
                                  <p:stCondLst>
                                    <p:cond delay="131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par>
                                <p:cTn id="39" presetID="10" presetClass="entr" presetSubtype="0" fill="hold" grpId="0" nodeType="withEffect">
                                  <p:stCondLst>
                                    <p:cond delay="144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50"/>
                                        <p:tgtEl>
                                          <p:spTgt spid="14"/>
                                        </p:tgtEl>
                                      </p:cBhvr>
                                    </p:animEffect>
                                  </p:childTnLst>
                                </p:cTn>
                              </p:par>
                              <p:par>
                                <p:cTn id="45" presetID="10" presetClass="entr" presetSubtype="0" fill="hold" grpId="0" nodeType="withEffect">
                                  <p:stCondLst>
                                    <p:cond delay="183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450"/>
                                        <p:tgtEl>
                                          <p:spTgt spid="35"/>
                                        </p:tgtEl>
                                      </p:cBhvr>
                                    </p:animEffect>
                                  </p:childTnLst>
                                </p:cTn>
                              </p:par>
                            </p:childTnLst>
                          </p:cTn>
                        </p:par>
                        <p:par>
                          <p:cTn id="48" fill="hold">
                            <p:stCondLst>
                              <p:cond delay="1800"/>
                            </p:stCondLst>
                            <p:childTnLst>
                              <p:par>
                                <p:cTn id="49" presetID="10" presetClass="entr" presetSubtype="0" fill="hold" grpId="0" nodeType="afterEffect">
                                  <p:stCondLst>
                                    <p:cond delay="40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DESIGN OF AI ALGORITHM · Defining the clustering unit and the modelled cohort</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From 213 territories to 193 comparable country profiles</a:t>
            </a:r>
            <a:endParaRPr sz="23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1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RAN CHANGMING</a:t>
            </a:r>
            <a:endParaRPr sz="1300" b="1">
              <a:solidFill>
                <a:srgbClr val="6E7672"/>
              </a:solidFill>
              <a:latin typeface="Times New Roman" panose="02020603050405020304"/>
            </a:endParaRPr>
          </a:p>
        </p:txBody>
      </p:sp>
      <p:sp>
        <p:nvSpPr>
          <p:cNvPr id="12" name="TextBox 11"/>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11</a:t>
            </a:r>
            <a:endParaRPr sz="1400" b="0">
              <a:solidFill>
                <a:srgbClr val="6E7672"/>
              </a:solidFill>
              <a:latin typeface="Times New Roman" panose="02020603050405020304"/>
            </a:endParaRPr>
          </a:p>
        </p:txBody>
      </p:sp>
      <p:sp>
        <p:nvSpPr>
          <p:cNvPr id="13" name="TextBox 12"/>
          <p:cNvSpPr txBox="1"/>
          <p:nvPr/>
        </p:nvSpPr>
        <p:spPr>
          <a:xfrm>
            <a:off x="457200" y="987552"/>
            <a:ext cx="54864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COHORT FUNNEL</a:t>
            </a:r>
            <a:endParaRPr sz="1350" b="1">
              <a:solidFill>
                <a:srgbClr val="2F5248"/>
              </a:solidFill>
              <a:latin typeface="Times New Roman" panose="02020603050405020304"/>
            </a:endParaRPr>
          </a:p>
        </p:txBody>
      </p:sp>
      <p:sp>
        <p:nvSpPr>
          <p:cNvPr id="14" name="anim_33"/>
          <p:cNvSpPr/>
          <p:nvPr/>
        </p:nvSpPr>
        <p:spPr>
          <a:xfrm>
            <a:off x="457200" y="1298448"/>
            <a:ext cx="5852160" cy="859536"/>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5" name="anim_34"/>
          <p:cNvSpPr txBox="1"/>
          <p:nvPr/>
        </p:nvSpPr>
        <p:spPr>
          <a:xfrm>
            <a:off x="603504" y="1380744"/>
            <a:ext cx="1280160" cy="6858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2200" b="1">
                <a:solidFill>
                  <a:srgbClr val="4F6E96"/>
                </a:solidFill>
                <a:latin typeface="Times New Roman" panose="02020603050405020304"/>
              </a:rPr>
              <a:t>6,378</a:t>
            </a:r>
            <a:endParaRPr sz="2200" b="1">
              <a:solidFill>
                <a:srgbClr val="4F6E96"/>
              </a:solidFill>
              <a:latin typeface="Times New Roman" panose="02020603050405020304"/>
            </a:endParaRPr>
          </a:p>
        </p:txBody>
      </p:sp>
      <p:sp>
        <p:nvSpPr>
          <p:cNvPr id="16" name="anim_35"/>
          <p:cNvSpPr txBox="1"/>
          <p:nvPr/>
        </p:nvSpPr>
        <p:spPr>
          <a:xfrm>
            <a:off x="1883664" y="1362456"/>
            <a:ext cx="429768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country-year rows</a:t>
            </a:r>
            <a:endParaRPr sz="1450" b="1">
              <a:solidFill>
                <a:srgbClr val="252B30"/>
              </a:solidFill>
              <a:latin typeface="Times New Roman" panose="02020603050405020304"/>
            </a:endParaRPr>
          </a:p>
          <a:p>
            <a:pPr algn="l">
              <a:defRPr>
                <a:latin typeface="Times New Roman" panose="02020603050405020304"/>
              </a:defRPr>
            </a:pPr>
            <a:r>
              <a:rPr sz="1300" b="0">
                <a:solidFill>
                  <a:srgbClr val="6E7672"/>
                </a:solidFill>
                <a:latin typeface="Times New Roman" panose="02020603050405020304"/>
              </a:rPr>
              <a:t>OWID backbone + GCB fuel fills, 1992-2021</a:t>
            </a:r>
            <a:endParaRPr sz="1300" b="0">
              <a:solidFill>
                <a:srgbClr val="6E7672"/>
              </a:solidFill>
              <a:latin typeface="Times New Roman" panose="02020603050405020304"/>
            </a:endParaRPr>
          </a:p>
        </p:txBody>
      </p:sp>
      <p:sp>
        <p:nvSpPr>
          <p:cNvPr id="17" name="anim_36"/>
          <p:cNvSpPr/>
          <p:nvPr/>
        </p:nvSpPr>
        <p:spPr>
          <a:xfrm>
            <a:off x="749808" y="2267712"/>
            <a:ext cx="5440680" cy="859536"/>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8" name="anim_37"/>
          <p:cNvSpPr txBox="1"/>
          <p:nvPr/>
        </p:nvSpPr>
        <p:spPr>
          <a:xfrm>
            <a:off x="896112" y="2350008"/>
            <a:ext cx="1280160" cy="6858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2200" b="1">
                <a:solidFill>
                  <a:srgbClr val="4F6E96"/>
                </a:solidFill>
                <a:latin typeface="Times New Roman" panose="02020603050405020304"/>
              </a:rPr>
              <a:t>213</a:t>
            </a:r>
            <a:endParaRPr sz="2200" b="1">
              <a:solidFill>
                <a:srgbClr val="4F6E96"/>
              </a:solidFill>
              <a:latin typeface="Times New Roman" panose="02020603050405020304"/>
            </a:endParaRPr>
          </a:p>
        </p:txBody>
      </p:sp>
      <p:sp>
        <p:nvSpPr>
          <p:cNvPr id="19" name="anim_38"/>
          <p:cNvSpPr txBox="1"/>
          <p:nvPr/>
        </p:nvSpPr>
        <p:spPr>
          <a:xfrm>
            <a:off x="2176272" y="2331720"/>
            <a:ext cx="388620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countries &amp; territories</a:t>
            </a:r>
            <a:endParaRPr sz="1450" b="1">
              <a:solidFill>
                <a:srgbClr val="252B30"/>
              </a:solidFill>
              <a:latin typeface="Times New Roman" panose="02020603050405020304"/>
            </a:endParaRPr>
          </a:p>
          <a:p>
            <a:pPr algn="l">
              <a:defRPr>
                <a:latin typeface="Times New Roman" panose="02020603050405020304"/>
              </a:defRPr>
            </a:pPr>
            <a:r>
              <a:rPr sz="1300" b="0">
                <a:solidFill>
                  <a:srgbClr val="6E7672"/>
                </a:solidFill>
                <a:latin typeface="Times New Roman" panose="02020603050405020304"/>
              </a:rPr>
              <a:t>valid ISO codes in the panel</a:t>
            </a:r>
            <a:endParaRPr sz="1300" b="0">
              <a:solidFill>
                <a:srgbClr val="6E7672"/>
              </a:solidFill>
              <a:latin typeface="Times New Roman" panose="02020603050405020304"/>
            </a:endParaRPr>
          </a:p>
        </p:txBody>
      </p:sp>
      <p:sp>
        <p:nvSpPr>
          <p:cNvPr id="20" name="anim_39"/>
          <p:cNvSpPr/>
          <p:nvPr/>
        </p:nvSpPr>
        <p:spPr>
          <a:xfrm>
            <a:off x="1042416" y="3236976"/>
            <a:ext cx="5029200" cy="859536"/>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1" name="anim_40"/>
          <p:cNvSpPr txBox="1"/>
          <p:nvPr/>
        </p:nvSpPr>
        <p:spPr>
          <a:xfrm>
            <a:off x="1188720" y="3319272"/>
            <a:ext cx="1280160" cy="6858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2200" b="1">
                <a:solidFill>
                  <a:srgbClr val="BE7F4E"/>
                </a:solidFill>
                <a:latin typeface="Times New Roman" panose="02020603050405020304"/>
              </a:rPr>
              <a:t>-16</a:t>
            </a:r>
            <a:endParaRPr sz="2200" b="1">
              <a:solidFill>
                <a:srgbClr val="BE7F4E"/>
              </a:solidFill>
              <a:latin typeface="Times New Roman" panose="02020603050405020304"/>
            </a:endParaRPr>
          </a:p>
        </p:txBody>
      </p:sp>
      <p:sp>
        <p:nvSpPr>
          <p:cNvPr id="22" name="anim_41"/>
          <p:cNvSpPr txBox="1"/>
          <p:nvPr/>
        </p:nvSpPr>
        <p:spPr>
          <a:xfrm>
            <a:off x="2468880" y="3300984"/>
            <a:ext cx="347472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micro states excluded</a:t>
            </a:r>
            <a:endParaRPr sz="1450" b="1">
              <a:solidFill>
                <a:srgbClr val="252B30"/>
              </a:solidFill>
              <a:latin typeface="Times New Roman" panose="02020603050405020304"/>
            </a:endParaRPr>
          </a:p>
          <a:p>
            <a:pPr algn="l">
              <a:defRPr>
                <a:latin typeface="Times New Roman" panose="02020603050405020304"/>
              </a:defRPr>
            </a:pPr>
            <a:r>
              <a:rPr sz="1300" b="0">
                <a:solidFill>
                  <a:srgbClr val="6E7672"/>
                </a:solidFill>
                <a:latin typeface="Times New Roman" panose="02020603050405020304"/>
              </a:rPr>
              <a:t>populations too small for stable trajectories</a:t>
            </a:r>
            <a:endParaRPr sz="1300" b="0">
              <a:solidFill>
                <a:srgbClr val="6E7672"/>
              </a:solidFill>
              <a:latin typeface="Times New Roman" panose="02020603050405020304"/>
            </a:endParaRPr>
          </a:p>
        </p:txBody>
      </p:sp>
      <p:sp>
        <p:nvSpPr>
          <p:cNvPr id="23" name="anim_42"/>
          <p:cNvSpPr/>
          <p:nvPr/>
        </p:nvSpPr>
        <p:spPr>
          <a:xfrm>
            <a:off x="1335024" y="4206240"/>
            <a:ext cx="4617720" cy="859536"/>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4" name="anim_43"/>
          <p:cNvSpPr txBox="1"/>
          <p:nvPr/>
        </p:nvSpPr>
        <p:spPr>
          <a:xfrm>
            <a:off x="1481328" y="4288536"/>
            <a:ext cx="1280160" cy="6858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200" b="1">
                <a:solidFill>
                  <a:srgbClr val="BE7F4E"/>
                </a:solidFill>
                <a:latin typeface="Times New Roman" panose="02020603050405020304"/>
              </a:rPr>
              <a:t>-4</a:t>
            </a:r>
            <a:endParaRPr sz="2200" b="1">
              <a:solidFill>
                <a:srgbClr val="BE7F4E"/>
              </a:solidFill>
              <a:latin typeface="Times New Roman" panose="02020603050405020304"/>
            </a:endParaRPr>
          </a:p>
        </p:txBody>
      </p:sp>
      <p:sp>
        <p:nvSpPr>
          <p:cNvPr id="25" name="anim_44"/>
          <p:cNvSpPr txBox="1"/>
          <p:nvPr/>
        </p:nvSpPr>
        <p:spPr>
          <a:xfrm>
            <a:off x="2761488" y="4270248"/>
            <a:ext cx="306324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incomplete histories excluded</a:t>
            </a:r>
            <a:endParaRPr sz="1450" b="1">
              <a:solidFill>
                <a:srgbClr val="252B30"/>
              </a:solidFill>
              <a:latin typeface="Times New Roman" panose="02020603050405020304"/>
            </a:endParaRPr>
          </a:p>
          <a:p>
            <a:pPr algn="l">
              <a:defRPr>
                <a:latin typeface="Times New Roman" panose="02020603050405020304"/>
              </a:defRPr>
            </a:pPr>
            <a:r>
              <a:rPr sz="1300" b="0">
                <a:solidFill>
                  <a:srgbClr val="6E7672"/>
                </a:solidFill>
                <a:latin typeface="Times New Roman" panose="02020603050405020304"/>
              </a:rPr>
              <a:t>fewer than 30 consecutive years 1992-2021</a:t>
            </a:r>
            <a:endParaRPr sz="1300" b="0">
              <a:solidFill>
                <a:srgbClr val="6E7672"/>
              </a:solidFill>
              <a:latin typeface="Times New Roman" panose="02020603050405020304"/>
            </a:endParaRPr>
          </a:p>
        </p:txBody>
      </p:sp>
      <p:sp>
        <p:nvSpPr>
          <p:cNvPr id="26" name="anim_45"/>
          <p:cNvSpPr/>
          <p:nvPr/>
        </p:nvSpPr>
        <p:spPr>
          <a:xfrm>
            <a:off x="1627632" y="5175504"/>
            <a:ext cx="4206240" cy="859536"/>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7" name="anim_46"/>
          <p:cNvSpPr txBox="1"/>
          <p:nvPr/>
        </p:nvSpPr>
        <p:spPr>
          <a:xfrm>
            <a:off x="1773936" y="5257800"/>
            <a:ext cx="1280160" cy="6858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2200" b="1">
                <a:solidFill>
                  <a:srgbClr val="2F5248"/>
                </a:solidFill>
                <a:latin typeface="Times New Roman" panose="02020603050405020304"/>
              </a:rPr>
              <a:t>193</a:t>
            </a:r>
            <a:endParaRPr sz="2200" b="1">
              <a:solidFill>
                <a:srgbClr val="2F5248"/>
              </a:solidFill>
              <a:latin typeface="Times New Roman" panose="02020603050405020304"/>
            </a:endParaRPr>
          </a:p>
        </p:txBody>
      </p:sp>
      <p:sp>
        <p:nvSpPr>
          <p:cNvPr id="28" name="anim_47"/>
          <p:cNvSpPr txBox="1"/>
          <p:nvPr/>
        </p:nvSpPr>
        <p:spPr>
          <a:xfrm>
            <a:off x="3054096" y="5239512"/>
            <a:ext cx="265176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modelled countries / entities</a:t>
            </a:r>
            <a:endParaRPr sz="1450" b="1">
              <a:solidFill>
                <a:srgbClr val="252B30"/>
              </a:solidFill>
              <a:latin typeface="Times New Roman" panose="02020603050405020304"/>
            </a:endParaRPr>
          </a:p>
          <a:p>
            <a:pPr algn="l">
              <a:defRPr>
                <a:latin typeface="Times New Roman" panose="02020603050405020304"/>
              </a:defRPr>
            </a:pPr>
            <a:r>
              <a:rPr sz="1300" b="0">
                <a:solidFill>
                  <a:srgbClr val="6E7672"/>
                </a:solidFill>
                <a:latin typeface="Times New Roman" panose="02020603050405020304"/>
              </a:rPr>
              <a:t>complete history + reliable fuel structure</a:t>
            </a:r>
            <a:endParaRPr sz="1300" b="0">
              <a:solidFill>
                <a:srgbClr val="6E7672"/>
              </a:solidFill>
              <a:latin typeface="Times New Roman" panose="02020603050405020304"/>
            </a:endParaRPr>
          </a:p>
        </p:txBody>
      </p:sp>
      <p:sp>
        <p:nvSpPr>
          <p:cNvPr id="29" name="TextBox 28"/>
          <p:cNvSpPr txBox="1"/>
          <p:nvPr/>
        </p:nvSpPr>
        <p:spPr>
          <a:xfrm>
            <a:off x="6720840" y="987552"/>
            <a:ext cx="493776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THIS COHORT</a:t>
            </a:r>
            <a:endParaRPr sz="1350" b="1">
              <a:solidFill>
                <a:srgbClr val="2F5248"/>
              </a:solidFill>
              <a:latin typeface="Times New Roman" panose="02020603050405020304"/>
            </a:endParaRPr>
          </a:p>
        </p:txBody>
      </p:sp>
      <p:sp>
        <p:nvSpPr>
          <p:cNvPr id="30" name="anim_48"/>
          <p:cNvSpPr/>
          <p:nvPr/>
        </p:nvSpPr>
        <p:spPr>
          <a:xfrm>
            <a:off x="6720840" y="1298448"/>
            <a:ext cx="4663440" cy="1874519"/>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49"/>
          <p:cNvSpPr txBox="1"/>
          <p:nvPr/>
        </p:nvSpPr>
        <p:spPr>
          <a:xfrm>
            <a:off x="6903720" y="1426464"/>
            <a:ext cx="4297680" cy="1645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52B30"/>
                </a:solidFill>
                <a:latin typeface="Times New Roman" panose="02020603050405020304"/>
              </a:rPr>
              <a:t>Trajectory features need complete histories. </a:t>
            </a:r>
            <a:r>
              <a:rPr sz="1400" b="0">
                <a:solidFill>
                  <a:srgbClr val="252B30"/>
                </a:solidFill>
                <a:latin typeface="Times New Roman" panose="02020603050405020304"/>
              </a:rPr>
              <a:t>Slopes, peaks and post-peak change are only comparable when every country covers the same 30 years.</a:t>
            </a:r>
            <a:endParaRPr sz="1400" b="0">
              <a:solidFill>
                <a:srgbClr val="252B30"/>
              </a:solidFill>
              <a:latin typeface="Times New Roman" panose="02020603050405020304"/>
            </a:endParaRPr>
          </a:p>
          <a:p>
            <a:pPr algn="l">
              <a:spcBef>
                <a:spcPts val="800"/>
              </a:spcBef>
              <a:defRPr>
                <a:latin typeface="Times New Roman" panose="02020603050405020304"/>
              </a:defRPr>
            </a:pPr>
            <a:r>
              <a:rPr sz="1400" b="1">
                <a:solidFill>
                  <a:srgbClr val="252B30"/>
                </a:solidFill>
                <a:latin typeface="Times New Roman" panose="02020603050405020304"/>
              </a:rPr>
              <a:t>Fuel features need reliable shares. </a:t>
            </a:r>
            <a:r>
              <a:rPr sz="1400" b="0">
                <a:solidFill>
                  <a:srgbClr val="252B30"/>
                </a:solidFill>
                <a:latin typeface="Times New Roman" panose="02020603050405020304"/>
              </a:rPr>
              <a:t>Entities with unreliable fuel structure would distort the fuel-shift block.</a:t>
            </a:r>
            <a:endParaRPr sz="1400" b="0">
              <a:solidFill>
                <a:srgbClr val="252B30"/>
              </a:solidFill>
              <a:latin typeface="Times New Roman" panose="02020603050405020304"/>
            </a:endParaRPr>
          </a:p>
        </p:txBody>
      </p:sp>
      <p:sp>
        <p:nvSpPr>
          <p:cNvPr id="32" name="anim_50"/>
          <p:cNvSpPr/>
          <p:nvPr/>
        </p:nvSpPr>
        <p:spPr>
          <a:xfrm>
            <a:off x="6720840" y="3401568"/>
            <a:ext cx="4663440" cy="146304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3" name="anim_51"/>
          <p:cNvSpPr txBox="1"/>
          <p:nvPr/>
        </p:nvSpPr>
        <p:spPr>
          <a:xfrm>
            <a:off x="6903720" y="3529584"/>
            <a:ext cx="4297680" cy="12344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ONE COUNTRY = ONE PROFILE</a:t>
            </a:r>
            <a:endParaRPr sz="1350" b="1">
              <a:solidFill>
                <a:srgbClr val="2F5248"/>
              </a:solidFill>
              <a:latin typeface="Times New Roman" panose="02020603050405020304"/>
            </a:endParaRPr>
          </a:p>
          <a:p>
            <a:pPr algn="l">
              <a:spcBef>
                <a:spcPts val="600"/>
              </a:spcBef>
              <a:defRPr>
                <a:latin typeface="Times New Roman" panose="02020603050405020304"/>
              </a:defRPr>
            </a:pPr>
            <a:r>
              <a:rPr sz="1400" b="0">
                <a:solidFill>
                  <a:srgbClr val="252B30"/>
                </a:solidFill>
                <a:latin typeface="Times New Roman" panose="02020603050405020304"/>
              </a:rPr>
              <a:t>Each of the 193 countries becomes a single 11-feature trajectory profile - the clustering unit for everything that follows.</a:t>
            </a:r>
            <a:endParaRPr sz="1400" b="0">
              <a:solidFill>
                <a:srgbClr val="252B30"/>
              </a:solidFill>
              <a:latin typeface="Times New Roman" panose="02020603050405020304"/>
            </a:endParaRPr>
          </a:p>
        </p:txBody>
      </p:sp>
      <p:sp>
        <p:nvSpPr>
          <p:cNvPr id="34" name="anim_52"/>
          <p:cNvSpPr/>
          <p:nvPr/>
        </p:nvSpPr>
        <p:spPr>
          <a:xfrm>
            <a:off x="6720840" y="5047488"/>
            <a:ext cx="4663440" cy="1051560"/>
          </a:xfrm>
          <a:prstGeom prst="roundRect">
            <a:avLst>
              <a:gd name="adj" fmla="val 5500"/>
            </a:avLst>
          </a:prstGeom>
          <a:solidFill>
            <a:srgbClr val="FFFFFF">
              <a:alpha val="74000"/>
            </a:srgbClr>
          </a:solidFill>
          <a:ln w="9525">
            <a:solidFill>
              <a:srgbClr val="2F5248"/>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5" name="anim_53"/>
          <p:cNvSpPr txBox="1"/>
          <p:nvPr/>
        </p:nvSpPr>
        <p:spPr>
          <a:xfrm>
            <a:off x="6903720" y="5157216"/>
            <a:ext cx="4297680" cy="86868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AUDITABLE BY DESIGN</a:t>
            </a:r>
            <a:endParaRPr sz="1350" b="1">
              <a:solidFill>
                <a:srgbClr val="2F5248"/>
              </a:solidFill>
              <a:latin typeface="Times New Roman" panose="02020603050405020304"/>
            </a:endParaRPr>
          </a:p>
          <a:p>
            <a:pPr algn="l">
              <a:spcBef>
                <a:spcPts val="400"/>
              </a:spcBef>
              <a:defRPr>
                <a:latin typeface="Times New Roman" panose="02020603050405020304"/>
              </a:defRPr>
            </a:pPr>
            <a:r>
              <a:rPr sz="1350" b="0">
                <a:solidFill>
                  <a:srgbClr val="252B30"/>
                </a:solidFill>
                <a:latin typeface="Times New Roman" panose="02020603050405020304"/>
              </a:rPr>
              <a:t>Every exclusion is logged with its reason in cohort_audit.csv, so the sample can be reproduced or challenged.</a:t>
            </a:r>
            <a:endParaRPr sz="135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50"/>
                                        <p:tgtEl>
                                          <p:spTgt spid="16"/>
                                        </p:tgtEl>
                                      </p:cBhvr>
                                    </p:animEffect>
                                  </p:childTnLst>
                                </p:cTn>
                              </p:par>
                            </p:childTnLst>
                          </p:cTn>
                        </p:par>
                        <p:par>
                          <p:cTn id="14" fill="hold">
                            <p:stCondLst>
                              <p:cond delay="900"/>
                            </p:stCondLst>
                            <p:childTnLst>
                              <p:par>
                                <p:cTn id="15" presetID="10" presetClass="entr" presetSubtype="0" fill="hold" grpId="0" nodeType="afterEffect">
                                  <p:stCondLst>
                                    <p:cond delay="4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53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66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childTnLst>
                          </p:cTn>
                        </p:par>
                        <p:par>
                          <p:cTn id="24" fill="hold">
                            <p:stCondLst>
                              <p:cond delay="1800"/>
                            </p:stCondLst>
                            <p:childTnLst>
                              <p:par>
                                <p:cTn id="25" presetID="10" presetClass="entr" presetSubtype="0" fill="hold" grpId="0" nodeType="afterEffect">
                                  <p:stCondLst>
                                    <p:cond delay="40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50"/>
                                        <p:tgtEl>
                                          <p:spTgt spid="20"/>
                                        </p:tgtEl>
                                      </p:cBhvr>
                                    </p:animEffect>
                                  </p:childTnLst>
                                </p:cTn>
                              </p:par>
                              <p:par>
                                <p:cTn id="28" presetID="10" presetClass="entr" presetSubtype="0" fill="hold" grpId="0" nodeType="withEffect">
                                  <p:stCondLst>
                                    <p:cond delay="53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450"/>
                                        <p:tgtEl>
                                          <p:spTgt spid="21"/>
                                        </p:tgtEl>
                                      </p:cBhvr>
                                    </p:animEffect>
                                  </p:childTnLst>
                                </p:cTn>
                              </p:par>
                              <p:par>
                                <p:cTn id="31" presetID="10" presetClass="entr" presetSubtype="0" fill="hold" grpId="0" nodeType="withEffect">
                                  <p:stCondLst>
                                    <p:cond delay="66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450"/>
                                        <p:tgtEl>
                                          <p:spTgt spid="22"/>
                                        </p:tgtEl>
                                      </p:cBhvr>
                                    </p:animEffect>
                                  </p:childTnLst>
                                </p:cTn>
                              </p:par>
                            </p:childTnLst>
                          </p:cTn>
                        </p:par>
                        <p:par>
                          <p:cTn id="34" fill="hold">
                            <p:stCondLst>
                              <p:cond delay="2700"/>
                            </p:stCondLst>
                            <p:childTnLst>
                              <p:par>
                                <p:cTn id="35" presetID="10" presetClass="entr" presetSubtype="0" fill="hold" grpId="0" nodeType="afterEffect">
                                  <p:stCondLst>
                                    <p:cond delay="40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par>
                                <p:cTn id="38" presetID="10" presetClass="entr" presetSubtype="0" fill="hold" grpId="0" nodeType="withEffect">
                                  <p:stCondLst>
                                    <p:cond delay="53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450"/>
                                        <p:tgtEl>
                                          <p:spTgt spid="24"/>
                                        </p:tgtEl>
                                      </p:cBhvr>
                                    </p:animEffect>
                                  </p:childTnLst>
                                </p:cTn>
                              </p:par>
                              <p:par>
                                <p:cTn id="41" presetID="10" presetClass="entr" presetSubtype="0" fill="hold" grpId="0" nodeType="withEffect">
                                  <p:stCondLst>
                                    <p:cond delay="66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450"/>
                                        <p:tgtEl>
                                          <p:spTgt spid="25"/>
                                        </p:tgtEl>
                                      </p:cBhvr>
                                    </p:animEffect>
                                  </p:childTnLst>
                                </p:cTn>
                              </p:par>
                            </p:childTnLst>
                          </p:cTn>
                        </p:par>
                        <p:par>
                          <p:cTn id="44" fill="hold">
                            <p:stCondLst>
                              <p:cond delay="3600"/>
                            </p:stCondLst>
                            <p:childTnLst>
                              <p:par>
                                <p:cTn id="45" presetID="10" presetClass="entr" presetSubtype="0" fill="hold" grpId="0" nodeType="afterEffect">
                                  <p:stCondLst>
                                    <p:cond delay="40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450"/>
                                        <p:tgtEl>
                                          <p:spTgt spid="26"/>
                                        </p:tgtEl>
                                      </p:cBhvr>
                                    </p:animEffect>
                                  </p:childTnLst>
                                </p:cTn>
                              </p:par>
                              <p:par>
                                <p:cTn id="48" presetID="10" presetClass="entr" presetSubtype="0" fill="hold" grpId="0" nodeType="withEffect">
                                  <p:stCondLst>
                                    <p:cond delay="53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450"/>
                                        <p:tgtEl>
                                          <p:spTgt spid="27"/>
                                        </p:tgtEl>
                                      </p:cBhvr>
                                    </p:animEffect>
                                  </p:childTnLst>
                                </p:cTn>
                              </p:par>
                              <p:par>
                                <p:cTn id="51" presetID="10" presetClass="entr" presetSubtype="0" fill="hold" grpId="0" nodeType="withEffect">
                                  <p:stCondLst>
                                    <p:cond delay="66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450"/>
                                        <p:tgtEl>
                                          <p:spTgt spid="28"/>
                                        </p:tgtEl>
                                      </p:cBhvr>
                                    </p:animEffect>
                                  </p:childTnLst>
                                </p:cTn>
                              </p:par>
                            </p:childTnLst>
                          </p:cTn>
                        </p:par>
                        <p:par>
                          <p:cTn id="54" fill="hold">
                            <p:stCondLst>
                              <p:cond delay="4500"/>
                            </p:stCondLst>
                            <p:childTnLst>
                              <p:par>
                                <p:cTn id="55" presetID="10" presetClass="entr" presetSubtype="0" fill="hold" grpId="0" nodeType="afterEffect">
                                  <p:stCondLst>
                                    <p:cond delay="40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450"/>
                                        <p:tgtEl>
                                          <p:spTgt spid="30"/>
                                        </p:tgtEl>
                                      </p:cBhvr>
                                    </p:animEffect>
                                  </p:childTnLst>
                                </p:cTn>
                              </p:par>
                              <p:par>
                                <p:cTn id="58" presetID="10" presetClass="entr" presetSubtype="0" fill="hold" grpId="0" nodeType="withEffect">
                                  <p:stCondLst>
                                    <p:cond delay="53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450"/>
                                        <p:tgtEl>
                                          <p:spTgt spid="31"/>
                                        </p:tgtEl>
                                      </p:cBhvr>
                                    </p:animEffect>
                                  </p:childTnLst>
                                </p:cTn>
                              </p:par>
                            </p:childTnLst>
                          </p:cTn>
                        </p:par>
                        <p:par>
                          <p:cTn id="61" fill="hold">
                            <p:stCondLst>
                              <p:cond delay="5400"/>
                            </p:stCondLst>
                            <p:childTnLst>
                              <p:par>
                                <p:cTn id="62" presetID="10" presetClass="entr" presetSubtype="0" fill="hold" grpId="0" nodeType="afterEffect">
                                  <p:stCondLst>
                                    <p:cond delay="40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50"/>
                                        <p:tgtEl>
                                          <p:spTgt spid="32"/>
                                        </p:tgtEl>
                                      </p:cBhvr>
                                    </p:animEffect>
                                  </p:childTnLst>
                                </p:cTn>
                              </p:par>
                              <p:par>
                                <p:cTn id="65" presetID="10" presetClass="entr" presetSubtype="0" fill="hold" grpId="0" nodeType="withEffect">
                                  <p:stCondLst>
                                    <p:cond delay="53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50"/>
                                        <p:tgtEl>
                                          <p:spTgt spid="33"/>
                                        </p:tgtEl>
                                      </p:cBhvr>
                                    </p:animEffect>
                                  </p:childTnLst>
                                </p:cTn>
                              </p:par>
                            </p:childTnLst>
                          </p:cTn>
                        </p:par>
                        <p:par>
                          <p:cTn id="68" fill="hold">
                            <p:stCondLst>
                              <p:cond delay="6300"/>
                            </p:stCondLst>
                            <p:childTnLst>
                              <p:par>
                                <p:cTn id="69" presetID="10" presetClass="entr" presetSubtype="0" fill="hold" grpId="0" nodeType="afterEffect">
                                  <p:stCondLst>
                                    <p:cond delay="40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450"/>
                                        <p:tgtEl>
                                          <p:spTgt spid="34"/>
                                        </p:tgtEl>
                                      </p:cBhvr>
                                    </p:animEffect>
                                  </p:childTnLst>
                                </p:cTn>
                              </p:par>
                              <p:par>
                                <p:cTn id="72" presetID="10" presetClass="entr" presetSubtype="0" fill="hold" grpId="0" nodeType="withEffect">
                                  <p:stCondLst>
                                    <p:cond delay="53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4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DESIGN OF AI ALGORITHM · Turning 30-year emission histories into model features</a:t>
            </a:r>
            <a:endParaRPr sz="1300" b="1">
              <a:solidFill>
                <a:srgbClr val="D3E3D6"/>
              </a:solidFill>
              <a:latin typeface="Georgia" panose="02040502050405020303"/>
            </a:endParaRPr>
          </a:p>
          <a:p>
            <a:pPr algn="l">
              <a:spcBef>
                <a:spcPts val="200"/>
              </a:spcBef>
              <a:defRPr>
                <a:latin typeface="Times New Roman" panose="02020603050405020304"/>
              </a:defRPr>
            </a:pPr>
            <a:r>
              <a:rPr sz="2100" b="1">
                <a:solidFill>
                  <a:srgbClr val="FFFFFF"/>
                </a:solidFill>
                <a:latin typeface="Georgia" panose="02040502050405020303"/>
              </a:rPr>
              <a:t>Eleven features describe level, direction, timing and fuel shift</a:t>
            </a:r>
            <a:endParaRPr sz="21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2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RAN CHANGMING</a:t>
            </a:r>
            <a:endParaRPr sz="1300" b="1">
              <a:solidFill>
                <a:srgbClr val="6E7672"/>
              </a:solidFill>
              <a:latin typeface="Times New Roman" panose="02020603050405020304"/>
            </a:endParaRPr>
          </a:p>
        </p:txBody>
      </p:sp>
      <p:sp>
        <p:nvSpPr>
          <p:cNvPr id="12" name="TextBox 11"/>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12</a:t>
            </a:r>
            <a:endParaRPr sz="1400" b="0">
              <a:solidFill>
                <a:srgbClr val="6E7672"/>
              </a:solidFill>
              <a:latin typeface="Times New Roman" panose="02020603050405020304"/>
            </a:endParaRPr>
          </a:p>
        </p:txBody>
      </p:sp>
      <p:sp>
        <p:nvSpPr>
          <p:cNvPr id="13" name="anim_54"/>
          <p:cNvSpPr/>
          <p:nvPr/>
        </p:nvSpPr>
        <p:spPr>
          <a:xfrm>
            <a:off x="457200" y="1143000"/>
            <a:ext cx="2651760" cy="402336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4" name="anim_55"/>
          <p:cNvSpPr/>
          <p:nvPr/>
        </p:nvSpPr>
        <p:spPr>
          <a:xfrm>
            <a:off x="457200" y="1143000"/>
            <a:ext cx="2651760" cy="82296"/>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5" name="anim_56"/>
          <p:cNvSpPr txBox="1"/>
          <p:nvPr/>
        </p:nvSpPr>
        <p:spPr>
          <a:xfrm>
            <a:off x="603504" y="1335024"/>
            <a:ext cx="2377440" cy="2743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01 · LEVEL</a:t>
            </a:r>
            <a:endParaRPr sz="1350" b="1">
              <a:solidFill>
                <a:srgbClr val="4F6E96"/>
              </a:solidFill>
              <a:latin typeface="Times New Roman" panose="02020603050405020304"/>
            </a:endParaRPr>
          </a:p>
        </p:txBody>
      </p:sp>
      <p:sp>
        <p:nvSpPr>
          <p:cNvPr id="16" name="anim_57"/>
          <p:cNvSpPr txBox="1"/>
          <p:nvPr/>
        </p:nvSpPr>
        <p:spPr>
          <a:xfrm>
            <a:off x="603504" y="1645920"/>
            <a:ext cx="2377440" cy="7315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52B30"/>
                </a:solidFill>
                <a:latin typeface="Times New Roman" panose="02020603050405020304"/>
              </a:rPr>
              <a:t>How intense is the economy now?</a:t>
            </a:r>
            <a:endParaRPr sz="1500" b="1">
              <a:solidFill>
                <a:srgbClr val="252B30"/>
              </a:solidFill>
              <a:latin typeface="Times New Roman" panose="02020603050405020304"/>
            </a:endParaRPr>
          </a:p>
        </p:txBody>
      </p:sp>
      <p:sp>
        <p:nvSpPr>
          <p:cNvPr id="17" name="anim_58"/>
          <p:cNvSpPr txBox="1"/>
          <p:nvPr/>
        </p:nvSpPr>
        <p:spPr>
          <a:xfrm>
            <a:off x="603504" y="2450592"/>
            <a:ext cx="2377440" cy="1645920"/>
          </a:xfrm>
          <a:prstGeom prst="rect">
            <a:avLst/>
          </a:prstGeom>
          <a:noFill/>
          <a:ln>
            <a:noFill/>
          </a:ln>
          <a:effectLst/>
        </p:spPr>
        <p:txBody>
          <a:bodyPr wrap="square" lIns="45720" tIns="18288" rIns="45720" bIns="18288" anchor="t">
            <a:spAutoFit/>
          </a:bodyPr>
          <a:lstStyle/>
          <a:p>
            <a:pPr algn="l">
              <a:spcBef>
                <a:spcPts val="400"/>
              </a:spcBef>
              <a:defRPr>
                <a:latin typeface="Times New Roman" panose="02020603050405020304"/>
              </a:defRPr>
            </a:pPr>
            <a:r>
              <a:rPr sz="1450" b="0">
                <a:solidFill>
                  <a:srgbClr val="252B30"/>
                </a:solidFill>
                <a:latin typeface="Times New Roman" panose="02020603050405020304"/>
              </a:rPr>
              <a:t>· Log recent per-capita CO2</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(median 2017-2021)</a:t>
            </a:r>
            <a:endParaRPr sz="1450" b="0">
              <a:solidFill>
                <a:srgbClr val="252B30"/>
              </a:solidFill>
              <a:latin typeface="Times New Roman" panose="02020603050405020304"/>
            </a:endParaRPr>
          </a:p>
        </p:txBody>
      </p:sp>
      <p:sp>
        <p:nvSpPr>
          <p:cNvPr id="18" name="anim_59"/>
          <p:cNvSpPr txBox="1"/>
          <p:nvPr/>
        </p:nvSpPr>
        <p:spPr>
          <a:xfrm>
            <a:off x="603504" y="4187952"/>
            <a:ext cx="237744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Log scale stops extreme values from dominating distances.</a:t>
            </a:r>
            <a:endParaRPr sz="1350" b="0">
              <a:solidFill>
                <a:srgbClr val="6E7672"/>
              </a:solidFill>
              <a:latin typeface="Times New Roman" panose="02020603050405020304"/>
            </a:endParaRPr>
          </a:p>
        </p:txBody>
      </p:sp>
      <p:sp>
        <p:nvSpPr>
          <p:cNvPr id="19" name="anim_60"/>
          <p:cNvSpPr/>
          <p:nvPr/>
        </p:nvSpPr>
        <p:spPr>
          <a:xfrm>
            <a:off x="3310128" y="1143000"/>
            <a:ext cx="2651760" cy="402336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0" name="anim_61"/>
          <p:cNvSpPr/>
          <p:nvPr/>
        </p:nvSpPr>
        <p:spPr>
          <a:xfrm>
            <a:off x="3310128" y="1143000"/>
            <a:ext cx="2651760" cy="82296"/>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1" name="anim_62"/>
          <p:cNvSpPr txBox="1"/>
          <p:nvPr/>
        </p:nvSpPr>
        <p:spPr>
          <a:xfrm>
            <a:off x="3456432" y="1335024"/>
            <a:ext cx="2377440" cy="2743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02 · DIRECTION</a:t>
            </a:r>
            <a:endParaRPr sz="1350" b="1">
              <a:solidFill>
                <a:srgbClr val="BE7F4E"/>
              </a:solidFill>
              <a:latin typeface="Times New Roman" panose="02020603050405020304"/>
            </a:endParaRPr>
          </a:p>
        </p:txBody>
      </p:sp>
      <p:sp>
        <p:nvSpPr>
          <p:cNvPr id="22" name="anim_63"/>
          <p:cNvSpPr txBox="1"/>
          <p:nvPr/>
        </p:nvSpPr>
        <p:spPr>
          <a:xfrm>
            <a:off x="3456432" y="1645920"/>
            <a:ext cx="2377440" cy="7315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52B30"/>
                </a:solidFill>
                <a:latin typeface="Times New Roman" panose="02020603050405020304"/>
              </a:rPr>
              <a:t>Which way is the trajectory moving?</a:t>
            </a:r>
            <a:endParaRPr sz="1500" b="1">
              <a:solidFill>
                <a:srgbClr val="252B30"/>
              </a:solidFill>
              <a:latin typeface="Times New Roman" panose="02020603050405020304"/>
            </a:endParaRPr>
          </a:p>
        </p:txBody>
      </p:sp>
      <p:sp>
        <p:nvSpPr>
          <p:cNvPr id="23" name="anim_64"/>
          <p:cNvSpPr txBox="1"/>
          <p:nvPr/>
        </p:nvSpPr>
        <p:spPr>
          <a:xfrm>
            <a:off x="3456432" y="2450592"/>
            <a:ext cx="2377440" cy="1645920"/>
          </a:xfrm>
          <a:prstGeom prst="rect">
            <a:avLst/>
          </a:prstGeom>
          <a:noFill/>
          <a:ln>
            <a:noFill/>
          </a:ln>
          <a:effectLst/>
        </p:spPr>
        <p:txBody>
          <a:bodyPr wrap="square" lIns="45720" tIns="18288" rIns="45720" bIns="18288" anchor="t">
            <a:spAutoFit/>
          </a:bodyPr>
          <a:lstStyle/>
          <a:p>
            <a:pPr algn="l">
              <a:spcBef>
                <a:spcPts val="400"/>
              </a:spcBef>
              <a:defRPr>
                <a:latin typeface="Times New Roman" panose="02020603050405020304"/>
              </a:defRPr>
            </a:pPr>
            <a:r>
              <a:rPr sz="1450" b="0">
                <a:solidFill>
                  <a:srgbClr val="252B30"/>
                </a:solidFill>
                <a:latin typeface="Times New Roman" panose="02020603050405020304"/>
              </a:rPr>
              <a:t>· Long-term log slope 1992-2021</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Recent log slope 2012-2021</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Acceleration (recent - long-term)</a:t>
            </a:r>
            <a:endParaRPr sz="1450" b="0">
              <a:solidFill>
                <a:srgbClr val="252B30"/>
              </a:solidFill>
              <a:latin typeface="Times New Roman" panose="02020603050405020304"/>
            </a:endParaRPr>
          </a:p>
        </p:txBody>
      </p:sp>
      <p:sp>
        <p:nvSpPr>
          <p:cNvPr id="24" name="anim_65"/>
          <p:cNvSpPr txBox="1"/>
          <p:nvPr/>
        </p:nvSpPr>
        <p:spPr>
          <a:xfrm>
            <a:off x="3456432" y="4187952"/>
            <a:ext cx="237744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Separates long-run direction from recent slowdown or renewed growth.</a:t>
            </a:r>
            <a:endParaRPr sz="1350" b="0">
              <a:solidFill>
                <a:srgbClr val="6E7672"/>
              </a:solidFill>
              <a:latin typeface="Times New Roman" panose="02020603050405020304"/>
            </a:endParaRPr>
          </a:p>
        </p:txBody>
      </p:sp>
      <p:sp>
        <p:nvSpPr>
          <p:cNvPr id="25" name="anim_66"/>
          <p:cNvSpPr/>
          <p:nvPr/>
        </p:nvSpPr>
        <p:spPr>
          <a:xfrm>
            <a:off x="6163056" y="1143000"/>
            <a:ext cx="2651760" cy="402336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6" name="anim_67"/>
          <p:cNvSpPr/>
          <p:nvPr/>
        </p:nvSpPr>
        <p:spPr>
          <a:xfrm>
            <a:off x="6163056" y="1143000"/>
            <a:ext cx="2651760" cy="82296"/>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7" name="anim_68"/>
          <p:cNvSpPr txBox="1"/>
          <p:nvPr/>
        </p:nvSpPr>
        <p:spPr>
          <a:xfrm>
            <a:off x="6309360" y="1335024"/>
            <a:ext cx="2377440" cy="2743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03 · TIMING</a:t>
            </a:r>
            <a:endParaRPr sz="1350" b="1">
              <a:solidFill>
                <a:srgbClr val="4F6E96"/>
              </a:solidFill>
              <a:latin typeface="Times New Roman" panose="02020603050405020304"/>
            </a:endParaRPr>
          </a:p>
        </p:txBody>
      </p:sp>
      <p:sp>
        <p:nvSpPr>
          <p:cNvPr id="28" name="anim_69"/>
          <p:cNvSpPr txBox="1"/>
          <p:nvPr/>
        </p:nvSpPr>
        <p:spPr>
          <a:xfrm>
            <a:off x="6309360" y="1645920"/>
            <a:ext cx="2377440" cy="7315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52B30"/>
                </a:solidFill>
                <a:latin typeface="Times New Roman" panose="02020603050405020304"/>
              </a:rPr>
              <a:t>When does change happen?</a:t>
            </a:r>
            <a:endParaRPr sz="1500" b="1">
              <a:solidFill>
                <a:srgbClr val="252B30"/>
              </a:solidFill>
              <a:latin typeface="Times New Roman" panose="02020603050405020304"/>
            </a:endParaRPr>
          </a:p>
        </p:txBody>
      </p:sp>
      <p:sp>
        <p:nvSpPr>
          <p:cNvPr id="29" name="anim_70"/>
          <p:cNvSpPr txBox="1"/>
          <p:nvPr/>
        </p:nvSpPr>
        <p:spPr>
          <a:xfrm>
            <a:off x="6309360" y="2450592"/>
            <a:ext cx="2377440" cy="1645920"/>
          </a:xfrm>
          <a:prstGeom prst="rect">
            <a:avLst/>
          </a:prstGeom>
          <a:noFill/>
          <a:ln>
            <a:noFill/>
          </a:ln>
          <a:effectLst/>
        </p:spPr>
        <p:txBody>
          <a:bodyPr wrap="square" lIns="45720" tIns="18288" rIns="45720" bIns="18288" anchor="t">
            <a:spAutoFit/>
          </a:bodyPr>
          <a:lstStyle/>
          <a:p>
            <a:pPr algn="l">
              <a:spcBef>
                <a:spcPts val="400"/>
              </a:spcBef>
              <a:defRPr>
                <a:latin typeface="Times New Roman" panose="02020603050405020304"/>
              </a:defRPr>
            </a:pPr>
            <a:r>
              <a:rPr sz="1450" b="0">
                <a:solidFill>
                  <a:srgbClr val="252B30"/>
                </a:solidFill>
                <a:latin typeface="Times New Roman" panose="02020603050405020304"/>
              </a:rPr>
              <a:t>· Growth volatility (MAD)</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Peak timing (relative)</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Post-peak change</a:t>
            </a:r>
            <a:endParaRPr sz="1450" b="0">
              <a:solidFill>
                <a:srgbClr val="252B30"/>
              </a:solidFill>
              <a:latin typeface="Times New Roman" panose="02020603050405020304"/>
            </a:endParaRPr>
          </a:p>
        </p:txBody>
      </p:sp>
      <p:sp>
        <p:nvSpPr>
          <p:cNvPr id="30" name="anim_71"/>
          <p:cNvSpPr txBox="1"/>
          <p:nvPr/>
        </p:nvSpPr>
        <p:spPr>
          <a:xfrm>
            <a:off x="6309360" y="4187952"/>
            <a:ext cx="237744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Distinguishes smooth plateauing from unstable or still-rising paths.</a:t>
            </a:r>
            <a:endParaRPr sz="1350" b="0">
              <a:solidFill>
                <a:srgbClr val="6E7672"/>
              </a:solidFill>
              <a:latin typeface="Times New Roman" panose="02020603050405020304"/>
            </a:endParaRPr>
          </a:p>
        </p:txBody>
      </p:sp>
      <p:sp>
        <p:nvSpPr>
          <p:cNvPr id="31" name="anim_72"/>
          <p:cNvSpPr/>
          <p:nvPr/>
        </p:nvSpPr>
        <p:spPr>
          <a:xfrm>
            <a:off x="9015984" y="1143000"/>
            <a:ext cx="2651760" cy="402336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2" name="anim_73"/>
          <p:cNvSpPr/>
          <p:nvPr/>
        </p:nvSpPr>
        <p:spPr>
          <a:xfrm>
            <a:off x="9015984" y="1143000"/>
            <a:ext cx="2651760" cy="82296"/>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3" name="anim_74"/>
          <p:cNvSpPr txBox="1"/>
          <p:nvPr/>
        </p:nvSpPr>
        <p:spPr>
          <a:xfrm>
            <a:off x="9162288" y="1335024"/>
            <a:ext cx="2377440" cy="2743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04 · FUEL SHIFT</a:t>
            </a:r>
            <a:endParaRPr sz="1350" b="1">
              <a:solidFill>
                <a:srgbClr val="BE7F4E"/>
              </a:solidFill>
              <a:latin typeface="Times New Roman" panose="02020603050405020304"/>
            </a:endParaRPr>
          </a:p>
        </p:txBody>
      </p:sp>
      <p:sp>
        <p:nvSpPr>
          <p:cNvPr id="34" name="anim_75"/>
          <p:cNvSpPr txBox="1"/>
          <p:nvPr/>
        </p:nvSpPr>
        <p:spPr>
          <a:xfrm>
            <a:off x="9162288" y="1645920"/>
            <a:ext cx="2377440" cy="7315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52B30"/>
                </a:solidFill>
                <a:latin typeface="Times New Roman" panose="02020603050405020304"/>
              </a:rPr>
              <a:t>Is the fuel mix decarbonising?</a:t>
            </a:r>
            <a:endParaRPr sz="1500" b="1">
              <a:solidFill>
                <a:srgbClr val="252B30"/>
              </a:solidFill>
              <a:latin typeface="Times New Roman" panose="02020603050405020304"/>
            </a:endParaRPr>
          </a:p>
        </p:txBody>
      </p:sp>
      <p:sp>
        <p:nvSpPr>
          <p:cNvPr id="35" name="anim_76"/>
          <p:cNvSpPr txBox="1"/>
          <p:nvPr/>
        </p:nvSpPr>
        <p:spPr>
          <a:xfrm>
            <a:off x="9162288" y="2450592"/>
            <a:ext cx="2377440" cy="1645920"/>
          </a:xfrm>
          <a:prstGeom prst="rect">
            <a:avLst/>
          </a:prstGeom>
          <a:noFill/>
          <a:ln>
            <a:noFill/>
          </a:ln>
          <a:effectLst/>
        </p:spPr>
        <p:txBody>
          <a:bodyPr wrap="square" lIns="45720" tIns="18288" rIns="45720" bIns="18288" anchor="t">
            <a:spAutoFit/>
          </a:bodyPr>
          <a:lstStyle/>
          <a:p>
            <a:pPr algn="l">
              <a:spcBef>
                <a:spcPts val="400"/>
              </a:spcBef>
              <a:defRPr>
                <a:latin typeface="Times New Roman" panose="02020603050405020304"/>
              </a:defRPr>
            </a:pPr>
            <a:r>
              <a:rPr sz="1450" b="0">
                <a:solidFill>
                  <a:srgbClr val="252B30"/>
                </a:solidFill>
                <a:latin typeface="Times New Roman" panose="02020603050405020304"/>
              </a:rPr>
              <a:t>· Recent coal &amp; gas shares</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Coal &amp; gas share change</a:t>
            </a:r>
            <a:endParaRPr sz="1450" b="0">
              <a:solidFill>
                <a:srgbClr val="252B30"/>
              </a:solidFill>
              <a:latin typeface="Times New Roman" panose="02020603050405020304"/>
            </a:endParaRPr>
          </a:p>
          <a:p>
            <a:pPr algn="l">
              <a:spcBef>
                <a:spcPts val="400"/>
              </a:spcBef>
              <a:defRPr>
                <a:latin typeface="Times New Roman" panose="02020603050405020304"/>
              </a:defRPr>
            </a:pPr>
            <a:r>
              <a:rPr sz="1450" b="0">
                <a:solidFill>
                  <a:srgbClr val="252B30"/>
                </a:solidFill>
                <a:latin typeface="Times New Roman" panose="02020603050405020304"/>
              </a:rPr>
              <a:t>· (early vs recent 5-yr medians)</a:t>
            </a:r>
            <a:endParaRPr sz="1450" b="0">
              <a:solidFill>
                <a:srgbClr val="252B30"/>
              </a:solidFill>
              <a:latin typeface="Times New Roman" panose="02020603050405020304"/>
            </a:endParaRPr>
          </a:p>
        </p:txBody>
      </p:sp>
      <p:sp>
        <p:nvSpPr>
          <p:cNvPr id="36" name="anim_77"/>
          <p:cNvSpPr txBox="1"/>
          <p:nvPr/>
        </p:nvSpPr>
        <p:spPr>
          <a:xfrm>
            <a:off x="9162288" y="4187952"/>
            <a:ext cx="237744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Oil share is kept for interpretation but omitted from the model to avoid perfect dependence.</a:t>
            </a:r>
            <a:endParaRPr sz="1350" b="0">
              <a:solidFill>
                <a:srgbClr val="6E7672"/>
              </a:solidFill>
              <a:latin typeface="Times New Roman" panose="02020603050405020304"/>
            </a:endParaRPr>
          </a:p>
        </p:txBody>
      </p:sp>
      <p:sp>
        <p:nvSpPr>
          <p:cNvPr id="37" name="anim_78"/>
          <p:cNvSpPr/>
          <p:nvPr/>
        </p:nvSpPr>
        <p:spPr>
          <a:xfrm>
            <a:off x="457200" y="5349240"/>
            <a:ext cx="10927080" cy="749808"/>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8" name="anim_79"/>
          <p:cNvSpPr txBox="1"/>
          <p:nvPr/>
        </p:nvSpPr>
        <p:spPr>
          <a:xfrm>
            <a:off x="658368" y="5449824"/>
            <a:ext cx="10515600" cy="5943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Built only from per-capita CO2, growth rates and fuel shares - </a:t>
            </a:r>
            <a:r>
              <a:rPr sz="1450" b="0">
                <a:solidFill>
                  <a:srgbClr val="2F5248"/>
                </a:solidFill>
                <a:latin typeface="Times New Roman" panose="02020603050405020304"/>
              </a:rPr>
              <a:t>total CO2 and population never enter the model; they return later, only to interpret the pathways.</a:t>
            </a:r>
            <a:endParaRPr sz="1450" b="0">
              <a:solidFill>
                <a:srgbClr val="2F5248"/>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50"/>
                                        <p:tgtEl>
                                          <p:spTgt spid="14"/>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50"/>
                                        <p:tgtEl>
                                          <p:spTgt spid="15"/>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50"/>
                                        <p:tgtEl>
                                          <p:spTgt spid="16"/>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50"/>
                                        <p:tgtEl>
                                          <p:spTgt spid="17"/>
                                        </p:tgtEl>
                                      </p:cBhvr>
                                    </p:animEffect>
                                  </p:childTnLst>
                                </p:cTn>
                              </p:par>
                              <p:par>
                                <p:cTn id="20" presetID="10" presetClass="entr" presetSubtype="0" fill="hold" grpId="0" nodeType="withEffect">
                                  <p:stCondLst>
                                    <p:cond delay="105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childTnLst>
                          </p:cTn>
                        </p:par>
                        <p:par>
                          <p:cTn id="23" fill="hold">
                            <p:stCondLst>
                              <p:cond delay="900"/>
                            </p:stCondLst>
                            <p:childTnLst>
                              <p:par>
                                <p:cTn id="24" presetID="10" presetClass="entr" presetSubtype="0" fill="hold" grpId="0" nodeType="afterEffect">
                                  <p:stCondLst>
                                    <p:cond delay="40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450"/>
                                        <p:tgtEl>
                                          <p:spTgt spid="19"/>
                                        </p:tgtEl>
                                      </p:cBhvr>
                                    </p:animEffect>
                                  </p:childTnLst>
                                </p:cTn>
                              </p:par>
                              <p:par>
                                <p:cTn id="27" presetID="10" presetClass="entr" presetSubtype="0" fill="hold" grpId="0" nodeType="withEffect">
                                  <p:stCondLst>
                                    <p:cond delay="53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50"/>
                                        <p:tgtEl>
                                          <p:spTgt spid="20"/>
                                        </p:tgtEl>
                                      </p:cBhvr>
                                    </p:animEffect>
                                  </p:childTnLst>
                                </p:cTn>
                              </p:par>
                              <p:par>
                                <p:cTn id="30" presetID="10" presetClass="entr" presetSubtype="0" fill="hold" grpId="0" nodeType="withEffect">
                                  <p:stCondLst>
                                    <p:cond delay="66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50"/>
                                        <p:tgtEl>
                                          <p:spTgt spid="21"/>
                                        </p:tgtEl>
                                      </p:cBhvr>
                                    </p:animEffect>
                                  </p:childTnLst>
                                </p:cTn>
                              </p:par>
                              <p:par>
                                <p:cTn id="33" presetID="10" presetClass="entr" presetSubtype="0" fill="hold" grpId="0" nodeType="withEffect">
                                  <p:stCondLst>
                                    <p:cond delay="79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450"/>
                                        <p:tgtEl>
                                          <p:spTgt spid="22"/>
                                        </p:tgtEl>
                                      </p:cBhvr>
                                    </p:animEffect>
                                  </p:childTnLst>
                                </p:cTn>
                              </p:par>
                              <p:par>
                                <p:cTn id="36" presetID="10" presetClass="entr" presetSubtype="0" fill="hold" grpId="0" nodeType="withEffect">
                                  <p:stCondLst>
                                    <p:cond delay="92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450"/>
                                        <p:tgtEl>
                                          <p:spTgt spid="23"/>
                                        </p:tgtEl>
                                      </p:cBhvr>
                                    </p:animEffect>
                                  </p:childTnLst>
                                </p:cTn>
                              </p:par>
                              <p:par>
                                <p:cTn id="39" presetID="10" presetClass="entr" presetSubtype="0" fill="hold" grpId="0" nodeType="withEffect">
                                  <p:stCondLst>
                                    <p:cond delay="105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50"/>
                                        <p:tgtEl>
                                          <p:spTgt spid="24"/>
                                        </p:tgtEl>
                                      </p:cBhvr>
                                    </p:animEffect>
                                  </p:childTnLst>
                                </p:cTn>
                              </p:par>
                            </p:childTnLst>
                          </p:cTn>
                        </p:par>
                        <p:par>
                          <p:cTn id="42" fill="hold">
                            <p:stCondLst>
                              <p:cond delay="1800"/>
                            </p:stCondLst>
                            <p:childTnLst>
                              <p:par>
                                <p:cTn id="43" presetID="10" presetClass="entr" presetSubtype="0" fill="hold" grpId="0" nodeType="afterEffect">
                                  <p:stCondLst>
                                    <p:cond delay="40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50"/>
                                        <p:tgtEl>
                                          <p:spTgt spid="25"/>
                                        </p:tgtEl>
                                      </p:cBhvr>
                                    </p:animEffect>
                                  </p:childTnLst>
                                </p:cTn>
                              </p:par>
                              <p:par>
                                <p:cTn id="46" presetID="10" presetClass="entr" presetSubtype="0" fill="hold" grpId="0" nodeType="withEffect">
                                  <p:stCondLst>
                                    <p:cond delay="53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50"/>
                                        <p:tgtEl>
                                          <p:spTgt spid="26"/>
                                        </p:tgtEl>
                                      </p:cBhvr>
                                    </p:animEffect>
                                  </p:childTnLst>
                                </p:cTn>
                              </p:par>
                              <p:par>
                                <p:cTn id="49" presetID="10" presetClass="entr" presetSubtype="0" fill="hold" grpId="0" nodeType="withEffect">
                                  <p:stCondLst>
                                    <p:cond delay="66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50"/>
                                        <p:tgtEl>
                                          <p:spTgt spid="27"/>
                                        </p:tgtEl>
                                      </p:cBhvr>
                                    </p:animEffect>
                                  </p:childTnLst>
                                </p:cTn>
                              </p:par>
                              <p:par>
                                <p:cTn id="52" presetID="10" presetClass="entr" presetSubtype="0" fill="hold" grpId="0" nodeType="withEffect">
                                  <p:stCondLst>
                                    <p:cond delay="79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50"/>
                                        <p:tgtEl>
                                          <p:spTgt spid="28"/>
                                        </p:tgtEl>
                                      </p:cBhvr>
                                    </p:animEffect>
                                  </p:childTnLst>
                                </p:cTn>
                              </p:par>
                              <p:par>
                                <p:cTn id="55" presetID="10" presetClass="entr" presetSubtype="0" fill="hold" grpId="0" nodeType="withEffect">
                                  <p:stCondLst>
                                    <p:cond delay="92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450"/>
                                        <p:tgtEl>
                                          <p:spTgt spid="29"/>
                                        </p:tgtEl>
                                      </p:cBhvr>
                                    </p:animEffect>
                                  </p:childTnLst>
                                </p:cTn>
                              </p:par>
                              <p:par>
                                <p:cTn id="58" presetID="10" presetClass="entr" presetSubtype="0" fill="hold" grpId="0" nodeType="withEffect">
                                  <p:stCondLst>
                                    <p:cond delay="105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450"/>
                                        <p:tgtEl>
                                          <p:spTgt spid="30"/>
                                        </p:tgtEl>
                                      </p:cBhvr>
                                    </p:animEffect>
                                  </p:childTnLst>
                                </p:cTn>
                              </p:par>
                            </p:childTnLst>
                          </p:cTn>
                        </p:par>
                        <p:par>
                          <p:cTn id="61" fill="hold">
                            <p:stCondLst>
                              <p:cond delay="2700"/>
                            </p:stCondLst>
                            <p:childTnLst>
                              <p:par>
                                <p:cTn id="62" presetID="10" presetClass="entr" presetSubtype="0" fill="hold" grpId="0" nodeType="afterEffect">
                                  <p:stCondLst>
                                    <p:cond delay="400"/>
                                  </p:stCondLst>
                                  <p:childTnLst>
                                    <p:set>
                                      <p:cBhvr>
                                        <p:cTn id="63" dur="1" fill="hold">
                                          <p:stCondLst>
                                            <p:cond delay="0"/>
                                          </p:stCondLst>
                                        </p:cTn>
                                        <p:tgtEl>
                                          <p:spTgt spid="31"/>
                                        </p:tgtEl>
                                        <p:attrNameLst>
                                          <p:attrName>style.visibility</p:attrName>
                                        </p:attrNameLst>
                                      </p:cBhvr>
                                      <p:to>
                                        <p:strVal val="visible"/>
                                      </p:to>
                                    </p:set>
                                    <p:animEffect transition="in" filter="fade">
                                      <p:cBhvr>
                                        <p:cTn id="64" dur="450"/>
                                        <p:tgtEl>
                                          <p:spTgt spid="31"/>
                                        </p:tgtEl>
                                      </p:cBhvr>
                                    </p:animEffect>
                                  </p:childTnLst>
                                </p:cTn>
                              </p:par>
                              <p:par>
                                <p:cTn id="65" presetID="10" presetClass="entr" presetSubtype="0" fill="hold" grpId="0" nodeType="withEffect">
                                  <p:stCondLst>
                                    <p:cond delay="53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450"/>
                                        <p:tgtEl>
                                          <p:spTgt spid="32"/>
                                        </p:tgtEl>
                                      </p:cBhvr>
                                    </p:animEffect>
                                  </p:childTnLst>
                                </p:cTn>
                              </p:par>
                              <p:par>
                                <p:cTn id="68" presetID="10" presetClass="entr" presetSubtype="0" fill="hold" grpId="0" nodeType="withEffect">
                                  <p:stCondLst>
                                    <p:cond delay="66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450"/>
                                        <p:tgtEl>
                                          <p:spTgt spid="33"/>
                                        </p:tgtEl>
                                      </p:cBhvr>
                                    </p:animEffect>
                                  </p:childTnLst>
                                </p:cTn>
                              </p:par>
                              <p:par>
                                <p:cTn id="71" presetID="10" presetClass="entr" presetSubtype="0" fill="hold" grpId="0" nodeType="withEffect">
                                  <p:stCondLst>
                                    <p:cond delay="79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450"/>
                                        <p:tgtEl>
                                          <p:spTgt spid="34"/>
                                        </p:tgtEl>
                                      </p:cBhvr>
                                    </p:animEffect>
                                  </p:childTnLst>
                                </p:cTn>
                              </p:par>
                              <p:par>
                                <p:cTn id="74" presetID="10" presetClass="entr" presetSubtype="0" fill="hold" grpId="0" nodeType="withEffect">
                                  <p:stCondLst>
                                    <p:cond delay="920"/>
                                  </p:stCondLst>
                                  <p:childTnLst>
                                    <p:set>
                                      <p:cBhvr>
                                        <p:cTn id="75" dur="1" fill="hold">
                                          <p:stCondLst>
                                            <p:cond delay="0"/>
                                          </p:stCondLst>
                                        </p:cTn>
                                        <p:tgtEl>
                                          <p:spTgt spid="35"/>
                                        </p:tgtEl>
                                        <p:attrNameLst>
                                          <p:attrName>style.visibility</p:attrName>
                                        </p:attrNameLst>
                                      </p:cBhvr>
                                      <p:to>
                                        <p:strVal val="visible"/>
                                      </p:to>
                                    </p:set>
                                    <p:animEffect transition="in" filter="fade">
                                      <p:cBhvr>
                                        <p:cTn id="76" dur="450"/>
                                        <p:tgtEl>
                                          <p:spTgt spid="35"/>
                                        </p:tgtEl>
                                      </p:cBhvr>
                                    </p:animEffect>
                                  </p:childTnLst>
                                </p:cTn>
                              </p:par>
                              <p:par>
                                <p:cTn id="77" presetID="10" presetClass="entr" presetSubtype="0" fill="hold" grpId="0" nodeType="withEffect">
                                  <p:stCondLst>
                                    <p:cond delay="105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450"/>
                                        <p:tgtEl>
                                          <p:spTgt spid="36"/>
                                        </p:tgtEl>
                                      </p:cBhvr>
                                    </p:animEffect>
                                  </p:childTnLst>
                                </p:cTn>
                              </p:par>
                            </p:childTnLst>
                          </p:cTn>
                        </p:par>
                        <p:par>
                          <p:cTn id="80" fill="hold">
                            <p:stCondLst>
                              <p:cond delay="3600"/>
                            </p:stCondLst>
                            <p:childTnLst>
                              <p:par>
                                <p:cTn id="81" presetID="10" presetClass="entr" presetSubtype="0" fill="hold" grpId="0" nodeType="afterEffect">
                                  <p:stCondLst>
                                    <p:cond delay="40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450"/>
                                        <p:tgtEl>
                                          <p:spTgt spid="37"/>
                                        </p:tgtEl>
                                      </p:cBhvr>
                                    </p:animEffect>
                                  </p:childTnLst>
                                </p:cTn>
                              </p:par>
                              <p:par>
                                <p:cTn id="84" presetID="10" presetClass="entr" presetSubtype="0" fill="hold" grpId="0" nodeType="withEffect">
                                  <p:stCondLst>
                                    <p:cond delay="53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DESIGN OF AI ALGORITHM · Scaling, PCA, K-means and how they are validated</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A fixed pipeline turns 30-year histories into two pathways</a:t>
            </a:r>
            <a:endParaRPr sz="23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3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RAN CHANGMING</a:t>
            </a:r>
            <a:endParaRPr sz="1300" b="1">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13</a:t>
            </a:r>
            <a:endParaRPr sz="1400" b="0">
              <a:solidFill>
                <a:srgbClr val="6E7672"/>
              </a:solidFill>
              <a:latin typeface="Times New Roman" panose="02020603050405020304"/>
            </a:endParaRPr>
          </a:p>
        </p:txBody>
      </p:sp>
      <p:sp>
        <p:nvSpPr>
          <p:cNvPr id="14" name="anim_80"/>
          <p:cNvSpPr/>
          <p:nvPr/>
        </p:nvSpPr>
        <p:spPr>
          <a:xfrm>
            <a:off x="457200" y="1371600"/>
            <a:ext cx="1938528" cy="137160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5" name="anim_81"/>
          <p:cNvSpPr txBox="1"/>
          <p:nvPr/>
        </p:nvSpPr>
        <p:spPr>
          <a:xfrm>
            <a:off x="530352" y="1463040"/>
            <a:ext cx="1792224" cy="548640"/>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50" b="1">
                <a:solidFill>
                  <a:srgbClr val="252B30"/>
                </a:solidFill>
                <a:latin typeface="Times New Roman" panose="02020603050405020304"/>
              </a:rPr>
              <a:t>COUNTRY-YEAR PANEL</a:t>
            </a:r>
            <a:endParaRPr sz="1350" b="1">
              <a:solidFill>
                <a:srgbClr val="252B30"/>
              </a:solidFill>
              <a:latin typeface="Times New Roman" panose="02020603050405020304"/>
            </a:endParaRPr>
          </a:p>
        </p:txBody>
      </p:sp>
      <p:sp>
        <p:nvSpPr>
          <p:cNvPr id="16" name="anim_82"/>
          <p:cNvSpPr txBox="1"/>
          <p:nvPr/>
        </p:nvSpPr>
        <p:spPr>
          <a:xfrm>
            <a:off x="530352" y="2011680"/>
            <a:ext cx="1792224" cy="676656"/>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00" b="0">
                <a:solidFill>
                  <a:srgbClr val="6E7672"/>
                </a:solidFill>
                <a:latin typeface="Times New Roman" panose="02020603050405020304"/>
              </a:rPr>
              <a:t>6,378 rows · 1992-2021</a:t>
            </a:r>
            <a:endParaRPr sz="1300" b="0">
              <a:solidFill>
                <a:srgbClr val="6E7672"/>
              </a:solidFill>
              <a:latin typeface="Times New Roman" panose="02020603050405020304"/>
            </a:endParaRPr>
          </a:p>
        </p:txBody>
      </p:sp>
      <p:sp>
        <p:nvSpPr>
          <p:cNvPr id="17" name="anim_83"/>
          <p:cNvSpPr/>
          <p:nvPr/>
        </p:nvSpPr>
        <p:spPr>
          <a:xfrm>
            <a:off x="2432304" y="1947672"/>
            <a:ext cx="292608" cy="219456"/>
          </a:xfrm>
          <a:prstGeom prst="rightArrow">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8" name="anim_84"/>
          <p:cNvSpPr/>
          <p:nvPr/>
        </p:nvSpPr>
        <p:spPr>
          <a:xfrm>
            <a:off x="2743200" y="1371600"/>
            <a:ext cx="1938528" cy="137160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9" name="anim_85"/>
          <p:cNvSpPr txBox="1"/>
          <p:nvPr/>
        </p:nvSpPr>
        <p:spPr>
          <a:xfrm>
            <a:off x="2816352" y="1463040"/>
            <a:ext cx="1792224" cy="548640"/>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50" b="1">
                <a:solidFill>
                  <a:srgbClr val="252B30"/>
                </a:solidFill>
                <a:latin typeface="Times New Roman" panose="02020603050405020304"/>
              </a:rPr>
              <a:t>193 COUNTRY PROFILES</a:t>
            </a:r>
            <a:endParaRPr sz="1350" b="1">
              <a:solidFill>
                <a:srgbClr val="252B30"/>
              </a:solidFill>
              <a:latin typeface="Times New Roman" panose="02020603050405020304"/>
            </a:endParaRPr>
          </a:p>
        </p:txBody>
      </p:sp>
      <p:sp>
        <p:nvSpPr>
          <p:cNvPr id="20" name="anim_86"/>
          <p:cNvSpPr txBox="1"/>
          <p:nvPr/>
        </p:nvSpPr>
        <p:spPr>
          <a:xfrm>
            <a:off x="2816352" y="2011680"/>
            <a:ext cx="1792224" cy="676656"/>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00" b="0">
                <a:solidFill>
                  <a:srgbClr val="6E7672"/>
                </a:solidFill>
                <a:latin typeface="Times New Roman" panose="02020603050405020304"/>
              </a:rPr>
              <a:t>one row per country, 11 features</a:t>
            </a:r>
            <a:endParaRPr sz="1300" b="0">
              <a:solidFill>
                <a:srgbClr val="6E7672"/>
              </a:solidFill>
              <a:latin typeface="Times New Roman" panose="02020603050405020304"/>
            </a:endParaRPr>
          </a:p>
        </p:txBody>
      </p:sp>
      <p:sp>
        <p:nvSpPr>
          <p:cNvPr id="21" name="anim_87"/>
          <p:cNvSpPr/>
          <p:nvPr/>
        </p:nvSpPr>
        <p:spPr>
          <a:xfrm>
            <a:off x="4718304" y="1947672"/>
            <a:ext cx="292608" cy="219456"/>
          </a:xfrm>
          <a:prstGeom prst="rightArrow">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22" name="anim_88"/>
          <p:cNvSpPr/>
          <p:nvPr/>
        </p:nvSpPr>
        <p:spPr>
          <a:xfrm>
            <a:off x="5029200" y="1371600"/>
            <a:ext cx="1938528" cy="137160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3" name="anim_89"/>
          <p:cNvSpPr txBox="1"/>
          <p:nvPr/>
        </p:nvSpPr>
        <p:spPr>
          <a:xfrm>
            <a:off x="5102352" y="1463040"/>
            <a:ext cx="1792224" cy="548640"/>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50" b="1">
                <a:solidFill>
                  <a:srgbClr val="252B30"/>
                </a:solidFill>
                <a:latin typeface="Times New Roman" panose="02020603050405020304"/>
              </a:rPr>
              <a:t>ROBUSTSCALER</a:t>
            </a:r>
            <a:endParaRPr sz="1350" b="1">
              <a:solidFill>
                <a:srgbClr val="252B30"/>
              </a:solidFill>
              <a:latin typeface="Times New Roman" panose="02020603050405020304"/>
            </a:endParaRPr>
          </a:p>
        </p:txBody>
      </p:sp>
      <p:sp>
        <p:nvSpPr>
          <p:cNvPr id="24" name="anim_90"/>
          <p:cNvSpPr txBox="1"/>
          <p:nvPr/>
        </p:nvSpPr>
        <p:spPr>
          <a:xfrm>
            <a:off x="5102352" y="2011680"/>
            <a:ext cx="1792224" cy="676656"/>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00" b="0">
                <a:solidFill>
                  <a:srgbClr val="6E7672"/>
                </a:solidFill>
                <a:latin typeface="Times New Roman" panose="02020603050405020304"/>
              </a:rPr>
              <a:t>median / IQR scaling, so outliers cannot dominate distances</a:t>
            </a:r>
            <a:endParaRPr sz="1300" b="0">
              <a:solidFill>
                <a:srgbClr val="6E7672"/>
              </a:solidFill>
              <a:latin typeface="Times New Roman" panose="02020603050405020304"/>
            </a:endParaRPr>
          </a:p>
        </p:txBody>
      </p:sp>
      <p:sp>
        <p:nvSpPr>
          <p:cNvPr id="25" name="anim_91"/>
          <p:cNvSpPr/>
          <p:nvPr/>
        </p:nvSpPr>
        <p:spPr>
          <a:xfrm>
            <a:off x="7004304" y="1947672"/>
            <a:ext cx="292608" cy="219456"/>
          </a:xfrm>
          <a:prstGeom prst="rightArrow">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26" name="anim_92"/>
          <p:cNvSpPr/>
          <p:nvPr/>
        </p:nvSpPr>
        <p:spPr>
          <a:xfrm>
            <a:off x="7315200" y="1371600"/>
            <a:ext cx="1938528" cy="137160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7" name="anim_93"/>
          <p:cNvSpPr txBox="1"/>
          <p:nvPr/>
        </p:nvSpPr>
        <p:spPr>
          <a:xfrm>
            <a:off x="7388352" y="1463040"/>
            <a:ext cx="1792224" cy="548640"/>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50" b="1">
                <a:solidFill>
                  <a:srgbClr val="252B30"/>
                </a:solidFill>
                <a:latin typeface="Times New Roman" panose="02020603050405020304"/>
              </a:rPr>
              <a:t>PCA → 4 COMPONENTS</a:t>
            </a:r>
            <a:endParaRPr sz="1350" b="1">
              <a:solidFill>
                <a:srgbClr val="252B30"/>
              </a:solidFill>
              <a:latin typeface="Times New Roman" panose="02020603050405020304"/>
            </a:endParaRPr>
          </a:p>
        </p:txBody>
      </p:sp>
      <p:sp>
        <p:nvSpPr>
          <p:cNvPr id="28" name="anim_94"/>
          <p:cNvSpPr txBox="1"/>
          <p:nvPr/>
        </p:nvSpPr>
        <p:spPr>
          <a:xfrm>
            <a:off x="7388352" y="2011680"/>
            <a:ext cx="1792224" cy="676656"/>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00" b="0">
                <a:solidFill>
                  <a:srgbClr val="6E7672"/>
                </a:solidFill>
                <a:latin typeface="Times New Roman" panose="02020603050405020304"/>
              </a:rPr>
              <a:t>87.41% of variance kept, correlated features merged</a:t>
            </a:r>
            <a:endParaRPr sz="1300" b="0">
              <a:solidFill>
                <a:srgbClr val="6E7672"/>
              </a:solidFill>
              <a:latin typeface="Times New Roman" panose="02020603050405020304"/>
            </a:endParaRPr>
          </a:p>
        </p:txBody>
      </p:sp>
      <p:sp>
        <p:nvSpPr>
          <p:cNvPr id="29" name="anim_95"/>
          <p:cNvSpPr/>
          <p:nvPr/>
        </p:nvSpPr>
        <p:spPr>
          <a:xfrm>
            <a:off x="9290304" y="1947672"/>
            <a:ext cx="292608" cy="219456"/>
          </a:xfrm>
          <a:prstGeom prst="rightArrow">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30" name="anim_96"/>
          <p:cNvSpPr/>
          <p:nvPr/>
        </p:nvSpPr>
        <p:spPr>
          <a:xfrm>
            <a:off x="9601200" y="1371600"/>
            <a:ext cx="1938528" cy="137160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97"/>
          <p:cNvSpPr txBox="1"/>
          <p:nvPr/>
        </p:nvSpPr>
        <p:spPr>
          <a:xfrm>
            <a:off x="9674352" y="1463040"/>
            <a:ext cx="1792224" cy="548640"/>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50" b="1">
                <a:solidFill>
                  <a:srgbClr val="252B30"/>
                </a:solidFill>
                <a:latin typeface="Times New Roman" panose="02020603050405020304"/>
              </a:rPr>
              <a:t>K-MEANS · K = 2-8</a:t>
            </a:r>
            <a:endParaRPr sz="1350" b="1">
              <a:solidFill>
                <a:srgbClr val="252B30"/>
              </a:solidFill>
              <a:latin typeface="Times New Roman" panose="02020603050405020304"/>
            </a:endParaRPr>
          </a:p>
        </p:txBody>
      </p:sp>
      <p:sp>
        <p:nvSpPr>
          <p:cNvPr id="32" name="anim_98"/>
          <p:cNvSpPr txBox="1"/>
          <p:nvPr/>
        </p:nvSpPr>
        <p:spPr>
          <a:xfrm>
            <a:off x="9674352" y="2011680"/>
            <a:ext cx="1792224" cy="676656"/>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300" b="0">
                <a:solidFill>
                  <a:srgbClr val="6E7672"/>
                </a:solidFill>
                <a:latin typeface="Times New Roman" panose="02020603050405020304"/>
              </a:rPr>
              <a:t>50 restarts, fixed seed 42: the grouping re-runs identically</a:t>
            </a:r>
            <a:r>
              <a:rPr sz="1300" b="0">
                <a:solidFill>
                  <a:srgbClr val="6E7672"/>
                </a:solidFill>
                <a:latin typeface="Times New Roman"/>
              </a:rPr>
              <a:t> [4]</a:t>
            </a:r>
            <a:endParaRPr sz="1300" b="0">
              <a:solidFill>
                <a:srgbClr val="6E7672"/>
              </a:solidFill>
              <a:latin typeface="Times New Roman" panose="02020603050405020304"/>
            </a:endParaRPr>
          </a:p>
        </p:txBody>
      </p:sp>
      <p:sp>
        <p:nvSpPr>
          <p:cNvPr id="33" name="TextBox 32"/>
          <p:cNvSpPr txBox="1"/>
          <p:nvPr/>
        </p:nvSpPr>
        <p:spPr>
          <a:xfrm>
            <a:off x="457200" y="2880360"/>
            <a:ext cx="1092708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VALIDATION RUNS ALONGSIDE - NOT INSIDE - THE CLUSTERING</a:t>
            </a:r>
            <a:endParaRPr sz="1350" b="1">
              <a:solidFill>
                <a:srgbClr val="2F5248"/>
              </a:solidFill>
              <a:latin typeface="Times New Roman" panose="02020603050405020304"/>
            </a:endParaRPr>
          </a:p>
        </p:txBody>
      </p:sp>
      <p:sp>
        <p:nvSpPr>
          <p:cNvPr id="34" name="anim_99"/>
          <p:cNvSpPr/>
          <p:nvPr/>
        </p:nvSpPr>
        <p:spPr>
          <a:xfrm>
            <a:off x="457200" y="3200400"/>
            <a:ext cx="3520440" cy="1097280"/>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5" name="anim_100"/>
          <p:cNvSpPr txBox="1"/>
          <p:nvPr/>
        </p:nvSpPr>
        <p:spPr>
          <a:xfrm>
            <a:off x="621792" y="3310128"/>
            <a:ext cx="324612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GMM SOFT MEMBERSHIP</a:t>
            </a:r>
            <a:endParaRPr sz="1350" b="1">
              <a:solidFill>
                <a:srgbClr val="BE7F4E"/>
              </a:solidFill>
              <a:latin typeface="Times New Roman" panose="02020603050405020304"/>
            </a:endParaRPr>
          </a:p>
          <a:p>
            <a:pPr algn="l">
              <a:spcBef>
                <a:spcPts val="200"/>
              </a:spcBef>
              <a:defRPr>
                <a:latin typeface="Times New Roman" panose="02020603050405020304"/>
              </a:defRPr>
            </a:pPr>
            <a:r>
              <a:rPr sz="1300" b="0">
                <a:solidFill>
                  <a:srgbClr val="252B30"/>
                </a:solidFill>
                <a:latin typeface="Times New Roman" panose="02020603050405020304"/>
              </a:rPr>
              <a:t>probability of belonging to each cluster</a:t>
            </a:r>
            <a:endParaRPr sz="1300" b="0">
              <a:solidFill>
                <a:srgbClr val="252B30"/>
              </a:solidFill>
              <a:latin typeface="Times New Roman" panose="02020603050405020304"/>
            </a:endParaRPr>
          </a:p>
        </p:txBody>
      </p:sp>
      <p:sp>
        <p:nvSpPr>
          <p:cNvPr id="36" name="anim_101"/>
          <p:cNvSpPr/>
          <p:nvPr/>
        </p:nvSpPr>
        <p:spPr>
          <a:xfrm>
            <a:off x="4160520" y="3200400"/>
            <a:ext cx="3520440" cy="1097280"/>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7" name="anim_102"/>
          <p:cNvSpPr txBox="1"/>
          <p:nvPr/>
        </p:nvSpPr>
        <p:spPr>
          <a:xfrm>
            <a:off x="4325112" y="3310128"/>
            <a:ext cx="324612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100 x 80% SUBSAMPLING</a:t>
            </a:r>
            <a:endParaRPr sz="1350" b="1">
              <a:solidFill>
                <a:srgbClr val="BE7F4E"/>
              </a:solidFill>
              <a:latin typeface="Times New Roman" panose="02020603050405020304"/>
            </a:endParaRPr>
          </a:p>
          <a:p>
            <a:pPr algn="l">
              <a:spcBef>
                <a:spcPts val="200"/>
              </a:spcBef>
              <a:defRPr>
                <a:latin typeface="Times New Roman" panose="02020603050405020304"/>
              </a:defRPr>
            </a:pPr>
            <a:r>
              <a:rPr sz="1300" b="0">
                <a:solidFill>
                  <a:srgbClr val="252B30"/>
                </a:solidFill>
                <a:latin typeface="Times New Roman" panose="02020603050405020304"/>
              </a:rPr>
              <a:t>refit and compare labels (Adjusted Rand Index)</a:t>
            </a:r>
            <a:endParaRPr sz="1300" b="0">
              <a:solidFill>
                <a:srgbClr val="252B30"/>
              </a:solidFill>
              <a:latin typeface="Times New Roman" panose="02020603050405020304"/>
            </a:endParaRPr>
          </a:p>
        </p:txBody>
      </p:sp>
      <p:sp>
        <p:nvSpPr>
          <p:cNvPr id="38" name="anim_103"/>
          <p:cNvSpPr/>
          <p:nvPr/>
        </p:nvSpPr>
        <p:spPr>
          <a:xfrm>
            <a:off x="7863840" y="3200400"/>
            <a:ext cx="3520440" cy="10972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9" name="anim_104"/>
          <p:cNvSpPr txBox="1"/>
          <p:nvPr/>
        </p:nvSpPr>
        <p:spPr>
          <a:xfrm>
            <a:off x="8028431" y="3310128"/>
            <a:ext cx="324612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NEITHER CHANGES THE LABELS</a:t>
            </a:r>
            <a:endParaRPr sz="1350" b="1">
              <a:solidFill>
                <a:srgbClr val="2F5248"/>
              </a:solidFill>
              <a:latin typeface="Times New Roman" panose="02020603050405020304"/>
            </a:endParaRPr>
          </a:p>
          <a:p>
            <a:pPr algn="l">
              <a:spcBef>
                <a:spcPts val="200"/>
              </a:spcBef>
              <a:defRPr>
                <a:latin typeface="Times New Roman" panose="02020603050405020304"/>
              </a:defRPr>
            </a:pPr>
            <a:r>
              <a:rPr sz="1300" b="0">
                <a:solidFill>
                  <a:srgbClr val="252B30"/>
                </a:solidFill>
                <a:latin typeface="Times New Roman" panose="02020603050405020304"/>
              </a:rPr>
              <a:t>both instruments only test the grouping that K-means already produced</a:t>
            </a:r>
            <a:endParaRPr sz="1300" b="0">
              <a:solidFill>
                <a:srgbClr val="252B30"/>
              </a:solidFill>
              <a:latin typeface="Times New Roman" panose="02020603050405020304"/>
            </a:endParaRPr>
          </a:p>
        </p:txBody>
      </p:sp>
      <p:sp>
        <p:nvSpPr>
          <p:cNvPr id="40" name="TextBox 39"/>
          <p:cNvSpPr txBox="1"/>
          <p:nvPr/>
        </p:nvSpPr>
        <p:spPr>
          <a:xfrm>
            <a:off x="457200" y="4480560"/>
            <a:ext cx="54864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K-MEANS</a:t>
            </a:r>
            <a:endParaRPr sz="1350" b="1">
              <a:solidFill>
                <a:srgbClr val="2F5248"/>
              </a:solidFill>
              <a:latin typeface="Times New Roman" panose="02020603050405020304"/>
            </a:endParaRPr>
          </a:p>
        </p:txBody>
      </p:sp>
      <p:sp>
        <p:nvSpPr>
          <p:cNvPr id="41" name="anim_105"/>
          <p:cNvSpPr/>
          <p:nvPr/>
        </p:nvSpPr>
        <p:spPr>
          <a:xfrm>
            <a:off x="457200" y="4800600"/>
            <a:ext cx="10927080" cy="128016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2" name="anim_106"/>
          <p:cNvSpPr txBox="1"/>
          <p:nvPr/>
        </p:nvSpPr>
        <p:spPr>
          <a:xfrm>
            <a:off x="658368" y="4901184"/>
            <a:ext cx="10515600" cy="109728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52B30"/>
                </a:solidFill>
                <a:latin typeface="Times New Roman" panose="02020603050405020304"/>
              </a:rPr>
              <a:t>Unsupervised by design: </a:t>
            </a:r>
            <a:r>
              <a:rPr sz="1450" b="0">
                <a:solidFill>
                  <a:srgbClr val="252B30"/>
                </a:solidFill>
                <a:latin typeface="Times New Roman" panose="02020603050405020304"/>
              </a:rPr>
              <a:t>no labels exist for 'transition pathway', so we cluster comparable profiles and validate the structure afterwards.</a:t>
            </a:r>
            <a:endParaRPr sz="1450" b="0">
              <a:solidFill>
                <a:srgbClr val="252B30"/>
              </a:solidFill>
              <a:latin typeface="Times New Roman" panose="02020603050405020304"/>
            </a:endParaRPr>
          </a:p>
          <a:p>
            <a:pPr algn="l">
              <a:spcBef>
                <a:spcPts val="500"/>
              </a:spcBef>
              <a:defRPr>
                <a:latin typeface="Times New Roman" panose="02020603050405020304"/>
              </a:defRPr>
            </a:pPr>
            <a:r>
              <a:rPr sz="1450" b="1">
                <a:solidFill>
                  <a:srgbClr val="252B30"/>
                </a:solidFill>
                <a:latin typeface="Times New Roman" panose="02020603050405020304"/>
              </a:rPr>
              <a:t>Simple, explainable, reproducible: </a:t>
            </a:r>
            <a:r>
              <a:rPr sz="1450" b="0">
                <a:solidFill>
                  <a:srgbClr val="252B30"/>
                </a:solidFill>
                <a:latin typeface="Times New Roman" panose="02020603050405020304"/>
              </a:rPr>
              <a:t>a fixed seed and n_init = 50 make the exact grouping re-runnable; PCA removes redundancy among correlated trajectory features before distances are computed.</a:t>
            </a:r>
            <a:endParaRPr sz="145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50"/>
                                        <p:tgtEl>
                                          <p:spTgt spid="16"/>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50"/>
                                        <p:tgtEl>
                                          <p:spTgt spid="17"/>
                                        </p:tgtEl>
                                      </p:cBhvr>
                                    </p:animEffect>
                                  </p:childTnLst>
                                </p:cTn>
                              </p:par>
                            </p:childTnLst>
                          </p:cTn>
                        </p:par>
                        <p:par>
                          <p:cTn id="17" fill="hold">
                            <p:stCondLst>
                              <p:cond delay="900"/>
                            </p:stCondLst>
                            <p:childTnLst>
                              <p:par>
                                <p:cTn id="18" presetID="10" presetClass="entr" presetSubtype="0" fill="hold" grpId="0" nodeType="afterEffect">
                                  <p:stCondLst>
                                    <p:cond delay="40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53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66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grpId="0" nodeType="withEffect">
                                  <p:stCondLst>
                                    <p:cond delay="79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childTnLst>
                          </p:cTn>
                        </p:par>
                        <p:par>
                          <p:cTn id="30" fill="hold">
                            <p:stCondLst>
                              <p:cond delay="1800"/>
                            </p:stCondLst>
                            <p:childTnLst>
                              <p:par>
                                <p:cTn id="31" presetID="10" presetClass="entr" presetSubtype="0" fill="hold" grpId="0" nodeType="afterEffect">
                                  <p:stCondLst>
                                    <p:cond delay="40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450"/>
                                        <p:tgtEl>
                                          <p:spTgt spid="22"/>
                                        </p:tgtEl>
                                      </p:cBhvr>
                                    </p:animEffect>
                                  </p:childTnLst>
                                </p:cTn>
                              </p:par>
                              <p:par>
                                <p:cTn id="34" presetID="10" presetClass="entr" presetSubtype="0" fill="hold" grpId="0" nodeType="withEffect">
                                  <p:stCondLst>
                                    <p:cond delay="53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450"/>
                                        <p:tgtEl>
                                          <p:spTgt spid="23"/>
                                        </p:tgtEl>
                                      </p:cBhvr>
                                    </p:animEffect>
                                  </p:childTnLst>
                                </p:cTn>
                              </p:par>
                              <p:par>
                                <p:cTn id="37" presetID="10" presetClass="entr" presetSubtype="0" fill="hold" grpId="0" nodeType="withEffect">
                                  <p:stCondLst>
                                    <p:cond delay="66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450"/>
                                        <p:tgtEl>
                                          <p:spTgt spid="24"/>
                                        </p:tgtEl>
                                      </p:cBhvr>
                                    </p:animEffect>
                                  </p:childTnLst>
                                </p:cTn>
                              </p:par>
                              <p:par>
                                <p:cTn id="40" presetID="10" presetClass="entr" presetSubtype="0" fill="hold" grpId="0" nodeType="withEffect">
                                  <p:stCondLst>
                                    <p:cond delay="79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450"/>
                                        <p:tgtEl>
                                          <p:spTgt spid="25"/>
                                        </p:tgtEl>
                                      </p:cBhvr>
                                    </p:animEffect>
                                  </p:childTnLst>
                                </p:cTn>
                              </p:par>
                            </p:childTnLst>
                          </p:cTn>
                        </p:par>
                        <p:par>
                          <p:cTn id="43" fill="hold">
                            <p:stCondLst>
                              <p:cond delay="2700"/>
                            </p:stCondLst>
                            <p:childTnLst>
                              <p:par>
                                <p:cTn id="44" presetID="10" presetClass="entr" presetSubtype="0" fill="hold" grpId="0" nodeType="afterEffect">
                                  <p:stCondLst>
                                    <p:cond delay="40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450"/>
                                        <p:tgtEl>
                                          <p:spTgt spid="26"/>
                                        </p:tgtEl>
                                      </p:cBhvr>
                                    </p:animEffect>
                                  </p:childTnLst>
                                </p:cTn>
                              </p:par>
                              <p:par>
                                <p:cTn id="47" presetID="10" presetClass="entr" presetSubtype="0" fill="hold" grpId="0" nodeType="withEffect">
                                  <p:stCondLst>
                                    <p:cond delay="53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450"/>
                                        <p:tgtEl>
                                          <p:spTgt spid="27"/>
                                        </p:tgtEl>
                                      </p:cBhvr>
                                    </p:animEffect>
                                  </p:childTnLst>
                                </p:cTn>
                              </p:par>
                              <p:par>
                                <p:cTn id="50" presetID="10" presetClass="entr" presetSubtype="0" fill="hold" grpId="0" nodeType="withEffect">
                                  <p:stCondLst>
                                    <p:cond delay="66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450"/>
                                        <p:tgtEl>
                                          <p:spTgt spid="28"/>
                                        </p:tgtEl>
                                      </p:cBhvr>
                                    </p:animEffect>
                                  </p:childTnLst>
                                </p:cTn>
                              </p:par>
                              <p:par>
                                <p:cTn id="53" presetID="10" presetClass="entr" presetSubtype="0" fill="hold" grpId="0" nodeType="withEffect">
                                  <p:stCondLst>
                                    <p:cond delay="79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450"/>
                                        <p:tgtEl>
                                          <p:spTgt spid="29"/>
                                        </p:tgtEl>
                                      </p:cBhvr>
                                    </p:animEffect>
                                  </p:childTnLst>
                                </p:cTn>
                              </p:par>
                            </p:childTnLst>
                          </p:cTn>
                        </p:par>
                        <p:par>
                          <p:cTn id="56" fill="hold">
                            <p:stCondLst>
                              <p:cond delay="3600"/>
                            </p:stCondLst>
                            <p:childTnLst>
                              <p:par>
                                <p:cTn id="57" presetID="10" presetClass="entr" presetSubtype="0" fill="hold" grpId="0" nodeType="afterEffect">
                                  <p:stCondLst>
                                    <p:cond delay="400"/>
                                  </p:stCondLst>
                                  <p:childTnLst>
                                    <p:set>
                                      <p:cBhvr>
                                        <p:cTn id="58" dur="1" fill="hold">
                                          <p:stCondLst>
                                            <p:cond delay="0"/>
                                          </p:stCondLst>
                                        </p:cTn>
                                        <p:tgtEl>
                                          <p:spTgt spid="30"/>
                                        </p:tgtEl>
                                        <p:attrNameLst>
                                          <p:attrName>style.visibility</p:attrName>
                                        </p:attrNameLst>
                                      </p:cBhvr>
                                      <p:to>
                                        <p:strVal val="visible"/>
                                      </p:to>
                                    </p:set>
                                    <p:animEffect transition="in" filter="fade">
                                      <p:cBhvr>
                                        <p:cTn id="59" dur="450"/>
                                        <p:tgtEl>
                                          <p:spTgt spid="30"/>
                                        </p:tgtEl>
                                      </p:cBhvr>
                                    </p:animEffect>
                                  </p:childTnLst>
                                </p:cTn>
                              </p:par>
                              <p:par>
                                <p:cTn id="60" presetID="10" presetClass="entr" presetSubtype="0" fill="hold" grpId="0" nodeType="withEffect">
                                  <p:stCondLst>
                                    <p:cond delay="53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450"/>
                                        <p:tgtEl>
                                          <p:spTgt spid="31"/>
                                        </p:tgtEl>
                                      </p:cBhvr>
                                    </p:animEffect>
                                  </p:childTnLst>
                                </p:cTn>
                              </p:par>
                              <p:par>
                                <p:cTn id="63" presetID="10" presetClass="entr" presetSubtype="0" fill="hold" grpId="0" nodeType="withEffect">
                                  <p:stCondLst>
                                    <p:cond delay="66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450"/>
                                        <p:tgtEl>
                                          <p:spTgt spid="32"/>
                                        </p:tgtEl>
                                      </p:cBhvr>
                                    </p:animEffect>
                                  </p:childTnLst>
                                </p:cTn>
                              </p:par>
                            </p:childTnLst>
                          </p:cTn>
                        </p:par>
                        <p:par>
                          <p:cTn id="66" fill="hold">
                            <p:stCondLst>
                              <p:cond delay="4500"/>
                            </p:stCondLst>
                            <p:childTnLst>
                              <p:par>
                                <p:cTn id="67" presetID="10" presetClass="entr" presetSubtype="0" fill="hold" grpId="0" nodeType="afterEffect">
                                  <p:stCondLst>
                                    <p:cond delay="40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450"/>
                                        <p:tgtEl>
                                          <p:spTgt spid="34"/>
                                        </p:tgtEl>
                                      </p:cBhvr>
                                    </p:animEffect>
                                  </p:childTnLst>
                                </p:cTn>
                              </p:par>
                              <p:par>
                                <p:cTn id="70" presetID="10" presetClass="entr" presetSubtype="0" fill="hold" grpId="0" nodeType="withEffect">
                                  <p:stCondLst>
                                    <p:cond delay="53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450"/>
                                        <p:tgtEl>
                                          <p:spTgt spid="35"/>
                                        </p:tgtEl>
                                      </p:cBhvr>
                                    </p:animEffect>
                                  </p:childTnLst>
                                </p:cTn>
                              </p:par>
                              <p:par>
                                <p:cTn id="73" presetID="10" presetClass="entr" presetSubtype="0" fill="hold" grpId="0" nodeType="withEffect">
                                  <p:stCondLst>
                                    <p:cond delay="66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450"/>
                                        <p:tgtEl>
                                          <p:spTgt spid="36"/>
                                        </p:tgtEl>
                                      </p:cBhvr>
                                    </p:animEffect>
                                  </p:childTnLst>
                                </p:cTn>
                              </p:par>
                              <p:par>
                                <p:cTn id="76" presetID="10" presetClass="entr" presetSubtype="0" fill="hold" grpId="0" nodeType="withEffect">
                                  <p:stCondLst>
                                    <p:cond delay="790"/>
                                  </p:stCondLst>
                                  <p:childTnLst>
                                    <p:set>
                                      <p:cBhvr>
                                        <p:cTn id="77" dur="1" fill="hold">
                                          <p:stCondLst>
                                            <p:cond delay="0"/>
                                          </p:stCondLst>
                                        </p:cTn>
                                        <p:tgtEl>
                                          <p:spTgt spid="37"/>
                                        </p:tgtEl>
                                        <p:attrNameLst>
                                          <p:attrName>style.visibility</p:attrName>
                                        </p:attrNameLst>
                                      </p:cBhvr>
                                      <p:to>
                                        <p:strVal val="visible"/>
                                      </p:to>
                                    </p:set>
                                    <p:animEffect transition="in" filter="fade">
                                      <p:cBhvr>
                                        <p:cTn id="78" dur="450"/>
                                        <p:tgtEl>
                                          <p:spTgt spid="37"/>
                                        </p:tgtEl>
                                      </p:cBhvr>
                                    </p:animEffect>
                                  </p:childTnLst>
                                </p:cTn>
                              </p:par>
                            </p:childTnLst>
                          </p:cTn>
                        </p:par>
                        <p:par>
                          <p:cTn id="79" fill="hold">
                            <p:stCondLst>
                              <p:cond delay="5400"/>
                            </p:stCondLst>
                            <p:childTnLst>
                              <p:par>
                                <p:cTn id="80" presetID="10" presetClass="entr" presetSubtype="0" fill="hold" grpId="0" nodeType="afterEffect">
                                  <p:stCondLst>
                                    <p:cond delay="400"/>
                                  </p:stCondLst>
                                  <p:childTnLst>
                                    <p:set>
                                      <p:cBhvr>
                                        <p:cTn id="81" dur="1" fill="hold">
                                          <p:stCondLst>
                                            <p:cond delay="0"/>
                                          </p:stCondLst>
                                        </p:cTn>
                                        <p:tgtEl>
                                          <p:spTgt spid="38"/>
                                        </p:tgtEl>
                                        <p:attrNameLst>
                                          <p:attrName>style.visibility</p:attrName>
                                        </p:attrNameLst>
                                      </p:cBhvr>
                                      <p:to>
                                        <p:strVal val="visible"/>
                                      </p:to>
                                    </p:set>
                                    <p:animEffect transition="in" filter="fade">
                                      <p:cBhvr>
                                        <p:cTn id="82" dur="450"/>
                                        <p:tgtEl>
                                          <p:spTgt spid="38"/>
                                        </p:tgtEl>
                                      </p:cBhvr>
                                    </p:animEffect>
                                  </p:childTnLst>
                                </p:cTn>
                              </p:par>
                              <p:par>
                                <p:cTn id="83" presetID="10" presetClass="entr" presetSubtype="0" fill="hold" grpId="0" nodeType="withEffect">
                                  <p:stCondLst>
                                    <p:cond delay="53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450"/>
                                        <p:tgtEl>
                                          <p:spTgt spid="39"/>
                                        </p:tgtEl>
                                      </p:cBhvr>
                                    </p:animEffect>
                                  </p:childTnLst>
                                </p:cTn>
                              </p:par>
                            </p:childTnLst>
                          </p:cTn>
                        </p:par>
                        <p:par>
                          <p:cTn id="86" fill="hold">
                            <p:stCondLst>
                              <p:cond delay="6300"/>
                            </p:stCondLst>
                            <p:childTnLst>
                              <p:par>
                                <p:cTn id="87" presetID="10" presetClass="entr" presetSubtype="0" fill="hold" grpId="0" nodeType="afterEffect">
                                  <p:stCondLst>
                                    <p:cond delay="400"/>
                                  </p:stCondLst>
                                  <p:childTnLst>
                                    <p:set>
                                      <p:cBhvr>
                                        <p:cTn id="88" dur="1" fill="hold">
                                          <p:stCondLst>
                                            <p:cond delay="0"/>
                                          </p:stCondLst>
                                        </p:cTn>
                                        <p:tgtEl>
                                          <p:spTgt spid="41"/>
                                        </p:tgtEl>
                                        <p:attrNameLst>
                                          <p:attrName>style.visibility</p:attrName>
                                        </p:attrNameLst>
                                      </p:cBhvr>
                                      <p:to>
                                        <p:strVal val="visible"/>
                                      </p:to>
                                    </p:set>
                                    <p:animEffect transition="in" filter="fade">
                                      <p:cBhvr>
                                        <p:cTn id="89" dur="450"/>
                                        <p:tgtEl>
                                          <p:spTgt spid="41"/>
                                        </p:tgtEl>
                                      </p:cBhvr>
                                    </p:animEffect>
                                  </p:childTnLst>
                                </p:cTn>
                              </p:par>
                              <p:par>
                                <p:cTn id="90" presetID="10" presetClass="entr" presetSubtype="0" fill="hold" grpId="0" nodeType="withEffect">
                                  <p:stCondLst>
                                    <p:cond delay="530"/>
                                  </p:stCondLst>
                                  <p:childTnLst>
                                    <p:set>
                                      <p:cBhvr>
                                        <p:cTn id="91" dur="1" fill="hold">
                                          <p:stCondLst>
                                            <p:cond delay="0"/>
                                          </p:stCondLst>
                                        </p:cTn>
                                        <p:tgtEl>
                                          <p:spTgt spid="42"/>
                                        </p:tgtEl>
                                        <p:attrNameLst>
                                          <p:attrName>style.visibility</p:attrName>
                                        </p:attrNameLst>
                                      </p:cBhvr>
                                      <p:to>
                                        <p:strVal val="visible"/>
                                      </p:to>
                                    </p:set>
                                    <p:animEffect transition="in" filter="fade">
                                      <p:cBhvr>
                                        <p:cTn id="92" dur="45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DESIGN OF AI ALGORITHM · Choosing how many emission patterns to keep (K = 2-8)</a:t>
            </a:r>
            <a:endParaRPr sz="1300" b="1">
              <a:solidFill>
                <a:srgbClr val="D3E3D6"/>
              </a:solidFill>
              <a:latin typeface="Georgia" panose="02040502050405020303"/>
            </a:endParaRPr>
          </a:p>
          <a:p>
            <a:pPr algn="l">
              <a:spcBef>
                <a:spcPts val="200"/>
              </a:spcBef>
              <a:defRPr>
                <a:latin typeface="Times New Roman" panose="02020603050405020304"/>
              </a:defRPr>
            </a:pPr>
            <a:r>
              <a:rPr sz="2500" b="1">
                <a:solidFill>
                  <a:srgbClr val="FFFFFF"/>
                </a:solidFill>
                <a:latin typeface="Georgia" panose="02040502050405020303"/>
              </a:rPr>
              <a:t>All three validity metrics rank K = 2 first</a:t>
            </a:r>
            <a:endParaRPr sz="25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4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RAN CHANGMING</a:t>
            </a:r>
            <a:endParaRPr sz="1300" b="1">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14</a:t>
            </a:r>
            <a:endParaRPr sz="1400" b="0">
              <a:solidFill>
                <a:srgbClr val="6E7672"/>
              </a:solidFill>
              <a:latin typeface="Times New Roman" panose="02020603050405020304"/>
            </a:endParaRPr>
          </a:p>
        </p:txBody>
      </p:sp>
      <p:pic>
        <p:nvPicPr>
          <p:cNvPr id="14" name="anim_107" descr="fig_k_selection.png"/>
          <p:cNvPicPr>
            <a:picLocks noChangeAspect="1"/>
          </p:cNvPicPr>
          <p:nvPr/>
        </p:nvPicPr>
        <p:blipFill>
          <a:blip r:embed="rId2"/>
          <a:stretch>
            <a:fillRect/>
          </a:stretch>
        </p:blipFill>
        <p:spPr>
          <a:xfrm>
            <a:off x="292608" y="1075449"/>
            <a:ext cx="8686800" cy="2567404"/>
          </a:xfrm>
          <a:prstGeom prst="rect">
            <a:avLst/>
          </a:prstGeom>
        </p:spPr>
      </p:pic>
      <p:sp>
        <p:nvSpPr>
          <p:cNvPr id="15" name="anim_108"/>
          <p:cNvSpPr txBox="1"/>
          <p:nvPr/>
        </p:nvSpPr>
        <p:spPr>
          <a:xfrm>
            <a:off x="457200" y="3785615"/>
            <a:ext cx="8503920" cy="32918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Inertia (within-cluster sum of squares) always falls as K grows - shown for reference only, never used alone to pick K.</a:t>
            </a:r>
            <a:endParaRPr sz="1350" b="0">
              <a:solidFill>
                <a:srgbClr val="6E7672"/>
              </a:solidFill>
              <a:latin typeface="Times New Roman" panose="02020603050405020304"/>
            </a:endParaRPr>
          </a:p>
        </p:txBody>
      </p:sp>
      <p:sp>
        <p:nvSpPr>
          <p:cNvPr id="16" name="anim_109"/>
          <p:cNvSpPr/>
          <p:nvPr/>
        </p:nvSpPr>
        <p:spPr>
          <a:xfrm>
            <a:off x="457200" y="4187952"/>
            <a:ext cx="8503920" cy="1810512"/>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7" name="anim_110"/>
          <p:cNvSpPr txBox="1"/>
          <p:nvPr/>
        </p:nvSpPr>
        <p:spPr>
          <a:xfrm>
            <a:off x="658368" y="4297680"/>
            <a:ext cx="8138160" cy="16459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F5248"/>
                </a:solidFill>
                <a:latin typeface="Times New Roman" panose="02020603050405020304"/>
              </a:rPr>
              <a:t>How the decision was made</a:t>
            </a:r>
            <a:endParaRPr sz="1400" b="1">
              <a:solidFill>
                <a:srgbClr val="2F5248"/>
              </a:solidFill>
              <a:latin typeface="Times New Roman" panose="02020603050405020304"/>
            </a:endParaRPr>
          </a:p>
          <a:p>
            <a:pPr algn="l">
              <a:spcBef>
                <a:spcPts val="600"/>
              </a:spcBef>
              <a:defRPr>
                <a:latin typeface="Times New Roman" panose="02020603050405020304"/>
              </a:defRPr>
            </a:pPr>
            <a:r>
              <a:rPr sz="1400" b="0">
                <a:solidFill>
                  <a:srgbClr val="252B30"/>
                </a:solidFill>
                <a:latin typeface="Times New Roman" panose="02020603050405020304"/>
              </a:rPr>
              <a:t>· Three internal criteria were computed on the same PCA space for every candidate K from 2 to 8, so the comparison is like-for-like.</a:t>
            </a:r>
            <a:r>
              <a:rPr sz="1400" b="0">
                <a:solidFill>
                  <a:srgbClr val="6E7672"/>
                </a:solidFill>
                <a:latin typeface="Times New Roman"/>
              </a:rPr>
              <a:t> [4] [5]</a:t>
            </a:r>
            <a:endParaRPr sz="1400" b="0">
              <a:solidFill>
                <a:srgbClr val="252B30"/>
              </a:solidFill>
              <a:latin typeface="Times New Roman" panose="02020603050405020304"/>
            </a:endParaRPr>
          </a:p>
          <a:p>
            <a:pPr algn="l">
              <a:spcBef>
                <a:spcPts val="400"/>
              </a:spcBef>
              <a:defRPr>
                <a:latin typeface="Times New Roman" panose="02020603050405020304"/>
              </a:defRPr>
            </a:pPr>
            <a:r>
              <a:rPr sz="1400" b="0">
                <a:solidFill>
                  <a:srgbClr val="252B30"/>
                </a:solidFill>
                <a:latin typeface="Times New Roman" panose="02020603050405020304"/>
              </a:rPr>
              <a:t>· All three agree on K = 2; no criterion prefers a finer split, and K = 3-8 lose separation without adding interpretable structure.</a:t>
            </a:r>
            <a:endParaRPr sz="1400" b="0">
              <a:solidFill>
                <a:srgbClr val="252B30"/>
              </a:solidFill>
              <a:latin typeface="Times New Roman" panose="02020603050405020304"/>
            </a:endParaRPr>
          </a:p>
          <a:p>
            <a:pPr algn="l">
              <a:spcBef>
                <a:spcPts val="400"/>
              </a:spcBef>
              <a:defRPr>
                <a:latin typeface="Times New Roman" panose="02020603050405020304"/>
              </a:defRPr>
            </a:pPr>
            <a:r>
              <a:rPr sz="1400" b="0">
                <a:solidFill>
                  <a:srgbClr val="252B30"/>
                </a:solidFill>
                <a:latin typeface="Times New Roman" panose="02020603050405020304"/>
              </a:rPr>
              <a:t>· K = 2 is therefore a screening frame for monitoring attention, not a claim that only two kinds of country exist.</a:t>
            </a:r>
            <a:endParaRPr sz="1400" b="0">
              <a:solidFill>
                <a:srgbClr val="252B30"/>
              </a:solidFill>
              <a:latin typeface="Times New Roman" panose="02020603050405020304"/>
            </a:endParaRPr>
          </a:p>
        </p:txBody>
      </p:sp>
      <p:sp>
        <p:nvSpPr>
          <p:cNvPr id="18" name="anim_111"/>
          <p:cNvSpPr/>
          <p:nvPr/>
        </p:nvSpPr>
        <p:spPr>
          <a:xfrm>
            <a:off x="9098280" y="1188720"/>
            <a:ext cx="2606040" cy="987552"/>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9" name="anim_112"/>
          <p:cNvSpPr txBox="1"/>
          <p:nvPr/>
        </p:nvSpPr>
        <p:spPr>
          <a:xfrm>
            <a:off x="9281160" y="1243584"/>
            <a:ext cx="2606040" cy="40233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4F6E96"/>
                </a:solidFill>
                <a:latin typeface="Times New Roman" panose="02020603050405020304"/>
              </a:rPr>
              <a:t>0.486</a:t>
            </a:r>
            <a:r>
              <a:rPr sz="1400" b="1">
                <a:solidFill>
                  <a:srgbClr val="252B30"/>
                </a:solidFill>
                <a:latin typeface="Times New Roman" panose="02020603050405020304"/>
              </a:rPr>
              <a:t>   Silhouette</a:t>
            </a:r>
            <a:endParaRPr sz="1400" b="1">
              <a:solidFill>
                <a:srgbClr val="252B30"/>
              </a:solidFill>
              <a:latin typeface="Times New Roman" panose="02020603050405020304"/>
            </a:endParaRPr>
          </a:p>
        </p:txBody>
      </p:sp>
      <p:sp>
        <p:nvSpPr>
          <p:cNvPr id="20" name="anim_113"/>
          <p:cNvSpPr txBox="1"/>
          <p:nvPr/>
        </p:nvSpPr>
        <p:spPr>
          <a:xfrm>
            <a:off x="9201150" y="1700784"/>
            <a:ext cx="2606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highest - compact, well separated</a:t>
            </a:r>
            <a:endParaRPr sz="1350" b="0">
              <a:solidFill>
                <a:srgbClr val="6E7672"/>
              </a:solidFill>
              <a:latin typeface="Times New Roman" panose="02020603050405020304"/>
            </a:endParaRPr>
          </a:p>
        </p:txBody>
      </p:sp>
      <p:sp>
        <p:nvSpPr>
          <p:cNvPr id="21" name="anim_114"/>
          <p:cNvSpPr/>
          <p:nvPr/>
        </p:nvSpPr>
        <p:spPr>
          <a:xfrm>
            <a:off x="9098280" y="2322576"/>
            <a:ext cx="2606040" cy="987552"/>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2" name="anim_115"/>
          <p:cNvSpPr txBox="1"/>
          <p:nvPr/>
        </p:nvSpPr>
        <p:spPr>
          <a:xfrm>
            <a:off x="9281160" y="2377440"/>
            <a:ext cx="2606040" cy="40233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4F6E96"/>
                </a:solidFill>
                <a:latin typeface="Times New Roman" panose="02020603050405020304"/>
              </a:rPr>
              <a:t>0.865</a:t>
            </a:r>
            <a:r>
              <a:rPr sz="1400" b="1">
                <a:solidFill>
                  <a:srgbClr val="252B30"/>
                </a:solidFill>
                <a:latin typeface="Times New Roman" panose="02020603050405020304"/>
              </a:rPr>
              <a:t>   Davies-Bouldin</a:t>
            </a:r>
            <a:endParaRPr sz="1400" b="1">
              <a:solidFill>
                <a:srgbClr val="252B30"/>
              </a:solidFill>
              <a:latin typeface="Times New Roman" panose="02020603050405020304"/>
            </a:endParaRPr>
          </a:p>
        </p:txBody>
      </p:sp>
      <p:sp>
        <p:nvSpPr>
          <p:cNvPr id="23" name="anim_116"/>
          <p:cNvSpPr txBox="1"/>
          <p:nvPr/>
        </p:nvSpPr>
        <p:spPr>
          <a:xfrm>
            <a:off x="9201150" y="2834640"/>
            <a:ext cx="2606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lowest - least overlap</a:t>
            </a:r>
            <a:endParaRPr sz="1350" b="0">
              <a:solidFill>
                <a:srgbClr val="6E7672"/>
              </a:solidFill>
              <a:latin typeface="Times New Roman" panose="02020603050405020304"/>
            </a:endParaRPr>
          </a:p>
        </p:txBody>
      </p:sp>
      <p:sp>
        <p:nvSpPr>
          <p:cNvPr id="24" name="anim_117"/>
          <p:cNvSpPr/>
          <p:nvPr/>
        </p:nvSpPr>
        <p:spPr>
          <a:xfrm>
            <a:off x="9098280" y="3456432"/>
            <a:ext cx="2606040" cy="987552"/>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5" name="anim_118"/>
          <p:cNvSpPr txBox="1"/>
          <p:nvPr/>
        </p:nvSpPr>
        <p:spPr>
          <a:xfrm>
            <a:off x="9281160" y="3493516"/>
            <a:ext cx="2606040" cy="40233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2100" b="1">
                <a:solidFill>
                  <a:srgbClr val="4F6E96"/>
                </a:solidFill>
                <a:latin typeface="Times New Roman" panose="02020603050405020304"/>
              </a:rPr>
              <a:t>98.3</a:t>
            </a:r>
            <a:r>
              <a:rPr sz="1400" b="1">
                <a:solidFill>
                  <a:srgbClr val="252B30"/>
                </a:solidFill>
                <a:latin typeface="Times New Roman" panose="02020603050405020304"/>
              </a:rPr>
              <a:t>   Calinski-Harabasz</a:t>
            </a:r>
            <a:endParaRPr sz="1400" b="1">
              <a:solidFill>
                <a:srgbClr val="252B30"/>
              </a:solidFill>
              <a:latin typeface="Times New Roman" panose="02020603050405020304"/>
            </a:endParaRPr>
          </a:p>
        </p:txBody>
      </p:sp>
      <p:sp>
        <p:nvSpPr>
          <p:cNvPr id="26" name="anim_119"/>
          <p:cNvSpPr txBox="1"/>
          <p:nvPr/>
        </p:nvSpPr>
        <p:spPr>
          <a:xfrm>
            <a:off x="9201150" y="3968496"/>
            <a:ext cx="26060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highest - strongest split</a:t>
            </a:r>
            <a:endParaRPr sz="1350" b="0">
              <a:solidFill>
                <a:srgbClr val="6E7672"/>
              </a:solidFill>
              <a:latin typeface="Times New Roman" panose="02020603050405020304"/>
            </a:endParaRPr>
          </a:p>
        </p:txBody>
      </p:sp>
      <p:sp>
        <p:nvSpPr>
          <p:cNvPr id="27" name="anim_120"/>
          <p:cNvSpPr/>
          <p:nvPr/>
        </p:nvSpPr>
        <p:spPr>
          <a:xfrm>
            <a:off x="9098280" y="4645025"/>
            <a:ext cx="2606040" cy="135382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8" name="anim_121"/>
          <p:cNvSpPr txBox="1"/>
          <p:nvPr/>
        </p:nvSpPr>
        <p:spPr>
          <a:xfrm>
            <a:off x="9244584" y="4773168"/>
            <a:ext cx="2331720" cy="14173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DECISION</a:t>
            </a:r>
            <a:endParaRPr sz="1350" b="1">
              <a:solidFill>
                <a:srgbClr val="BE7F4E"/>
              </a:solidFill>
              <a:latin typeface="Times New Roman" panose="02020603050405020304"/>
            </a:endParaRPr>
          </a:p>
          <a:p>
            <a:pPr algn="l">
              <a:spcBef>
                <a:spcPts val="500"/>
              </a:spcBef>
              <a:defRPr>
                <a:latin typeface="Times New Roman" panose="02020603050405020304"/>
              </a:defRPr>
            </a:pPr>
            <a:r>
              <a:rPr sz="1450" b="1">
                <a:solidFill>
                  <a:srgbClr val="252B30"/>
                </a:solidFill>
                <a:latin typeface="Times New Roman" panose="02020603050405020304"/>
              </a:rPr>
              <a:t>K = 2 - the strongest macro segmentation, not the most detailed taxonomy.</a:t>
            </a:r>
            <a:endParaRPr sz="1450" b="1">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par>
                          <p:cTn id="11" fill="hold">
                            <p:stCondLst>
                              <p:cond delay="900"/>
                            </p:stCondLst>
                            <p:childTnLst>
                              <p:par>
                                <p:cTn id="12" presetID="10" presetClass="entr" presetSubtype="0" fill="hold" grpId="0" nodeType="afterEffect">
                                  <p:stCondLst>
                                    <p:cond delay="4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childTnLst>
                          </p:cTn>
                        </p:par>
                        <p:par>
                          <p:cTn id="18" fill="hold">
                            <p:stCondLst>
                              <p:cond delay="1800"/>
                            </p:stCondLst>
                            <p:childTnLst>
                              <p:par>
                                <p:cTn id="19" presetID="10" presetClass="entr" presetSubtype="0" fill="hold" grpId="0" nodeType="afterEffect">
                                  <p:stCondLst>
                                    <p:cond delay="40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childTnLst>
                                </p:cTn>
                              </p:par>
                              <p:par>
                                <p:cTn id="22" presetID="10" presetClass="entr" presetSubtype="0" fill="hold" grpId="0" nodeType="withEffect">
                                  <p:stCondLst>
                                    <p:cond delay="53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50"/>
                                        <p:tgtEl>
                                          <p:spTgt spid="19"/>
                                        </p:tgtEl>
                                      </p:cBhvr>
                                    </p:animEffect>
                                  </p:childTnLst>
                                </p:cTn>
                              </p:par>
                              <p:par>
                                <p:cTn id="25" presetID="10" presetClass="entr" presetSubtype="0" fill="hold" grpId="0" nodeType="withEffect">
                                  <p:stCondLst>
                                    <p:cond delay="66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50"/>
                                        <p:tgtEl>
                                          <p:spTgt spid="20"/>
                                        </p:tgtEl>
                                      </p:cBhvr>
                                    </p:animEffect>
                                  </p:childTnLst>
                                </p:cTn>
                              </p:par>
                            </p:childTnLst>
                          </p:cTn>
                        </p:par>
                        <p:par>
                          <p:cTn id="28" fill="hold">
                            <p:stCondLst>
                              <p:cond delay="2700"/>
                            </p:stCondLst>
                            <p:childTnLst>
                              <p:par>
                                <p:cTn id="29" presetID="10" presetClass="entr" presetSubtype="0" fill="hold" grpId="0" nodeType="afterEffect">
                                  <p:stCondLst>
                                    <p:cond delay="40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par>
                                <p:cTn id="32" presetID="10" presetClass="entr" presetSubtype="0" fill="hold" grpId="0" nodeType="withEffect">
                                  <p:stCondLst>
                                    <p:cond delay="53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childTnLst>
                          </p:cTn>
                        </p:par>
                        <p:par>
                          <p:cTn id="38" fill="hold">
                            <p:stCondLst>
                              <p:cond delay="3600"/>
                            </p:stCondLst>
                            <p:childTnLst>
                              <p:par>
                                <p:cTn id="39" presetID="10" presetClass="entr" presetSubtype="0" fill="hold" grpId="0" nodeType="afterEffect">
                                  <p:stCondLst>
                                    <p:cond delay="40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50"/>
                                        <p:tgtEl>
                                          <p:spTgt spid="24"/>
                                        </p:tgtEl>
                                      </p:cBhvr>
                                    </p:animEffect>
                                  </p:childTnLst>
                                </p:cTn>
                              </p:par>
                              <p:par>
                                <p:cTn id="42" presetID="10" presetClass="entr" presetSubtype="0" fill="hold" grpId="0" nodeType="withEffect">
                                  <p:stCondLst>
                                    <p:cond delay="53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450"/>
                                        <p:tgtEl>
                                          <p:spTgt spid="25"/>
                                        </p:tgtEl>
                                      </p:cBhvr>
                                    </p:animEffect>
                                  </p:childTnLst>
                                </p:cTn>
                              </p:par>
                              <p:par>
                                <p:cTn id="45" presetID="10" presetClass="entr" presetSubtype="0" fill="hold" grpId="0" nodeType="withEffect">
                                  <p:stCondLst>
                                    <p:cond delay="66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450"/>
                                        <p:tgtEl>
                                          <p:spTgt spid="26"/>
                                        </p:tgtEl>
                                      </p:cBhvr>
                                    </p:animEffect>
                                  </p:childTnLst>
                                </p:cTn>
                              </p:par>
                            </p:childTnLst>
                          </p:cTn>
                        </p:par>
                        <p:par>
                          <p:cTn id="48" fill="hold">
                            <p:stCondLst>
                              <p:cond delay="4500"/>
                            </p:stCondLst>
                            <p:childTnLst>
                              <p:par>
                                <p:cTn id="49" presetID="10" presetClass="entr" presetSubtype="0" fill="hold" grpId="0" nodeType="afterEffect">
                                  <p:stCondLst>
                                    <p:cond delay="40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50"/>
                                        <p:tgtEl>
                                          <p:spTgt spid="27"/>
                                        </p:tgtEl>
                                      </p:cBhvr>
                                    </p:animEffect>
                                  </p:childTnLst>
                                </p:cTn>
                              </p:par>
                              <p:par>
                                <p:cTn id="52" presetID="10" presetClass="entr" presetSubtype="0" fill="hold" grpId="0" nodeType="withEffect">
                                  <p:stCondLst>
                                    <p:cond delay="53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MODEL EVALUATION AND PERFORMANCE · Does the two-pattern structure actually separate?</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Two pathways separate cleanly in reduced feature space</a:t>
            </a:r>
            <a:endParaRPr sz="23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1 / 3</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REN SIYU</a:t>
            </a:r>
            <a:endParaRPr sz="1300" b="1">
              <a:solidFill>
                <a:srgbClr val="6E7672"/>
              </a:solidFill>
              <a:latin typeface="Times New Roman" panose="02020603050405020304"/>
            </a:endParaRPr>
          </a:p>
        </p:txBody>
      </p:sp>
      <p:sp>
        <p:nvSpPr>
          <p:cNvPr id="12" name="TextBox 11"/>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15</a:t>
            </a:r>
            <a:endParaRPr sz="1400" b="0">
              <a:solidFill>
                <a:srgbClr val="6E7672"/>
              </a:solidFill>
              <a:latin typeface="Times New Roman" panose="02020603050405020304"/>
            </a:endParaRPr>
          </a:p>
        </p:txBody>
      </p:sp>
      <p:pic>
        <p:nvPicPr>
          <p:cNvPr id="13" name="anim_122" descr="fig_pca_pathways.png"/>
          <p:cNvPicPr>
            <a:picLocks noChangeAspect="1"/>
          </p:cNvPicPr>
          <p:nvPr/>
        </p:nvPicPr>
        <p:blipFill>
          <a:blip r:embed="rId2"/>
          <a:stretch>
            <a:fillRect/>
          </a:stretch>
        </p:blipFill>
        <p:spPr>
          <a:xfrm>
            <a:off x="256032" y="983261"/>
            <a:ext cx="8046720" cy="5056069"/>
          </a:xfrm>
          <a:prstGeom prst="rect">
            <a:avLst/>
          </a:prstGeom>
        </p:spPr>
      </p:pic>
      <p:sp>
        <p:nvSpPr>
          <p:cNvPr id="14" name="TextBox 13"/>
          <p:cNvSpPr txBox="1"/>
          <p:nvPr/>
        </p:nvSpPr>
        <p:spPr>
          <a:xfrm>
            <a:off x="8412480" y="1115568"/>
            <a:ext cx="356616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HOW TO READ</a:t>
            </a:r>
            <a:endParaRPr sz="1350" b="1">
              <a:solidFill>
                <a:srgbClr val="2F5248"/>
              </a:solidFill>
              <a:latin typeface="Times New Roman" panose="02020603050405020304"/>
            </a:endParaRPr>
          </a:p>
        </p:txBody>
      </p:sp>
      <p:sp>
        <p:nvSpPr>
          <p:cNvPr id="15" name="anim_123"/>
          <p:cNvSpPr txBox="1"/>
          <p:nvPr/>
        </p:nvSpPr>
        <p:spPr>
          <a:xfrm>
            <a:off x="8412480" y="1426464"/>
            <a:ext cx="3017520" cy="26517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0">
                <a:solidFill>
                  <a:srgbClr val="252B30"/>
                </a:solidFill>
                <a:latin typeface="Times New Roman" panose="02020603050405020304"/>
              </a:rPr>
              <a:t>Each dot is one country's 11-feature profile, projected onto the first two principal components.</a:t>
            </a:r>
            <a:endParaRPr sz="1400" b="0">
              <a:solidFill>
                <a:srgbClr val="252B30"/>
              </a:solidFill>
              <a:latin typeface="Times New Roman" panose="02020603050405020304"/>
            </a:endParaRPr>
          </a:p>
          <a:p>
            <a:pPr algn="l">
              <a:spcBef>
                <a:spcPts val="800"/>
              </a:spcBef>
              <a:defRPr>
                <a:latin typeface="Times New Roman" panose="02020603050405020304"/>
              </a:defRPr>
            </a:pPr>
            <a:r>
              <a:rPr sz="1400" b="0">
                <a:solidFill>
                  <a:srgbClr val="252B30"/>
                </a:solidFill>
                <a:latin typeface="Times New Roman" panose="02020603050405020304"/>
              </a:rPr>
              <a:t>Colour shows the K-means label computed in the full 4-component space - not in this 2D view.</a:t>
            </a:r>
            <a:endParaRPr sz="1400" b="0">
              <a:solidFill>
                <a:srgbClr val="252B30"/>
              </a:solidFill>
              <a:latin typeface="Times New Roman" panose="02020603050405020304"/>
            </a:endParaRPr>
          </a:p>
          <a:p>
            <a:pPr algn="l">
              <a:spcBef>
                <a:spcPts val="800"/>
              </a:spcBef>
              <a:defRPr>
                <a:latin typeface="Times New Roman" panose="02020603050405020304"/>
              </a:defRPr>
            </a:pPr>
            <a:r>
              <a:rPr sz="1400" b="0">
                <a:solidFill>
                  <a:srgbClr val="252B30"/>
                </a:solidFill>
                <a:latin typeface="Times New Roman" panose="02020603050405020304"/>
              </a:rPr>
              <a:t>Dark rings mark the 10 low-confidence boundary countries.</a:t>
            </a:r>
            <a:endParaRPr sz="1400" b="0">
              <a:solidFill>
                <a:srgbClr val="252B30"/>
              </a:solidFill>
              <a:latin typeface="Times New Roman" panose="02020603050405020304"/>
            </a:endParaRPr>
          </a:p>
        </p:txBody>
      </p:sp>
      <p:sp>
        <p:nvSpPr>
          <p:cNvPr id="16" name="anim_124"/>
          <p:cNvSpPr/>
          <p:nvPr/>
        </p:nvSpPr>
        <p:spPr>
          <a:xfrm>
            <a:off x="8412480" y="4160520"/>
            <a:ext cx="3017520" cy="17830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7" name="anim_125"/>
          <p:cNvSpPr txBox="1"/>
          <p:nvPr/>
        </p:nvSpPr>
        <p:spPr>
          <a:xfrm>
            <a:off x="8558784" y="4279392"/>
            <a:ext cx="2743200" cy="1600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F5248"/>
                </a:solidFill>
                <a:latin typeface="Times New Roman" panose="02020603050405020304"/>
              </a:rPr>
              <a:t>PC1 + PC2 show 70.8% of variance</a:t>
            </a:r>
            <a:endParaRPr sz="1500" b="1">
              <a:solidFill>
                <a:srgbClr val="2F5248"/>
              </a:solidFill>
              <a:latin typeface="Times New Roman" panose="02020603050405020304"/>
            </a:endParaRPr>
          </a:p>
          <a:p>
            <a:pPr algn="l">
              <a:spcBef>
                <a:spcPts val="500"/>
              </a:spcBef>
              <a:defRPr>
                <a:latin typeface="Times New Roman" panose="02020603050405020304"/>
              </a:defRPr>
            </a:pPr>
            <a:r>
              <a:rPr sz="1350" b="0">
                <a:solidFill>
                  <a:srgbClr val="252B30"/>
                </a:solidFill>
                <a:latin typeface="Times New Roman" panose="02020603050405020304"/>
              </a:rPr>
              <a:t>Clustering used all four retained components (87.41%). This 2D projection is a display device - the visible separation understates the true separation.</a:t>
            </a:r>
            <a:endParaRPr sz="135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childTnLst>
                          </p:cTn>
                        </p:par>
                        <p:par>
                          <p:cTn id="8" fill="hold">
                            <p:stCondLst>
                              <p:cond delay="900"/>
                            </p:stCondLst>
                            <p:childTnLst>
                              <p:par>
                                <p:cTn id="9" presetID="10" presetClass="entr" presetSubtype="0" fill="hold" grpId="0" nodeType="afterEffect">
                                  <p:stCondLst>
                                    <p:cond delay="4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childTnLst>
                          </p:cTn>
                        </p:par>
                        <p:par>
                          <p:cTn id="12" fill="hold">
                            <p:stCondLst>
                              <p:cond delay="1800"/>
                            </p:stCondLst>
                            <p:childTnLst>
                              <p:par>
                                <p:cTn id="13" presetID="10" presetClass="entr" presetSubtype="0" fill="hold" grpId="0" nodeType="afterEffect">
                                  <p:stCondLst>
                                    <p:cond delay="4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50"/>
                                        <p:tgtEl>
                                          <p:spTgt spid="16"/>
                                        </p:tgtEl>
                                      </p:cBhvr>
                                    </p:animEffect>
                                  </p:childTnLst>
                                </p:cTn>
                              </p:par>
                              <p:par>
                                <p:cTn id="16" presetID="10" presetClass="entr" presetSubtype="0" fill="hold" grpId="0" nodeType="withEffect">
                                  <p:stCondLst>
                                    <p:cond delay="53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MODEL EVALUATION AND PERFORMANCE · Internal validity metrics, since no ground-truth labels exist</a:t>
            </a:r>
            <a:endParaRPr sz="1300" b="1">
              <a:solidFill>
                <a:srgbClr val="D3E3D6"/>
              </a:solidFill>
              <a:latin typeface="Georgia" panose="02040502050405020303"/>
            </a:endParaRPr>
          </a:p>
          <a:p>
            <a:pPr algn="l">
              <a:spcBef>
                <a:spcPts val="200"/>
              </a:spcBef>
              <a:defRPr>
                <a:latin typeface="Times New Roman" panose="02020603050405020304"/>
              </a:defRPr>
            </a:pPr>
            <a:r>
              <a:rPr sz="2500" b="1">
                <a:solidFill>
                  <a:srgbClr val="FFFFFF"/>
                </a:solidFill>
                <a:latin typeface="Georgia" panose="02040502050405020303"/>
              </a:rPr>
              <a:t>K = 2 wins on every internal validity metric</a:t>
            </a:r>
            <a:endParaRPr sz="25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2 / 3</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REN SIYU</a:t>
            </a:r>
            <a:endParaRPr sz="1300" b="1">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16</a:t>
            </a:r>
            <a:endParaRPr sz="1400" b="0">
              <a:solidFill>
                <a:srgbClr val="6E7672"/>
              </a:solidFill>
              <a:latin typeface="Times New Roman" panose="02020603050405020304"/>
            </a:endParaRPr>
          </a:p>
        </p:txBody>
      </p:sp>
      <p:graphicFrame>
        <p:nvGraphicFramePr>
          <p:cNvPr id="14" name="Table 13"/>
          <p:cNvGraphicFramePr>
            <a:graphicFrameLocks noGrp="1"/>
          </p:cNvGraphicFramePr>
          <p:nvPr/>
        </p:nvGraphicFramePr>
        <p:xfrm>
          <a:off x="457200" y="1188720"/>
          <a:ext cx="6446520" cy="4114800"/>
        </p:xfrm>
        <a:graphic>
          <a:graphicData uri="http://schemas.openxmlformats.org/drawingml/2006/table">
            <a:tbl>
              <a:tblPr firstRow="1" bandRow="1">
                <a:tableStyleId>{5C22544A-7EE6-4342-B048-85BDC9FD1C3A}</a:tableStyleId>
              </a:tblPr>
              <a:tblGrid>
                <a:gridCol w="640080"/>
                <a:gridCol w="1451610"/>
                <a:gridCol w="1451610"/>
                <a:gridCol w="1451610"/>
                <a:gridCol w="1451610"/>
              </a:tblGrid>
              <a:tr h="514350">
                <a:tc>
                  <a:txBody>
                    <a:bodyPr/>
                    <a:lstStyle/>
                    <a:p>
                      <a:pPr algn="ctr">
                        <a:defRPr>
                          <a:latin typeface="Times New Roman" panose="02020603050405020304"/>
                        </a:defRPr>
                      </a:pPr>
                      <a:r>
                        <a:rPr sz="1300" b="1">
                          <a:solidFill>
                            <a:srgbClr val="FFFFFF"/>
                          </a:solidFill>
                          <a:latin typeface="Times New Roman" panose="02020603050405020304"/>
                        </a:rPr>
                        <a:t>K</a:t>
                      </a:r>
                      <a:endParaRPr sz="1300" b="1">
                        <a:solidFill>
                          <a:srgbClr val="FFFFFF"/>
                        </a:solidFill>
                        <a:latin typeface="Times New Roman" panose="02020603050405020304"/>
                      </a:endParaRPr>
                    </a:p>
                  </a:txBody>
                  <a:tcPr>
                    <a:solidFill>
                      <a:srgbClr val="252B30"/>
                    </a:solidFill>
                  </a:tcPr>
                </a:tc>
                <a:tc>
                  <a:txBody>
                    <a:bodyPr/>
                    <a:lstStyle/>
                    <a:p>
                      <a:pPr algn="ctr">
                        <a:defRPr>
                          <a:latin typeface="Times New Roman" panose="02020603050405020304"/>
                        </a:defRPr>
                      </a:pPr>
                      <a:r>
                        <a:rPr sz="1300" b="1">
                          <a:solidFill>
                            <a:srgbClr val="FFFFFF"/>
                          </a:solidFill>
                          <a:latin typeface="Times New Roman" panose="02020603050405020304"/>
                        </a:rPr>
                        <a:t>Inertia (lower)</a:t>
                      </a:r>
                      <a:endParaRPr sz="1300" b="1">
                        <a:solidFill>
                          <a:srgbClr val="FFFFFF"/>
                        </a:solidFill>
                        <a:latin typeface="Times New Roman" panose="02020603050405020304"/>
                      </a:endParaRPr>
                    </a:p>
                  </a:txBody>
                  <a:tcPr>
                    <a:solidFill>
                      <a:srgbClr val="252B30"/>
                    </a:solidFill>
                  </a:tcPr>
                </a:tc>
                <a:tc>
                  <a:txBody>
                    <a:bodyPr/>
                    <a:lstStyle/>
                    <a:p>
                      <a:pPr algn="ctr">
                        <a:defRPr>
                          <a:latin typeface="Times New Roman" panose="02020603050405020304"/>
                        </a:defRPr>
                      </a:pPr>
                      <a:r>
                        <a:rPr sz="1300" b="1">
                          <a:solidFill>
                            <a:srgbClr val="FFFFFF"/>
                          </a:solidFill>
                          <a:latin typeface="Times New Roman" panose="02020603050405020304"/>
                        </a:rPr>
                        <a:t>Silhouette (higher)</a:t>
                      </a:r>
                      <a:endParaRPr sz="1300" b="1">
                        <a:solidFill>
                          <a:srgbClr val="FFFFFF"/>
                        </a:solidFill>
                        <a:latin typeface="Times New Roman" panose="02020603050405020304"/>
                      </a:endParaRPr>
                    </a:p>
                  </a:txBody>
                  <a:tcPr>
                    <a:solidFill>
                      <a:srgbClr val="252B30"/>
                    </a:solidFill>
                  </a:tcPr>
                </a:tc>
                <a:tc>
                  <a:txBody>
                    <a:bodyPr/>
                    <a:lstStyle/>
                    <a:p>
                      <a:pPr algn="ctr">
                        <a:defRPr>
                          <a:latin typeface="Times New Roman" panose="02020603050405020304"/>
                        </a:defRPr>
                      </a:pPr>
                      <a:r>
                        <a:rPr sz="1300" b="1">
                          <a:solidFill>
                            <a:srgbClr val="FFFFFF"/>
                          </a:solidFill>
                          <a:latin typeface="Times New Roman" panose="02020603050405020304"/>
                        </a:rPr>
                        <a:t>Davies-Bouldin (lower)</a:t>
                      </a:r>
                      <a:endParaRPr sz="1300" b="1">
                        <a:solidFill>
                          <a:srgbClr val="FFFFFF"/>
                        </a:solidFill>
                        <a:latin typeface="Times New Roman" panose="02020603050405020304"/>
                      </a:endParaRPr>
                    </a:p>
                  </a:txBody>
                  <a:tcPr>
                    <a:solidFill>
                      <a:srgbClr val="252B30"/>
                    </a:solidFill>
                  </a:tcPr>
                </a:tc>
                <a:tc>
                  <a:txBody>
                    <a:bodyPr/>
                    <a:lstStyle/>
                    <a:p>
                      <a:pPr algn="ctr">
                        <a:defRPr>
                          <a:latin typeface="Times New Roman" panose="02020603050405020304"/>
                        </a:defRPr>
                      </a:pPr>
                      <a:r>
                        <a:rPr sz="1300" b="1">
                          <a:solidFill>
                            <a:srgbClr val="FFFFFF"/>
                          </a:solidFill>
                          <a:latin typeface="Times New Roman" panose="02020603050405020304"/>
                        </a:rPr>
                        <a:t>Calinski-Harabasz (higher)</a:t>
                      </a:r>
                      <a:endParaRPr sz="1300" b="1">
                        <a:solidFill>
                          <a:srgbClr val="FFFFFF"/>
                        </a:solidFill>
                        <a:latin typeface="Times New Roman" panose="02020603050405020304"/>
                      </a:endParaRPr>
                    </a:p>
                  </a:txBody>
                  <a:tcPr>
                    <a:solidFill>
                      <a:srgbClr val="252B30"/>
                    </a:solidFill>
                  </a:tcPr>
                </a:tc>
              </a:tr>
              <a:tr h="514350">
                <a:tc>
                  <a:txBody>
                    <a:bodyPr/>
                    <a:lstStyle/>
                    <a:p>
                      <a:pPr algn="ctr">
                        <a:defRPr>
                          <a:latin typeface="Times New Roman" panose="02020603050405020304"/>
                        </a:defRPr>
                      </a:pPr>
                      <a:r>
                        <a:rPr sz="1300" b="1">
                          <a:solidFill>
                            <a:srgbClr val="FFFFFF"/>
                          </a:solidFill>
                          <a:latin typeface="Times New Roman" panose="02020603050405020304"/>
                        </a:rPr>
                        <a:t>2</a:t>
                      </a:r>
                      <a:endParaRPr sz="1300" b="1">
                        <a:solidFill>
                          <a:srgbClr val="FFFFFF"/>
                        </a:solidFill>
                        <a:latin typeface="Times New Roman" panose="02020603050405020304"/>
                      </a:endParaRPr>
                    </a:p>
                  </a:txBody>
                  <a:tcPr>
                    <a:solidFill>
                      <a:srgbClr val="2F5248"/>
                    </a:solidFill>
                  </a:tcPr>
                </a:tc>
                <a:tc>
                  <a:txBody>
                    <a:bodyPr/>
                    <a:lstStyle/>
                    <a:p>
                      <a:pPr algn="ctr">
                        <a:defRPr>
                          <a:latin typeface="Times New Roman" panose="02020603050405020304"/>
                        </a:defRPr>
                      </a:pPr>
                      <a:r>
                        <a:rPr sz="1300" b="1">
                          <a:solidFill>
                            <a:srgbClr val="FFFFFF"/>
                          </a:solidFill>
                          <a:latin typeface="Times New Roman" panose="02020603050405020304"/>
                        </a:rPr>
                        <a:t>1675.8</a:t>
                      </a:r>
                      <a:endParaRPr sz="1300" b="1">
                        <a:solidFill>
                          <a:srgbClr val="FFFFFF"/>
                        </a:solidFill>
                        <a:latin typeface="Times New Roman" panose="02020603050405020304"/>
                      </a:endParaRPr>
                    </a:p>
                  </a:txBody>
                  <a:tcPr>
                    <a:solidFill>
                      <a:srgbClr val="2F5248"/>
                    </a:solidFill>
                  </a:tcPr>
                </a:tc>
                <a:tc>
                  <a:txBody>
                    <a:bodyPr/>
                    <a:lstStyle/>
                    <a:p>
                      <a:pPr algn="ctr">
                        <a:defRPr>
                          <a:latin typeface="Times New Roman" panose="02020603050405020304"/>
                        </a:defRPr>
                      </a:pPr>
                      <a:r>
                        <a:rPr sz="1300" b="1">
                          <a:solidFill>
                            <a:srgbClr val="FFFFFF"/>
                          </a:solidFill>
                          <a:latin typeface="Times New Roman" panose="02020603050405020304"/>
                        </a:rPr>
                        <a:t>0.486</a:t>
                      </a:r>
                      <a:endParaRPr sz="1300" b="1">
                        <a:solidFill>
                          <a:srgbClr val="FFFFFF"/>
                        </a:solidFill>
                        <a:latin typeface="Times New Roman" panose="02020603050405020304"/>
                      </a:endParaRPr>
                    </a:p>
                  </a:txBody>
                  <a:tcPr>
                    <a:solidFill>
                      <a:srgbClr val="2F5248"/>
                    </a:solidFill>
                  </a:tcPr>
                </a:tc>
                <a:tc>
                  <a:txBody>
                    <a:bodyPr/>
                    <a:lstStyle/>
                    <a:p>
                      <a:pPr algn="ctr">
                        <a:defRPr>
                          <a:latin typeface="Times New Roman" panose="02020603050405020304"/>
                        </a:defRPr>
                      </a:pPr>
                      <a:r>
                        <a:rPr sz="1300" b="1">
                          <a:solidFill>
                            <a:srgbClr val="FFFFFF"/>
                          </a:solidFill>
                          <a:latin typeface="Times New Roman" panose="02020603050405020304"/>
                        </a:rPr>
                        <a:t>0.865</a:t>
                      </a:r>
                      <a:endParaRPr sz="1300" b="1">
                        <a:solidFill>
                          <a:srgbClr val="FFFFFF"/>
                        </a:solidFill>
                        <a:latin typeface="Times New Roman" panose="02020603050405020304"/>
                      </a:endParaRPr>
                    </a:p>
                  </a:txBody>
                  <a:tcPr>
                    <a:solidFill>
                      <a:srgbClr val="2F5248"/>
                    </a:solidFill>
                  </a:tcPr>
                </a:tc>
                <a:tc>
                  <a:txBody>
                    <a:bodyPr/>
                    <a:lstStyle/>
                    <a:p>
                      <a:pPr algn="ctr">
                        <a:defRPr>
                          <a:latin typeface="Times New Roman" panose="02020603050405020304"/>
                        </a:defRPr>
                      </a:pPr>
                      <a:r>
                        <a:rPr sz="1300" b="1">
                          <a:solidFill>
                            <a:srgbClr val="FFFFFF"/>
                          </a:solidFill>
                          <a:latin typeface="Times New Roman" panose="02020603050405020304"/>
                        </a:rPr>
                        <a:t>98.3</a:t>
                      </a:r>
                      <a:endParaRPr sz="1300" b="1">
                        <a:solidFill>
                          <a:srgbClr val="FFFFFF"/>
                        </a:solidFill>
                        <a:latin typeface="Times New Roman" panose="02020603050405020304"/>
                      </a:endParaRPr>
                    </a:p>
                  </a:txBody>
                  <a:tcPr>
                    <a:solidFill>
                      <a:srgbClr val="2F5248"/>
                    </a:solidFill>
                  </a:tcPr>
                </a:tc>
              </a:tr>
              <a:tr h="514350">
                <a:tc>
                  <a:txBody>
                    <a:bodyPr/>
                    <a:lstStyle/>
                    <a:p>
                      <a:pPr algn="ctr">
                        <a:defRPr>
                          <a:latin typeface="Times New Roman" panose="02020603050405020304"/>
                        </a:defRPr>
                      </a:pPr>
                      <a:r>
                        <a:rPr sz="1300" b="0">
                          <a:solidFill>
                            <a:srgbClr val="252B30"/>
                          </a:solidFill>
                          <a:latin typeface="Times New Roman" panose="02020603050405020304"/>
                        </a:rPr>
                        <a:t>3</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1296.4</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0.361</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0.969</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91.0</a:t>
                      </a:r>
                      <a:endParaRPr sz="1300" b="0">
                        <a:solidFill>
                          <a:srgbClr val="252B30"/>
                        </a:solidFill>
                        <a:latin typeface="Times New Roman" panose="02020603050405020304"/>
                      </a:endParaRPr>
                    </a:p>
                  </a:txBody>
                  <a:tcPr>
                    <a:solidFill>
                      <a:srgbClr val="FAFBFA"/>
                    </a:solidFill>
                  </a:tcPr>
                </a:tc>
              </a:tr>
              <a:tr h="514350">
                <a:tc>
                  <a:txBody>
                    <a:bodyPr/>
                    <a:lstStyle/>
                    <a:p>
                      <a:pPr algn="ctr">
                        <a:defRPr>
                          <a:latin typeface="Times New Roman" panose="02020603050405020304"/>
                        </a:defRPr>
                      </a:pPr>
                      <a:r>
                        <a:rPr sz="1300" b="0">
                          <a:solidFill>
                            <a:srgbClr val="252B30"/>
                          </a:solidFill>
                          <a:latin typeface="Times New Roman" panose="02020603050405020304"/>
                        </a:rPr>
                        <a:t>4</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1064.7</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0.271</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1.168</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87.2</a:t>
                      </a:r>
                      <a:endParaRPr sz="1300" b="0">
                        <a:solidFill>
                          <a:srgbClr val="252B30"/>
                        </a:solidFill>
                        <a:latin typeface="Times New Roman" panose="02020603050405020304"/>
                      </a:endParaRPr>
                    </a:p>
                  </a:txBody>
                  <a:tcPr>
                    <a:solidFill>
                      <a:srgbClr val="FFFFFF"/>
                    </a:solidFill>
                  </a:tcPr>
                </a:tc>
              </a:tr>
              <a:tr h="514350">
                <a:tc>
                  <a:txBody>
                    <a:bodyPr/>
                    <a:lstStyle/>
                    <a:p>
                      <a:pPr algn="ctr">
                        <a:defRPr>
                          <a:latin typeface="Times New Roman" panose="02020603050405020304"/>
                        </a:defRPr>
                      </a:pPr>
                      <a:r>
                        <a:rPr sz="1300" b="0">
                          <a:solidFill>
                            <a:srgbClr val="252B30"/>
                          </a:solidFill>
                          <a:latin typeface="Times New Roman" panose="02020603050405020304"/>
                        </a:rPr>
                        <a:t>5</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915.9</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0.278</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1.086</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83.2</a:t>
                      </a:r>
                      <a:endParaRPr sz="1300" b="0">
                        <a:solidFill>
                          <a:srgbClr val="252B30"/>
                        </a:solidFill>
                        <a:latin typeface="Times New Roman" panose="02020603050405020304"/>
                      </a:endParaRPr>
                    </a:p>
                  </a:txBody>
                  <a:tcPr>
                    <a:solidFill>
                      <a:srgbClr val="FAFBFA"/>
                    </a:solidFill>
                  </a:tcPr>
                </a:tc>
              </a:tr>
              <a:tr h="514350">
                <a:tc>
                  <a:txBody>
                    <a:bodyPr/>
                    <a:lstStyle/>
                    <a:p>
                      <a:pPr algn="ctr">
                        <a:defRPr>
                          <a:latin typeface="Times New Roman" panose="02020603050405020304"/>
                        </a:defRPr>
                      </a:pPr>
                      <a:r>
                        <a:rPr sz="1300" b="0">
                          <a:solidFill>
                            <a:srgbClr val="252B30"/>
                          </a:solidFill>
                          <a:latin typeface="Times New Roman" panose="02020603050405020304"/>
                        </a:rPr>
                        <a:t>6</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782.4</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0.283</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1.004</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83.9</a:t>
                      </a:r>
                      <a:endParaRPr sz="1300" b="0">
                        <a:solidFill>
                          <a:srgbClr val="252B30"/>
                        </a:solidFill>
                        <a:latin typeface="Times New Roman" panose="02020603050405020304"/>
                      </a:endParaRPr>
                    </a:p>
                  </a:txBody>
                  <a:tcPr>
                    <a:solidFill>
                      <a:srgbClr val="FFFFFF"/>
                    </a:solidFill>
                  </a:tcPr>
                </a:tc>
              </a:tr>
              <a:tr h="514350">
                <a:tc>
                  <a:txBody>
                    <a:bodyPr/>
                    <a:lstStyle/>
                    <a:p>
                      <a:pPr algn="ctr">
                        <a:defRPr>
                          <a:latin typeface="Times New Roman" panose="02020603050405020304"/>
                        </a:defRPr>
                      </a:pPr>
                      <a:r>
                        <a:rPr sz="1300" b="0">
                          <a:solidFill>
                            <a:srgbClr val="252B30"/>
                          </a:solidFill>
                          <a:latin typeface="Times New Roman" panose="02020603050405020304"/>
                        </a:rPr>
                        <a:t>7</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700.6</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0.265</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1.071</a:t>
                      </a:r>
                      <a:endParaRPr sz="1300" b="0">
                        <a:solidFill>
                          <a:srgbClr val="252B30"/>
                        </a:solidFill>
                        <a:latin typeface="Times New Roman" panose="02020603050405020304"/>
                      </a:endParaRPr>
                    </a:p>
                  </a:txBody>
                  <a:tcPr>
                    <a:solidFill>
                      <a:srgbClr val="FAFBFA"/>
                    </a:solidFill>
                  </a:tcPr>
                </a:tc>
                <a:tc>
                  <a:txBody>
                    <a:bodyPr/>
                    <a:lstStyle/>
                    <a:p>
                      <a:pPr algn="ctr">
                        <a:defRPr>
                          <a:latin typeface="Times New Roman" panose="02020603050405020304"/>
                        </a:defRPr>
                      </a:pPr>
                      <a:r>
                        <a:rPr sz="1300" b="0">
                          <a:solidFill>
                            <a:srgbClr val="252B30"/>
                          </a:solidFill>
                          <a:latin typeface="Times New Roman" panose="02020603050405020304"/>
                        </a:rPr>
                        <a:t>81.3</a:t>
                      </a:r>
                      <a:endParaRPr sz="1300" b="0">
                        <a:solidFill>
                          <a:srgbClr val="252B30"/>
                        </a:solidFill>
                        <a:latin typeface="Times New Roman" panose="02020603050405020304"/>
                      </a:endParaRPr>
                    </a:p>
                  </a:txBody>
                  <a:tcPr>
                    <a:solidFill>
                      <a:srgbClr val="FAFBFA"/>
                    </a:solidFill>
                  </a:tcPr>
                </a:tc>
              </a:tr>
              <a:tr h="514350">
                <a:tc>
                  <a:txBody>
                    <a:bodyPr/>
                    <a:lstStyle/>
                    <a:p>
                      <a:pPr algn="ctr">
                        <a:defRPr>
                          <a:latin typeface="Times New Roman" panose="02020603050405020304"/>
                        </a:defRPr>
                      </a:pPr>
                      <a:r>
                        <a:rPr sz="1300" b="0">
                          <a:solidFill>
                            <a:srgbClr val="252B30"/>
                          </a:solidFill>
                          <a:latin typeface="Times New Roman" panose="02020603050405020304"/>
                        </a:rPr>
                        <a:t>8</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647.4</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0.263</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1.045</a:t>
                      </a:r>
                      <a:endParaRPr sz="1300" b="0">
                        <a:solidFill>
                          <a:srgbClr val="252B30"/>
                        </a:solidFill>
                        <a:latin typeface="Times New Roman" panose="02020603050405020304"/>
                      </a:endParaRPr>
                    </a:p>
                  </a:txBody>
                  <a:tcPr>
                    <a:solidFill>
                      <a:srgbClr val="FFFFFF"/>
                    </a:solidFill>
                  </a:tcPr>
                </a:tc>
                <a:tc>
                  <a:txBody>
                    <a:bodyPr/>
                    <a:lstStyle/>
                    <a:p>
                      <a:pPr algn="ctr">
                        <a:defRPr>
                          <a:latin typeface="Times New Roman" panose="02020603050405020304"/>
                        </a:defRPr>
                      </a:pPr>
                      <a:r>
                        <a:rPr sz="1300" b="0">
                          <a:solidFill>
                            <a:srgbClr val="252B30"/>
                          </a:solidFill>
                          <a:latin typeface="Times New Roman" panose="02020603050405020304"/>
                        </a:rPr>
                        <a:t>77.2</a:t>
                      </a:r>
                      <a:endParaRPr sz="1300" b="0">
                        <a:solidFill>
                          <a:srgbClr val="252B30"/>
                        </a:solidFill>
                        <a:latin typeface="Times New Roman" panose="02020603050405020304"/>
                      </a:endParaRPr>
                    </a:p>
                  </a:txBody>
                  <a:tcPr>
                    <a:solidFill>
                      <a:srgbClr val="FFFFFF"/>
                    </a:solidFill>
                  </a:tcPr>
                </a:tc>
              </a:tr>
            </a:tbl>
          </a:graphicData>
        </a:graphic>
      </p:graphicFrame>
      <p:sp>
        <p:nvSpPr>
          <p:cNvPr id="15" name="TextBox 14"/>
          <p:cNvSpPr txBox="1"/>
          <p:nvPr/>
        </p:nvSpPr>
        <p:spPr>
          <a:xfrm>
            <a:off x="457200" y="5394960"/>
            <a:ext cx="644652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Highlighted row: K = 2 wins Silhouette, Davies-Bouldin and Calinski-Harabasz simultaneously.</a:t>
            </a:r>
            <a:endParaRPr sz="1350" b="1">
              <a:solidFill>
                <a:srgbClr val="2F5248"/>
              </a:solidFill>
              <a:latin typeface="Times New Roman" panose="02020603050405020304"/>
            </a:endParaRPr>
          </a:p>
        </p:txBody>
      </p:sp>
      <p:sp>
        <p:nvSpPr>
          <p:cNvPr id="16" name="anim_126"/>
          <p:cNvSpPr/>
          <p:nvPr/>
        </p:nvSpPr>
        <p:spPr>
          <a:xfrm>
            <a:off x="7178040" y="1188720"/>
            <a:ext cx="4206240" cy="8686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7" name="anim_127"/>
          <p:cNvSpPr txBox="1"/>
          <p:nvPr/>
        </p:nvSpPr>
        <p:spPr>
          <a:xfrm>
            <a:off x="7342631" y="1261872"/>
            <a:ext cx="393192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SILHOUETTE</a:t>
            </a:r>
            <a:endParaRPr sz="1350" b="1">
              <a:solidFill>
                <a:srgbClr val="4F6E96"/>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Rewards clusters that are internally compact and well separated from neighbours.</a:t>
            </a:r>
            <a:r>
              <a:rPr sz="1300" b="0">
                <a:solidFill>
                  <a:srgbClr val="6E7672"/>
                </a:solidFill>
                <a:latin typeface="Times New Roman"/>
              </a:rPr>
              <a:t> [5]</a:t>
            </a:r>
            <a:endParaRPr sz="1300" b="0">
              <a:solidFill>
                <a:srgbClr val="252B30"/>
              </a:solidFill>
              <a:latin typeface="Times New Roman" panose="02020603050405020304"/>
            </a:endParaRPr>
          </a:p>
        </p:txBody>
      </p:sp>
      <p:sp>
        <p:nvSpPr>
          <p:cNvPr id="18" name="anim_128"/>
          <p:cNvSpPr/>
          <p:nvPr/>
        </p:nvSpPr>
        <p:spPr>
          <a:xfrm>
            <a:off x="7178040" y="2176272"/>
            <a:ext cx="4206240" cy="8686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9" name="anim_129"/>
          <p:cNvSpPr txBox="1"/>
          <p:nvPr/>
        </p:nvSpPr>
        <p:spPr>
          <a:xfrm>
            <a:off x="7342631" y="2249424"/>
            <a:ext cx="393192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DAVIES-BOULDIN</a:t>
            </a:r>
            <a:endParaRPr sz="1350" b="1">
              <a:solidFill>
                <a:srgbClr val="4F6E96"/>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Penalises overlap between cluster pairs; lower means cleaner separation.</a:t>
            </a:r>
            <a:endParaRPr sz="1300" b="0">
              <a:solidFill>
                <a:srgbClr val="252B30"/>
              </a:solidFill>
              <a:latin typeface="Times New Roman" panose="02020603050405020304"/>
            </a:endParaRPr>
          </a:p>
        </p:txBody>
      </p:sp>
      <p:sp>
        <p:nvSpPr>
          <p:cNvPr id="20" name="anim_130"/>
          <p:cNvSpPr/>
          <p:nvPr/>
        </p:nvSpPr>
        <p:spPr>
          <a:xfrm>
            <a:off x="7178040" y="3163824"/>
            <a:ext cx="4206240" cy="8686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1" name="anim_131"/>
          <p:cNvSpPr txBox="1"/>
          <p:nvPr/>
        </p:nvSpPr>
        <p:spPr>
          <a:xfrm>
            <a:off x="7342631" y="3236976"/>
            <a:ext cx="3931920" cy="7498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CALINSKI-HARABASZ</a:t>
            </a:r>
            <a:endParaRPr sz="1350" b="1">
              <a:solidFill>
                <a:srgbClr val="4F6E96"/>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Compares between-cluster with within-cluster dispersion; higher is better.</a:t>
            </a:r>
            <a:endParaRPr sz="1300" b="0">
              <a:solidFill>
                <a:srgbClr val="252B30"/>
              </a:solidFill>
              <a:latin typeface="Times New Roman" panose="02020603050405020304"/>
            </a:endParaRPr>
          </a:p>
        </p:txBody>
      </p:sp>
      <p:sp>
        <p:nvSpPr>
          <p:cNvPr id="22" name="anim_132"/>
          <p:cNvSpPr/>
          <p:nvPr/>
        </p:nvSpPr>
        <p:spPr>
          <a:xfrm>
            <a:off x="7178040" y="4206240"/>
            <a:ext cx="4206240" cy="1463040"/>
          </a:xfrm>
          <a:prstGeom prst="roundRect">
            <a:avLst>
              <a:gd name="adj" fmla="val 5500"/>
            </a:avLst>
          </a:prstGeom>
          <a:solidFill>
            <a:srgbClr val="FFFFFF">
              <a:alpha val="74000"/>
            </a:srgbClr>
          </a:solidFill>
          <a:ln w="9525">
            <a:solidFill>
              <a:srgbClr val="2F5248"/>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3" name="anim_133"/>
          <p:cNvSpPr txBox="1"/>
          <p:nvPr/>
        </p:nvSpPr>
        <p:spPr>
          <a:xfrm>
            <a:off x="7342631" y="4334256"/>
            <a:ext cx="3931920" cy="12801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NO SUPERVISED ACCURACY</a:t>
            </a:r>
            <a:endParaRPr sz="1350" b="1">
              <a:solidFill>
                <a:srgbClr val="2F5248"/>
              </a:solidFill>
              <a:latin typeface="Times New Roman" panose="02020603050405020304"/>
            </a:endParaRPr>
          </a:p>
          <a:p>
            <a:pPr algn="l">
              <a:spcBef>
                <a:spcPts val="400"/>
              </a:spcBef>
              <a:defRPr>
                <a:latin typeface="Times New Roman" panose="02020603050405020304"/>
              </a:defRPr>
            </a:pPr>
            <a:r>
              <a:rPr sz="1300" b="0">
                <a:solidFill>
                  <a:srgbClr val="252B30"/>
                </a:solidFill>
                <a:latin typeface="Times New Roman" panose="02020603050405020304"/>
              </a:rPr>
              <a:t>Accuracy, precision, recall, F1, ROC and confusion matrices require ground-truth labels. Pathways have none - evaluation therefore uses internal validity plus stability.</a:t>
            </a:r>
            <a:endParaRPr sz="130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50"/>
                                        <p:tgtEl>
                                          <p:spTgt spid="16"/>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50"/>
                                        <p:tgtEl>
                                          <p:spTgt spid="17"/>
                                        </p:tgtEl>
                                      </p:cBhvr>
                                    </p:animEffect>
                                  </p:childTnLst>
                                </p:cTn>
                              </p:par>
                            </p:childTnLst>
                          </p:cTn>
                        </p:par>
                        <p:par>
                          <p:cTn id="11" fill="hold">
                            <p:stCondLst>
                              <p:cond delay="900"/>
                            </p:stCondLst>
                            <p:childTnLst>
                              <p:par>
                                <p:cTn id="12" presetID="10" presetClass="entr" presetSubtype="0" fill="hold" grpId="0" nodeType="afterEffect">
                                  <p:stCondLst>
                                    <p:cond delay="40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50"/>
                                        <p:tgtEl>
                                          <p:spTgt spid="18"/>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50"/>
                                        <p:tgtEl>
                                          <p:spTgt spid="19"/>
                                        </p:tgtEl>
                                      </p:cBhvr>
                                    </p:animEffect>
                                  </p:childTnLst>
                                </p:cTn>
                              </p:par>
                            </p:childTnLst>
                          </p:cTn>
                        </p:par>
                        <p:par>
                          <p:cTn id="18" fill="hold">
                            <p:stCondLst>
                              <p:cond delay="1800"/>
                            </p:stCondLst>
                            <p:childTnLst>
                              <p:par>
                                <p:cTn id="19" presetID="10" presetClass="entr" presetSubtype="0" fill="hold" grpId="0" nodeType="afterEffect">
                                  <p:stCondLst>
                                    <p:cond delay="40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450"/>
                                        <p:tgtEl>
                                          <p:spTgt spid="20"/>
                                        </p:tgtEl>
                                      </p:cBhvr>
                                    </p:animEffect>
                                  </p:childTnLst>
                                </p:cTn>
                              </p:par>
                              <p:par>
                                <p:cTn id="22" presetID="10" presetClass="entr" presetSubtype="0" fill="hold" grpId="0" nodeType="withEffect">
                                  <p:stCondLst>
                                    <p:cond delay="53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450"/>
                                        <p:tgtEl>
                                          <p:spTgt spid="21"/>
                                        </p:tgtEl>
                                      </p:cBhvr>
                                    </p:animEffect>
                                  </p:childTnLst>
                                </p:cTn>
                              </p:par>
                            </p:childTnLst>
                          </p:cTn>
                        </p:par>
                        <p:par>
                          <p:cTn id="25" fill="hold">
                            <p:stCondLst>
                              <p:cond delay="2700"/>
                            </p:stCondLst>
                            <p:childTnLst>
                              <p:par>
                                <p:cTn id="26" presetID="10" presetClass="entr" presetSubtype="0" fill="hold" grpId="0" nodeType="afterEffect">
                                  <p:stCondLst>
                                    <p:cond delay="40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450"/>
                                        <p:tgtEl>
                                          <p:spTgt spid="22"/>
                                        </p:tgtEl>
                                      </p:cBhvr>
                                    </p:animEffect>
                                  </p:childTnLst>
                                </p:cTn>
                              </p:par>
                              <p:par>
                                <p:cTn id="29" presetID="10" presetClass="entr" presetSubtype="0" fill="hold" grpId="0" nodeType="withEffect">
                                  <p:stCondLst>
                                    <p:cond delay="53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MODEL EVALUATION AND PERFORMANCE · Resampling stability and membership confidence</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The split survives resampling; ten stay uncertain</a:t>
            </a:r>
            <a:endParaRPr sz="23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3 / 3</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REN SIYU</a:t>
            </a:r>
            <a:endParaRPr sz="1300" b="1">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17</a:t>
            </a:r>
            <a:endParaRPr sz="1400" b="0">
              <a:solidFill>
                <a:srgbClr val="6E7672"/>
              </a:solidFill>
              <a:latin typeface="Times New Roman" panose="02020603050405020304"/>
            </a:endParaRPr>
          </a:p>
        </p:txBody>
      </p:sp>
      <p:pic>
        <p:nvPicPr>
          <p:cNvPr id="14" name="anim_134" descr="fig_stability_gmm.png"/>
          <p:cNvPicPr>
            <a:picLocks noChangeAspect="1"/>
          </p:cNvPicPr>
          <p:nvPr/>
        </p:nvPicPr>
        <p:blipFill>
          <a:blip r:embed="rId2"/>
          <a:stretch>
            <a:fillRect/>
          </a:stretch>
        </p:blipFill>
        <p:spPr>
          <a:xfrm>
            <a:off x="256032" y="1154973"/>
            <a:ext cx="8183879" cy="3158165"/>
          </a:xfrm>
          <a:prstGeom prst="rect">
            <a:avLst/>
          </a:prstGeom>
        </p:spPr>
      </p:pic>
      <p:sp>
        <p:nvSpPr>
          <p:cNvPr id="15" name="anim_135"/>
          <p:cNvSpPr txBox="1"/>
          <p:nvPr/>
        </p:nvSpPr>
        <p:spPr>
          <a:xfrm>
            <a:off x="457200" y="4626864"/>
            <a:ext cx="8046720" cy="32918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Left: 100 refits on 80% country subsamples - median Adjusted Rand Index 0.965 (minimum 0.778). Right: GMM soft membership on the same feature space.</a:t>
            </a:r>
            <a:r>
              <a:rPr sz="1350" b="0">
                <a:solidFill>
                  <a:srgbClr val="6E7672"/>
                </a:solidFill>
                <a:latin typeface="Times New Roman"/>
              </a:rPr>
              <a:t> [6]</a:t>
            </a:r>
            <a:endParaRPr sz="1350" b="0">
              <a:solidFill>
                <a:srgbClr val="6E7672"/>
              </a:solidFill>
              <a:latin typeface="Times New Roman" panose="02020603050405020304"/>
            </a:endParaRPr>
          </a:p>
        </p:txBody>
      </p:sp>
      <p:sp>
        <p:nvSpPr>
          <p:cNvPr id="16" name="TextBox 15"/>
          <p:cNvSpPr txBox="1"/>
          <p:nvPr/>
        </p:nvSpPr>
        <p:spPr>
          <a:xfrm>
            <a:off x="8595360" y="1115568"/>
            <a:ext cx="32004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BOUNDARY COUNTRIES</a:t>
            </a:r>
            <a:endParaRPr sz="1350" b="1">
              <a:solidFill>
                <a:srgbClr val="2F5248"/>
              </a:solidFill>
              <a:latin typeface="Times New Roman" panose="02020603050405020304"/>
            </a:endParaRPr>
          </a:p>
        </p:txBody>
      </p:sp>
      <p:sp>
        <p:nvSpPr>
          <p:cNvPr id="17" name="anim_136"/>
          <p:cNvSpPr/>
          <p:nvPr/>
        </p:nvSpPr>
        <p:spPr>
          <a:xfrm>
            <a:off x="8595360" y="1426464"/>
            <a:ext cx="2788920" cy="283464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8" name="anim_137"/>
          <p:cNvSpPr txBox="1"/>
          <p:nvPr/>
        </p:nvSpPr>
        <p:spPr>
          <a:xfrm>
            <a:off x="8759952" y="1536192"/>
            <a:ext cx="2468880" cy="26517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GMM confidence below 0.70:</a:t>
            </a:r>
            <a:endParaRPr sz="1350" b="1">
              <a:solidFill>
                <a:srgbClr val="BE7F4E"/>
              </a:solidFill>
              <a:latin typeface="Times New Roman" panose="02020603050405020304"/>
            </a:endParaRPr>
          </a:p>
          <a:p>
            <a:pPr algn="l">
              <a:spcBef>
                <a:spcPts val="400"/>
              </a:spcBef>
              <a:defRPr>
                <a:latin typeface="Times New Roman" panose="02020603050405020304"/>
              </a:defRPr>
            </a:pPr>
            <a:r>
              <a:rPr sz="1300" b="0">
                <a:solidFill>
                  <a:srgbClr val="252B30"/>
                </a:solidFill>
                <a:latin typeface="Times New Roman" panose="02020603050405020304"/>
              </a:rPr>
              <a:t>South Korea 0.51 · Guatemala 0.53 · Trinidad &amp; Tobago 0.56 · Sri Lanka 0.61 · Estonia 0.63 · Venezuela 0.65 · Oman 0.66 · Jordan 0.66 · Madagascar 0.67 · Azerbaijan 0.68</a:t>
            </a:r>
            <a:endParaRPr sz="1300" b="0">
              <a:solidFill>
                <a:srgbClr val="252B30"/>
              </a:solidFill>
              <a:latin typeface="Times New Roman" panose="02020603050405020304"/>
            </a:endParaRPr>
          </a:p>
          <a:p>
            <a:pPr algn="l">
              <a:spcBef>
                <a:spcPts val="600"/>
              </a:spcBef>
              <a:defRPr>
                <a:latin typeface="Times New Roman" panose="02020603050405020304"/>
              </a:defRPr>
            </a:pPr>
            <a:r>
              <a:rPr sz="1300" b="1">
                <a:solidFill>
                  <a:srgbClr val="2F5248"/>
                </a:solidFill>
                <a:latin typeface="Times New Roman" panose="02020603050405020304"/>
              </a:rPr>
              <a:t>Not a third pathway - membership to be confirmed with more data.</a:t>
            </a:r>
            <a:endParaRPr sz="1300" b="1">
              <a:solidFill>
                <a:srgbClr val="2F5248"/>
              </a:solidFill>
              <a:latin typeface="Times New Roman" panose="02020603050405020304"/>
            </a:endParaRPr>
          </a:p>
        </p:txBody>
      </p:sp>
      <p:sp>
        <p:nvSpPr>
          <p:cNvPr id="19" name="anim_138"/>
          <p:cNvSpPr/>
          <p:nvPr/>
        </p:nvSpPr>
        <p:spPr>
          <a:xfrm>
            <a:off x="457200" y="5138928"/>
            <a:ext cx="10927080" cy="86868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0" name="anim_139"/>
          <p:cNvSpPr txBox="1"/>
          <p:nvPr/>
        </p:nvSpPr>
        <p:spPr>
          <a:xfrm>
            <a:off x="658368" y="5230368"/>
            <a:ext cx="10515600" cy="73152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2F5248"/>
                </a:solidFill>
                <a:latin typeface="Times New Roman" panose="02020603050405020304"/>
              </a:rPr>
              <a:t>Verdict: </a:t>
            </a:r>
            <a:r>
              <a:rPr sz="1450" b="0">
                <a:solidFill>
                  <a:srgbClr val="252B30"/>
                </a:solidFill>
                <a:latin typeface="Times New Roman" panose="02020603050405020304"/>
              </a:rPr>
              <a:t>the two-pathway macro structure is stable (ARI close to 1 on most refits), and the only genuine uncertainty is a small, known boundary set - exactly the countries a monitoring programme should track more closely.</a:t>
            </a:r>
            <a:endParaRPr sz="145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par>
                          <p:cTn id="11" fill="hold">
                            <p:stCondLst>
                              <p:cond delay="900"/>
                            </p:stCondLst>
                            <p:childTnLst>
                              <p:par>
                                <p:cTn id="12" presetID="10" presetClass="entr" presetSubtype="0" fill="hold" grpId="0" nodeType="afterEffect">
                                  <p:stCondLst>
                                    <p:cond delay="40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50"/>
                                        <p:tgtEl>
                                          <p:spTgt spid="17"/>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50"/>
                                        <p:tgtEl>
                                          <p:spTgt spid="18"/>
                                        </p:tgtEl>
                                      </p:cBhvr>
                                    </p:animEffect>
                                  </p:childTnLst>
                                </p:cTn>
                              </p:par>
                            </p:childTnLst>
                          </p:cTn>
                        </p:par>
                        <p:par>
                          <p:cTn id="18" fill="hold">
                            <p:stCondLst>
                              <p:cond delay="1800"/>
                            </p:stCondLst>
                            <p:childTnLst>
                              <p:par>
                                <p:cTn id="19" presetID="10" presetClass="entr" presetSubtype="0" fill="hold" grpId="0" nodeType="afterEffect">
                                  <p:stCondLst>
                                    <p:cond delay="4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50"/>
                                        <p:tgtEl>
                                          <p:spTgt spid="19"/>
                                        </p:tgtEl>
                                      </p:cBhvr>
                                    </p:animEffect>
                                  </p:childTnLst>
                                </p:cTn>
                              </p:par>
                              <p:par>
                                <p:cTn id="22" presetID="10" presetClass="entr" presetSubtype="0" fill="hold" grpId="0" nodeType="withEffect">
                                  <p:stCondLst>
                                    <p:cond delay="53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VISUAL STORYTELLING · What kind of emission patterns did the model find?</a:t>
            </a:r>
            <a:endParaRPr sz="1300" b="1">
              <a:solidFill>
                <a:srgbClr val="D3E3D6"/>
              </a:solidFill>
              <a:latin typeface="Georgia" panose="02040502050405020303"/>
            </a:endParaRPr>
          </a:p>
          <a:p>
            <a:pPr algn="l">
              <a:spcBef>
                <a:spcPts val="200"/>
              </a:spcBef>
              <a:defRPr>
                <a:latin typeface="Times New Roman" panose="02020603050405020304"/>
              </a:defRPr>
            </a:pPr>
            <a:r>
              <a:rPr sz="2100" b="1">
                <a:solidFill>
                  <a:srgbClr val="FFFFFF"/>
                </a:solidFill>
                <a:latin typeface="Georgia" panose="02040502050405020303"/>
              </a:rPr>
              <a:t>One rising total conceals two different transition pressures</a:t>
            </a:r>
            <a:endParaRPr sz="21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1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REN SIYU</a:t>
            </a:r>
            <a:endParaRPr sz="1300" b="1">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18</a:t>
            </a:r>
            <a:endParaRPr sz="1400" b="0">
              <a:solidFill>
                <a:srgbClr val="6E7672"/>
              </a:solidFill>
              <a:latin typeface="Times New Roman" panose="02020603050405020304"/>
            </a:endParaRPr>
          </a:p>
        </p:txBody>
      </p:sp>
      <p:pic>
        <p:nvPicPr>
          <p:cNvPr id="14" name="anim_140" descr="fig_pathway_profiles.png"/>
          <p:cNvPicPr>
            <a:picLocks noChangeAspect="1"/>
          </p:cNvPicPr>
          <p:nvPr/>
        </p:nvPicPr>
        <p:blipFill>
          <a:blip r:embed="rId2"/>
          <a:stretch>
            <a:fillRect/>
          </a:stretch>
        </p:blipFill>
        <p:spPr>
          <a:xfrm>
            <a:off x="256032" y="941041"/>
            <a:ext cx="11704320" cy="2744781"/>
          </a:xfrm>
          <a:prstGeom prst="rect">
            <a:avLst/>
          </a:prstGeom>
        </p:spPr>
      </p:pic>
      <p:sp>
        <p:nvSpPr>
          <p:cNvPr id="15" name="anim_141"/>
          <p:cNvSpPr txBox="1"/>
          <p:nvPr/>
        </p:nvSpPr>
        <p:spPr>
          <a:xfrm>
            <a:off x="475488" y="3749039"/>
            <a:ext cx="11247120" cy="32918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6E7672"/>
                </a:solidFill>
                <a:latin typeface="Times New Roman" panose="02020603050405020304"/>
              </a:rPr>
              <a:t>Shares use 2017-2021 emissions of the 193 modelled countries; the 10 boundary countries stay inside their pathway, not a third group.</a:t>
            </a:r>
            <a:r>
              <a:rPr sz="1350" b="0">
                <a:solidFill>
                  <a:srgbClr val="6E7672"/>
                </a:solidFill>
                <a:latin typeface="Times New Roman"/>
              </a:rPr>
              <a:t> [1] [2]</a:t>
            </a:r>
            <a:endParaRPr sz="1350" b="0">
              <a:solidFill>
                <a:srgbClr val="6E7672"/>
              </a:solidFill>
              <a:latin typeface="Times New Roman" panose="02020603050405020304"/>
            </a:endParaRPr>
          </a:p>
        </p:txBody>
      </p:sp>
      <p:sp>
        <p:nvSpPr>
          <p:cNvPr id="16" name="anim_142"/>
          <p:cNvSpPr/>
          <p:nvPr/>
        </p:nvSpPr>
        <p:spPr>
          <a:xfrm>
            <a:off x="457200" y="4041648"/>
            <a:ext cx="5440680" cy="2121408"/>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7" name="anim_143"/>
          <p:cNvSpPr/>
          <p:nvPr/>
        </p:nvSpPr>
        <p:spPr>
          <a:xfrm>
            <a:off x="457200" y="4041648"/>
            <a:ext cx="5440680" cy="82296"/>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8" name="anim_144"/>
          <p:cNvSpPr txBox="1"/>
          <p:nvPr/>
        </p:nvSpPr>
        <p:spPr>
          <a:xfrm>
            <a:off x="621792" y="4187952"/>
            <a:ext cx="365760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650" b="1">
                <a:solidFill>
                  <a:srgbClr val="252B30"/>
                </a:solidFill>
                <a:latin typeface="Times New Roman" panose="02020603050405020304"/>
              </a:rPr>
              <a:t>Rapid-growth pathway</a:t>
            </a:r>
            <a:endParaRPr sz="1650" b="1">
              <a:solidFill>
                <a:srgbClr val="252B30"/>
              </a:solidFill>
              <a:latin typeface="Times New Roman" panose="02020603050405020304"/>
            </a:endParaRPr>
          </a:p>
        </p:txBody>
      </p:sp>
      <p:sp>
        <p:nvSpPr>
          <p:cNvPr id="19" name="anim_145"/>
          <p:cNvSpPr txBox="1"/>
          <p:nvPr/>
        </p:nvSpPr>
        <p:spPr>
          <a:xfrm>
            <a:off x="4297680" y="4142232"/>
            <a:ext cx="1417320" cy="45720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2500" b="1">
                <a:solidFill>
                  <a:srgbClr val="BE7F4E"/>
                </a:solidFill>
                <a:latin typeface="Times New Roman" panose="02020603050405020304"/>
              </a:rPr>
              <a:t>24</a:t>
            </a:r>
            <a:r>
              <a:rPr sz="1300" b="0">
                <a:solidFill>
                  <a:srgbClr val="6E7672"/>
                </a:solidFill>
                <a:latin typeface="Times New Roman" panose="02020603050405020304"/>
              </a:rPr>
              <a:t> countries</a:t>
            </a:r>
            <a:endParaRPr sz="1300" b="0">
              <a:solidFill>
                <a:srgbClr val="6E7672"/>
              </a:solidFill>
              <a:latin typeface="Times New Roman" panose="02020603050405020304"/>
            </a:endParaRPr>
          </a:p>
        </p:txBody>
      </p:sp>
      <p:sp>
        <p:nvSpPr>
          <p:cNvPr id="20" name="anim_146"/>
          <p:cNvSpPr txBox="1"/>
          <p:nvPr/>
        </p:nvSpPr>
        <p:spPr>
          <a:xfrm>
            <a:off x="621792" y="4590288"/>
            <a:ext cx="51206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Lower base, fast recent growth, late peak - potential future additional emissions if recent patterns persist.</a:t>
            </a:r>
            <a:endParaRPr sz="1350" b="1">
              <a:solidFill>
                <a:srgbClr val="BE7F4E"/>
              </a:solidFill>
              <a:latin typeface="Times New Roman" panose="02020603050405020304"/>
            </a:endParaRPr>
          </a:p>
        </p:txBody>
      </p:sp>
      <p:sp>
        <p:nvSpPr>
          <p:cNvPr id="21" name="anim_147"/>
          <p:cNvSpPr/>
          <p:nvPr/>
        </p:nvSpPr>
        <p:spPr>
          <a:xfrm>
            <a:off x="621792" y="5029200"/>
            <a:ext cx="1280160" cy="786384"/>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2" name="anim_148"/>
          <p:cNvSpPr txBox="1"/>
          <p:nvPr/>
        </p:nvSpPr>
        <p:spPr>
          <a:xfrm>
            <a:off x="658368" y="5056632"/>
            <a:ext cx="1207008" cy="292608"/>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500" b="1">
                <a:solidFill>
                  <a:srgbClr val="BE7F4E"/>
                </a:solidFill>
                <a:latin typeface="Times New Roman" panose="02020603050405020304"/>
              </a:rPr>
              <a:t>1.49 t</a:t>
            </a:r>
            <a:endParaRPr sz="1500" b="1">
              <a:solidFill>
                <a:srgbClr val="BE7F4E"/>
              </a:solidFill>
              <a:latin typeface="Times New Roman" panose="02020603050405020304"/>
            </a:endParaRPr>
          </a:p>
        </p:txBody>
      </p:sp>
      <p:sp>
        <p:nvSpPr>
          <p:cNvPr id="23" name="anim_149"/>
          <p:cNvSpPr txBox="1"/>
          <p:nvPr/>
        </p:nvSpPr>
        <p:spPr>
          <a:xfrm>
            <a:off x="658368"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CO2 per person</a:t>
            </a:r>
            <a:endParaRPr sz="1250" b="0">
              <a:solidFill>
                <a:srgbClr val="252B30"/>
              </a:solidFill>
              <a:latin typeface="Times New Roman" panose="02020603050405020304"/>
            </a:endParaRPr>
          </a:p>
        </p:txBody>
      </p:sp>
      <p:sp>
        <p:nvSpPr>
          <p:cNvPr id="24" name="anim_150"/>
          <p:cNvSpPr/>
          <p:nvPr/>
        </p:nvSpPr>
        <p:spPr>
          <a:xfrm>
            <a:off x="1938528" y="5029200"/>
            <a:ext cx="1280160" cy="786384"/>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5" name="anim_151"/>
          <p:cNvSpPr txBox="1"/>
          <p:nvPr/>
        </p:nvSpPr>
        <p:spPr>
          <a:xfrm>
            <a:off x="1975104" y="5056632"/>
            <a:ext cx="1207008" cy="292608"/>
          </a:xfrm>
          <a:prstGeom prst="rect">
            <a:avLst/>
          </a:prstGeom>
          <a:noFill/>
          <a:ln>
            <a:noFill/>
          </a:ln>
          <a:effectLst/>
        </p:spPr>
        <p:txBody>
          <a:bodyPr wrap="none" lIns="45720" tIns="18288" rIns="45720" bIns="18288" anchor="t">
            <a:spAutoFit/>
          </a:bodyPr>
          <a:lstStyle/>
          <a:p>
            <a:pPr algn="ctr">
              <a:defRPr>
                <a:latin typeface="Times New Roman" panose="02020603050405020304"/>
              </a:defRPr>
            </a:pPr>
            <a:r>
              <a:rPr sz="1500" b="1">
                <a:solidFill>
                  <a:srgbClr val="BE7F4E"/>
                </a:solidFill>
                <a:latin typeface="Times New Roman" panose="02020603050405020304"/>
              </a:rPr>
              <a:t>+2.78%</a:t>
            </a:r>
            <a:endParaRPr sz="1500" b="1">
              <a:solidFill>
                <a:srgbClr val="BE7F4E"/>
              </a:solidFill>
              <a:latin typeface="Times New Roman" panose="02020603050405020304"/>
            </a:endParaRPr>
          </a:p>
        </p:txBody>
      </p:sp>
      <p:sp>
        <p:nvSpPr>
          <p:cNvPr id="26" name="anim_152"/>
          <p:cNvSpPr txBox="1"/>
          <p:nvPr/>
        </p:nvSpPr>
        <p:spPr>
          <a:xfrm>
            <a:off x="1975104"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recent growth per year</a:t>
            </a:r>
            <a:endParaRPr sz="1250" b="0">
              <a:solidFill>
                <a:srgbClr val="252B30"/>
              </a:solidFill>
              <a:latin typeface="Times New Roman" panose="02020603050405020304"/>
            </a:endParaRPr>
          </a:p>
        </p:txBody>
      </p:sp>
      <p:sp>
        <p:nvSpPr>
          <p:cNvPr id="27" name="anim_153"/>
          <p:cNvSpPr/>
          <p:nvPr/>
        </p:nvSpPr>
        <p:spPr>
          <a:xfrm>
            <a:off x="3255264" y="5029200"/>
            <a:ext cx="1280160" cy="786384"/>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8" name="anim_154"/>
          <p:cNvSpPr txBox="1"/>
          <p:nvPr/>
        </p:nvSpPr>
        <p:spPr>
          <a:xfrm>
            <a:off x="3291840" y="5056632"/>
            <a:ext cx="1207008" cy="292608"/>
          </a:xfrm>
          <a:prstGeom prst="rect">
            <a:avLst/>
          </a:prstGeom>
          <a:noFill/>
          <a:ln>
            <a:noFill/>
          </a:ln>
          <a:effectLst/>
        </p:spPr>
        <p:txBody>
          <a:bodyPr wrap="none" lIns="45720" tIns="18288" rIns="45720" bIns="18288" anchor="t">
            <a:spAutoFit/>
          </a:bodyPr>
          <a:lstStyle/>
          <a:p>
            <a:pPr algn="ctr">
              <a:defRPr>
                <a:latin typeface="Times New Roman" panose="02020603050405020304"/>
              </a:defRPr>
            </a:pPr>
            <a:r>
              <a:rPr sz="1500" b="1">
                <a:solidFill>
                  <a:srgbClr val="BE7F4E"/>
                </a:solidFill>
                <a:latin typeface="Times New Roman" panose="02020603050405020304"/>
              </a:rPr>
              <a:t>2018</a:t>
            </a:r>
            <a:endParaRPr sz="1500" b="1">
              <a:solidFill>
                <a:srgbClr val="BE7F4E"/>
              </a:solidFill>
              <a:latin typeface="Times New Roman" panose="02020603050405020304"/>
            </a:endParaRPr>
          </a:p>
        </p:txBody>
      </p:sp>
      <p:sp>
        <p:nvSpPr>
          <p:cNvPr id="29" name="anim_155"/>
          <p:cNvSpPr txBox="1"/>
          <p:nvPr/>
        </p:nvSpPr>
        <p:spPr>
          <a:xfrm>
            <a:off x="3291840"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median peak year</a:t>
            </a:r>
            <a:endParaRPr sz="1250" b="0">
              <a:solidFill>
                <a:srgbClr val="252B30"/>
              </a:solidFill>
              <a:latin typeface="Times New Roman" panose="02020603050405020304"/>
            </a:endParaRPr>
          </a:p>
        </p:txBody>
      </p:sp>
      <p:sp>
        <p:nvSpPr>
          <p:cNvPr id="30" name="anim_156"/>
          <p:cNvSpPr/>
          <p:nvPr/>
        </p:nvSpPr>
        <p:spPr>
          <a:xfrm>
            <a:off x="4572000" y="5029200"/>
            <a:ext cx="1280160" cy="786384"/>
          </a:xfrm>
          <a:prstGeom prst="roundRect">
            <a:avLst>
              <a:gd name="adj" fmla="val 5500"/>
            </a:avLst>
          </a:prstGeom>
          <a:solidFill>
            <a:srgbClr val="FFFFFF">
              <a:alpha val="74000"/>
            </a:srgbClr>
          </a:solidFill>
          <a:ln w="9525">
            <a:solidFill>
              <a:srgbClr val="BE7F4E"/>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157"/>
          <p:cNvSpPr txBox="1"/>
          <p:nvPr/>
        </p:nvSpPr>
        <p:spPr>
          <a:xfrm>
            <a:off x="4608576" y="5056632"/>
            <a:ext cx="1207008" cy="292608"/>
          </a:xfrm>
          <a:prstGeom prst="rect">
            <a:avLst/>
          </a:prstGeom>
          <a:noFill/>
          <a:ln>
            <a:noFill/>
          </a:ln>
          <a:effectLst/>
        </p:spPr>
        <p:txBody>
          <a:bodyPr wrap="none" lIns="45720" tIns="18288" rIns="45720" bIns="18288" anchor="t">
            <a:spAutoFit/>
          </a:bodyPr>
          <a:lstStyle/>
          <a:p>
            <a:pPr algn="ctr">
              <a:defRPr>
                <a:latin typeface="Times New Roman" panose="02020603050405020304"/>
              </a:defRPr>
            </a:pPr>
            <a:r>
              <a:rPr sz="1500" b="1">
                <a:solidFill>
                  <a:srgbClr val="BE7F4E"/>
                </a:solidFill>
                <a:latin typeface="Times New Roman" panose="02020603050405020304"/>
              </a:rPr>
              <a:t>7.8%</a:t>
            </a:r>
            <a:endParaRPr sz="1500" b="1">
              <a:solidFill>
                <a:srgbClr val="BE7F4E"/>
              </a:solidFill>
              <a:latin typeface="Times New Roman" panose="02020603050405020304"/>
            </a:endParaRPr>
          </a:p>
        </p:txBody>
      </p:sp>
      <p:sp>
        <p:nvSpPr>
          <p:cNvPr id="32" name="anim_158"/>
          <p:cNvSpPr txBox="1"/>
          <p:nvPr/>
        </p:nvSpPr>
        <p:spPr>
          <a:xfrm>
            <a:off x="4608576"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share of 2017-21 emissions</a:t>
            </a:r>
            <a:endParaRPr sz="1250" b="0">
              <a:solidFill>
                <a:srgbClr val="252B30"/>
              </a:solidFill>
              <a:latin typeface="Times New Roman" panose="02020603050405020304"/>
            </a:endParaRPr>
          </a:p>
        </p:txBody>
      </p:sp>
      <p:sp>
        <p:nvSpPr>
          <p:cNvPr id="33" name="anim_159"/>
          <p:cNvSpPr txBox="1"/>
          <p:nvPr/>
        </p:nvSpPr>
        <p:spPr>
          <a:xfrm>
            <a:off x="621792" y="5852160"/>
            <a:ext cx="5120640" cy="31089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1">
                <a:solidFill>
                  <a:srgbClr val="6E7672"/>
                </a:solidFill>
                <a:latin typeface="Times New Roman" panose="02020603050405020304"/>
              </a:rPr>
              <a:t>Median country shares  </a:t>
            </a:r>
            <a:r>
              <a:rPr sz="1300" b="1">
                <a:solidFill>
                  <a:srgbClr val="252B30"/>
                </a:solidFill>
                <a:latin typeface="Times New Roman" panose="02020603050405020304"/>
              </a:rPr>
              <a:t>coal 38% · gas 2%</a:t>
            </a:r>
            <a:r>
              <a:rPr sz="1300" b="0">
                <a:solidFill>
                  <a:srgbClr val="252B30"/>
                </a:solidFill>
                <a:latin typeface="Times New Roman" panose="02020603050405020304"/>
              </a:rPr>
              <a:t>   </a:t>
            </a:r>
            <a:r>
              <a:rPr sz="1300" b="0">
                <a:solidFill>
                  <a:srgbClr val="252B30"/>
                </a:solidFill>
                <a:latin typeface="Times New Roman" panose="02020603050405020304"/>
              </a:rPr>
              <a:t>e.g. Vietnam, Bangladesh</a:t>
            </a:r>
            <a:endParaRPr sz="1300" b="0">
              <a:solidFill>
                <a:srgbClr val="252B30"/>
              </a:solidFill>
              <a:latin typeface="Times New Roman" panose="02020603050405020304"/>
            </a:endParaRPr>
          </a:p>
        </p:txBody>
      </p:sp>
      <p:sp>
        <p:nvSpPr>
          <p:cNvPr id="34" name="anim_160"/>
          <p:cNvSpPr/>
          <p:nvPr/>
        </p:nvSpPr>
        <p:spPr>
          <a:xfrm>
            <a:off x="5943600" y="4041648"/>
            <a:ext cx="5440680" cy="2121408"/>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5" name="anim_161"/>
          <p:cNvSpPr/>
          <p:nvPr/>
        </p:nvSpPr>
        <p:spPr>
          <a:xfrm>
            <a:off x="5943600" y="4041648"/>
            <a:ext cx="5440680" cy="82296"/>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6" name="anim_162"/>
          <p:cNvSpPr txBox="1"/>
          <p:nvPr/>
        </p:nvSpPr>
        <p:spPr>
          <a:xfrm>
            <a:off x="6108192" y="4187952"/>
            <a:ext cx="365760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650" b="1">
                <a:solidFill>
                  <a:srgbClr val="252B30"/>
                </a:solidFill>
                <a:latin typeface="Times New Roman" panose="02020603050405020304"/>
              </a:rPr>
              <a:t>Plateauing / slowdown pathway</a:t>
            </a:r>
            <a:endParaRPr sz="1650" b="1">
              <a:solidFill>
                <a:srgbClr val="252B30"/>
              </a:solidFill>
              <a:latin typeface="Times New Roman" panose="02020603050405020304"/>
            </a:endParaRPr>
          </a:p>
        </p:txBody>
      </p:sp>
      <p:sp>
        <p:nvSpPr>
          <p:cNvPr id="37" name="anim_163"/>
          <p:cNvSpPr txBox="1"/>
          <p:nvPr/>
        </p:nvSpPr>
        <p:spPr>
          <a:xfrm>
            <a:off x="9784080" y="4142232"/>
            <a:ext cx="1417320" cy="457200"/>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2500" b="1">
                <a:solidFill>
                  <a:srgbClr val="4F6E96"/>
                </a:solidFill>
                <a:latin typeface="Times New Roman" panose="02020603050405020304"/>
              </a:rPr>
              <a:t>169</a:t>
            </a:r>
            <a:r>
              <a:rPr sz="1300" b="0">
                <a:solidFill>
                  <a:srgbClr val="6E7672"/>
                </a:solidFill>
                <a:latin typeface="Times New Roman" panose="02020603050405020304"/>
              </a:rPr>
              <a:t> countries</a:t>
            </a:r>
            <a:endParaRPr sz="1300" b="0">
              <a:solidFill>
                <a:srgbClr val="6E7672"/>
              </a:solidFill>
              <a:latin typeface="Times New Roman" panose="02020603050405020304"/>
            </a:endParaRPr>
          </a:p>
        </p:txBody>
      </p:sp>
      <p:sp>
        <p:nvSpPr>
          <p:cNvPr id="38" name="anim_164"/>
          <p:cNvSpPr txBox="1"/>
          <p:nvPr/>
        </p:nvSpPr>
        <p:spPr>
          <a:xfrm>
            <a:off x="6108192" y="4590288"/>
            <a:ext cx="5120640" cy="3840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Growth has flattened or turned down - yet this pathway still carries almost all of the current emissions burden.</a:t>
            </a:r>
            <a:endParaRPr sz="1350" b="1">
              <a:solidFill>
                <a:srgbClr val="4F6E96"/>
              </a:solidFill>
              <a:latin typeface="Times New Roman" panose="02020603050405020304"/>
            </a:endParaRPr>
          </a:p>
        </p:txBody>
      </p:sp>
      <p:sp>
        <p:nvSpPr>
          <p:cNvPr id="39" name="anim_165"/>
          <p:cNvSpPr/>
          <p:nvPr/>
        </p:nvSpPr>
        <p:spPr>
          <a:xfrm>
            <a:off x="6108192" y="5029200"/>
            <a:ext cx="128016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0" name="anim_166"/>
          <p:cNvSpPr txBox="1"/>
          <p:nvPr/>
        </p:nvSpPr>
        <p:spPr>
          <a:xfrm>
            <a:off x="6144768" y="5056632"/>
            <a:ext cx="1207008" cy="292608"/>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500" b="1">
                <a:solidFill>
                  <a:srgbClr val="4F6E96"/>
                </a:solidFill>
                <a:latin typeface="Times New Roman" panose="02020603050405020304"/>
              </a:rPr>
              <a:t>3.19 t</a:t>
            </a:r>
            <a:endParaRPr sz="1500" b="1">
              <a:solidFill>
                <a:srgbClr val="4F6E96"/>
              </a:solidFill>
              <a:latin typeface="Times New Roman" panose="02020603050405020304"/>
            </a:endParaRPr>
          </a:p>
        </p:txBody>
      </p:sp>
      <p:sp>
        <p:nvSpPr>
          <p:cNvPr id="41" name="anim_167"/>
          <p:cNvSpPr txBox="1"/>
          <p:nvPr/>
        </p:nvSpPr>
        <p:spPr>
          <a:xfrm>
            <a:off x="6144768"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CO2 per person</a:t>
            </a:r>
            <a:endParaRPr sz="1250" b="0">
              <a:solidFill>
                <a:srgbClr val="252B30"/>
              </a:solidFill>
              <a:latin typeface="Times New Roman" panose="02020603050405020304"/>
            </a:endParaRPr>
          </a:p>
        </p:txBody>
      </p:sp>
      <p:sp>
        <p:nvSpPr>
          <p:cNvPr id="42" name="anim_168"/>
          <p:cNvSpPr/>
          <p:nvPr/>
        </p:nvSpPr>
        <p:spPr>
          <a:xfrm>
            <a:off x="7424927" y="5029200"/>
            <a:ext cx="128016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3" name="anim_169"/>
          <p:cNvSpPr txBox="1"/>
          <p:nvPr/>
        </p:nvSpPr>
        <p:spPr>
          <a:xfrm>
            <a:off x="7461503" y="5056632"/>
            <a:ext cx="1207008" cy="292608"/>
          </a:xfrm>
          <a:prstGeom prst="rect">
            <a:avLst/>
          </a:prstGeom>
          <a:noFill/>
          <a:ln>
            <a:noFill/>
          </a:ln>
          <a:effectLst/>
        </p:spPr>
        <p:txBody>
          <a:bodyPr wrap="none" lIns="45720" tIns="18288" rIns="45720" bIns="18288" anchor="t">
            <a:spAutoFit/>
          </a:bodyPr>
          <a:lstStyle/>
          <a:p>
            <a:pPr algn="ctr">
              <a:defRPr>
                <a:latin typeface="Times New Roman" panose="02020603050405020304"/>
              </a:defRPr>
            </a:pPr>
            <a:r>
              <a:rPr sz="1500" b="1">
                <a:solidFill>
                  <a:srgbClr val="4F6E96"/>
                </a:solidFill>
                <a:latin typeface="Times New Roman" panose="02020603050405020304"/>
              </a:rPr>
              <a:t>-0.26%</a:t>
            </a:r>
            <a:endParaRPr sz="1500" b="1">
              <a:solidFill>
                <a:srgbClr val="4F6E96"/>
              </a:solidFill>
              <a:latin typeface="Times New Roman" panose="02020603050405020304"/>
            </a:endParaRPr>
          </a:p>
        </p:txBody>
      </p:sp>
      <p:sp>
        <p:nvSpPr>
          <p:cNvPr id="44" name="anim_170"/>
          <p:cNvSpPr txBox="1"/>
          <p:nvPr/>
        </p:nvSpPr>
        <p:spPr>
          <a:xfrm>
            <a:off x="7461503"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recent growth per year</a:t>
            </a:r>
            <a:endParaRPr sz="1250" b="0">
              <a:solidFill>
                <a:srgbClr val="252B30"/>
              </a:solidFill>
              <a:latin typeface="Times New Roman" panose="02020603050405020304"/>
            </a:endParaRPr>
          </a:p>
        </p:txBody>
      </p:sp>
      <p:sp>
        <p:nvSpPr>
          <p:cNvPr id="45" name="anim_171"/>
          <p:cNvSpPr/>
          <p:nvPr/>
        </p:nvSpPr>
        <p:spPr>
          <a:xfrm>
            <a:off x="8741663" y="5029200"/>
            <a:ext cx="128016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6" name="anim_172"/>
          <p:cNvSpPr txBox="1"/>
          <p:nvPr/>
        </p:nvSpPr>
        <p:spPr>
          <a:xfrm>
            <a:off x="8778239" y="5056632"/>
            <a:ext cx="1207008" cy="292608"/>
          </a:xfrm>
          <a:prstGeom prst="rect">
            <a:avLst/>
          </a:prstGeom>
          <a:noFill/>
          <a:ln>
            <a:noFill/>
          </a:ln>
          <a:effectLst/>
        </p:spPr>
        <p:txBody>
          <a:bodyPr wrap="none" lIns="45720" tIns="18288" rIns="45720" bIns="18288" anchor="t">
            <a:spAutoFit/>
          </a:bodyPr>
          <a:lstStyle/>
          <a:p>
            <a:pPr algn="ctr">
              <a:defRPr>
                <a:latin typeface="Times New Roman" panose="02020603050405020304"/>
              </a:defRPr>
            </a:pPr>
            <a:r>
              <a:rPr sz="1500" b="1">
                <a:solidFill>
                  <a:srgbClr val="4F6E96"/>
                </a:solidFill>
                <a:latin typeface="Times New Roman" panose="02020603050405020304"/>
              </a:rPr>
              <a:t>2009</a:t>
            </a:r>
            <a:endParaRPr sz="1500" b="1">
              <a:solidFill>
                <a:srgbClr val="4F6E96"/>
              </a:solidFill>
              <a:latin typeface="Times New Roman" panose="02020603050405020304"/>
            </a:endParaRPr>
          </a:p>
        </p:txBody>
      </p:sp>
      <p:sp>
        <p:nvSpPr>
          <p:cNvPr id="47" name="anim_173"/>
          <p:cNvSpPr txBox="1"/>
          <p:nvPr/>
        </p:nvSpPr>
        <p:spPr>
          <a:xfrm>
            <a:off x="8778239"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median peak year</a:t>
            </a:r>
            <a:endParaRPr sz="1250" b="0">
              <a:solidFill>
                <a:srgbClr val="252B30"/>
              </a:solidFill>
              <a:latin typeface="Times New Roman" panose="02020603050405020304"/>
            </a:endParaRPr>
          </a:p>
        </p:txBody>
      </p:sp>
      <p:sp>
        <p:nvSpPr>
          <p:cNvPr id="48" name="anim_174"/>
          <p:cNvSpPr/>
          <p:nvPr/>
        </p:nvSpPr>
        <p:spPr>
          <a:xfrm>
            <a:off x="10058399" y="5029200"/>
            <a:ext cx="1280160" cy="78638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49" name="anim_175"/>
          <p:cNvSpPr txBox="1"/>
          <p:nvPr/>
        </p:nvSpPr>
        <p:spPr>
          <a:xfrm>
            <a:off x="10094975" y="5056632"/>
            <a:ext cx="1207008" cy="292608"/>
          </a:xfrm>
          <a:prstGeom prst="rect">
            <a:avLst/>
          </a:prstGeom>
          <a:noFill/>
          <a:ln>
            <a:noFill/>
          </a:ln>
          <a:effectLst/>
        </p:spPr>
        <p:txBody>
          <a:bodyPr wrap="none" lIns="45720" tIns="18288" rIns="45720" bIns="18288" anchor="t">
            <a:spAutoFit/>
          </a:bodyPr>
          <a:lstStyle/>
          <a:p>
            <a:pPr algn="ctr">
              <a:defRPr>
                <a:latin typeface="Times New Roman" panose="02020603050405020304"/>
              </a:defRPr>
            </a:pPr>
            <a:r>
              <a:rPr sz="1500" b="1">
                <a:solidFill>
                  <a:srgbClr val="4F6E96"/>
                </a:solidFill>
                <a:latin typeface="Times New Roman" panose="02020603050405020304"/>
              </a:rPr>
              <a:t>92.2%</a:t>
            </a:r>
            <a:endParaRPr sz="1500" b="1">
              <a:solidFill>
                <a:srgbClr val="4F6E96"/>
              </a:solidFill>
              <a:latin typeface="Times New Roman" panose="02020603050405020304"/>
            </a:endParaRPr>
          </a:p>
        </p:txBody>
      </p:sp>
      <p:sp>
        <p:nvSpPr>
          <p:cNvPr id="50" name="anim_176"/>
          <p:cNvSpPr txBox="1"/>
          <p:nvPr/>
        </p:nvSpPr>
        <p:spPr>
          <a:xfrm>
            <a:off x="10094975" y="5349240"/>
            <a:ext cx="1207008" cy="438912"/>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250" b="0">
                <a:solidFill>
                  <a:srgbClr val="252B30"/>
                </a:solidFill>
                <a:latin typeface="Times New Roman" panose="02020603050405020304"/>
              </a:rPr>
              <a:t>share of 2017-21 emissions</a:t>
            </a:r>
            <a:endParaRPr sz="1250" b="0">
              <a:solidFill>
                <a:srgbClr val="252B30"/>
              </a:solidFill>
              <a:latin typeface="Times New Roman" panose="02020603050405020304"/>
            </a:endParaRPr>
          </a:p>
        </p:txBody>
      </p:sp>
      <p:sp>
        <p:nvSpPr>
          <p:cNvPr id="51" name="anim_177"/>
          <p:cNvSpPr txBox="1"/>
          <p:nvPr/>
        </p:nvSpPr>
        <p:spPr>
          <a:xfrm>
            <a:off x="6108192" y="5852160"/>
            <a:ext cx="5120640" cy="31089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1">
                <a:solidFill>
                  <a:srgbClr val="6E7672"/>
                </a:solidFill>
                <a:latin typeface="Times New Roman" panose="02020603050405020304"/>
              </a:rPr>
              <a:t>Median country shares  </a:t>
            </a:r>
            <a:r>
              <a:rPr sz="1300" b="1">
                <a:solidFill>
                  <a:srgbClr val="252B30"/>
                </a:solidFill>
                <a:latin typeface="Times New Roman" panose="02020603050405020304"/>
              </a:rPr>
              <a:t>coal 1% · gas 11%</a:t>
            </a:r>
            <a:r>
              <a:rPr sz="1300" b="0">
                <a:solidFill>
                  <a:srgbClr val="252B30"/>
                </a:solidFill>
                <a:latin typeface="Times New Roman" panose="02020603050405020304"/>
              </a:rPr>
              <a:t>   </a:t>
            </a:r>
            <a:r>
              <a:rPr sz="1300" b="0">
                <a:solidFill>
                  <a:srgbClr val="252B30"/>
                </a:solidFill>
                <a:latin typeface="Times New Roman" panose="02020603050405020304"/>
              </a:rPr>
              <a:t>e.g. China, United States</a:t>
            </a:r>
            <a:endParaRPr sz="130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50"/>
                                        <p:tgtEl>
                                          <p:spTgt spid="15"/>
                                        </p:tgtEl>
                                      </p:cBhvr>
                                    </p:animEffect>
                                  </p:childTnLst>
                                </p:cTn>
                              </p:par>
                            </p:childTnLst>
                          </p:cTn>
                        </p:par>
                        <p:par>
                          <p:cTn id="11" fill="hold">
                            <p:stCondLst>
                              <p:cond delay="900"/>
                            </p:stCondLst>
                            <p:childTnLst>
                              <p:par>
                                <p:cTn id="12" presetID="10" presetClass="entr" presetSubtype="0" fill="hold" grpId="0" nodeType="afterEffect">
                                  <p:stCondLst>
                                    <p:cond delay="4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53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par>
                                <p:cTn id="18" presetID="10" presetClass="entr" presetSubtype="0" fill="hold" grpId="0" nodeType="withEffect">
                                  <p:stCondLst>
                                    <p:cond delay="66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450"/>
                                        <p:tgtEl>
                                          <p:spTgt spid="18"/>
                                        </p:tgtEl>
                                      </p:cBhvr>
                                    </p:animEffect>
                                  </p:childTnLst>
                                </p:cTn>
                              </p:par>
                              <p:par>
                                <p:cTn id="21" presetID="10" presetClass="entr" presetSubtype="0" fill="hold" grpId="0" nodeType="withEffect">
                                  <p:stCondLst>
                                    <p:cond delay="79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grpId="0" nodeType="withEffect">
                                  <p:stCondLst>
                                    <p:cond delay="92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childTnLst>
                          </p:cTn>
                        </p:par>
                        <p:par>
                          <p:cTn id="27" fill="hold">
                            <p:stCondLst>
                              <p:cond delay="1800"/>
                            </p:stCondLst>
                            <p:childTnLst>
                              <p:par>
                                <p:cTn id="28" presetID="10" presetClass="entr" presetSubtype="0" fill="hold" grpId="0" nodeType="afterEffect">
                                  <p:stCondLst>
                                    <p:cond delay="40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450"/>
                                        <p:tgtEl>
                                          <p:spTgt spid="21"/>
                                        </p:tgtEl>
                                      </p:cBhvr>
                                    </p:animEffect>
                                  </p:childTnLst>
                                </p:cTn>
                              </p:par>
                              <p:par>
                                <p:cTn id="31" presetID="10" presetClass="entr" presetSubtype="0" fill="hold" grpId="0" nodeType="withEffect">
                                  <p:stCondLst>
                                    <p:cond delay="53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450"/>
                                        <p:tgtEl>
                                          <p:spTgt spid="22"/>
                                        </p:tgtEl>
                                      </p:cBhvr>
                                    </p:animEffect>
                                  </p:childTnLst>
                                </p:cTn>
                              </p:par>
                              <p:par>
                                <p:cTn id="34" presetID="10" presetClass="entr" presetSubtype="0" fill="hold" grpId="0" nodeType="withEffect">
                                  <p:stCondLst>
                                    <p:cond delay="66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450"/>
                                        <p:tgtEl>
                                          <p:spTgt spid="23"/>
                                        </p:tgtEl>
                                      </p:cBhvr>
                                    </p:animEffect>
                                  </p:childTnLst>
                                </p:cTn>
                              </p:par>
                            </p:childTnLst>
                          </p:cTn>
                        </p:par>
                        <p:par>
                          <p:cTn id="37" fill="hold">
                            <p:stCondLst>
                              <p:cond delay="2700"/>
                            </p:stCondLst>
                            <p:childTnLst>
                              <p:par>
                                <p:cTn id="38" presetID="10" presetClass="entr" presetSubtype="0" fill="hold" grpId="0" nodeType="afterEffect">
                                  <p:stCondLst>
                                    <p:cond delay="40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450"/>
                                        <p:tgtEl>
                                          <p:spTgt spid="24"/>
                                        </p:tgtEl>
                                      </p:cBhvr>
                                    </p:animEffect>
                                  </p:childTnLst>
                                </p:cTn>
                              </p:par>
                              <p:par>
                                <p:cTn id="41" presetID="10" presetClass="entr" presetSubtype="0" fill="hold" grpId="0" nodeType="withEffect">
                                  <p:stCondLst>
                                    <p:cond delay="53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450"/>
                                        <p:tgtEl>
                                          <p:spTgt spid="25"/>
                                        </p:tgtEl>
                                      </p:cBhvr>
                                    </p:animEffect>
                                  </p:childTnLst>
                                </p:cTn>
                              </p:par>
                              <p:par>
                                <p:cTn id="44" presetID="10" presetClass="entr" presetSubtype="0" fill="hold" grpId="0" nodeType="withEffect">
                                  <p:stCondLst>
                                    <p:cond delay="66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450"/>
                                        <p:tgtEl>
                                          <p:spTgt spid="26"/>
                                        </p:tgtEl>
                                      </p:cBhvr>
                                    </p:animEffect>
                                  </p:childTnLst>
                                </p:cTn>
                              </p:par>
                            </p:childTnLst>
                          </p:cTn>
                        </p:par>
                        <p:par>
                          <p:cTn id="47" fill="hold">
                            <p:stCondLst>
                              <p:cond delay="3600"/>
                            </p:stCondLst>
                            <p:childTnLst>
                              <p:par>
                                <p:cTn id="48" presetID="10" presetClass="entr" presetSubtype="0" fill="hold" grpId="0" nodeType="afterEffect">
                                  <p:stCondLst>
                                    <p:cond delay="400"/>
                                  </p:stCondLst>
                                  <p:childTnLst>
                                    <p:set>
                                      <p:cBhvr>
                                        <p:cTn id="49" dur="1" fill="hold">
                                          <p:stCondLst>
                                            <p:cond delay="0"/>
                                          </p:stCondLst>
                                        </p:cTn>
                                        <p:tgtEl>
                                          <p:spTgt spid="27"/>
                                        </p:tgtEl>
                                        <p:attrNameLst>
                                          <p:attrName>style.visibility</p:attrName>
                                        </p:attrNameLst>
                                      </p:cBhvr>
                                      <p:to>
                                        <p:strVal val="visible"/>
                                      </p:to>
                                    </p:set>
                                    <p:animEffect transition="in" filter="fade">
                                      <p:cBhvr>
                                        <p:cTn id="50" dur="450"/>
                                        <p:tgtEl>
                                          <p:spTgt spid="27"/>
                                        </p:tgtEl>
                                      </p:cBhvr>
                                    </p:animEffect>
                                  </p:childTnLst>
                                </p:cTn>
                              </p:par>
                              <p:par>
                                <p:cTn id="51" presetID="10" presetClass="entr" presetSubtype="0" fill="hold" grpId="0" nodeType="withEffect">
                                  <p:stCondLst>
                                    <p:cond delay="53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450"/>
                                        <p:tgtEl>
                                          <p:spTgt spid="28"/>
                                        </p:tgtEl>
                                      </p:cBhvr>
                                    </p:animEffect>
                                  </p:childTnLst>
                                </p:cTn>
                              </p:par>
                              <p:par>
                                <p:cTn id="54" presetID="10" presetClass="entr" presetSubtype="0" fill="hold" grpId="0" nodeType="withEffect">
                                  <p:stCondLst>
                                    <p:cond delay="660"/>
                                  </p:stCondLst>
                                  <p:childTnLst>
                                    <p:set>
                                      <p:cBhvr>
                                        <p:cTn id="55" dur="1" fill="hold">
                                          <p:stCondLst>
                                            <p:cond delay="0"/>
                                          </p:stCondLst>
                                        </p:cTn>
                                        <p:tgtEl>
                                          <p:spTgt spid="29"/>
                                        </p:tgtEl>
                                        <p:attrNameLst>
                                          <p:attrName>style.visibility</p:attrName>
                                        </p:attrNameLst>
                                      </p:cBhvr>
                                      <p:to>
                                        <p:strVal val="visible"/>
                                      </p:to>
                                    </p:set>
                                    <p:animEffect transition="in" filter="fade">
                                      <p:cBhvr>
                                        <p:cTn id="56" dur="450"/>
                                        <p:tgtEl>
                                          <p:spTgt spid="29"/>
                                        </p:tgtEl>
                                      </p:cBhvr>
                                    </p:animEffect>
                                  </p:childTnLst>
                                </p:cTn>
                              </p:par>
                            </p:childTnLst>
                          </p:cTn>
                        </p:par>
                        <p:par>
                          <p:cTn id="57" fill="hold">
                            <p:stCondLst>
                              <p:cond delay="4500"/>
                            </p:stCondLst>
                            <p:childTnLst>
                              <p:par>
                                <p:cTn id="58" presetID="10" presetClass="entr" presetSubtype="0" fill="hold" grpId="0" nodeType="afterEffect">
                                  <p:stCondLst>
                                    <p:cond delay="40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450"/>
                                        <p:tgtEl>
                                          <p:spTgt spid="30"/>
                                        </p:tgtEl>
                                      </p:cBhvr>
                                    </p:animEffect>
                                  </p:childTnLst>
                                </p:cTn>
                              </p:par>
                              <p:par>
                                <p:cTn id="61" presetID="10" presetClass="entr" presetSubtype="0" fill="hold" grpId="0" nodeType="withEffect">
                                  <p:stCondLst>
                                    <p:cond delay="53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450"/>
                                        <p:tgtEl>
                                          <p:spTgt spid="31"/>
                                        </p:tgtEl>
                                      </p:cBhvr>
                                    </p:animEffect>
                                  </p:childTnLst>
                                </p:cTn>
                              </p:par>
                              <p:par>
                                <p:cTn id="64" presetID="10" presetClass="entr" presetSubtype="0" fill="hold" grpId="0" nodeType="withEffect">
                                  <p:stCondLst>
                                    <p:cond delay="660"/>
                                  </p:stCondLst>
                                  <p:childTnLst>
                                    <p:set>
                                      <p:cBhvr>
                                        <p:cTn id="65" dur="1" fill="hold">
                                          <p:stCondLst>
                                            <p:cond delay="0"/>
                                          </p:stCondLst>
                                        </p:cTn>
                                        <p:tgtEl>
                                          <p:spTgt spid="32"/>
                                        </p:tgtEl>
                                        <p:attrNameLst>
                                          <p:attrName>style.visibility</p:attrName>
                                        </p:attrNameLst>
                                      </p:cBhvr>
                                      <p:to>
                                        <p:strVal val="visible"/>
                                      </p:to>
                                    </p:set>
                                    <p:animEffect transition="in" filter="fade">
                                      <p:cBhvr>
                                        <p:cTn id="66" dur="450"/>
                                        <p:tgtEl>
                                          <p:spTgt spid="32"/>
                                        </p:tgtEl>
                                      </p:cBhvr>
                                    </p:animEffect>
                                  </p:childTnLst>
                                </p:cTn>
                              </p:par>
                            </p:childTnLst>
                          </p:cTn>
                        </p:par>
                        <p:par>
                          <p:cTn id="67" fill="hold">
                            <p:stCondLst>
                              <p:cond delay="5400"/>
                            </p:stCondLst>
                            <p:childTnLst>
                              <p:par>
                                <p:cTn id="68" presetID="10" presetClass="entr" presetSubtype="0" fill="hold" grpId="0" nodeType="afterEffect">
                                  <p:stCondLst>
                                    <p:cond delay="40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450"/>
                                        <p:tgtEl>
                                          <p:spTgt spid="33"/>
                                        </p:tgtEl>
                                      </p:cBhvr>
                                    </p:animEffect>
                                  </p:childTnLst>
                                </p:cTn>
                              </p:par>
                            </p:childTnLst>
                          </p:cTn>
                        </p:par>
                        <p:par>
                          <p:cTn id="71" fill="hold">
                            <p:stCondLst>
                              <p:cond delay="6300"/>
                            </p:stCondLst>
                            <p:childTnLst>
                              <p:par>
                                <p:cTn id="72" presetID="10" presetClass="entr" presetSubtype="0" fill="hold" grpId="0" nodeType="afterEffect">
                                  <p:stCondLst>
                                    <p:cond delay="40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50"/>
                                        <p:tgtEl>
                                          <p:spTgt spid="34"/>
                                        </p:tgtEl>
                                      </p:cBhvr>
                                    </p:animEffect>
                                  </p:childTnLst>
                                </p:cTn>
                              </p:par>
                              <p:par>
                                <p:cTn id="75" presetID="10" presetClass="entr" presetSubtype="0" fill="hold" grpId="0" nodeType="withEffect">
                                  <p:stCondLst>
                                    <p:cond delay="53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50"/>
                                        <p:tgtEl>
                                          <p:spTgt spid="35"/>
                                        </p:tgtEl>
                                      </p:cBhvr>
                                    </p:animEffect>
                                  </p:childTnLst>
                                </p:cTn>
                              </p:par>
                              <p:par>
                                <p:cTn id="78" presetID="10" presetClass="entr" presetSubtype="0" fill="hold" grpId="0" nodeType="withEffect">
                                  <p:stCondLst>
                                    <p:cond delay="66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450"/>
                                        <p:tgtEl>
                                          <p:spTgt spid="36"/>
                                        </p:tgtEl>
                                      </p:cBhvr>
                                    </p:animEffect>
                                  </p:childTnLst>
                                </p:cTn>
                              </p:par>
                              <p:par>
                                <p:cTn id="81" presetID="10" presetClass="entr" presetSubtype="0" fill="hold" grpId="0" nodeType="withEffect">
                                  <p:stCondLst>
                                    <p:cond delay="790"/>
                                  </p:stCondLst>
                                  <p:childTnLst>
                                    <p:set>
                                      <p:cBhvr>
                                        <p:cTn id="82" dur="1" fill="hold">
                                          <p:stCondLst>
                                            <p:cond delay="0"/>
                                          </p:stCondLst>
                                        </p:cTn>
                                        <p:tgtEl>
                                          <p:spTgt spid="37"/>
                                        </p:tgtEl>
                                        <p:attrNameLst>
                                          <p:attrName>style.visibility</p:attrName>
                                        </p:attrNameLst>
                                      </p:cBhvr>
                                      <p:to>
                                        <p:strVal val="visible"/>
                                      </p:to>
                                    </p:set>
                                    <p:animEffect transition="in" filter="fade">
                                      <p:cBhvr>
                                        <p:cTn id="83" dur="450"/>
                                        <p:tgtEl>
                                          <p:spTgt spid="37"/>
                                        </p:tgtEl>
                                      </p:cBhvr>
                                    </p:animEffect>
                                  </p:childTnLst>
                                </p:cTn>
                              </p:par>
                              <p:par>
                                <p:cTn id="84" presetID="10" presetClass="entr" presetSubtype="0" fill="hold" grpId="0" nodeType="withEffect">
                                  <p:stCondLst>
                                    <p:cond delay="920"/>
                                  </p:stCondLst>
                                  <p:childTnLst>
                                    <p:set>
                                      <p:cBhvr>
                                        <p:cTn id="85" dur="1" fill="hold">
                                          <p:stCondLst>
                                            <p:cond delay="0"/>
                                          </p:stCondLst>
                                        </p:cTn>
                                        <p:tgtEl>
                                          <p:spTgt spid="38"/>
                                        </p:tgtEl>
                                        <p:attrNameLst>
                                          <p:attrName>style.visibility</p:attrName>
                                        </p:attrNameLst>
                                      </p:cBhvr>
                                      <p:to>
                                        <p:strVal val="visible"/>
                                      </p:to>
                                    </p:set>
                                    <p:animEffect transition="in" filter="fade">
                                      <p:cBhvr>
                                        <p:cTn id="86" dur="450"/>
                                        <p:tgtEl>
                                          <p:spTgt spid="38"/>
                                        </p:tgtEl>
                                      </p:cBhvr>
                                    </p:animEffect>
                                  </p:childTnLst>
                                </p:cTn>
                              </p:par>
                            </p:childTnLst>
                          </p:cTn>
                        </p:par>
                        <p:par>
                          <p:cTn id="87" fill="hold">
                            <p:stCondLst>
                              <p:cond delay="7200"/>
                            </p:stCondLst>
                            <p:childTnLst>
                              <p:par>
                                <p:cTn id="88" presetID="10" presetClass="entr" presetSubtype="0" fill="hold" grpId="0" nodeType="afterEffect">
                                  <p:stCondLst>
                                    <p:cond delay="400"/>
                                  </p:stCondLst>
                                  <p:childTnLst>
                                    <p:set>
                                      <p:cBhvr>
                                        <p:cTn id="89" dur="1" fill="hold">
                                          <p:stCondLst>
                                            <p:cond delay="0"/>
                                          </p:stCondLst>
                                        </p:cTn>
                                        <p:tgtEl>
                                          <p:spTgt spid="39"/>
                                        </p:tgtEl>
                                        <p:attrNameLst>
                                          <p:attrName>style.visibility</p:attrName>
                                        </p:attrNameLst>
                                      </p:cBhvr>
                                      <p:to>
                                        <p:strVal val="visible"/>
                                      </p:to>
                                    </p:set>
                                    <p:animEffect transition="in" filter="fade">
                                      <p:cBhvr>
                                        <p:cTn id="90" dur="450"/>
                                        <p:tgtEl>
                                          <p:spTgt spid="39"/>
                                        </p:tgtEl>
                                      </p:cBhvr>
                                    </p:animEffect>
                                  </p:childTnLst>
                                </p:cTn>
                              </p:par>
                              <p:par>
                                <p:cTn id="91" presetID="10" presetClass="entr" presetSubtype="0" fill="hold" grpId="0" nodeType="withEffect">
                                  <p:stCondLst>
                                    <p:cond delay="53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450"/>
                                        <p:tgtEl>
                                          <p:spTgt spid="40"/>
                                        </p:tgtEl>
                                      </p:cBhvr>
                                    </p:animEffect>
                                  </p:childTnLst>
                                </p:cTn>
                              </p:par>
                              <p:par>
                                <p:cTn id="94" presetID="10" presetClass="entr" presetSubtype="0" fill="hold" grpId="0" nodeType="withEffect">
                                  <p:stCondLst>
                                    <p:cond delay="660"/>
                                  </p:stCondLst>
                                  <p:childTnLst>
                                    <p:set>
                                      <p:cBhvr>
                                        <p:cTn id="95" dur="1" fill="hold">
                                          <p:stCondLst>
                                            <p:cond delay="0"/>
                                          </p:stCondLst>
                                        </p:cTn>
                                        <p:tgtEl>
                                          <p:spTgt spid="41"/>
                                        </p:tgtEl>
                                        <p:attrNameLst>
                                          <p:attrName>style.visibility</p:attrName>
                                        </p:attrNameLst>
                                      </p:cBhvr>
                                      <p:to>
                                        <p:strVal val="visible"/>
                                      </p:to>
                                    </p:set>
                                    <p:animEffect transition="in" filter="fade">
                                      <p:cBhvr>
                                        <p:cTn id="96" dur="450"/>
                                        <p:tgtEl>
                                          <p:spTgt spid="41"/>
                                        </p:tgtEl>
                                      </p:cBhvr>
                                    </p:animEffect>
                                  </p:childTnLst>
                                </p:cTn>
                              </p:par>
                            </p:childTnLst>
                          </p:cTn>
                        </p:par>
                        <p:par>
                          <p:cTn id="97" fill="hold">
                            <p:stCondLst>
                              <p:cond delay="8100"/>
                            </p:stCondLst>
                            <p:childTnLst>
                              <p:par>
                                <p:cTn id="98" presetID="10" presetClass="entr" presetSubtype="0" fill="hold" grpId="0" nodeType="afterEffect">
                                  <p:stCondLst>
                                    <p:cond delay="40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450"/>
                                        <p:tgtEl>
                                          <p:spTgt spid="42"/>
                                        </p:tgtEl>
                                      </p:cBhvr>
                                    </p:animEffect>
                                  </p:childTnLst>
                                </p:cTn>
                              </p:par>
                              <p:par>
                                <p:cTn id="101" presetID="10" presetClass="entr" presetSubtype="0" fill="hold" grpId="0" nodeType="withEffect">
                                  <p:stCondLst>
                                    <p:cond delay="53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3" dur="450"/>
                                        <p:tgtEl>
                                          <p:spTgt spid="43"/>
                                        </p:tgtEl>
                                      </p:cBhvr>
                                    </p:animEffect>
                                  </p:childTnLst>
                                </p:cTn>
                              </p:par>
                              <p:par>
                                <p:cTn id="104" presetID="10" presetClass="entr" presetSubtype="0" fill="hold" grpId="0" nodeType="withEffect">
                                  <p:stCondLst>
                                    <p:cond delay="66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450"/>
                                        <p:tgtEl>
                                          <p:spTgt spid="44"/>
                                        </p:tgtEl>
                                      </p:cBhvr>
                                    </p:animEffect>
                                  </p:childTnLst>
                                </p:cTn>
                              </p:par>
                            </p:childTnLst>
                          </p:cTn>
                        </p:par>
                        <p:par>
                          <p:cTn id="107" fill="hold">
                            <p:stCondLst>
                              <p:cond delay="9000"/>
                            </p:stCondLst>
                            <p:childTnLst>
                              <p:par>
                                <p:cTn id="108" presetID="10" presetClass="entr" presetSubtype="0" fill="hold" grpId="0" nodeType="afterEffect">
                                  <p:stCondLst>
                                    <p:cond delay="400"/>
                                  </p:stCondLst>
                                  <p:childTnLst>
                                    <p:set>
                                      <p:cBhvr>
                                        <p:cTn id="109" dur="1" fill="hold">
                                          <p:stCondLst>
                                            <p:cond delay="0"/>
                                          </p:stCondLst>
                                        </p:cTn>
                                        <p:tgtEl>
                                          <p:spTgt spid="45"/>
                                        </p:tgtEl>
                                        <p:attrNameLst>
                                          <p:attrName>style.visibility</p:attrName>
                                        </p:attrNameLst>
                                      </p:cBhvr>
                                      <p:to>
                                        <p:strVal val="visible"/>
                                      </p:to>
                                    </p:set>
                                    <p:animEffect transition="in" filter="fade">
                                      <p:cBhvr>
                                        <p:cTn id="110" dur="450"/>
                                        <p:tgtEl>
                                          <p:spTgt spid="45"/>
                                        </p:tgtEl>
                                      </p:cBhvr>
                                    </p:animEffect>
                                  </p:childTnLst>
                                </p:cTn>
                              </p:par>
                              <p:par>
                                <p:cTn id="111" presetID="10" presetClass="entr" presetSubtype="0" fill="hold" grpId="0" nodeType="withEffect">
                                  <p:stCondLst>
                                    <p:cond delay="530"/>
                                  </p:stCondLst>
                                  <p:childTnLst>
                                    <p:set>
                                      <p:cBhvr>
                                        <p:cTn id="112" dur="1" fill="hold">
                                          <p:stCondLst>
                                            <p:cond delay="0"/>
                                          </p:stCondLst>
                                        </p:cTn>
                                        <p:tgtEl>
                                          <p:spTgt spid="46"/>
                                        </p:tgtEl>
                                        <p:attrNameLst>
                                          <p:attrName>style.visibility</p:attrName>
                                        </p:attrNameLst>
                                      </p:cBhvr>
                                      <p:to>
                                        <p:strVal val="visible"/>
                                      </p:to>
                                    </p:set>
                                    <p:animEffect transition="in" filter="fade">
                                      <p:cBhvr>
                                        <p:cTn id="113" dur="450"/>
                                        <p:tgtEl>
                                          <p:spTgt spid="46"/>
                                        </p:tgtEl>
                                      </p:cBhvr>
                                    </p:animEffect>
                                  </p:childTnLst>
                                </p:cTn>
                              </p:par>
                              <p:par>
                                <p:cTn id="114" presetID="10" presetClass="entr" presetSubtype="0" fill="hold" grpId="0" nodeType="withEffect">
                                  <p:stCondLst>
                                    <p:cond delay="660"/>
                                  </p:stCondLst>
                                  <p:childTnLst>
                                    <p:set>
                                      <p:cBhvr>
                                        <p:cTn id="115" dur="1" fill="hold">
                                          <p:stCondLst>
                                            <p:cond delay="0"/>
                                          </p:stCondLst>
                                        </p:cTn>
                                        <p:tgtEl>
                                          <p:spTgt spid="47"/>
                                        </p:tgtEl>
                                        <p:attrNameLst>
                                          <p:attrName>style.visibility</p:attrName>
                                        </p:attrNameLst>
                                      </p:cBhvr>
                                      <p:to>
                                        <p:strVal val="visible"/>
                                      </p:to>
                                    </p:set>
                                    <p:animEffect transition="in" filter="fade">
                                      <p:cBhvr>
                                        <p:cTn id="116" dur="450"/>
                                        <p:tgtEl>
                                          <p:spTgt spid="47"/>
                                        </p:tgtEl>
                                      </p:cBhvr>
                                    </p:animEffect>
                                  </p:childTnLst>
                                </p:cTn>
                              </p:par>
                            </p:childTnLst>
                          </p:cTn>
                        </p:par>
                        <p:par>
                          <p:cTn id="117" fill="hold">
                            <p:stCondLst>
                              <p:cond delay="9900"/>
                            </p:stCondLst>
                            <p:childTnLst>
                              <p:par>
                                <p:cTn id="118" presetID="10" presetClass="entr" presetSubtype="0" fill="hold" grpId="0" nodeType="afterEffect">
                                  <p:stCondLst>
                                    <p:cond delay="400"/>
                                  </p:stCondLst>
                                  <p:childTnLst>
                                    <p:set>
                                      <p:cBhvr>
                                        <p:cTn id="119" dur="1" fill="hold">
                                          <p:stCondLst>
                                            <p:cond delay="0"/>
                                          </p:stCondLst>
                                        </p:cTn>
                                        <p:tgtEl>
                                          <p:spTgt spid="48"/>
                                        </p:tgtEl>
                                        <p:attrNameLst>
                                          <p:attrName>style.visibility</p:attrName>
                                        </p:attrNameLst>
                                      </p:cBhvr>
                                      <p:to>
                                        <p:strVal val="visible"/>
                                      </p:to>
                                    </p:set>
                                    <p:animEffect transition="in" filter="fade">
                                      <p:cBhvr>
                                        <p:cTn id="120" dur="450"/>
                                        <p:tgtEl>
                                          <p:spTgt spid="48"/>
                                        </p:tgtEl>
                                      </p:cBhvr>
                                    </p:animEffect>
                                  </p:childTnLst>
                                </p:cTn>
                              </p:par>
                              <p:par>
                                <p:cTn id="121" presetID="10" presetClass="entr" presetSubtype="0" fill="hold" grpId="0" nodeType="withEffect">
                                  <p:stCondLst>
                                    <p:cond delay="530"/>
                                  </p:stCondLst>
                                  <p:childTnLst>
                                    <p:set>
                                      <p:cBhvr>
                                        <p:cTn id="122" dur="1" fill="hold">
                                          <p:stCondLst>
                                            <p:cond delay="0"/>
                                          </p:stCondLst>
                                        </p:cTn>
                                        <p:tgtEl>
                                          <p:spTgt spid="49"/>
                                        </p:tgtEl>
                                        <p:attrNameLst>
                                          <p:attrName>style.visibility</p:attrName>
                                        </p:attrNameLst>
                                      </p:cBhvr>
                                      <p:to>
                                        <p:strVal val="visible"/>
                                      </p:to>
                                    </p:set>
                                    <p:animEffect transition="in" filter="fade">
                                      <p:cBhvr>
                                        <p:cTn id="123" dur="450"/>
                                        <p:tgtEl>
                                          <p:spTgt spid="49"/>
                                        </p:tgtEl>
                                      </p:cBhvr>
                                    </p:animEffect>
                                  </p:childTnLst>
                                </p:cTn>
                              </p:par>
                              <p:par>
                                <p:cTn id="124" presetID="10" presetClass="entr" presetSubtype="0" fill="hold" grpId="0" nodeType="withEffect">
                                  <p:stCondLst>
                                    <p:cond delay="660"/>
                                  </p:stCondLst>
                                  <p:childTnLst>
                                    <p:set>
                                      <p:cBhvr>
                                        <p:cTn id="125" dur="1" fill="hold">
                                          <p:stCondLst>
                                            <p:cond delay="0"/>
                                          </p:stCondLst>
                                        </p:cTn>
                                        <p:tgtEl>
                                          <p:spTgt spid="50"/>
                                        </p:tgtEl>
                                        <p:attrNameLst>
                                          <p:attrName>style.visibility</p:attrName>
                                        </p:attrNameLst>
                                      </p:cBhvr>
                                      <p:to>
                                        <p:strVal val="visible"/>
                                      </p:to>
                                    </p:set>
                                    <p:animEffect transition="in" filter="fade">
                                      <p:cBhvr>
                                        <p:cTn id="126" dur="450"/>
                                        <p:tgtEl>
                                          <p:spTgt spid="50"/>
                                        </p:tgtEl>
                                      </p:cBhvr>
                                    </p:animEffect>
                                  </p:childTnLst>
                                </p:cTn>
                              </p:par>
                            </p:childTnLst>
                          </p:cTn>
                        </p:par>
                        <p:par>
                          <p:cTn id="127" fill="hold">
                            <p:stCondLst>
                              <p:cond delay="10800"/>
                            </p:stCondLst>
                            <p:childTnLst>
                              <p:par>
                                <p:cTn id="128" presetID="10" presetClass="entr" presetSubtype="0" fill="hold" grpId="0" nodeType="afterEffect">
                                  <p:stCondLst>
                                    <p:cond delay="400"/>
                                  </p:stCondLst>
                                  <p:childTnLst>
                                    <p:set>
                                      <p:cBhvr>
                                        <p:cTn id="129" dur="1" fill="hold">
                                          <p:stCondLst>
                                            <p:cond delay="0"/>
                                          </p:stCondLst>
                                        </p:cTn>
                                        <p:tgtEl>
                                          <p:spTgt spid="51"/>
                                        </p:tgtEl>
                                        <p:attrNameLst>
                                          <p:attrName>style.visibility</p:attrName>
                                        </p:attrNameLst>
                                      </p:cBhvr>
                                      <p:to>
                                        <p:strVal val="visible"/>
                                      </p:to>
                                    </p:set>
                                    <p:animEffect transition="in" filter="fade">
                                      <p:cBhvr>
                                        <p:cTn id="130" dur="45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VISUAL STORYTELLING · Why ranking countries by one number misleads</a:t>
            </a:r>
            <a:endParaRPr sz="1300" b="1">
              <a:solidFill>
                <a:srgbClr val="D3E3D6"/>
              </a:solidFill>
              <a:latin typeface="Georgia" panose="02040502050405020303"/>
            </a:endParaRPr>
          </a:p>
          <a:p>
            <a:pPr algn="l">
              <a:spcBef>
                <a:spcPts val="200"/>
              </a:spcBef>
              <a:defRPr>
                <a:latin typeface="Times New Roman" panose="02020603050405020304"/>
              </a:defRPr>
            </a:pPr>
            <a:r>
              <a:rPr sz="2100" b="1">
                <a:solidFill>
                  <a:srgbClr val="FFFFFF"/>
                </a:solidFill>
                <a:latin typeface="Georgia" panose="02040502050405020303"/>
              </a:rPr>
              <a:t>Current burden and future pressure require different lenses</a:t>
            </a:r>
            <a:endParaRPr sz="21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2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REYIZA RESIBIEKE</a:t>
            </a:r>
            <a:endParaRPr sz="1300" b="1">
              <a:solidFill>
                <a:srgbClr val="6E7672"/>
              </a:solidFill>
              <a:latin typeface="Times New Roman" panose="02020603050405020304"/>
            </a:endParaRPr>
          </a:p>
        </p:txBody>
      </p:sp>
      <p:sp>
        <p:nvSpPr>
          <p:cNvPr id="12" name="TextBox 11"/>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19</a:t>
            </a:r>
            <a:endParaRPr sz="1400" b="0">
              <a:solidFill>
                <a:srgbClr val="6E7672"/>
              </a:solidFill>
              <a:latin typeface="Times New Roman" panose="02020603050405020304"/>
            </a:endParaRPr>
          </a:p>
        </p:txBody>
      </p:sp>
      <p:pic>
        <p:nvPicPr>
          <p:cNvPr id="13" name="anim_178" descr="fig_burden_growth.png"/>
          <p:cNvPicPr>
            <a:picLocks noChangeAspect="1"/>
          </p:cNvPicPr>
          <p:nvPr/>
        </p:nvPicPr>
        <p:blipFill>
          <a:blip r:embed="rId2"/>
          <a:stretch>
            <a:fillRect/>
          </a:stretch>
        </p:blipFill>
        <p:spPr>
          <a:xfrm>
            <a:off x="256032" y="956054"/>
            <a:ext cx="8549640" cy="5028187"/>
          </a:xfrm>
          <a:prstGeom prst="rect">
            <a:avLst/>
          </a:prstGeom>
        </p:spPr>
      </p:pic>
      <p:sp>
        <p:nvSpPr>
          <p:cNvPr id="14" name="TextBox 13"/>
          <p:cNvSpPr txBox="1"/>
          <p:nvPr/>
        </p:nvSpPr>
        <p:spPr>
          <a:xfrm>
            <a:off x="8851392" y="1115568"/>
            <a:ext cx="27432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WHY ONE LENS FAILS</a:t>
            </a:r>
            <a:endParaRPr sz="1350" b="1">
              <a:solidFill>
                <a:srgbClr val="2F5248"/>
              </a:solidFill>
              <a:latin typeface="Times New Roman" panose="02020603050405020304"/>
            </a:endParaRPr>
          </a:p>
        </p:txBody>
      </p:sp>
      <p:sp>
        <p:nvSpPr>
          <p:cNvPr id="15" name="anim_179"/>
          <p:cNvSpPr/>
          <p:nvPr/>
        </p:nvSpPr>
        <p:spPr>
          <a:xfrm>
            <a:off x="8851392" y="1444752"/>
            <a:ext cx="2560320" cy="201168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6" name="anim_180"/>
          <p:cNvSpPr txBox="1"/>
          <p:nvPr/>
        </p:nvSpPr>
        <p:spPr>
          <a:xfrm>
            <a:off x="9015984" y="1554480"/>
            <a:ext cx="2240280" cy="18288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Rank by emissions only </a:t>
            </a:r>
            <a:endParaRPr sz="1350" b="1">
              <a:solidFill>
                <a:srgbClr val="BE7F4E"/>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and you watch China, the US and India while missing small-base, fast-growing, late-peak countries in the upper left.</a:t>
            </a:r>
            <a:endParaRPr sz="1300" b="0">
              <a:solidFill>
                <a:srgbClr val="252B30"/>
              </a:solidFill>
              <a:latin typeface="Times New Roman" panose="02020603050405020304"/>
            </a:endParaRPr>
          </a:p>
        </p:txBody>
      </p:sp>
      <p:sp>
        <p:nvSpPr>
          <p:cNvPr id="17" name="anim_181"/>
          <p:cNvSpPr/>
          <p:nvPr/>
        </p:nvSpPr>
        <p:spPr>
          <a:xfrm>
            <a:off x="8851392" y="3611880"/>
            <a:ext cx="2560320" cy="201168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8" name="anim_182"/>
          <p:cNvSpPr txBox="1"/>
          <p:nvPr/>
        </p:nvSpPr>
        <p:spPr>
          <a:xfrm>
            <a:off x="9015984" y="3721608"/>
            <a:ext cx="2240280" cy="18288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Rank by growth only </a:t>
            </a:r>
            <a:endParaRPr sz="1350" b="1">
              <a:solidFill>
                <a:srgbClr val="4F6E96"/>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and you overrate small economies while underrating the plateauing majors that hold 92.2% of 2017-21 emissions.</a:t>
            </a:r>
            <a:endParaRPr sz="130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childTnLst>
                          </p:cTn>
                        </p:par>
                        <p:par>
                          <p:cTn id="8" fill="hold">
                            <p:stCondLst>
                              <p:cond delay="900"/>
                            </p:stCondLst>
                            <p:childTnLst>
                              <p:par>
                                <p:cTn id="9" presetID="10" presetClass="entr" presetSubtype="0" fill="hold" grpId="0" nodeType="afterEffect">
                                  <p:stCondLst>
                                    <p:cond delay="4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53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childTnLst>
                          </p:cTn>
                        </p:par>
                        <p:par>
                          <p:cTn id="15" fill="hold">
                            <p:stCondLst>
                              <p:cond delay="1800"/>
                            </p:stCondLst>
                            <p:childTnLst>
                              <p:par>
                                <p:cTn id="16" presetID="10" presetClass="entr" presetSubtype="0" fill="hold" grpId="0" nodeType="afterEffect">
                                  <p:stCondLst>
                                    <p:cond delay="40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450"/>
                                        <p:tgtEl>
                                          <p:spTgt spid="17"/>
                                        </p:tgtEl>
                                      </p:cBhvr>
                                    </p:animEffect>
                                  </p:childTnLst>
                                </p:cTn>
                              </p:par>
                              <p:par>
                                <p:cTn id="19" presetID="10" presetClass="entr" presetSubtype="0" fill="hold" grpId="0" nodeType="withEffect">
                                  <p:stCondLst>
                                    <p:cond delay="53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VISUAL STORYTELLING · Where each emission pattern is located</a:t>
            </a:r>
            <a:endParaRPr sz="1300" b="1">
              <a:solidFill>
                <a:srgbClr val="D3E3D6"/>
              </a:solidFill>
              <a:latin typeface="Georgia" panose="02040502050405020303"/>
            </a:endParaRPr>
          </a:p>
          <a:p>
            <a:pPr algn="l">
              <a:spcBef>
                <a:spcPts val="200"/>
              </a:spcBef>
              <a:defRPr>
                <a:latin typeface="Times New Roman" panose="02020603050405020304"/>
              </a:defRPr>
            </a:pPr>
            <a:r>
              <a:rPr sz="2500" b="1">
                <a:solidFill>
                  <a:srgbClr val="FFFFFF"/>
                </a:solidFill>
                <a:latin typeface="Georgia" panose="02040502050405020303"/>
              </a:rPr>
              <a:t>Transition pressures are geographically uneven</a:t>
            </a:r>
            <a:endParaRPr sz="25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3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20</a:t>
            </a:r>
            <a:endParaRPr sz="1400" b="0">
              <a:solidFill>
                <a:srgbClr val="6E7672"/>
              </a:solidFill>
              <a:latin typeface="Times New Roman" panose="02020603050405020304"/>
            </a:endParaRPr>
          </a:p>
        </p:txBody>
      </p:sp>
      <p:pic>
        <p:nvPicPr>
          <p:cNvPr id="14" name="anim_183" descr="fig_pathway_map.png"/>
          <p:cNvPicPr>
            <a:picLocks noChangeAspect="1"/>
          </p:cNvPicPr>
          <p:nvPr/>
        </p:nvPicPr>
        <p:blipFill>
          <a:blip r:embed="rId2"/>
          <a:stretch>
            <a:fillRect/>
          </a:stretch>
        </p:blipFill>
        <p:spPr>
          <a:xfrm>
            <a:off x="274320" y="939422"/>
            <a:ext cx="11658600" cy="4823706"/>
          </a:xfrm>
          <a:prstGeom prst="rect">
            <a:avLst/>
          </a:prstGeom>
        </p:spPr>
      </p:pic>
      <p:sp>
        <p:nvSpPr>
          <p:cNvPr id="15" name="anim_184"/>
          <p:cNvSpPr txBox="1"/>
          <p:nvPr/>
        </p:nvSpPr>
        <p:spPr>
          <a:xfrm>
            <a:off x="566928" y="5815584"/>
            <a:ext cx="10881360" cy="40233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F5248"/>
                </a:solidFill>
                <a:latin typeface="Times New Roman" panose="02020603050405020304"/>
              </a:rPr>
              <a:t>The map locates monitoring tasks, not judgement: </a:t>
            </a:r>
            <a:r>
              <a:rPr sz="1500" b="0">
                <a:solidFill>
                  <a:srgbClr val="252B30"/>
                </a:solidFill>
                <a:latin typeface="Times New Roman" panose="02020603050405020304"/>
              </a:rPr>
              <a:t>rapid-growth pressure clusters in South and Southeast Asia; dark outlines flag the 10 boundary countries.</a:t>
            </a:r>
            <a:r>
              <a:rPr sz="1500" b="0">
                <a:solidFill>
                  <a:srgbClr val="6E7672"/>
                </a:solidFill>
                <a:latin typeface="Times New Roman"/>
              </a:rPr>
              <a:t> [1] [3]</a:t>
            </a:r>
            <a:endParaRPr sz="150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childTnLst>
                          </p:cTn>
                        </p:par>
                        <p:par>
                          <p:cTn id="8" fill="hold">
                            <p:stCondLst>
                              <p:cond delay="900"/>
                            </p:stCondLst>
                            <p:childTnLst>
                              <p:par>
                                <p:cTn id="9" presetID="10" presetClass="entr" presetSubtype="0" fill="hold" grpId="0" nodeType="afterEffect">
                                  <p:stCondLst>
                                    <p:cond delay="4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VISUAL STORYTELLING · How limited monitoring attention should be allocated</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Where emissions head decides where monitoring goes</a:t>
            </a:r>
            <a:endParaRPr sz="2300" b="1">
              <a:solidFill>
                <a:srgbClr val="FFFFFF"/>
              </a:solidFill>
              <a:latin typeface="Georgia" panose="02040502050405020303"/>
            </a:endParaRPr>
          </a:p>
        </p:txBody>
      </p:sp>
      <p:sp>
        <p:nvSpPr>
          <p:cNvPr id="10" name="TextBox 9"/>
          <p:cNvSpPr txBox="1"/>
          <p:nvPr/>
        </p:nvSpPr>
        <p:spPr>
          <a:xfrm>
            <a:off x="10469880" y="274320"/>
            <a:ext cx="1417320" cy="329184"/>
          </a:xfrm>
          <a:prstGeom prst="rect">
            <a:avLst/>
          </a:prstGeom>
          <a:noFill/>
          <a:ln>
            <a:noFill/>
          </a:ln>
          <a:effectLst/>
        </p:spPr>
        <p:txBody>
          <a:bodyPr wrap="square" lIns="45720" tIns="18288" rIns="45720" bIns="18288" anchor="t">
            <a:spAutoFit/>
          </a:bodyPr>
          <a:lstStyle/>
          <a:p>
            <a:pPr algn="r">
              <a:defRPr>
                <a:latin typeface="Times New Roman" panose="02020603050405020304"/>
              </a:defRPr>
            </a:pPr>
            <a:r>
              <a:rPr sz="1400" b="1">
                <a:solidFill>
                  <a:srgbClr val="D3E3D6"/>
                </a:solidFill>
                <a:latin typeface="Times New Roman" panose="02020603050405020304"/>
              </a:rPr>
              <a:t>4 / 4</a:t>
            </a:r>
            <a:endParaRPr sz="1400" b="1">
              <a:solidFill>
                <a:srgbClr val="D3E3D6"/>
              </a:solidFill>
              <a:latin typeface="Times New Roman" panose="02020603050405020304"/>
            </a:endParaRPr>
          </a:p>
        </p:txBody>
      </p:sp>
      <p:sp>
        <p:nvSpPr>
          <p:cNvPr id="11" name="TextBox 10"/>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SHEN RUITING</a:t>
            </a:r>
            <a:endParaRPr sz="1300" b="1">
              <a:solidFill>
                <a:srgbClr val="6E7672"/>
              </a:solidFill>
              <a:latin typeface="Times New Roman" panose="02020603050405020304"/>
            </a:endParaRPr>
          </a:p>
        </p:txBody>
      </p:sp>
      <p:sp>
        <p:nvSpPr>
          <p:cNvPr id="13" name="TextBox 12"/>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21</a:t>
            </a:r>
            <a:endParaRPr sz="1400" b="0">
              <a:solidFill>
                <a:srgbClr val="6E7672"/>
              </a:solidFill>
              <a:latin typeface="Times New Roman" panose="02020603050405020304"/>
            </a:endParaRPr>
          </a:p>
        </p:txBody>
      </p:sp>
      <p:pic>
        <p:nvPicPr>
          <p:cNvPr id="14" name="anim_185" descr="fig_pathway_centroids.png"/>
          <p:cNvPicPr>
            <a:picLocks noChangeAspect="1"/>
          </p:cNvPicPr>
          <p:nvPr/>
        </p:nvPicPr>
        <p:blipFill>
          <a:blip r:embed="rId2"/>
          <a:stretch>
            <a:fillRect/>
          </a:stretch>
        </p:blipFill>
        <p:spPr>
          <a:xfrm>
            <a:off x="423731" y="886968"/>
            <a:ext cx="7811904" cy="3977639"/>
          </a:xfrm>
          <a:prstGeom prst="rect">
            <a:avLst/>
          </a:prstGeom>
        </p:spPr>
      </p:pic>
      <p:sp>
        <p:nvSpPr>
          <p:cNvPr id="15" name="anim_186"/>
          <p:cNvSpPr/>
          <p:nvPr/>
        </p:nvSpPr>
        <p:spPr>
          <a:xfrm>
            <a:off x="457200" y="4828032"/>
            <a:ext cx="2404872" cy="932688"/>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6" name="anim_187"/>
          <p:cNvSpPr txBox="1"/>
          <p:nvPr/>
        </p:nvSpPr>
        <p:spPr>
          <a:xfrm>
            <a:off x="603504" y="4864608"/>
            <a:ext cx="2103120" cy="3474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700" b="1">
                <a:solidFill>
                  <a:srgbClr val="4F6E96"/>
                </a:solidFill>
                <a:latin typeface="Times New Roman" panose="02020603050405020304"/>
              </a:rPr>
              <a:t>15E to 44E</a:t>
            </a:r>
            <a:endParaRPr sz="1700" b="1">
              <a:solidFill>
                <a:srgbClr val="4F6E96"/>
              </a:solidFill>
              <a:latin typeface="Times New Roman" panose="02020603050405020304"/>
            </a:endParaRPr>
          </a:p>
        </p:txBody>
      </p:sp>
      <p:sp>
        <p:nvSpPr>
          <p:cNvPr id="17" name="anim_188"/>
          <p:cNvSpPr txBox="1"/>
          <p:nvPr/>
        </p:nvSpPr>
        <p:spPr>
          <a:xfrm>
            <a:off x="603504" y="5193792"/>
            <a:ext cx="2103120" cy="51206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252B30"/>
                </a:solidFill>
                <a:latin typeface="Times New Roman" panose="02020603050405020304"/>
              </a:rPr>
              <a:t>Centre of gravity of all 193 countries shifts east.</a:t>
            </a:r>
            <a:r>
              <a:rPr sz="1300" b="0">
                <a:solidFill>
                  <a:srgbClr val="6E7672"/>
                </a:solidFill>
                <a:latin typeface="Times New Roman"/>
              </a:rPr>
              <a:t> [3]</a:t>
            </a:r>
            <a:endParaRPr sz="1300" b="0">
              <a:solidFill>
                <a:srgbClr val="252B30"/>
              </a:solidFill>
              <a:latin typeface="Times New Roman" panose="02020603050405020304"/>
            </a:endParaRPr>
          </a:p>
        </p:txBody>
      </p:sp>
      <p:sp>
        <p:nvSpPr>
          <p:cNvPr id="18" name="anim_189"/>
          <p:cNvSpPr/>
          <p:nvPr/>
        </p:nvSpPr>
        <p:spPr>
          <a:xfrm>
            <a:off x="2944368" y="4828032"/>
            <a:ext cx="2404872" cy="932688"/>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9" name="anim_190"/>
          <p:cNvSpPr txBox="1"/>
          <p:nvPr/>
        </p:nvSpPr>
        <p:spPr>
          <a:xfrm>
            <a:off x="3090672" y="4864608"/>
            <a:ext cx="2103120" cy="3474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700" b="1">
                <a:solidFill>
                  <a:srgbClr val="BE7F4E"/>
                </a:solidFill>
                <a:latin typeface="Times New Roman" panose="02020603050405020304"/>
              </a:rPr>
              <a:t>+198%</a:t>
            </a:r>
            <a:endParaRPr sz="1700" b="1">
              <a:solidFill>
                <a:srgbClr val="BE7F4E"/>
              </a:solidFill>
              <a:latin typeface="Times New Roman" panose="02020603050405020304"/>
            </a:endParaRPr>
          </a:p>
        </p:txBody>
      </p:sp>
      <p:sp>
        <p:nvSpPr>
          <p:cNvPr id="20" name="anim_191"/>
          <p:cNvSpPr txBox="1"/>
          <p:nvPr/>
        </p:nvSpPr>
        <p:spPr>
          <a:xfrm>
            <a:off x="3090672" y="5193792"/>
            <a:ext cx="2103120" cy="51206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252B30"/>
                </a:solidFill>
                <a:latin typeface="Times New Roman" panose="02020603050405020304"/>
              </a:rPr>
              <a:t>Rapid-growth emissions since 1992; centre stays in South/Southeast Asia.</a:t>
            </a:r>
            <a:endParaRPr sz="1300" b="0">
              <a:solidFill>
                <a:srgbClr val="252B30"/>
              </a:solidFill>
              <a:latin typeface="Times New Roman" panose="02020603050405020304"/>
            </a:endParaRPr>
          </a:p>
        </p:txBody>
      </p:sp>
      <p:sp>
        <p:nvSpPr>
          <p:cNvPr id="21" name="anim_192"/>
          <p:cNvSpPr/>
          <p:nvPr/>
        </p:nvSpPr>
        <p:spPr>
          <a:xfrm>
            <a:off x="5431536" y="4828032"/>
            <a:ext cx="2404872" cy="932688"/>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2" name="anim_193"/>
          <p:cNvSpPr txBox="1"/>
          <p:nvPr/>
        </p:nvSpPr>
        <p:spPr>
          <a:xfrm>
            <a:off x="5577840" y="4864608"/>
            <a:ext cx="2103120" cy="3474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700" b="1">
                <a:solidFill>
                  <a:srgbClr val="4F6E96"/>
                </a:solidFill>
                <a:latin typeface="Times New Roman" panose="02020603050405020304"/>
              </a:rPr>
              <a:t>+58%</a:t>
            </a:r>
            <a:endParaRPr sz="1700" b="1">
              <a:solidFill>
                <a:srgbClr val="4F6E96"/>
              </a:solidFill>
              <a:latin typeface="Times New Roman" panose="02020603050405020304"/>
            </a:endParaRPr>
          </a:p>
        </p:txBody>
      </p:sp>
      <p:sp>
        <p:nvSpPr>
          <p:cNvPr id="23" name="anim_194"/>
          <p:cNvSpPr txBox="1"/>
          <p:nvPr/>
        </p:nvSpPr>
        <p:spPr>
          <a:xfrm>
            <a:off x="5577840" y="5193792"/>
            <a:ext cx="2103120" cy="51206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252B30"/>
                </a:solidFill>
                <a:latin typeface="Times New Roman" panose="02020603050405020304"/>
              </a:rPr>
              <a:t>Plateauing emissions - 92.2% of 2017-21 emissions.</a:t>
            </a:r>
            <a:endParaRPr sz="1300" b="0">
              <a:solidFill>
                <a:srgbClr val="252B30"/>
              </a:solidFill>
              <a:latin typeface="Times New Roman" panose="02020603050405020304"/>
            </a:endParaRPr>
          </a:p>
        </p:txBody>
      </p:sp>
      <p:sp>
        <p:nvSpPr>
          <p:cNvPr id="24" name="anim_195"/>
          <p:cNvSpPr txBox="1"/>
          <p:nvPr/>
        </p:nvSpPr>
        <p:spPr>
          <a:xfrm>
            <a:off x="475488" y="5815584"/>
            <a:ext cx="7589520" cy="310896"/>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1">
                <a:solidFill>
                  <a:srgbClr val="2F5248"/>
                </a:solidFill>
                <a:latin typeface="Times New Roman" panose="02020603050405020304"/>
              </a:rPr>
              <a:t>Same symptom, different causes: </a:t>
            </a:r>
            <a:r>
              <a:rPr sz="1300" b="0">
                <a:solidFill>
                  <a:srgbClr val="6E7672"/>
                </a:solidFill>
                <a:latin typeface="Times New Roman" panose="02020603050405020304"/>
              </a:rPr>
              <a:t>flat emissions can mean expansion, slow post-peak decline or a real fuel shift.</a:t>
            </a:r>
            <a:endParaRPr sz="1300" b="0">
              <a:solidFill>
                <a:srgbClr val="6E7672"/>
              </a:solidFill>
              <a:latin typeface="Times New Roman" panose="02020603050405020304"/>
            </a:endParaRPr>
          </a:p>
        </p:txBody>
      </p:sp>
      <p:sp>
        <p:nvSpPr>
          <p:cNvPr id="25" name="TextBox 24"/>
          <p:cNvSpPr txBox="1"/>
          <p:nvPr/>
        </p:nvSpPr>
        <p:spPr>
          <a:xfrm>
            <a:off x="8522208" y="1005840"/>
            <a:ext cx="36576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MONITORING PRIORITIES</a:t>
            </a:r>
            <a:endParaRPr sz="1350" b="1">
              <a:solidFill>
                <a:srgbClr val="2F5248"/>
              </a:solidFill>
              <a:latin typeface="Times New Roman" panose="02020603050405020304"/>
            </a:endParaRPr>
          </a:p>
        </p:txBody>
      </p:sp>
      <p:sp>
        <p:nvSpPr>
          <p:cNvPr id="26" name="anim_196"/>
          <p:cNvSpPr/>
          <p:nvPr/>
        </p:nvSpPr>
        <p:spPr>
          <a:xfrm>
            <a:off x="8522208" y="1325880"/>
            <a:ext cx="3063240" cy="1536192"/>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7" name="anim_197"/>
          <p:cNvSpPr/>
          <p:nvPr/>
        </p:nvSpPr>
        <p:spPr>
          <a:xfrm>
            <a:off x="8522208" y="1325880"/>
            <a:ext cx="64008" cy="1536192"/>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28" name="anim_198"/>
          <p:cNvSpPr txBox="1"/>
          <p:nvPr/>
        </p:nvSpPr>
        <p:spPr>
          <a:xfrm>
            <a:off x="8714232" y="1380744"/>
            <a:ext cx="2743200" cy="3657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BE7F4E"/>
                </a:solidFill>
                <a:latin typeface="Times New Roman" panose="02020603050405020304"/>
              </a:rPr>
              <a:t>Rapid-growth pathway (24)</a:t>
            </a:r>
            <a:endParaRPr sz="1450" b="1">
              <a:solidFill>
                <a:srgbClr val="BE7F4E"/>
              </a:solidFill>
              <a:latin typeface="Times New Roman" panose="02020603050405020304"/>
            </a:endParaRPr>
          </a:p>
        </p:txBody>
      </p:sp>
      <p:sp>
        <p:nvSpPr>
          <p:cNvPr id="29" name="anim_199"/>
          <p:cNvSpPr txBox="1"/>
          <p:nvPr/>
        </p:nvSpPr>
        <p:spPr>
          <a:xfrm>
            <a:off x="8714232" y="1746504"/>
            <a:ext cx="2743200" cy="10515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252B30"/>
                </a:solidFill>
                <a:latin typeface="Times New Roman" panose="02020603050405020304"/>
              </a:rPr>
              <a:t>Watch: growth rate · fuel shares · peak timing</a:t>
            </a:r>
            <a:endParaRPr sz="1350" b="0">
              <a:solidFill>
                <a:srgbClr val="252B30"/>
              </a:solidFill>
              <a:latin typeface="Times New Roman" panose="02020603050405020304"/>
            </a:endParaRPr>
          </a:p>
          <a:p>
            <a:pPr algn="l">
              <a:spcBef>
                <a:spcPts val="400"/>
              </a:spcBef>
              <a:defRPr>
                <a:latin typeface="Times New Roman" panose="02020603050405020304"/>
              </a:defRPr>
            </a:pPr>
            <a:r>
              <a:rPr sz="1350" b="0">
                <a:solidFill>
                  <a:srgbClr val="252B30"/>
                </a:solidFill>
                <a:latin typeface="Times New Roman" panose="02020603050405020304"/>
              </a:rPr>
              <a:t>Progress = growth slows, high-carbon shares fall</a:t>
            </a:r>
            <a:endParaRPr sz="1350" b="0">
              <a:solidFill>
                <a:srgbClr val="252B30"/>
              </a:solidFill>
              <a:latin typeface="Times New Roman" panose="02020603050405020304"/>
            </a:endParaRPr>
          </a:p>
        </p:txBody>
      </p:sp>
      <p:sp>
        <p:nvSpPr>
          <p:cNvPr id="30" name="anim_200"/>
          <p:cNvSpPr/>
          <p:nvPr/>
        </p:nvSpPr>
        <p:spPr>
          <a:xfrm>
            <a:off x="8522208" y="2971800"/>
            <a:ext cx="3063240" cy="1536192"/>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1" name="anim_201"/>
          <p:cNvSpPr/>
          <p:nvPr/>
        </p:nvSpPr>
        <p:spPr>
          <a:xfrm>
            <a:off x="8522208" y="2971800"/>
            <a:ext cx="64008" cy="1536192"/>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32" name="anim_202"/>
          <p:cNvSpPr txBox="1"/>
          <p:nvPr/>
        </p:nvSpPr>
        <p:spPr>
          <a:xfrm>
            <a:off x="8714232" y="3026664"/>
            <a:ext cx="2743200" cy="3657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4F6E96"/>
                </a:solidFill>
                <a:latin typeface="Times New Roman" panose="02020603050405020304"/>
              </a:rPr>
              <a:t>Plateauing pathway (169)</a:t>
            </a:r>
            <a:endParaRPr sz="1450" b="1">
              <a:solidFill>
                <a:srgbClr val="4F6E96"/>
              </a:solidFill>
              <a:latin typeface="Times New Roman" panose="02020603050405020304"/>
            </a:endParaRPr>
          </a:p>
        </p:txBody>
      </p:sp>
      <p:sp>
        <p:nvSpPr>
          <p:cNvPr id="33" name="anim_203"/>
          <p:cNvSpPr txBox="1"/>
          <p:nvPr/>
        </p:nvSpPr>
        <p:spPr>
          <a:xfrm>
            <a:off x="8714232" y="3392424"/>
            <a:ext cx="2743200" cy="10515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252B30"/>
                </a:solidFill>
                <a:latin typeface="Times New Roman" panose="02020603050405020304"/>
              </a:rPr>
              <a:t>Watch: total emissions · pace of decline</a:t>
            </a:r>
            <a:endParaRPr sz="1350" b="0">
              <a:solidFill>
                <a:srgbClr val="252B30"/>
              </a:solidFill>
              <a:latin typeface="Times New Roman" panose="02020603050405020304"/>
            </a:endParaRPr>
          </a:p>
          <a:p>
            <a:pPr algn="l">
              <a:spcBef>
                <a:spcPts val="400"/>
              </a:spcBef>
              <a:defRPr>
                <a:latin typeface="Times New Roman" panose="02020603050405020304"/>
              </a:defRPr>
            </a:pPr>
            <a:r>
              <a:rPr sz="1350" b="0">
                <a:solidFill>
                  <a:srgbClr val="252B30"/>
                </a:solidFill>
                <a:latin typeface="Times New Roman" panose="02020603050405020304"/>
              </a:rPr>
              <a:t>Progress = absolute emissions fall structurally</a:t>
            </a:r>
            <a:endParaRPr sz="1350" b="0">
              <a:solidFill>
                <a:srgbClr val="252B30"/>
              </a:solidFill>
              <a:latin typeface="Times New Roman" panose="02020603050405020304"/>
            </a:endParaRPr>
          </a:p>
        </p:txBody>
      </p:sp>
      <p:sp>
        <p:nvSpPr>
          <p:cNvPr id="34" name="anim_204"/>
          <p:cNvSpPr/>
          <p:nvPr/>
        </p:nvSpPr>
        <p:spPr>
          <a:xfrm>
            <a:off x="8522208" y="4617720"/>
            <a:ext cx="3063240" cy="1536192"/>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5" name="anim_205"/>
          <p:cNvSpPr/>
          <p:nvPr/>
        </p:nvSpPr>
        <p:spPr>
          <a:xfrm>
            <a:off x="8522208" y="4617720"/>
            <a:ext cx="64008" cy="1536192"/>
          </a:xfrm>
          <a:prstGeom prst="rect">
            <a:avLst/>
          </a:prstGeom>
          <a:solidFill>
            <a:srgbClr val="6E7672"/>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36" name="anim_206"/>
          <p:cNvSpPr txBox="1"/>
          <p:nvPr/>
        </p:nvSpPr>
        <p:spPr>
          <a:xfrm>
            <a:off x="8714232" y="4672583"/>
            <a:ext cx="2743200" cy="3657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50" b="1">
                <a:solidFill>
                  <a:srgbClr val="6E7672"/>
                </a:solidFill>
                <a:latin typeface="Times New Roman" panose="02020603050405020304"/>
              </a:rPr>
              <a:t>Boundary countries (10)</a:t>
            </a:r>
            <a:endParaRPr sz="1450" b="1">
              <a:solidFill>
                <a:srgbClr val="6E7672"/>
              </a:solidFill>
              <a:latin typeface="Times New Roman" panose="02020603050405020304"/>
            </a:endParaRPr>
          </a:p>
        </p:txBody>
      </p:sp>
      <p:sp>
        <p:nvSpPr>
          <p:cNvPr id="37" name="anim_207"/>
          <p:cNvSpPr txBox="1"/>
          <p:nvPr/>
        </p:nvSpPr>
        <p:spPr>
          <a:xfrm>
            <a:off x="8714232" y="5038344"/>
            <a:ext cx="2743200" cy="105156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252B30"/>
                </a:solidFill>
                <a:latin typeface="Times New Roman" panose="02020603050405020304"/>
              </a:rPr>
              <a:t>Watch: data completeness · membership stability</a:t>
            </a:r>
            <a:endParaRPr sz="1350" b="0">
              <a:solidFill>
                <a:srgbClr val="252B30"/>
              </a:solidFill>
              <a:latin typeface="Times New Roman" panose="02020603050405020304"/>
            </a:endParaRPr>
          </a:p>
          <a:p>
            <a:pPr algn="l">
              <a:spcBef>
                <a:spcPts val="400"/>
              </a:spcBef>
              <a:defRPr>
                <a:latin typeface="Times New Roman" panose="02020603050405020304"/>
              </a:defRPr>
            </a:pPr>
            <a:r>
              <a:rPr sz="1350" b="0">
                <a:solidFill>
                  <a:srgbClr val="252B30"/>
                </a:solidFill>
                <a:latin typeface="Times New Roman" panose="02020603050405020304"/>
              </a:rPr>
              <a:t>Progress = pathway membership stabilises with better data</a:t>
            </a:r>
            <a:endParaRPr sz="1350" b="0">
              <a:solidFill>
                <a:srgbClr val="252B30"/>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childTnLst>
                                </p:cTn>
                              </p:par>
                            </p:childTnLst>
                          </p:cTn>
                        </p:par>
                        <p:par>
                          <p:cTn id="8" fill="hold">
                            <p:stCondLst>
                              <p:cond delay="900"/>
                            </p:stCondLst>
                            <p:childTnLst>
                              <p:par>
                                <p:cTn id="9" presetID="10" presetClass="entr" presetSubtype="0" fill="hold" grpId="0" nodeType="afterEffect">
                                  <p:stCondLst>
                                    <p:cond delay="4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par>
                                <p:cTn id="12" presetID="10" presetClass="entr" presetSubtype="0" fill="hold" grpId="0" nodeType="withEffect">
                                  <p:stCondLst>
                                    <p:cond delay="53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450"/>
                                        <p:tgtEl>
                                          <p:spTgt spid="16"/>
                                        </p:tgtEl>
                                      </p:cBhvr>
                                    </p:animEffect>
                                  </p:childTnLst>
                                </p:cTn>
                              </p:par>
                              <p:par>
                                <p:cTn id="15" presetID="10" presetClass="entr" presetSubtype="0" fill="hold" grpId="0" nodeType="withEffect">
                                  <p:stCondLst>
                                    <p:cond delay="66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450"/>
                                        <p:tgtEl>
                                          <p:spTgt spid="17"/>
                                        </p:tgtEl>
                                      </p:cBhvr>
                                    </p:animEffect>
                                  </p:childTnLst>
                                </p:cTn>
                              </p:par>
                            </p:childTnLst>
                          </p:cTn>
                        </p:par>
                        <p:par>
                          <p:cTn id="18" fill="hold">
                            <p:stCondLst>
                              <p:cond delay="1800"/>
                            </p:stCondLst>
                            <p:childTnLst>
                              <p:par>
                                <p:cTn id="19" presetID="10" presetClass="entr" presetSubtype="0" fill="hold" grpId="0" nodeType="afterEffect">
                                  <p:stCondLst>
                                    <p:cond delay="40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450"/>
                                        <p:tgtEl>
                                          <p:spTgt spid="18"/>
                                        </p:tgtEl>
                                      </p:cBhvr>
                                    </p:animEffect>
                                  </p:childTnLst>
                                </p:cTn>
                              </p:par>
                              <p:par>
                                <p:cTn id="22" presetID="10" presetClass="entr" presetSubtype="0" fill="hold" grpId="0" nodeType="withEffect">
                                  <p:stCondLst>
                                    <p:cond delay="53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450"/>
                                        <p:tgtEl>
                                          <p:spTgt spid="19"/>
                                        </p:tgtEl>
                                      </p:cBhvr>
                                    </p:animEffect>
                                  </p:childTnLst>
                                </p:cTn>
                              </p:par>
                              <p:par>
                                <p:cTn id="25" presetID="10" presetClass="entr" presetSubtype="0" fill="hold" grpId="0" nodeType="withEffect">
                                  <p:stCondLst>
                                    <p:cond delay="66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50"/>
                                        <p:tgtEl>
                                          <p:spTgt spid="20"/>
                                        </p:tgtEl>
                                      </p:cBhvr>
                                    </p:animEffect>
                                  </p:childTnLst>
                                </p:cTn>
                              </p:par>
                            </p:childTnLst>
                          </p:cTn>
                        </p:par>
                        <p:par>
                          <p:cTn id="28" fill="hold">
                            <p:stCondLst>
                              <p:cond delay="2700"/>
                            </p:stCondLst>
                            <p:childTnLst>
                              <p:par>
                                <p:cTn id="29" presetID="10" presetClass="entr" presetSubtype="0" fill="hold" grpId="0" nodeType="afterEffect">
                                  <p:stCondLst>
                                    <p:cond delay="40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par>
                                <p:cTn id="32" presetID="10" presetClass="entr" presetSubtype="0" fill="hold" grpId="0" nodeType="withEffect">
                                  <p:stCondLst>
                                    <p:cond delay="53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par>
                                <p:cTn id="35" presetID="10" presetClass="entr" presetSubtype="0" fill="hold" grpId="0" nodeType="withEffect">
                                  <p:stCondLst>
                                    <p:cond delay="66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childTnLst>
                          </p:cTn>
                        </p:par>
                        <p:par>
                          <p:cTn id="38" fill="hold">
                            <p:stCondLst>
                              <p:cond delay="3600"/>
                            </p:stCondLst>
                            <p:childTnLst>
                              <p:par>
                                <p:cTn id="39" presetID="10" presetClass="entr" presetSubtype="0" fill="hold" grpId="0" nodeType="afterEffect">
                                  <p:stCondLst>
                                    <p:cond delay="40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450"/>
                                        <p:tgtEl>
                                          <p:spTgt spid="24"/>
                                        </p:tgtEl>
                                      </p:cBhvr>
                                    </p:animEffect>
                                  </p:childTnLst>
                                </p:cTn>
                              </p:par>
                            </p:childTnLst>
                          </p:cTn>
                        </p:par>
                        <p:par>
                          <p:cTn id="42" fill="hold">
                            <p:stCondLst>
                              <p:cond delay="4500"/>
                            </p:stCondLst>
                            <p:childTnLst>
                              <p:par>
                                <p:cTn id="43" presetID="10" presetClass="entr" presetSubtype="0" fill="hold" grpId="0" nodeType="afterEffect">
                                  <p:stCondLst>
                                    <p:cond delay="40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450"/>
                                        <p:tgtEl>
                                          <p:spTgt spid="26"/>
                                        </p:tgtEl>
                                      </p:cBhvr>
                                    </p:animEffect>
                                  </p:childTnLst>
                                </p:cTn>
                              </p:par>
                              <p:par>
                                <p:cTn id="46" presetID="10" presetClass="entr" presetSubtype="0" fill="hold" grpId="0" nodeType="withEffect">
                                  <p:stCondLst>
                                    <p:cond delay="53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450"/>
                                        <p:tgtEl>
                                          <p:spTgt spid="27"/>
                                        </p:tgtEl>
                                      </p:cBhvr>
                                    </p:animEffect>
                                  </p:childTnLst>
                                </p:cTn>
                              </p:par>
                              <p:par>
                                <p:cTn id="49" presetID="10" presetClass="entr" presetSubtype="0" fill="hold" grpId="0" nodeType="withEffect">
                                  <p:stCondLst>
                                    <p:cond delay="66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450"/>
                                        <p:tgtEl>
                                          <p:spTgt spid="28"/>
                                        </p:tgtEl>
                                      </p:cBhvr>
                                    </p:animEffect>
                                  </p:childTnLst>
                                </p:cTn>
                              </p:par>
                              <p:par>
                                <p:cTn id="52" presetID="10" presetClass="entr" presetSubtype="0" fill="hold" grpId="0" nodeType="withEffect">
                                  <p:stCondLst>
                                    <p:cond delay="79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450"/>
                                        <p:tgtEl>
                                          <p:spTgt spid="29"/>
                                        </p:tgtEl>
                                      </p:cBhvr>
                                    </p:animEffect>
                                  </p:childTnLst>
                                </p:cTn>
                              </p:par>
                            </p:childTnLst>
                          </p:cTn>
                        </p:par>
                        <p:par>
                          <p:cTn id="55" fill="hold">
                            <p:stCondLst>
                              <p:cond delay="5400"/>
                            </p:stCondLst>
                            <p:childTnLst>
                              <p:par>
                                <p:cTn id="56" presetID="10" presetClass="entr" presetSubtype="0" fill="hold" grpId="0" nodeType="afterEffect">
                                  <p:stCondLst>
                                    <p:cond delay="40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450"/>
                                        <p:tgtEl>
                                          <p:spTgt spid="30"/>
                                        </p:tgtEl>
                                      </p:cBhvr>
                                    </p:animEffect>
                                  </p:childTnLst>
                                </p:cTn>
                              </p:par>
                              <p:par>
                                <p:cTn id="59" presetID="10" presetClass="entr" presetSubtype="0" fill="hold" grpId="0" nodeType="withEffect">
                                  <p:stCondLst>
                                    <p:cond delay="53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450"/>
                                        <p:tgtEl>
                                          <p:spTgt spid="31"/>
                                        </p:tgtEl>
                                      </p:cBhvr>
                                    </p:animEffect>
                                  </p:childTnLst>
                                </p:cTn>
                              </p:par>
                              <p:par>
                                <p:cTn id="62" presetID="10" presetClass="entr" presetSubtype="0" fill="hold" grpId="0" nodeType="withEffect">
                                  <p:stCondLst>
                                    <p:cond delay="66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450"/>
                                        <p:tgtEl>
                                          <p:spTgt spid="32"/>
                                        </p:tgtEl>
                                      </p:cBhvr>
                                    </p:animEffect>
                                  </p:childTnLst>
                                </p:cTn>
                              </p:par>
                              <p:par>
                                <p:cTn id="65" presetID="10" presetClass="entr" presetSubtype="0" fill="hold" grpId="0" nodeType="withEffect">
                                  <p:stCondLst>
                                    <p:cond delay="79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50"/>
                                        <p:tgtEl>
                                          <p:spTgt spid="33"/>
                                        </p:tgtEl>
                                      </p:cBhvr>
                                    </p:animEffect>
                                  </p:childTnLst>
                                </p:cTn>
                              </p:par>
                            </p:childTnLst>
                          </p:cTn>
                        </p:par>
                        <p:par>
                          <p:cTn id="68" fill="hold">
                            <p:stCondLst>
                              <p:cond delay="6300"/>
                            </p:stCondLst>
                            <p:childTnLst>
                              <p:par>
                                <p:cTn id="69" presetID="10" presetClass="entr" presetSubtype="0" fill="hold" grpId="0" nodeType="afterEffect">
                                  <p:stCondLst>
                                    <p:cond delay="400"/>
                                  </p:stCondLst>
                                  <p:childTnLst>
                                    <p:set>
                                      <p:cBhvr>
                                        <p:cTn id="70" dur="1" fill="hold">
                                          <p:stCondLst>
                                            <p:cond delay="0"/>
                                          </p:stCondLst>
                                        </p:cTn>
                                        <p:tgtEl>
                                          <p:spTgt spid="34"/>
                                        </p:tgtEl>
                                        <p:attrNameLst>
                                          <p:attrName>style.visibility</p:attrName>
                                        </p:attrNameLst>
                                      </p:cBhvr>
                                      <p:to>
                                        <p:strVal val="visible"/>
                                      </p:to>
                                    </p:set>
                                    <p:animEffect transition="in" filter="fade">
                                      <p:cBhvr>
                                        <p:cTn id="71" dur="450"/>
                                        <p:tgtEl>
                                          <p:spTgt spid="34"/>
                                        </p:tgtEl>
                                      </p:cBhvr>
                                    </p:animEffect>
                                  </p:childTnLst>
                                </p:cTn>
                              </p:par>
                              <p:par>
                                <p:cTn id="72" presetID="10" presetClass="entr" presetSubtype="0" fill="hold" grpId="0" nodeType="withEffect">
                                  <p:stCondLst>
                                    <p:cond delay="53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450"/>
                                        <p:tgtEl>
                                          <p:spTgt spid="35"/>
                                        </p:tgtEl>
                                      </p:cBhvr>
                                    </p:animEffect>
                                  </p:childTnLst>
                                </p:cTn>
                              </p:par>
                              <p:par>
                                <p:cTn id="75" presetID="10" presetClass="entr" presetSubtype="0" fill="hold" grpId="0" nodeType="withEffect">
                                  <p:stCondLst>
                                    <p:cond delay="66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450"/>
                                        <p:tgtEl>
                                          <p:spTgt spid="36"/>
                                        </p:tgtEl>
                                      </p:cBhvr>
                                    </p:animEffect>
                                  </p:childTnLst>
                                </p:cTn>
                              </p:par>
                              <p:par>
                                <p:cTn id="78" presetID="10" presetClass="entr" presetSubtype="0" fill="hold" grpId="0" nodeType="withEffect">
                                  <p:stCondLst>
                                    <p:cond delay="790"/>
                                  </p:stCondLst>
                                  <p:childTnLst>
                                    <p:set>
                                      <p:cBhvr>
                                        <p:cTn id="79" dur="1" fill="hold">
                                          <p:stCondLst>
                                            <p:cond delay="0"/>
                                          </p:stCondLst>
                                        </p:cTn>
                                        <p:tgtEl>
                                          <p:spTgt spid="37"/>
                                        </p:tgtEl>
                                        <p:attrNameLst>
                                          <p:attrName>style.visibility</p:attrName>
                                        </p:attrNameLst>
                                      </p:cBhvr>
                                      <p:to>
                                        <p:strVal val="visible"/>
                                      </p:to>
                                    </p:set>
                                    <p:animEffect transition="in" filter="fade">
                                      <p:cBhvr>
                                        <p:cTn id="80"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1300" b="1">
                <a:solidFill>
                  <a:srgbClr val="D3E3D6"/>
                </a:solidFill>
                <a:latin typeface="Georgia" panose="02040502050405020303"/>
              </a:rPr>
              <a:t>CONCLUSIONS · What this investigation changes for climate monitoring</a:t>
            </a:r>
            <a:endParaRPr sz="1300" b="1">
              <a:solidFill>
                <a:srgbClr val="D3E3D6"/>
              </a:solidFill>
              <a:latin typeface="Georgia" panose="02040502050405020303"/>
            </a:endParaRPr>
          </a:p>
          <a:p>
            <a:pPr algn="l">
              <a:spcBef>
                <a:spcPts val="200"/>
              </a:spcBef>
              <a:defRPr>
                <a:latin typeface="Times New Roman" panose="02020603050405020304"/>
              </a:defRPr>
            </a:pPr>
            <a:r>
              <a:rPr sz="2300" b="1">
                <a:solidFill>
                  <a:srgbClr val="FFFFFF"/>
                </a:solidFill>
                <a:latin typeface="Georgia" panose="02040502050405020303"/>
              </a:rPr>
              <a:t>From one emission total to pathway-specific monitoring</a:t>
            </a:r>
            <a:endParaRPr sz="2300" b="1">
              <a:solidFill>
                <a:srgbClr val="FFFFFF"/>
              </a:solidFill>
              <a:latin typeface="Georgia" panose="02040502050405020303"/>
            </a:endParaRPr>
          </a:p>
        </p:txBody>
      </p:sp>
      <p:sp>
        <p:nvSpPr>
          <p:cNvPr id="10" name="TextBox 9"/>
          <p:cNvSpPr txBox="1"/>
          <p:nvPr/>
        </p:nvSpPr>
        <p:spPr>
          <a:xfrm>
            <a:off x="1572768" y="6492240"/>
            <a:ext cx="6400800" cy="292608"/>
          </a:xfrm>
          <a:prstGeom prst="rect">
            <a:avLst/>
          </a:prstGeom>
          <a:noFill/>
          <a:ln>
            <a:noFill/>
          </a:ln>
          <a:effectLst/>
        </p:spPr>
        <p:txBody>
          <a:bodyPr wrap="square" lIns="45720" tIns="18288" rIns="45720" bIns="18288" anchor="ctr">
            <a:spAutoFit/>
          </a:bodyPr>
          <a:lstStyle/>
          <a:p>
            <a:pPr algn="l">
              <a:defRPr>
                <a:latin typeface="Times New Roman" panose="02020603050405020304"/>
              </a:defRPr>
            </a:pPr>
            <a:r>
              <a:rPr sz="1300" b="1">
                <a:solidFill>
                  <a:srgbClr val="6E7672"/>
                </a:solidFill>
                <a:latin typeface="Times New Roman" panose="02020603050405020304"/>
              </a:rPr>
              <a:t>Responsible: GROUP 30 - ALL MEMBERS</a:t>
            </a:r>
            <a:endParaRPr sz="1300" b="1">
              <a:solidFill>
                <a:srgbClr val="6E7672"/>
              </a:solidFill>
              <a:latin typeface="Times New Roman" panose="02020603050405020304"/>
            </a:endParaRPr>
          </a:p>
        </p:txBody>
      </p:sp>
      <p:sp>
        <p:nvSpPr>
          <p:cNvPr id="11" name="TextBox 10"/>
          <p:cNvSpPr txBox="1"/>
          <p:nvPr/>
        </p:nvSpPr>
        <p:spPr>
          <a:xfrm>
            <a:off x="11201400" y="6492240"/>
            <a:ext cx="749808" cy="292608"/>
          </a:xfrm>
          <a:prstGeom prst="rect">
            <a:avLst/>
          </a:prstGeom>
          <a:noFill/>
          <a:ln>
            <a:noFill/>
          </a:ln>
          <a:effectLst/>
        </p:spPr>
        <p:txBody>
          <a:bodyPr wrap="square" lIns="45720" tIns="18288" rIns="45720" bIns="18288" anchor="ctr">
            <a:spAutoFit/>
          </a:bodyPr>
          <a:lstStyle/>
          <a:p>
            <a:pPr algn="r">
              <a:defRPr>
                <a:latin typeface="Times New Roman" panose="02020603050405020304"/>
              </a:defRPr>
            </a:pPr>
            <a:r>
              <a:rPr sz="1400" b="0">
                <a:solidFill>
                  <a:srgbClr val="6E7672"/>
                </a:solidFill>
                <a:latin typeface="Times New Roman" panose="02020603050405020304"/>
              </a:rPr>
              <a:t>22</a:t>
            </a:r>
            <a:endParaRPr sz="1400" b="0">
              <a:solidFill>
                <a:srgbClr val="6E7672"/>
              </a:solidFill>
              <a:latin typeface="Times New Roman" panose="02020603050405020304"/>
            </a:endParaRPr>
          </a:p>
        </p:txBody>
      </p:sp>
      <p:sp>
        <p:nvSpPr>
          <p:cNvPr id="12" name="anim_208"/>
          <p:cNvSpPr/>
          <p:nvPr/>
        </p:nvSpPr>
        <p:spPr>
          <a:xfrm>
            <a:off x="457200" y="1188720"/>
            <a:ext cx="3566160" cy="2148840"/>
          </a:xfrm>
          <a:prstGeom prst="roundRect">
            <a:avLst>
              <a:gd name="adj" fmla="val 5500"/>
            </a:avLst>
          </a:prstGeom>
          <a:solidFill>
            <a:srgbClr val="ECEFF4">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3" name="anim_209"/>
          <p:cNvSpPr/>
          <p:nvPr/>
        </p:nvSpPr>
        <p:spPr>
          <a:xfrm>
            <a:off x="457200" y="1188720"/>
            <a:ext cx="3566160" cy="91440"/>
          </a:xfrm>
          <a:prstGeom prst="rect">
            <a:avLst/>
          </a:prstGeom>
          <a:solidFill>
            <a:srgbClr val="4F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4" name="anim_210"/>
          <p:cNvSpPr txBox="1"/>
          <p:nvPr/>
        </p:nvSpPr>
        <p:spPr>
          <a:xfrm>
            <a:off x="621792" y="1353312"/>
            <a:ext cx="3246120" cy="3200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4F6E96"/>
                </a:solidFill>
                <a:latin typeface="Times New Roman" panose="02020603050405020304"/>
              </a:rPr>
              <a:t>CURRENT BURDEN</a:t>
            </a:r>
            <a:endParaRPr sz="1350" b="1">
              <a:solidFill>
                <a:srgbClr val="4F6E96"/>
              </a:solidFill>
              <a:latin typeface="Times New Roman" panose="02020603050405020304"/>
            </a:endParaRPr>
          </a:p>
        </p:txBody>
      </p:sp>
      <p:sp>
        <p:nvSpPr>
          <p:cNvPr id="15" name="anim_211"/>
          <p:cNvSpPr txBox="1"/>
          <p:nvPr/>
        </p:nvSpPr>
        <p:spPr>
          <a:xfrm>
            <a:off x="621792" y="1700784"/>
            <a:ext cx="3246120" cy="8046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52B30"/>
                </a:solidFill>
                <a:latin typeface="Times New Roman" panose="02020603050405020304"/>
              </a:rPr>
              <a:t>The 169-country plateauing pathway holds 92.2% of 2017-2021 sample emissions</a:t>
            </a:r>
            <a:endParaRPr sz="1400" b="1">
              <a:solidFill>
                <a:srgbClr val="252B30"/>
              </a:solidFill>
              <a:latin typeface="Times New Roman" panose="02020603050405020304"/>
            </a:endParaRPr>
          </a:p>
        </p:txBody>
      </p:sp>
      <p:sp>
        <p:nvSpPr>
          <p:cNvPr id="16" name="anim_212"/>
          <p:cNvSpPr txBox="1"/>
          <p:nvPr/>
        </p:nvSpPr>
        <p:spPr>
          <a:xfrm>
            <a:off x="621792" y="2523744"/>
            <a:ext cx="3246120" cy="7772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252B30"/>
                </a:solidFill>
                <a:latin typeface="Times New Roman" panose="02020603050405020304"/>
              </a:rPr>
              <a:t>Push the plateau into absolute decline - this is the short-term mitigation lever.</a:t>
            </a:r>
            <a:endParaRPr sz="1350" b="0">
              <a:solidFill>
                <a:srgbClr val="252B30"/>
              </a:solidFill>
              <a:latin typeface="Times New Roman" panose="02020603050405020304"/>
            </a:endParaRPr>
          </a:p>
        </p:txBody>
      </p:sp>
      <p:sp>
        <p:nvSpPr>
          <p:cNvPr id="17" name="anim_213"/>
          <p:cNvSpPr/>
          <p:nvPr/>
        </p:nvSpPr>
        <p:spPr>
          <a:xfrm>
            <a:off x="4142232" y="1188720"/>
            <a:ext cx="3566160" cy="2148840"/>
          </a:xfrm>
          <a:prstGeom prst="roundRect">
            <a:avLst>
              <a:gd name="adj" fmla="val 5500"/>
            </a:avLst>
          </a:prstGeom>
          <a:solidFill>
            <a:srgbClr val="F7F1E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8" name="anim_214"/>
          <p:cNvSpPr/>
          <p:nvPr/>
        </p:nvSpPr>
        <p:spPr>
          <a:xfrm>
            <a:off x="4142232" y="1188720"/>
            <a:ext cx="3566160" cy="91440"/>
          </a:xfrm>
          <a:prstGeom prst="rect">
            <a:avLst/>
          </a:prstGeom>
          <a:solidFill>
            <a:srgbClr val="BE7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9" name="anim_215"/>
          <p:cNvSpPr txBox="1"/>
          <p:nvPr/>
        </p:nvSpPr>
        <p:spPr>
          <a:xfrm>
            <a:off x="4306824" y="1353312"/>
            <a:ext cx="3246120" cy="3200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BE7F4E"/>
                </a:solidFill>
                <a:latin typeface="Times New Roman" panose="02020603050405020304"/>
              </a:rPr>
              <a:t>FUTURE PRESSURE</a:t>
            </a:r>
            <a:endParaRPr sz="1350" b="1">
              <a:solidFill>
                <a:srgbClr val="BE7F4E"/>
              </a:solidFill>
              <a:latin typeface="Times New Roman" panose="02020603050405020304"/>
            </a:endParaRPr>
          </a:p>
        </p:txBody>
      </p:sp>
      <p:sp>
        <p:nvSpPr>
          <p:cNvPr id="20" name="anim_216"/>
          <p:cNvSpPr txBox="1"/>
          <p:nvPr/>
        </p:nvSpPr>
        <p:spPr>
          <a:xfrm>
            <a:off x="4306824" y="1700784"/>
            <a:ext cx="3246120" cy="8046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52B30"/>
                </a:solidFill>
                <a:latin typeface="Times New Roman" panose="02020603050405020304"/>
              </a:rPr>
              <a:t>The 24-country rapid-growth pathway: fast growth, late peaks, +198% since 1992</a:t>
            </a:r>
            <a:endParaRPr sz="1400" b="1">
              <a:solidFill>
                <a:srgbClr val="252B30"/>
              </a:solidFill>
              <a:latin typeface="Times New Roman" panose="02020603050405020304"/>
            </a:endParaRPr>
          </a:p>
        </p:txBody>
      </p:sp>
      <p:sp>
        <p:nvSpPr>
          <p:cNvPr id="21" name="anim_217"/>
          <p:cNvSpPr txBox="1"/>
          <p:nvPr/>
        </p:nvSpPr>
        <p:spPr>
          <a:xfrm>
            <a:off x="4306824" y="2523744"/>
            <a:ext cx="3246120" cy="7772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252B30"/>
                </a:solidFill>
                <a:latin typeface="Times New Roman" panose="02020603050405020304"/>
              </a:rPr>
              <a:t>Track growth and lock-in signals now, before today's growth becomes tomorrow's burden.</a:t>
            </a:r>
            <a:endParaRPr sz="1350" b="0">
              <a:solidFill>
                <a:srgbClr val="252B30"/>
              </a:solidFill>
              <a:latin typeface="Times New Roman" panose="02020603050405020304"/>
            </a:endParaRPr>
          </a:p>
        </p:txBody>
      </p:sp>
      <p:sp>
        <p:nvSpPr>
          <p:cNvPr id="22" name="anim_218"/>
          <p:cNvSpPr/>
          <p:nvPr/>
        </p:nvSpPr>
        <p:spPr>
          <a:xfrm>
            <a:off x="7827264" y="1188720"/>
            <a:ext cx="3566160" cy="2148840"/>
          </a:xfrm>
          <a:prstGeom prst="roundRect">
            <a:avLst>
              <a:gd name="adj" fmla="val 5500"/>
            </a:avLst>
          </a:prstGeom>
          <a:solidFill>
            <a:srgbClr val="FAFBFA">
              <a:alpha val="74000"/>
            </a:srgbClr>
          </a:solidFill>
          <a:ln w="9525">
            <a:solidFill>
              <a:srgbClr val="D5DED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3" name="anim_219"/>
          <p:cNvSpPr/>
          <p:nvPr/>
        </p:nvSpPr>
        <p:spPr>
          <a:xfrm>
            <a:off x="7827264" y="1188720"/>
            <a:ext cx="3566160" cy="91440"/>
          </a:xfrm>
          <a:prstGeom prst="rect">
            <a:avLst/>
          </a:prstGeom>
          <a:solidFill>
            <a:srgbClr val="6E76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4" name="anim_220"/>
          <p:cNvSpPr txBox="1"/>
          <p:nvPr/>
        </p:nvSpPr>
        <p:spPr>
          <a:xfrm>
            <a:off x="7991856" y="1353312"/>
            <a:ext cx="3246120" cy="3200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6E7672"/>
                </a:solidFill>
                <a:latin typeface="Times New Roman" panose="02020603050405020304"/>
              </a:rPr>
              <a:t>BOUNDARY UNCERTAINTY</a:t>
            </a:r>
            <a:endParaRPr sz="1350" b="1">
              <a:solidFill>
                <a:srgbClr val="6E7672"/>
              </a:solidFill>
              <a:latin typeface="Times New Roman" panose="02020603050405020304"/>
            </a:endParaRPr>
          </a:p>
        </p:txBody>
      </p:sp>
      <p:sp>
        <p:nvSpPr>
          <p:cNvPr id="25" name="anim_221"/>
          <p:cNvSpPr txBox="1"/>
          <p:nvPr/>
        </p:nvSpPr>
        <p:spPr>
          <a:xfrm>
            <a:off x="7991856" y="1700784"/>
            <a:ext cx="3246120" cy="804672"/>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52B30"/>
                </a:solidFill>
                <a:latin typeface="Times New Roman" panose="02020603050405020304"/>
              </a:rPr>
              <a:t>10 low-confidence countries identified by soft membership</a:t>
            </a:r>
            <a:endParaRPr sz="1400" b="1">
              <a:solidFill>
                <a:srgbClr val="252B30"/>
              </a:solidFill>
              <a:latin typeface="Times New Roman" panose="02020603050405020304"/>
            </a:endParaRPr>
          </a:p>
        </p:txBody>
      </p:sp>
      <p:sp>
        <p:nvSpPr>
          <p:cNvPr id="26" name="anim_222"/>
          <p:cNvSpPr txBox="1"/>
          <p:nvPr/>
        </p:nvSpPr>
        <p:spPr>
          <a:xfrm>
            <a:off x="7991856" y="2523744"/>
            <a:ext cx="3246120" cy="7772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0">
                <a:solidFill>
                  <a:srgbClr val="252B30"/>
                </a:solidFill>
                <a:latin typeface="Times New Roman" panose="02020603050405020304"/>
              </a:rPr>
              <a:t>Observe them more frequently instead of forcing a fixed classification.</a:t>
            </a:r>
            <a:endParaRPr sz="1350" b="0">
              <a:solidFill>
                <a:srgbClr val="252B30"/>
              </a:solidFill>
              <a:latin typeface="Times New Roman" panose="02020603050405020304"/>
            </a:endParaRPr>
          </a:p>
        </p:txBody>
      </p:sp>
      <p:sp>
        <p:nvSpPr>
          <p:cNvPr id="27" name="anim_223"/>
          <p:cNvSpPr/>
          <p:nvPr/>
        </p:nvSpPr>
        <p:spPr>
          <a:xfrm>
            <a:off x="457200" y="3584448"/>
            <a:ext cx="10936224" cy="969264"/>
          </a:xfrm>
          <a:prstGeom prst="roundRect">
            <a:avLst>
              <a:gd name="adj" fmla="val 5500"/>
            </a:avLst>
          </a:prstGeom>
          <a:solidFill>
            <a:srgbClr val="FFFFFF">
              <a:alpha val="74000"/>
            </a:srgbClr>
          </a:solidFill>
          <a:ln w="9525">
            <a:solidFill>
              <a:srgbClr val="4F6E96"/>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28" name="anim_224"/>
          <p:cNvSpPr txBox="1"/>
          <p:nvPr/>
        </p:nvSpPr>
        <p:spPr>
          <a:xfrm>
            <a:off x="658368" y="3675887"/>
            <a:ext cx="10515600" cy="8412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4F6E96"/>
                </a:solidFill>
                <a:latin typeface="Times New Roman" panose="02020603050405020304"/>
              </a:rPr>
              <a:t>What is novel here: </a:t>
            </a:r>
            <a:r>
              <a:rPr sz="1500" b="0">
                <a:solidFill>
                  <a:srgbClr val="252B30"/>
                </a:solidFill>
                <a:latin typeface="Times New Roman" panose="02020603050405020304"/>
              </a:rPr>
              <a:t>an 11-feature trajectory profile (level · direction · timing · fuel shift) that makes 30 years of history comparable per country, and a stability-checked K = 2 screen used as a monitoring tool - not as another league table.</a:t>
            </a:r>
            <a:endParaRPr sz="1500" b="0">
              <a:solidFill>
                <a:srgbClr val="252B30"/>
              </a:solidFill>
              <a:latin typeface="Times New Roman" panose="02020603050405020304"/>
            </a:endParaRPr>
          </a:p>
        </p:txBody>
      </p:sp>
      <p:sp>
        <p:nvSpPr>
          <p:cNvPr id="29" name="anim_225"/>
          <p:cNvSpPr/>
          <p:nvPr/>
        </p:nvSpPr>
        <p:spPr>
          <a:xfrm>
            <a:off x="457200" y="4681728"/>
            <a:ext cx="10936224" cy="969264"/>
          </a:xfrm>
          <a:prstGeom prst="roundRect">
            <a:avLst>
              <a:gd name="adj" fmla="val 5500"/>
            </a:avLst>
          </a:prstGeom>
          <a:solidFill>
            <a:srgbClr val="FFFFFF">
              <a:alpha val="74000"/>
            </a:srgbClr>
          </a:solidFill>
          <a:ln w="9525">
            <a:solidFill>
              <a:srgbClr val="2F5248"/>
            </a:solidFill>
          </a:ln>
          <a:effectLst>
            <a:outerShdw blurRad="44000" dist="14000" dir="5400000" rotWithShape="0">
              <a:srgbClr val="2F5248">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0" name="anim_226"/>
          <p:cNvSpPr txBox="1"/>
          <p:nvPr/>
        </p:nvSpPr>
        <p:spPr>
          <a:xfrm>
            <a:off x="658368" y="4773168"/>
            <a:ext cx="10515600" cy="84124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500" b="1">
                <a:solidFill>
                  <a:srgbClr val="2F5248"/>
                </a:solidFill>
                <a:latin typeface="Times New Roman" panose="02020603050405020304"/>
              </a:rPr>
              <a:t>Honest limits: </a:t>
            </a:r>
            <a:r>
              <a:rPr sz="1500" b="0">
                <a:solidFill>
                  <a:srgbClr val="252B30"/>
                </a:solidFill>
                <a:latin typeface="Times New Roman" panose="02020603050405020304"/>
              </a:rPr>
              <a:t>pathways are empirical patterns in 1992-2021, not causes, forecasts or policy verdicts; with no policy or economic variables in the panel, the model prioritises deeper investigation - it does not replace it.</a:t>
            </a:r>
            <a:endParaRPr sz="1500" b="0">
              <a:solidFill>
                <a:srgbClr val="252B30"/>
              </a:solidFill>
              <a:latin typeface="Times New Roman" panose="02020603050405020304"/>
            </a:endParaRPr>
          </a:p>
        </p:txBody>
      </p:sp>
      <p:sp>
        <p:nvSpPr>
          <p:cNvPr id="31" name="Rectangle 30"/>
          <p:cNvSpPr/>
          <p:nvPr/>
        </p:nvSpPr>
        <p:spPr>
          <a:xfrm>
            <a:off x="5029200" y="5797296"/>
            <a:ext cx="2130552" cy="32004"/>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32" name="anim_227"/>
          <p:cNvSpPr txBox="1"/>
          <p:nvPr/>
        </p:nvSpPr>
        <p:spPr>
          <a:xfrm>
            <a:off x="457200" y="5888736"/>
            <a:ext cx="11274552" cy="365760"/>
          </a:xfrm>
          <a:prstGeom prst="rect">
            <a:avLst/>
          </a:prstGeom>
          <a:noFill/>
          <a:ln>
            <a:noFill/>
          </a:ln>
          <a:effectLst/>
        </p:spPr>
        <p:txBody>
          <a:bodyPr wrap="square" lIns="45720" tIns="18288" rIns="45720" bIns="18288" anchor="t">
            <a:spAutoFit/>
          </a:bodyPr>
          <a:lstStyle/>
          <a:p>
            <a:pPr algn="ctr">
              <a:defRPr>
                <a:latin typeface="Times New Roman" panose="02020603050405020304"/>
              </a:defRPr>
            </a:pPr>
            <a:r>
              <a:rPr sz="1450" b="1">
                <a:solidFill>
                  <a:srgbClr val="2F5248"/>
                </a:solidFill>
                <a:latin typeface="Times New Roman" panose="02020603050405020304"/>
              </a:rPr>
              <a:t>The purpose is not to rank countries, but to identify where different transition pressures require different monitoring priorities.</a:t>
            </a:r>
            <a:endParaRPr sz="1450" b="1">
              <a:solidFill>
                <a:srgbClr val="2F5248"/>
              </a:solidFill>
              <a:latin typeface="Times New Roman" panose="02020603050405020304"/>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grpId="0" nodeType="withEffect">
                                  <p:stCondLst>
                                    <p:cond delay="53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grpId="0" nodeType="withEffect">
                                  <p:stCondLst>
                                    <p:cond delay="66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grpId="0" nodeType="withEffect">
                                  <p:stCondLst>
                                    <p:cond delay="79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par>
                                <p:cTn id="17" presetID="10" presetClass="entr" presetSubtype="0" fill="hold" grpId="0" nodeType="withEffect">
                                  <p:stCondLst>
                                    <p:cond delay="92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50"/>
                                        <p:tgtEl>
                                          <p:spTgt spid="16"/>
                                        </p:tgtEl>
                                      </p:cBhvr>
                                    </p:animEffect>
                                  </p:childTnLst>
                                </p:cTn>
                              </p:par>
                            </p:childTnLst>
                          </p:cTn>
                        </p:par>
                        <p:par>
                          <p:cTn id="20" fill="hold">
                            <p:stCondLst>
                              <p:cond delay="900"/>
                            </p:stCondLst>
                            <p:childTnLst>
                              <p:par>
                                <p:cTn id="21" presetID="10" presetClass="entr" presetSubtype="0" fill="hold" grpId="0" nodeType="afterEffect">
                                  <p:stCondLst>
                                    <p:cond delay="40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50"/>
                                        <p:tgtEl>
                                          <p:spTgt spid="17"/>
                                        </p:tgtEl>
                                      </p:cBhvr>
                                    </p:animEffect>
                                  </p:childTnLst>
                                </p:cTn>
                              </p:par>
                              <p:par>
                                <p:cTn id="24" presetID="10" presetClass="entr" presetSubtype="0" fill="hold" grpId="0" nodeType="withEffect">
                                  <p:stCondLst>
                                    <p:cond delay="53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50"/>
                                        <p:tgtEl>
                                          <p:spTgt spid="18"/>
                                        </p:tgtEl>
                                      </p:cBhvr>
                                    </p:animEffect>
                                  </p:childTnLst>
                                </p:cTn>
                              </p:par>
                              <p:par>
                                <p:cTn id="27" presetID="10" presetClass="entr" presetSubtype="0" fill="hold" grpId="0" nodeType="withEffect">
                                  <p:stCondLst>
                                    <p:cond delay="66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50"/>
                                        <p:tgtEl>
                                          <p:spTgt spid="19"/>
                                        </p:tgtEl>
                                      </p:cBhvr>
                                    </p:animEffect>
                                  </p:childTnLst>
                                </p:cTn>
                              </p:par>
                              <p:par>
                                <p:cTn id="30" presetID="10" presetClass="entr" presetSubtype="0" fill="hold" grpId="0" nodeType="withEffect">
                                  <p:stCondLst>
                                    <p:cond delay="79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50"/>
                                        <p:tgtEl>
                                          <p:spTgt spid="20"/>
                                        </p:tgtEl>
                                      </p:cBhvr>
                                    </p:animEffect>
                                  </p:childTnLst>
                                </p:cTn>
                              </p:par>
                              <p:par>
                                <p:cTn id="33" presetID="10" presetClass="entr" presetSubtype="0" fill="hold" grpId="0" nodeType="withEffect">
                                  <p:stCondLst>
                                    <p:cond delay="92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childTnLst>
                          </p:cTn>
                        </p:par>
                        <p:par>
                          <p:cTn id="36" fill="hold">
                            <p:stCondLst>
                              <p:cond delay="1800"/>
                            </p:stCondLst>
                            <p:childTnLst>
                              <p:par>
                                <p:cTn id="37" presetID="10" presetClass="entr" presetSubtype="0" fill="hold" grpId="0" nodeType="afterEffect">
                                  <p:stCondLst>
                                    <p:cond delay="40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par>
                                <p:cTn id="40" presetID="10" presetClass="entr" presetSubtype="0" fill="hold" grpId="0" nodeType="withEffect">
                                  <p:stCondLst>
                                    <p:cond delay="53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50"/>
                                        <p:tgtEl>
                                          <p:spTgt spid="23"/>
                                        </p:tgtEl>
                                      </p:cBhvr>
                                    </p:animEffect>
                                  </p:childTnLst>
                                </p:cTn>
                              </p:par>
                              <p:par>
                                <p:cTn id="43" presetID="10" presetClass="entr" presetSubtype="0" fill="hold" grpId="0" nodeType="withEffect">
                                  <p:stCondLst>
                                    <p:cond delay="66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50"/>
                                        <p:tgtEl>
                                          <p:spTgt spid="24"/>
                                        </p:tgtEl>
                                      </p:cBhvr>
                                    </p:animEffect>
                                  </p:childTnLst>
                                </p:cTn>
                              </p:par>
                              <p:par>
                                <p:cTn id="46" presetID="10" presetClass="entr" presetSubtype="0" fill="hold" grpId="0" nodeType="withEffect">
                                  <p:stCondLst>
                                    <p:cond delay="79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50"/>
                                        <p:tgtEl>
                                          <p:spTgt spid="25"/>
                                        </p:tgtEl>
                                      </p:cBhvr>
                                    </p:animEffect>
                                  </p:childTnLst>
                                </p:cTn>
                              </p:par>
                              <p:par>
                                <p:cTn id="49" presetID="10" presetClass="entr" presetSubtype="0" fill="hold" grpId="0" nodeType="withEffect">
                                  <p:stCondLst>
                                    <p:cond delay="92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50"/>
                                        <p:tgtEl>
                                          <p:spTgt spid="26"/>
                                        </p:tgtEl>
                                      </p:cBhvr>
                                    </p:animEffect>
                                  </p:childTnLst>
                                </p:cTn>
                              </p:par>
                            </p:childTnLst>
                          </p:cTn>
                        </p:par>
                        <p:par>
                          <p:cTn id="52" fill="hold">
                            <p:stCondLst>
                              <p:cond delay="2700"/>
                            </p:stCondLst>
                            <p:childTnLst>
                              <p:par>
                                <p:cTn id="53" presetID="10" presetClass="entr" presetSubtype="0" fill="hold" grpId="0" nodeType="afterEffect">
                                  <p:stCondLst>
                                    <p:cond delay="40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50"/>
                                        <p:tgtEl>
                                          <p:spTgt spid="27"/>
                                        </p:tgtEl>
                                      </p:cBhvr>
                                    </p:animEffect>
                                  </p:childTnLst>
                                </p:cTn>
                              </p:par>
                              <p:par>
                                <p:cTn id="56" presetID="10" presetClass="entr" presetSubtype="0" fill="hold" grpId="0" nodeType="withEffect">
                                  <p:stCondLst>
                                    <p:cond delay="53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50"/>
                                        <p:tgtEl>
                                          <p:spTgt spid="28"/>
                                        </p:tgtEl>
                                      </p:cBhvr>
                                    </p:animEffect>
                                  </p:childTnLst>
                                </p:cTn>
                              </p:par>
                            </p:childTnLst>
                          </p:cTn>
                        </p:par>
                        <p:par>
                          <p:cTn id="59" fill="hold">
                            <p:stCondLst>
                              <p:cond delay="3600"/>
                            </p:stCondLst>
                            <p:childTnLst>
                              <p:par>
                                <p:cTn id="60" presetID="10" presetClass="entr" presetSubtype="0" fill="hold" grpId="0" nodeType="afterEffect">
                                  <p:stCondLst>
                                    <p:cond delay="40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450"/>
                                        <p:tgtEl>
                                          <p:spTgt spid="29"/>
                                        </p:tgtEl>
                                      </p:cBhvr>
                                    </p:animEffect>
                                  </p:childTnLst>
                                </p:cTn>
                              </p:par>
                              <p:par>
                                <p:cTn id="63" presetID="10" presetClass="entr" presetSubtype="0" fill="hold" grpId="0" nodeType="withEffect">
                                  <p:stCondLst>
                                    <p:cond delay="53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50"/>
                                        <p:tgtEl>
                                          <p:spTgt spid="30"/>
                                        </p:tgtEl>
                                      </p:cBhvr>
                                    </p:animEffect>
                                  </p:childTnLst>
                                </p:cTn>
                              </p:par>
                            </p:childTnLst>
                          </p:cTn>
                        </p:par>
                        <p:par>
                          <p:cTn id="66" fill="hold">
                            <p:stCondLst>
                              <p:cond delay="4500"/>
                            </p:stCondLst>
                            <p:childTnLst>
                              <p:par>
                                <p:cTn id="67" presetID="10" presetClass="entr" presetSubtype="0" fill="hold" grpId="0" nodeType="afterEffect">
                                  <p:stCondLst>
                                    <p:cond delay="40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3"/>
          <p:cNvSpPr/>
          <p:nvPr/>
        </p:nvSpPr>
        <p:spPr>
          <a:xfrm>
            <a:off x="0" y="0"/>
            <a:ext cx="12192000" cy="6858000"/>
          </a:xfrm>
          <a:prstGeom prst="rect">
            <a:avLst/>
          </a:prstGeom>
          <a:gradFill rotWithShape="1">
            <a:gsLst>
              <a:gs pos="0">
                <a:srgbClr val="FFFFFF"/>
              </a:gs>
              <a:gs pos="100000">
                <a:srgbClr val="ECF3EA"/>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5" name="Rectangle 4"/>
          <p:cNvSpPr/>
          <p:nvPr/>
        </p:nvSpPr>
        <p:spPr>
          <a:xfrm>
            <a:off x="0" y="6272784"/>
            <a:ext cx="12192000" cy="25603"/>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pic>
        <p:nvPicPr>
          <p:cNvPr id="6" name="Picture 5" descr="ntu_logo.png"/>
          <p:cNvPicPr>
            <a:picLocks noChangeAspect="1"/>
          </p:cNvPicPr>
          <p:nvPr/>
        </p:nvPicPr>
        <p:blipFill>
          <a:blip r:embed="rId1"/>
          <a:stretch>
            <a:fillRect/>
          </a:stretch>
        </p:blipFill>
        <p:spPr>
          <a:xfrm>
            <a:off x="292608" y="6364224"/>
            <a:ext cx="1133856" cy="457200"/>
          </a:xfrm>
          <a:prstGeom prst="rect">
            <a:avLst/>
          </a:prstGeom>
        </p:spPr>
      </p:pic>
      <p:sp>
        <p:nvSpPr>
          <p:cNvPr id="7" name="Rectangle 6"/>
          <p:cNvSpPr/>
          <p:nvPr/>
        </p:nvSpPr>
        <p:spPr>
          <a:xfrm>
            <a:off x="0" y="0"/>
            <a:ext cx="12192000" cy="877824"/>
          </a:xfrm>
          <a:prstGeom prst="rect">
            <a:avLst/>
          </a:prstGeom>
          <a:gradFill rotWithShape="1">
            <a:gsLst>
              <a:gs pos="0">
                <a:srgbClr val="2F5248"/>
              </a:gs>
              <a:gs pos="100000">
                <a:srgbClr val="76968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8" name="Rectangle 7"/>
          <p:cNvSpPr/>
          <p:nvPr/>
        </p:nvSpPr>
        <p:spPr>
          <a:xfrm>
            <a:off x="0" y="877824"/>
            <a:ext cx="12192000" cy="20116"/>
          </a:xfrm>
          <a:prstGeom prst="rect">
            <a:avLst/>
          </a:prstGeom>
          <a:solidFill>
            <a:srgbClr val="769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9" name="TextBox 8"/>
          <p:cNvSpPr txBox="1"/>
          <p:nvPr/>
        </p:nvSpPr>
        <p:spPr>
          <a:xfrm>
            <a:off x="384048" y="27432"/>
            <a:ext cx="9966960" cy="822960"/>
          </a:xfrm>
          <a:prstGeom prst="rect">
            <a:avLst/>
          </a:prstGeom>
          <a:noFill/>
          <a:ln>
            <a:noFill/>
          </a:ln>
          <a:effectLst/>
        </p:spPr>
        <p:txBody>
          <a:bodyPr wrap="square" lIns="0" tIns="0" bIns="0" anchor="ctr">
            <a:spAutoFit/>
          </a:bodyPr>
          <a:lstStyle/>
          <a:p>
            <a:pPr algn="l">
              <a:defRPr>
                <a:latin typeface="Times New Roman" panose="02020603050405020304"/>
              </a:defRPr>
            </a:pPr>
            <a:r>
              <a:rPr sz="2500" b="1">
                <a:solidFill>
                  <a:srgbClr val="FFFFFF"/>
                </a:solidFill>
                <a:latin typeface="Georgia" panose="02040502050405020303"/>
              </a:rPr>
              <a:t>Acknowledgements</a:t>
            </a:r>
            <a:endParaRPr sz="2500" b="1">
              <a:solidFill>
                <a:srgbClr val="FFFFFF"/>
              </a:solidFill>
              <a:latin typeface="Georgia" panose="02040502050405020303"/>
            </a:endParaRPr>
          </a:p>
        </p:txBody>
      </p:sp>
      <p:sp>
        <p:nvSpPr>
          <p:cNvPr id="10" name="TextBox 9"/>
          <p:cNvSpPr txBox="1"/>
          <p:nvPr/>
        </p:nvSpPr>
        <p:spPr>
          <a:xfrm>
            <a:off x="777240" y="1133856"/>
            <a:ext cx="6766560" cy="9144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3000" b="1">
                <a:solidFill>
                  <a:srgbClr val="252B30"/>
                </a:solidFill>
                <a:latin typeface="Georgia" panose="02040502050405020303"/>
              </a:rPr>
              <a:t>Thank you</a:t>
            </a:r>
            <a:endParaRPr sz="3000" b="1">
              <a:solidFill>
                <a:srgbClr val="252B30"/>
              </a:solidFill>
              <a:latin typeface="Georgia" panose="02040502050405020303"/>
            </a:endParaRPr>
          </a:p>
          <a:p>
            <a:pPr algn="l">
              <a:spcBef>
                <a:spcPts val="600"/>
              </a:spcBef>
              <a:defRPr>
                <a:latin typeface="Times New Roman" panose="02020603050405020304"/>
              </a:defRPr>
            </a:pPr>
            <a:r>
              <a:rPr sz="1700" b="0">
                <a:solidFill>
                  <a:srgbClr val="6E7672"/>
                </a:solidFill>
                <a:latin typeface="Times New Roman" panose="02020603050405020304"/>
              </a:rPr>
              <a:t>for your attention and questions.</a:t>
            </a:r>
            <a:endParaRPr sz="1700" b="0">
              <a:solidFill>
                <a:srgbClr val="6E7672"/>
              </a:solidFill>
              <a:latin typeface="Times New Roman" panose="02020603050405020304"/>
            </a:endParaRPr>
          </a:p>
        </p:txBody>
      </p:sp>
      <p:sp>
        <p:nvSpPr>
          <p:cNvPr id="11" name="Rectangle 10"/>
          <p:cNvSpPr/>
          <p:nvPr/>
        </p:nvSpPr>
        <p:spPr>
          <a:xfrm>
            <a:off x="777240" y="2212848"/>
            <a:ext cx="1371600" cy="41148"/>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panose="02020603050405020304"/>
              </a:defRPr>
            </a:pPr>
          </a:p>
        </p:txBody>
      </p:sp>
      <p:sp>
        <p:nvSpPr>
          <p:cNvPr id="12" name="Rectangle 11"/>
          <p:cNvSpPr/>
          <p:nvPr/>
        </p:nvSpPr>
        <p:spPr>
          <a:xfrm>
            <a:off x="777240" y="2395728"/>
            <a:ext cx="64008" cy="60350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3" name="TextBox 12"/>
          <p:cNvSpPr txBox="1"/>
          <p:nvPr/>
        </p:nvSpPr>
        <p:spPr>
          <a:xfrm>
            <a:off x="987552" y="2395728"/>
            <a:ext cx="603504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F5248"/>
                </a:solidFill>
                <a:latin typeface="Times New Roman" panose="02020603050405020304"/>
              </a:rPr>
              <a:t>Course</a:t>
            </a:r>
            <a:endParaRPr sz="1400" b="1">
              <a:solidFill>
                <a:srgbClr val="2F5248"/>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CA6002 AI UX &amp; Data Visualisation Design Principles, NTU.</a:t>
            </a:r>
            <a:endParaRPr sz="1300" b="0">
              <a:solidFill>
                <a:srgbClr val="252B30"/>
              </a:solidFill>
              <a:latin typeface="Times New Roman" panose="02020603050405020304"/>
            </a:endParaRPr>
          </a:p>
        </p:txBody>
      </p:sp>
      <p:sp>
        <p:nvSpPr>
          <p:cNvPr id="14" name="Rectangle 13"/>
          <p:cNvSpPr/>
          <p:nvPr/>
        </p:nvSpPr>
        <p:spPr>
          <a:xfrm>
            <a:off x="777240" y="3054096"/>
            <a:ext cx="64008" cy="60350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5" name="TextBox 14"/>
          <p:cNvSpPr txBox="1"/>
          <p:nvPr/>
        </p:nvSpPr>
        <p:spPr>
          <a:xfrm>
            <a:off x="987552" y="3054096"/>
            <a:ext cx="603504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F5248"/>
                </a:solidFill>
                <a:latin typeface="Times New Roman" panose="02020603050405020304"/>
              </a:rPr>
              <a:t>Open-source tools</a:t>
            </a:r>
            <a:endParaRPr sz="1400" b="1">
              <a:solidFill>
                <a:srgbClr val="2F5248"/>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Python, pandas, scikit-learn, matplotlib, GeoPandas, python-pptx.</a:t>
            </a:r>
            <a:endParaRPr sz="1300" b="0">
              <a:solidFill>
                <a:srgbClr val="252B30"/>
              </a:solidFill>
              <a:latin typeface="Times New Roman" panose="02020603050405020304"/>
            </a:endParaRPr>
          </a:p>
        </p:txBody>
      </p:sp>
      <p:sp>
        <p:nvSpPr>
          <p:cNvPr id="16" name="Rectangle 15"/>
          <p:cNvSpPr/>
          <p:nvPr/>
        </p:nvSpPr>
        <p:spPr>
          <a:xfrm>
            <a:off x="777240" y="3712463"/>
            <a:ext cx="64008" cy="603504"/>
          </a:xfrm>
          <a:prstGeom prst="rect">
            <a:avLst/>
          </a:prstGeom>
          <a:solidFill>
            <a:srgbClr val="2F5248"/>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a:latin typeface="Times New Roman" panose="02020603050405020304"/>
              </a:defRPr>
            </a:pPr>
          </a:p>
        </p:txBody>
      </p:sp>
      <p:sp>
        <p:nvSpPr>
          <p:cNvPr id="17" name="TextBox 16"/>
          <p:cNvSpPr txBox="1"/>
          <p:nvPr/>
        </p:nvSpPr>
        <p:spPr>
          <a:xfrm>
            <a:off x="987552" y="3712463"/>
            <a:ext cx="6035040" cy="603504"/>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400" b="1">
                <a:solidFill>
                  <a:srgbClr val="2F5248"/>
                </a:solidFill>
                <a:latin typeface="Times New Roman" panose="02020603050405020304"/>
              </a:rPr>
              <a:t>Generative AI</a:t>
            </a:r>
            <a:endParaRPr sz="1400" b="1">
              <a:solidFill>
                <a:srgbClr val="2F5248"/>
              </a:solidFill>
              <a:latin typeface="Times New Roman" panose="02020603050405020304"/>
            </a:endParaRPr>
          </a:p>
          <a:p>
            <a:pPr algn="l">
              <a:defRPr>
                <a:latin typeface="Times New Roman" panose="02020603050405020304"/>
              </a:defRPr>
            </a:pPr>
            <a:r>
              <a:rPr sz="1300" b="0">
                <a:solidFill>
                  <a:srgbClr val="252B30"/>
                </a:solidFill>
                <a:latin typeface="Times New Roman" panose="02020603050405020304"/>
              </a:rPr>
              <a:t>ChatGPT (OpenAI) assisted with Python plotting code; all data processing, results and interpretation are the group's own work.</a:t>
            </a:r>
            <a:endParaRPr sz="1300" b="0">
              <a:solidFill>
                <a:srgbClr val="252B30"/>
              </a:solidFill>
              <a:latin typeface="Times New Roman" panose="02020603050405020304"/>
            </a:endParaRPr>
          </a:p>
        </p:txBody>
      </p:sp>
      <p:pic>
        <p:nvPicPr>
          <p:cNvPr id="18" name="Picture 17" descr="fig_cover_art.png"/>
          <p:cNvPicPr>
            <a:picLocks noChangeAspect="1"/>
          </p:cNvPicPr>
          <p:nvPr/>
        </p:nvPicPr>
        <p:blipFill>
          <a:blip r:embed="rId2"/>
          <a:stretch>
            <a:fillRect/>
          </a:stretch>
        </p:blipFill>
        <p:spPr>
          <a:xfrm>
            <a:off x="7635240" y="1360976"/>
            <a:ext cx="4069080" cy="1676310"/>
          </a:xfrm>
          <a:prstGeom prst="rect">
            <a:avLst/>
          </a:prstGeom>
        </p:spPr>
      </p:pic>
      <p:sp>
        <p:nvSpPr>
          <p:cNvPr id="19" name="TextBox 18"/>
          <p:cNvSpPr txBox="1"/>
          <p:nvPr/>
        </p:nvSpPr>
        <p:spPr>
          <a:xfrm>
            <a:off x="7635240" y="3310128"/>
            <a:ext cx="4069080" cy="100584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700" b="1">
                <a:solidFill>
                  <a:srgbClr val="2F5248"/>
                </a:solidFill>
                <a:latin typeface="Times New Roman" panose="02020603050405020304"/>
              </a:rPr>
              <a:t>Group 30</a:t>
            </a:r>
            <a:endParaRPr sz="1700" b="1">
              <a:solidFill>
                <a:srgbClr val="2F5248"/>
              </a:solidFill>
              <a:latin typeface="Times New Roman" panose="02020603050405020304"/>
            </a:endParaRPr>
          </a:p>
          <a:p>
            <a:pPr algn="l">
              <a:spcBef>
                <a:spcPts val="400"/>
              </a:spcBef>
              <a:defRPr>
                <a:latin typeface="Times New Roman" panose="02020603050405020304"/>
              </a:defRPr>
            </a:pPr>
            <a:r>
              <a:rPr sz="1400" b="1">
                <a:solidFill>
                  <a:srgbClr val="252B30"/>
                </a:solidFill>
                <a:latin typeface="Times New Roman" panose="02020603050405020304"/>
              </a:rPr>
              <a:t>RAN CHANGMING  ·  REN SIYU</a:t>
            </a:r>
            <a:endParaRPr sz="1400" b="1">
              <a:solidFill>
                <a:srgbClr val="252B30"/>
              </a:solidFill>
              <a:latin typeface="Times New Roman" panose="02020603050405020304"/>
            </a:endParaRPr>
          </a:p>
          <a:p>
            <a:pPr algn="l">
              <a:defRPr>
                <a:latin typeface="Times New Roman" panose="02020603050405020304"/>
              </a:defRPr>
            </a:pPr>
            <a:r>
              <a:rPr sz="1400" b="1">
                <a:solidFill>
                  <a:srgbClr val="252B30"/>
                </a:solidFill>
                <a:latin typeface="Times New Roman" panose="02020603050405020304"/>
              </a:rPr>
              <a:t>REYIZA RESIBIEKE  ·  SHEN RUITING</a:t>
            </a:r>
            <a:endParaRPr sz="1400" b="1">
              <a:solidFill>
                <a:srgbClr val="252B30"/>
              </a:solidFill>
              <a:latin typeface="Times New Roman" panose="02020603050405020304"/>
            </a:endParaRPr>
          </a:p>
        </p:txBody>
      </p:sp>
      <p:sp>
        <p:nvSpPr>
          <p:cNvPr id="20" name="TextBox 19"/>
          <p:cNvSpPr txBox="1"/>
          <p:nvPr/>
        </p:nvSpPr>
        <p:spPr>
          <a:xfrm>
            <a:off x="777240" y="4370832"/>
            <a:ext cx="3657600" cy="292608"/>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50" b="1">
                <a:solidFill>
                  <a:srgbClr val="2F5248"/>
                </a:solidFill>
                <a:latin typeface="Times New Roman" panose="02020603050405020304"/>
              </a:rPr>
              <a:t>REFERENCES</a:t>
            </a:r>
            <a:endParaRPr sz="1350" b="1">
              <a:solidFill>
                <a:srgbClr val="2F5248"/>
              </a:solidFill>
              <a:latin typeface="Times New Roman" panose="02020603050405020304"/>
            </a:endParaRPr>
          </a:p>
        </p:txBody>
      </p:sp>
      <p:sp>
        <p:nvSpPr>
          <p:cNvPr id="21" name="TextBox 20"/>
          <p:cNvSpPr txBox="1"/>
          <p:nvPr/>
        </p:nvSpPr>
        <p:spPr>
          <a:xfrm>
            <a:off x="777240" y="4681728"/>
            <a:ext cx="384048" cy="4572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1100" b="1">
                <a:solidFill>
                  <a:srgbClr val="2F5248"/>
                </a:solidFill>
                <a:latin typeface="Times New Roman" panose="02020603050405020304"/>
              </a:rPr>
              <a:t>[1]</a:t>
            </a:r>
            <a:endParaRPr sz="1100" b="1">
              <a:solidFill>
                <a:srgbClr val="2F5248"/>
              </a:solidFill>
              <a:latin typeface="Times New Roman" panose="02020603050405020304"/>
            </a:endParaRPr>
          </a:p>
        </p:txBody>
      </p:sp>
      <p:sp>
        <p:nvSpPr>
          <p:cNvPr id="22" name="TextBox 21"/>
          <p:cNvSpPr txBox="1"/>
          <p:nvPr/>
        </p:nvSpPr>
        <p:spPr>
          <a:xfrm>
            <a:off x="1161288" y="4681728"/>
            <a:ext cx="470916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Ritchie, H., Rosado, P. &amp; Roser, M. (2023). CO₂ and Greenhouse Gas Emissions. Our World in Data.</a:t>
            </a:r>
            <a:endParaRPr sz="1300" b="0">
              <a:solidFill>
                <a:srgbClr val="6E7672"/>
              </a:solidFill>
              <a:latin typeface="Times New Roman" panose="02020603050405020304"/>
            </a:endParaRPr>
          </a:p>
        </p:txBody>
      </p:sp>
      <p:sp>
        <p:nvSpPr>
          <p:cNvPr id="23" name="TextBox 22"/>
          <p:cNvSpPr txBox="1"/>
          <p:nvPr/>
        </p:nvSpPr>
        <p:spPr>
          <a:xfrm>
            <a:off x="777240" y="5212080"/>
            <a:ext cx="384048" cy="4572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1100" b="1">
                <a:solidFill>
                  <a:srgbClr val="2F5248"/>
                </a:solidFill>
                <a:latin typeface="Times New Roman" panose="02020603050405020304"/>
              </a:rPr>
              <a:t>[2]</a:t>
            </a:r>
            <a:endParaRPr sz="1100" b="1">
              <a:solidFill>
                <a:srgbClr val="2F5248"/>
              </a:solidFill>
              <a:latin typeface="Times New Roman" panose="02020603050405020304"/>
            </a:endParaRPr>
          </a:p>
        </p:txBody>
      </p:sp>
      <p:sp>
        <p:nvSpPr>
          <p:cNvPr id="24" name="TextBox 23"/>
          <p:cNvSpPr txBox="1"/>
          <p:nvPr/>
        </p:nvSpPr>
        <p:spPr>
          <a:xfrm>
            <a:off x="1161288" y="5212080"/>
            <a:ext cx="470916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Friedlingstein, P. et al. (2022). Global Carbon Budget 2022. Earth Syst. Sci. Data, 14(11), 4811-4900.</a:t>
            </a:r>
            <a:endParaRPr sz="1300" b="0">
              <a:solidFill>
                <a:srgbClr val="6E7672"/>
              </a:solidFill>
              <a:latin typeface="Times New Roman" panose="02020603050405020304"/>
            </a:endParaRPr>
          </a:p>
        </p:txBody>
      </p:sp>
      <p:sp>
        <p:nvSpPr>
          <p:cNvPr id="25" name="TextBox 24"/>
          <p:cNvSpPr txBox="1"/>
          <p:nvPr/>
        </p:nvSpPr>
        <p:spPr>
          <a:xfrm>
            <a:off x="777240" y="5742432"/>
            <a:ext cx="384048" cy="4572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1100" b="1">
                <a:solidFill>
                  <a:srgbClr val="2F5248"/>
                </a:solidFill>
                <a:latin typeface="Times New Roman" panose="02020603050405020304"/>
              </a:rPr>
              <a:t>[3]</a:t>
            </a:r>
            <a:endParaRPr sz="1100" b="1">
              <a:solidFill>
                <a:srgbClr val="2F5248"/>
              </a:solidFill>
              <a:latin typeface="Times New Roman" panose="02020603050405020304"/>
            </a:endParaRPr>
          </a:p>
        </p:txBody>
      </p:sp>
      <p:sp>
        <p:nvSpPr>
          <p:cNvPr id="26" name="TextBox 25"/>
          <p:cNvSpPr txBox="1"/>
          <p:nvPr/>
        </p:nvSpPr>
        <p:spPr>
          <a:xfrm>
            <a:off x="1161288" y="5742432"/>
            <a:ext cx="470916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Natural Earth. Admin 0 - Countries, 1:110m Cultural Vectors (public domain).</a:t>
            </a:r>
            <a:endParaRPr sz="1300" b="0">
              <a:solidFill>
                <a:srgbClr val="6E7672"/>
              </a:solidFill>
              <a:latin typeface="Times New Roman" panose="02020603050405020304"/>
            </a:endParaRPr>
          </a:p>
        </p:txBody>
      </p:sp>
      <p:sp>
        <p:nvSpPr>
          <p:cNvPr id="27" name="TextBox 26"/>
          <p:cNvSpPr txBox="1"/>
          <p:nvPr/>
        </p:nvSpPr>
        <p:spPr>
          <a:xfrm>
            <a:off x="6172200" y="4681728"/>
            <a:ext cx="384048" cy="4572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1100" b="1">
                <a:solidFill>
                  <a:srgbClr val="2F5248"/>
                </a:solidFill>
                <a:latin typeface="Times New Roman" panose="02020603050405020304"/>
              </a:rPr>
              <a:t>[4]</a:t>
            </a:r>
            <a:endParaRPr sz="1100" b="1">
              <a:solidFill>
                <a:srgbClr val="2F5248"/>
              </a:solidFill>
              <a:latin typeface="Times New Roman" panose="02020603050405020304"/>
            </a:endParaRPr>
          </a:p>
        </p:txBody>
      </p:sp>
      <p:sp>
        <p:nvSpPr>
          <p:cNvPr id="28" name="TextBox 27"/>
          <p:cNvSpPr txBox="1"/>
          <p:nvPr/>
        </p:nvSpPr>
        <p:spPr>
          <a:xfrm>
            <a:off x="6556248" y="4681728"/>
            <a:ext cx="470916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Pedregosa, F. et al. (2011). Scikit-learn: Machine Learning in Python. JMLR, 12, 2825-2830.</a:t>
            </a:r>
            <a:endParaRPr sz="1300" b="0">
              <a:solidFill>
                <a:srgbClr val="6E7672"/>
              </a:solidFill>
              <a:latin typeface="Times New Roman" panose="02020603050405020304"/>
            </a:endParaRPr>
          </a:p>
        </p:txBody>
      </p:sp>
      <p:sp>
        <p:nvSpPr>
          <p:cNvPr id="29" name="TextBox 28"/>
          <p:cNvSpPr txBox="1"/>
          <p:nvPr/>
        </p:nvSpPr>
        <p:spPr>
          <a:xfrm>
            <a:off x="6172200" y="5212080"/>
            <a:ext cx="384048" cy="4572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1100" b="1">
                <a:solidFill>
                  <a:srgbClr val="2F5248"/>
                </a:solidFill>
                <a:latin typeface="Times New Roman" panose="02020603050405020304"/>
              </a:rPr>
              <a:t>[5]</a:t>
            </a:r>
            <a:endParaRPr sz="1100" b="1">
              <a:solidFill>
                <a:srgbClr val="2F5248"/>
              </a:solidFill>
              <a:latin typeface="Times New Roman" panose="02020603050405020304"/>
            </a:endParaRPr>
          </a:p>
        </p:txBody>
      </p:sp>
      <p:sp>
        <p:nvSpPr>
          <p:cNvPr id="30" name="TextBox 29"/>
          <p:cNvSpPr txBox="1"/>
          <p:nvPr/>
        </p:nvSpPr>
        <p:spPr>
          <a:xfrm>
            <a:off x="6556248" y="5212080"/>
            <a:ext cx="470916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Rousseeuw, P. J. (1987). Silhouettes: a graphical aid to cluster analysis. J. Comput. Appl. Math., 20, 53-65.</a:t>
            </a:r>
            <a:endParaRPr sz="1300" b="0">
              <a:solidFill>
                <a:srgbClr val="6E7672"/>
              </a:solidFill>
              <a:latin typeface="Times New Roman" panose="02020603050405020304"/>
            </a:endParaRPr>
          </a:p>
        </p:txBody>
      </p:sp>
      <p:sp>
        <p:nvSpPr>
          <p:cNvPr id="31" name="TextBox 30"/>
          <p:cNvSpPr txBox="1"/>
          <p:nvPr/>
        </p:nvSpPr>
        <p:spPr>
          <a:xfrm>
            <a:off x="6172200" y="5742432"/>
            <a:ext cx="384048" cy="457200"/>
          </a:xfrm>
          <a:prstGeom prst="rect">
            <a:avLst/>
          </a:prstGeom>
          <a:noFill/>
          <a:ln>
            <a:noFill/>
          </a:ln>
          <a:effectLst/>
        </p:spPr>
        <p:txBody>
          <a:bodyPr wrap="none" lIns="45720" tIns="18288" rIns="45720" bIns="18288" anchor="t">
            <a:spAutoFit/>
          </a:bodyPr>
          <a:lstStyle/>
          <a:p>
            <a:pPr algn="l">
              <a:defRPr>
                <a:latin typeface="Times New Roman" panose="02020603050405020304"/>
              </a:defRPr>
            </a:pPr>
            <a:r>
              <a:rPr sz="1100" b="1">
                <a:solidFill>
                  <a:srgbClr val="2F5248"/>
                </a:solidFill>
                <a:latin typeface="Times New Roman" panose="02020603050405020304"/>
              </a:rPr>
              <a:t>[6]</a:t>
            </a:r>
            <a:endParaRPr sz="1100" b="1">
              <a:solidFill>
                <a:srgbClr val="2F5248"/>
              </a:solidFill>
              <a:latin typeface="Times New Roman" panose="02020603050405020304"/>
            </a:endParaRPr>
          </a:p>
        </p:txBody>
      </p:sp>
      <p:sp>
        <p:nvSpPr>
          <p:cNvPr id="32" name="TextBox 31"/>
          <p:cNvSpPr txBox="1"/>
          <p:nvPr/>
        </p:nvSpPr>
        <p:spPr>
          <a:xfrm>
            <a:off x="6556248" y="5742432"/>
            <a:ext cx="4709160" cy="457200"/>
          </a:xfrm>
          <a:prstGeom prst="rect">
            <a:avLst/>
          </a:prstGeom>
          <a:noFill/>
          <a:ln>
            <a:noFill/>
          </a:ln>
          <a:effectLst/>
        </p:spPr>
        <p:txBody>
          <a:bodyPr wrap="square" lIns="45720" tIns="18288" rIns="45720" bIns="18288" anchor="t">
            <a:spAutoFit/>
          </a:bodyPr>
          <a:lstStyle/>
          <a:p>
            <a:pPr algn="l">
              <a:defRPr>
                <a:latin typeface="Times New Roman" panose="02020603050405020304"/>
              </a:defRPr>
            </a:pPr>
            <a:r>
              <a:rPr sz="1300" b="0">
                <a:solidFill>
                  <a:srgbClr val="6E7672"/>
                </a:solidFill>
                <a:latin typeface="Times New Roman" panose="02020603050405020304"/>
              </a:rPr>
              <a:t>Hubert, L. &amp; Arabie, P. (1985). Comparing partitions. J. Classification, 2, 193-218.</a:t>
            </a:r>
            <a:endParaRPr sz="1300" b="0">
              <a:solidFill>
                <a:srgbClr val="6E7672"/>
              </a:solidFill>
              <a:latin typeface="Times New Roman" panose="02020603050405020304"/>
            </a:endParaRPr>
          </a:p>
        </p:txBody>
      </p:sp>
    </p:spTree>
  </p:cSld>
  <p:clrMapOvr>
    <a:masterClrMapping/>
  </p:clrMapOvr>
  <p:transition spd="med">
    <p:fade/>
  </p:transition>
</p:sld>
</file>

<file path=ppt/tags/tag1.xml><?xml version="1.0" encoding="utf-8"?>
<p:tagLst xmlns:p="http://schemas.openxmlformats.org/presentationml/2006/main">
  <p:tag name="commondata" val="eyJoZGlkIjoiZGQ0MGQwMzljZTE0ZTg5YjY4YTg1OTEzZmNiZWMxM2IifQ=="/>
  <p:tag name="resource_record_key" val="{&quot;13&quot;:[202096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16791</Words>
  <Application>WPS 演示</Application>
  <PresentationFormat>Converted Presentation</PresentationFormat>
  <Paragraphs>930</Paragraphs>
  <Slides>23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23</vt:i4>
      </vt:variant>
    </vt:vector>
  </HeadingPairs>
  <TitlesOfParts>
    <vt:vector size="35" baseType="lpstr">
      <vt:lpstr>Arial</vt:lpstr>
      <vt:lpstr>宋体</vt:lpstr>
      <vt:lpstr>Wingdings</vt:lpstr>
      <vt:lpstr>Arial</vt:lpstr>
      <vt:lpstr>Times New Roman</vt:lpstr>
      <vt:lpstr>Georgia</vt:lpstr>
      <vt:lpstr>Arial Narrow</vt:lpstr>
      <vt:lpstr>微软雅黑</vt:lpstr>
      <vt:lpstr>Arial Unicode MS</vt:lpstr>
      <vt:lpstr>等线</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UX &amp; Data Visualisation Design Principles (CA6002)</dc:title>
  <dc:creator>Walnut Exporter</dc:creator>
  <cp:lastModifiedBy>沈瑞庭</cp:lastModifiedBy>
  <cp:revision>12</cp:revision>
  <dcterms:created xsi:type="dcterms:W3CDTF">2026-08-30T06:44:00Z</dcterms:created>
  <dcterms:modified xsi:type="dcterms:W3CDTF">2026-08-30T12:01:14Z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946010AEEC8C418DAEFDEEC71A2EAEFC_12</vt:lpwstr>
  </property>
  <property fmtid="{D5CDD505-2E9C-101B-9397-08002B2CF9AE}" pid="3" name="KSOProductBuildVer">
    <vt:lpwstr>2052-12.1.0.18276</vt:lpwstr>
  </property>
</Properties>
</file>