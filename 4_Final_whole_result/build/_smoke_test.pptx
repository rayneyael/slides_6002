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3" r:id="rId15"/>
    <p:sldId id="264" r:id="rId16"/>
    <p:sldId id="265" r:id="rId17"/>
    <p:sldId id="256" r:id="rId7"/>
    <p:sldId id="257" r:id="rId8"/>
    <p:sldId id="258" r:id="rId9"/>
    <p:sldId id="259" r:id="rId10"/>
    <p:sldId id="260" r:id="rId11"/>
    <p:sldId id="261" r:id="rId12"/>
    <p:sldId id="262" r:id="rId13"/>
    <p:sldId id="266" r:id="rId18"/>
    <p:sldId id="267" r:id="rId19"/>
    <p:sldId id="268" r:id="rId20"/>
    <p:sldId id="269" r:id="rId21"/>
    <p:sldId id="270" r:id="rId22"/>
    <p:sldId id="271" r:id="rId23"/>
    <p:sldId id="272" r:id="rId24"/>
    <p:sldId id="273" r:id="rId25"/>
    <p:sldId id="274" r:id="rId14"/>
    <p:sldId id="275" r:id="rId6"/>
    <p:sldId id="276" r:id="rId5"/>
    <p:sldId id="277" r:id="rId3"/>
    <p:sldId id="278" r:id="rId30"/>
  </p:sldIdLst>
  <p:sldSz cx="12192000" cy="6858000"/>
  <p:notesSz cx="6858000" cy="9144000"/>
  <p:custDataLst>
    <p:tags r:id="rId2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22.xml"/><Relationship Id="rId4" Type="http://schemas.openxmlformats.org/officeDocument/2006/relationships/notesMaster" Target="notesMasters/notesMaster1.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19.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ableStyles" Target="tableStyles.xml"/><Relationship Id="rId29" Type="http://schemas.openxmlformats.org/officeDocument/2006/relationships/tags" Target="tags/tag1.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 despite three decades of climate attention, the sample-wide fossil CO2 total still grew 63.8% between 1992 and 2021 (21.97 to 35.98 Gt). This slide poses the investigative question chain that structures the whole deck; the maroon-framed Q4 is the managerial question the Visual Storytelling section answers. Design rationale: two high-salience stat cards establish the contradiction before any methodology, and the numbered chain previews the four analytical stages.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Contents slide. Section names match the banner on every later slide, so the audience can map any page back to this overview.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Text-only cover by design: no data graphic here, only the framing question and the one number the whole deck investigates. Group 30.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slide establishes the provenance of the analytical panel. OWID is the backbone because it provides consistent country-year coverage for population, total CO₂ and per-capita emissions. Global Carbon Budget 2022 (v27) is used only to supplement coal, oil and gas components when those fields are missing in OWID. The visual separates the roles of the two sources and makes the no-overwrite rule explicit. This improves traceability but does not make the sources conceptually identical; definitions and coverage can still vary by entity and year. Generative AI supported slide composition and wording; the source data and calculations were checked against the project README.</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Our World in Data CO₂ Data; Global Carbon Budget 2022 (v27); Final_data/README.md.</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process diagram explains how the sources become an analysis-ready panel. We restrict the study to 1992–2021, retain valid ISO rows and harmonise ISO-3 and year keys. A left join keeps the OWID backbone, while GCB values fill only missing fuel components. We then remove records without required core or growth fields, derive fuel shares and quality flags, and verify key uniqueness. The result contains 6,378 country-year rows, 213 entities, 30 years and 22 fields; 50.8% of rows receive at least one supplemented fuel value. The panel is intentionally unbalanced. Generative AI supported composition; the workflow and counts follow the project README.</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Final_data/README.md and the merged country-year panel.</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The paired line charts are appropriate because they compare change through time while preserving the distinct units of total and per-capita emissions. From 1992 to 2021, aggregate CO₂ increased from 21.97 to 35.98 Gt, a 63.8% rise. Per-capita emissions increased from about 4.00 to 4.53 tonnes per person, or 13.3%. The contrast shows that growth in global scale was much stronger than growth in individual intensity. Separate vertical scales prevent the smaller per-capita series from being visually flattened. These are panel aggregates rather than a causal decomposition. Generative AI supported placement and explanatory wording; the temporal chart was supplied by the teammate responsible for temporal analysis.</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1992–2021; temporal analysis figure supplied by REYIZA RESIBIEKE.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scatter plot separates two temporal dimensions for each country: the x-axis is the long-term log trend, and the y-axis is the recent trend minus the long-term trend. Countries in the upper-right combine sustained growth with recent acceleration; countries in the lower-right still have positive long-run growth but are slowing relative to that baseline. Filled and outlined squares distinguish the direction of the per-capita trend. The examples illustrate why one start-to-end change cannot represent timing and momentum simultaneously. Extreme values and short or incomplete series require caution. Generative AI supported slide composition; the plotted temporal results were supplied by the teammate responsible for temporal analysis.</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temporal trend figure supplied by REYIZA RESIBIEKE.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The treemap is suited to a part-to-whole question: rectangle area encodes each country’s share of 2021 total CO₂, while colour groups countries by region. Asia accounts for 59.8% of the total, China alone for 31.4%, and the twenty largest emitters together for 81.2%. This concentration means that global totals are driven by a relatively small set of countries, but area does not express per-capita responsibility or historical contribution. Very small countries are intentionally unlabeled because the available area is insufficient. Generative AI supported slide composition and wording; the underlying visualization was created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project treemap figure.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map combines two complementary encodings. Land colour represents per-capita CO₂, while vertical bars represent total national emissions; reading both avoids treating national scale and individual intensity as the same concept. China dominates total emissions, whereas Qatar is a high-intensity example despite a much smaller national total. Of 213 entities in the panel, 169 match Natural Earth 110m polygons, covering approximately 99.6% of mapped emissions. Small islands and territories may therefore be absent from land fill. Bar height is comparative rather than a literal geographic measurement. Generative AI supported slide composition; the map was generated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Natural Earth 110m; project scale-versus-intensity map.</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map shows the dominant fossil-fuel component for each country in 2021: coal, oil or gas. The pie charts add the actual three-fuel shares for selected major emitters, preventing a single dominant-fuel label from hiding mixed national structures. Coal dependence is prominent across much of Asia, oil dominates many countries in Africa, the Middle East and the Americas, and gas is prominent in Russia and parts of Central Asia. Fuel shares describe composition, not total magnitude, and coverage varies across small entities. Generative AI supported slide composition and wording; the map was generated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project dominant-fuel map.</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funnel defines the modelling sample and makes every exclusion traceable: from 6,378 country-year rows (213 entities) we remove 16 micro states and 4 entities without a complete 1992-2021 history, leaving 193 modelled countries. Design rationale: a narrowing funnel encodes attrition visually; exclusion reasons sit next to the counts so the audience can audit the sample. Source: cohort_audit.csv from our pipeline.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engineering turns each 30-year history into 11 comparable features in four blocks: level (log recent per-capita CO2), direction (long-term slope, recent slope, acceleration), timing (volatility, peak timing, post-peak change) and fuel shift (coal/gas shares and their change). Deliberate exclusion: total emissions and population are NOT features - size must not decide the grouping; size returns only when we interpret the pathways in Visual Storytelling. Design rationale: four parallel cards mirror the four feature families so the audience learns the feature grammar once.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is deliberately fixed end-to-end so every later figure traces back to one model run: panel -&gt; 193 eleven-feature profiles -&gt; RobustScaler -&gt; PCA (4 components, 87.41% cumulative variance) -&gt; K-means compared over K = 2-8 (n_init = 50, seed = 42). GMM soft membership and 100 x 80% subsampling are validation instruments drawn outside the main flow. Design rationale: a left-to-right pipeline matches reading order; the amber validation boxes hang below to show they check the model rather than train it.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 was chosen by evidence, not convenience: silhouette (0.486, highest), Davies-Bouldin (0.865, lowest) and Calinski-Harabasz (98.3, highest) all rank K = 2 first across K = 2-8. Inertia is plotted for completeness only because it mechanically decreases with K. Design rationale: three small-multiple panels share one x-axis so the same dashed marker at K = 2 can be compared across criteria at a glance. Source: k_selection_metrics.csv.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PCA projection checks whether the K = 2 structure is real in the feature space rather than an artefact of the algorithm. The amber rapid-growth pathway (24 countries) forms a compact group clearly offset from the broader steel-blue plateauing/slowdown pathway (169). Dark rings flag the 10 boundary countries whose membership is uncertain. Caveat stated on-slide: clustering ran on 4 components (87.41% variance); PC1+PC2 alone show 70.8%, so this view is illustrative. Design rationale: colour encodes only pathway membership; a third visual channel (ring) carries uncertainty instead of a third colour.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K = 2-8 comparison table lets the audience verify the K choice themselves; each column header states the direction of 'better'. We explicitly state why supervised metrics are not applicable - clustering has no ground-truth labels, so internal validity (this slide) plus stability and membership uncertainty (next slide) carry the evaluation. Design rationale: the selected row uses the deck's maroon accent to pull the eye to the decision before the supporting rows are read. Source: k_selection_metrics.csv.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Stability was tested with 100 refits on 80% country subsamples (scaling, PCA and K-means re-estimated each time): median ARI 0.965 against the full-sample labels, so the macro split is not an initialisation artefact. A GMM fitted on the same PCA space adds soft membership probabilities: median confidence 98.7%, and exactly 10 countries fall below 0.70 - these become the 'boundary countries' carried into Visual Storytelling. Design rationale: histogram plus sorted dot plot show the full distributions rather than a single summary statistic. Sources: stability_results.csv, gmm_membership_probabilities.csv.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stacked area on the left decomposes the rising sample total: the plateauing pathway is the thick base that carries 92.2% of 2017-2021 emissions, while the rapid-growth band is thin but grew far faster (+198% versus +58% since 1992). The right panel shows the two transition shapes: the plateauing pathway peaks around 2009 and flattens, the rapid-growth pathway is still climbing with a median peak only in 2018. Pathways are empirical patterns in the sample window - not country rankings, not predictions. Fuel shares are the median country-level CO2-source shares inside each pathway - the typical country, not the pathway aggregate: weighted by emissions the two pathways look similar (coal 48% vs 44% of 2017-2021 fossil CO2), because a few large coal economies sit inside the plateauing pathway. Design rationale: the figure carries the argument and the two strips below only quantify it, so this page is evidence-led rather than text-led. Sources: co2_panel_1992_2021.csv, cluster_profiles.csv.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country is plotted by current burden (x: average annual fossil CO2 2017-2021, log scale) against recent momentum (y: 2012-2021 log-slope of per-capita CO2, % per year); colour is the validated pathway and dark rings are boundary countries. Reading: upper right = burden AND growth (double attention); upper left = future pressure; lower right = today's mitigation lever. Both single-lens failures are stated on the slide. Bubble area is deliberately NOT reused for emissions because the x-axis already carries it.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frozen K = 2 labels are projected onto the world map using only the two pathway colours; boundary countries get a dark outline instead of a third colour, and grey countries were not modelled (micro states or incomplete histories). Geography was never a model feature - this map shows where the data-driven pathways happen to fall. Twenty-eight small island or city-state members (27 plateauing, 1 rapid-growth) are invisible at this 1:110m base-map scale. Design rationale: the same basemap family and legend style as the exploration maps keeps the spatial language consistent. Source: country_features_with_clusters.csv + Natural Earth 110m.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storytelling page joins the spatial and the managerial argument. The map reuses the spatial team's centroid method (CO2-weighted country centroids, code/瑞庭_绘图/scripts/_render_p3_trajectory_revised.py) but replaces continents with the two validated pathways: the overall centre of gravity moves from 15E to 44E, the plateauing centre follows it, and the rapid-growth centre sits in South/Southeast Asia the whole time while its total grows +198%. The table then converts pathways into monitoring instructions: growth, fuel shares, peak timing and lock-in for the rapid-growth pathway; absolute decline for the plateauing pathway; data quality and membership stability for boundary countries. Positions are plotted at true coordinates with no magnification.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Conclusions avoid repeating earlier slides and instead summarise the contribution: one rising sample total was decomposed into two validated transition pressures plus an explicitly uncertain boundary set, each with its own monitoring implication. Novelty: the trajectory-profile feature design and the stability-checked use of K-means as a screening device for management attention. Limits are stated plainly: exploratory, non-causal, non-predictive.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Acknowledgements slide. It credits the course, the open-source toolchain and the generative-AI assistance, and lists the six references cited on the slides: the two data sources, the basemap, the clustering library and the two cluster-validity papers behind the silhouette and ARI diagnostics.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p:txBody>
          <a:bodyPr/>
          <a:lstStyle/>
          <a:p>
            <a:fld id="{54D28968-2D6D-48A2-B9D0-F55DF243ED4A}"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228C1780-0C29-4D1C-AB97-38613CB3A71B}"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1E6AE7E8-3716-469C-989E-87A700822FC8}"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6C0DE861-2440-4F5E-88B3-6FDE4E57ECD4}"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a:xfrm>
            <a:off x="839788" y="365125"/>
            <a:ext cx="10515600" cy="1325563"/>
          </a:xfrm>
        </p:spPr>
        <p:txBody>
          <a:bodyPr/>
          <a:lstStyle/>
          <a:p>
            <a:r>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1F805EA7-111E-4CDD-9BA2-5013606D53E8}" type="datetime1">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A16C0091-ECFB-4ECB-BB63-5B53D407EE7E}" type="datetime1">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B1DFA363-8673-4E94-B192-6D142E51F388}" type="datetime1">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C2ADB4DB-8147-4901-B0BF-07F7F41BD534}"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546F6B78-6B32-470A-8391-BA66CA49170D}"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6FCA152-08ED-4419-B653-34979455CF6A}"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463BF55D-C37F-422E-A25A-70054E1EEFAD}"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C552A40C-D177-43C1-8C81-1F22F41E983D}" type="datetime1">
              <a:rPr/>
            </a:fld>
            <a:endParaRPr/>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55F2AC1-5349-40F4-976A-E0D325BAD41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20.png"/><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259"/>
          <p:cNvSpPr>
            <a:spLocks noGrp="1"/>
          </p:cNvSpPr>
          <p:nvPr>
            <p:ph type="sldNum" idx="12"/>
          </p:nvPr>
        </p:nvSpPr>
        <p:spPr>
          <a:xfrm>
            <a:off x="11561522" y="6356350"/>
            <a:ext cx="518786" cy="362485"/>
          </a:xfrm>
          <a:ln/>
        </p:spPr>
        <p:txBody>
          <a:bodyPr wrap="none"/>
          <a:lstStyle/>
          <a:p>
            <a:pPr marL="0" marR="0" lvl="0" indent="0" algn="r" defTabSz="914400">
              <a:lnSpc>
                <a:spcPct val="100000"/>
              </a:lnSpc>
              <a:spcBef>
                <a:spcPts val="0"/>
              </a:spcBef>
              <a:spcAft>
                <a:spcPts val="0"/>
              </a:spcAft>
              <a:buClrTx/>
              <a:buSzTx/>
              <a:buFontTx/>
              <a:buNone/>
              <a:defRPr>
                <a:latin typeface="Times New Roman"/>
              </a:defRPr>
            </a:pPr>
            <a:fld id="{E2598689-54C9-18A7-3A19-ED76AA08988F}"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32" name="Rectangle 31"/>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anim_238"/>
          <p:cNvSpPr>
            <a:spLocks noGrp="1"/>
          </p:cNvSpPr>
          <p:nvPr/>
        </p:nvSpPr>
        <p:spPr>
          <a:xfrm>
            <a:off x="400050" y="1028700"/>
            <a:ext cx="2381250"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SOURCE ROLES</a:t>
            </a:r>
          </a:p>
        </p:txBody>
      </p:sp>
      <p:sp>
        <p:nvSpPr>
          <p:cNvPr id="7" name="anim_239"/>
          <p:cNvSpPr>
            <a:spLocks noGrp="1"/>
          </p:cNvSpPr>
          <p:nvPr/>
        </p:nvSpPr>
        <p:spPr>
          <a:xfrm>
            <a:off x="400050" y="1381125"/>
            <a:ext cx="5219700" cy="2724150"/>
          </a:xfrm>
          <a:prstGeom prst="roundRect">
            <a:avLst>
              <a:gd name="adj" fmla="val 2797"/>
            </a:avLst>
          </a:prstGeom>
          <a:solidFill>
            <a:srgbClr val="ECEFF4">
              <a:alpha val="74000"/>
            </a:srgbClr>
          </a:solidFill>
          <a:ln w="19050">
            <a:solidFill>
              <a:srgbClr val="4F6E96"/>
            </a:solidFill>
            <a:prstDash val="solid"/>
          </a:ln>
        </p:spPr>
        <p:txBody>
          <a:bodyPr/>
          <a:p>
            <a:pPr>
              <a:defRPr>
                <a:latin typeface="Times New Roman"/>
              </a:defRPr>
            </a:pPr>
          </a:p>
        </p:txBody>
      </p:sp>
      <p:sp>
        <p:nvSpPr>
          <p:cNvPr id="8" name="anim_241"/>
          <p:cNvSpPr>
            <a:spLocks noGrp="1"/>
          </p:cNvSpPr>
          <p:nvPr/>
        </p:nvSpPr>
        <p:spPr>
          <a:xfrm>
            <a:off x="647700" y="1571625"/>
            <a:ext cx="3333750" cy="400050"/>
          </a:xfrm>
          <a:prstGeom prst="rect">
            <a:avLst/>
          </a:prstGeom>
          <a:solidFill>
            <a:srgbClr val="ECEFF4">
              <a:alpha val="74000"/>
            </a:srgbClr>
          </a:solidFill>
          <a:ln w="0">
            <a:solidFill>
              <a:srgbClr val="ECEFF4"/>
            </a:solidFill>
            <a:prstDash val="solid"/>
          </a:ln>
        </p:spPr>
        <p:txBody>
          <a:bodyPr anchor="ctr"/>
          <a:lstStyle/>
          <a:p>
            <a:pPr algn="l">
              <a:defRPr sz="195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OWID CO2 Data</a:t>
            </a:r>
          </a:p>
        </p:txBody>
      </p:sp>
      <p:sp>
        <p:nvSpPr>
          <p:cNvPr id="9" name="anim_243"/>
          <p:cNvSpPr>
            <a:spLocks noGrp="1"/>
          </p:cNvSpPr>
          <p:nvPr/>
        </p:nvSpPr>
        <p:spPr>
          <a:xfrm>
            <a:off x="4095750" y="1600200"/>
            <a:ext cx="1257300" cy="285750"/>
          </a:xfrm>
          <a:prstGeom prst="rect">
            <a:avLst/>
          </a:prstGeom>
          <a:solidFill>
            <a:srgbClr val="4F6E96"/>
          </a:solidFill>
          <a:ln w="0">
            <a:solidFill>
              <a:srgbClr val="4F6E96"/>
            </a:solidFill>
            <a:prstDash val="solid"/>
          </a:ln>
        </p:spPr>
        <p:txBody>
          <a:bodyPr anchor="ctr"/>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PRIMARY BACKBONE</a:t>
            </a:r>
          </a:p>
        </p:txBody>
      </p:sp>
      <p:sp>
        <p:nvSpPr>
          <p:cNvPr id="10" name="anim_245"/>
          <p:cNvSpPr>
            <a:spLocks noGrp="1"/>
          </p:cNvSpPr>
          <p:nvPr/>
        </p:nvSpPr>
        <p:spPr>
          <a:xfrm>
            <a:off x="647700" y="2114550"/>
            <a:ext cx="4429125" cy="361950"/>
          </a:xfrm>
          <a:prstGeom prst="rect">
            <a:avLst/>
          </a:prstGeom>
          <a:solidFill>
            <a:srgbClr val="ECEFF4">
              <a:alpha val="74000"/>
            </a:srgbClr>
          </a:solidFill>
          <a:ln w="0">
            <a:solidFill>
              <a:srgbClr val="ECEFF4"/>
            </a:solidFill>
            <a:prstDash val="solid"/>
          </a:ln>
        </p:spPr>
        <p:txBody>
          <a:bodyPr anchor="ctr"/>
          <a:lstStyle/>
          <a:p>
            <a:pPr algn="l">
              <a:defRPr sz="14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1992–2021 country-year coverage</a:t>
            </a:r>
          </a:p>
        </p:txBody>
      </p:sp>
      <p:sp>
        <p:nvSpPr>
          <p:cNvPr id="11" name="anim_247"/>
          <p:cNvSpPr>
            <a:spLocks noGrp="1"/>
          </p:cNvSpPr>
          <p:nvPr/>
        </p:nvSpPr>
        <p:spPr>
          <a:xfrm>
            <a:off x="647700" y="2571750"/>
            <a:ext cx="4429125" cy="876300"/>
          </a:xfrm>
          <a:prstGeom prst="rect">
            <a:avLst/>
          </a:prstGeom>
          <a:solidFill>
            <a:srgbClr val="ECEFF4">
              <a:alpha val="74000"/>
            </a:srgbClr>
          </a:solidFill>
          <a:ln w="0">
            <a:solidFill>
              <a:srgbClr val="ECEFF4"/>
            </a:solidFill>
            <a:prstDash val="solid"/>
          </a:ln>
        </p:spPr>
        <p:txBody>
          <a:bodyPr anchor="t"/>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Population · total CO2 · CO2 per person</a:t>
            </a:r>
          </a:p>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Consistent identifiers and broad historical coverage</a:t>
            </a:r>
          </a:p>
        </p:txBody>
      </p:sp>
      <p:sp>
        <p:nvSpPr>
          <p:cNvPr id="12" name="anim_249"/>
          <p:cNvSpPr>
            <a:spLocks noGrp="1"/>
          </p:cNvSpPr>
          <p:nvPr/>
        </p:nvSpPr>
        <p:spPr>
          <a:xfrm>
            <a:off x="647700" y="3600450"/>
            <a:ext cx="4429125" cy="304800"/>
          </a:xfrm>
          <a:prstGeom prst="rect">
            <a:avLst/>
          </a:prstGeom>
          <a:solidFill>
            <a:srgbClr val="ECEFF4">
              <a:alpha val="74000"/>
            </a:srgbClr>
          </a:solidFill>
          <a:ln w="0">
            <a:solidFill>
              <a:srgbClr val="ECEFF4"/>
            </a:solidFill>
            <a:prstDash val="solid"/>
          </a:ln>
        </p:spPr>
        <p:txBody>
          <a:bodyPr anchor="ctr"/>
          <a:lstStyle/>
          <a:p>
            <a:pPr algn="l">
              <a:defRPr sz="13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Defines which rows remain in the final panel</a:t>
            </a:r>
          </a:p>
        </p:txBody>
      </p:sp>
      <p:sp>
        <p:nvSpPr>
          <p:cNvPr id="13" name="anim_240"/>
          <p:cNvSpPr>
            <a:spLocks noGrp="1"/>
          </p:cNvSpPr>
          <p:nvPr/>
        </p:nvSpPr>
        <p:spPr>
          <a:xfrm>
            <a:off x="5953125" y="1381125"/>
            <a:ext cx="5219700" cy="2724150"/>
          </a:xfrm>
          <a:prstGeom prst="roundRect">
            <a:avLst>
              <a:gd name="adj" fmla="val 2797"/>
            </a:avLst>
          </a:prstGeom>
          <a:solidFill>
            <a:srgbClr val="F7F1EA"/>
          </a:solidFill>
          <a:ln w="19050">
            <a:solidFill>
              <a:srgbClr val="BE7F4E"/>
            </a:solidFill>
            <a:prstDash val="solid"/>
          </a:ln>
        </p:spPr>
        <p:txBody>
          <a:bodyPr/>
          <a:p>
            <a:pPr>
              <a:defRPr>
                <a:latin typeface="Times New Roman"/>
              </a:defRPr>
            </a:pPr>
          </a:p>
        </p:txBody>
      </p:sp>
      <p:sp>
        <p:nvSpPr>
          <p:cNvPr id="14" name="anim_242"/>
          <p:cNvSpPr>
            <a:spLocks noGrp="1"/>
          </p:cNvSpPr>
          <p:nvPr/>
        </p:nvSpPr>
        <p:spPr>
          <a:xfrm>
            <a:off x="6200775" y="1571625"/>
            <a:ext cx="3619500" cy="400050"/>
          </a:xfrm>
          <a:prstGeom prst="rect">
            <a:avLst/>
          </a:prstGeom>
          <a:solidFill>
            <a:srgbClr val="F7F1EA"/>
          </a:solidFill>
          <a:ln w="0">
            <a:solidFill>
              <a:srgbClr val="F7F1EA"/>
            </a:solidFill>
            <a:prstDash val="solid"/>
          </a:ln>
        </p:spPr>
        <p:txBody>
          <a:bodyPr anchor="ctr"/>
          <a:lstStyle/>
          <a:p>
            <a:pPr algn="l">
              <a:defRPr sz="1575" b="1" i="0">
                <a:solidFill>
                  <a:srgbClr val="5F1118"/>
                </a:solidFill>
                <a:latin typeface="Times New Roman" panose="020B0604020202020204"/>
                <a:ea typeface="Times New Roman" panose="020B0604020202020204"/>
                <a:cs typeface="Times New Roman" panose="020B0604020202020204"/>
              </a:defRPr>
            </a:pPr>
            <a:r>
              <a:rPr>
                <a:solidFill/>
                <a:latin typeface="Times New Roman"/>
              </a:rPr>
              <a:t>Global Carbon Budget 2022 (v27)</a:t>
            </a:r>
          </a:p>
        </p:txBody>
      </p:sp>
      <p:sp>
        <p:nvSpPr>
          <p:cNvPr id="15" name="anim_244"/>
          <p:cNvSpPr>
            <a:spLocks noGrp="1"/>
          </p:cNvSpPr>
          <p:nvPr/>
        </p:nvSpPr>
        <p:spPr>
          <a:xfrm>
            <a:off x="9906000" y="1600200"/>
            <a:ext cx="1000125" cy="285750"/>
          </a:xfrm>
          <a:prstGeom prst="rect">
            <a:avLst/>
          </a:prstGeom>
          <a:solidFill>
            <a:srgbClr val="BE7F4E"/>
          </a:solidFill>
          <a:ln w="0">
            <a:solidFill>
              <a:srgbClr val="BE7F4E"/>
            </a:solidFill>
            <a:prstDash val="solid"/>
          </a:ln>
        </p:spPr>
        <p:txBody>
          <a:bodyPr anchor="ctr" wrap="none"/>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SUPPLEMENT</a:t>
            </a:r>
          </a:p>
        </p:txBody>
      </p:sp>
      <p:sp>
        <p:nvSpPr>
          <p:cNvPr id="16" name="anim_246"/>
          <p:cNvSpPr>
            <a:spLocks noGrp="1"/>
          </p:cNvSpPr>
          <p:nvPr/>
        </p:nvSpPr>
        <p:spPr>
          <a:xfrm>
            <a:off x="6200775" y="2114550"/>
            <a:ext cx="4429125" cy="361950"/>
          </a:xfrm>
          <a:prstGeom prst="rect">
            <a:avLst/>
          </a:prstGeom>
          <a:solidFill>
            <a:srgbClr val="F7F1EA"/>
          </a:solidFill>
          <a:ln w="0">
            <a:solidFill>
              <a:srgbClr val="F7F1EA"/>
            </a:solidFill>
            <a:prstDash val="solid"/>
          </a:ln>
        </p:spPr>
        <p:txBody>
          <a:bodyPr anchor="ctr"/>
          <a:lstStyle/>
          <a:p>
            <a:pPr algn="l">
              <a:defRPr sz="14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Fuel-component detail</a:t>
            </a:r>
          </a:p>
        </p:txBody>
      </p:sp>
      <p:sp>
        <p:nvSpPr>
          <p:cNvPr id="17" name="anim_248"/>
          <p:cNvSpPr>
            <a:spLocks noGrp="1"/>
          </p:cNvSpPr>
          <p:nvPr/>
        </p:nvSpPr>
        <p:spPr>
          <a:xfrm>
            <a:off x="6200775" y="2571750"/>
            <a:ext cx="4429125" cy="876300"/>
          </a:xfrm>
          <a:prstGeom prst="rect">
            <a:avLst/>
          </a:prstGeom>
          <a:solidFill>
            <a:srgbClr val="F7F1EA"/>
          </a:solidFill>
          <a:ln w="0">
            <a:solidFill>
              <a:srgbClr val="F7F1EA"/>
            </a:solidFill>
            <a:prstDash val="solid"/>
          </a:ln>
        </p:spPr>
        <p:txBody>
          <a:bodyPr anchor="t"/>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Coal CO2 · oil CO2 · gas CO2</a:t>
            </a:r>
          </a:p>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Used only where the OWID component is missing</a:t>
            </a:r>
          </a:p>
        </p:txBody>
      </p:sp>
      <p:sp>
        <p:nvSpPr>
          <p:cNvPr id="18" name="anim_250"/>
          <p:cNvSpPr>
            <a:spLocks noGrp="1"/>
          </p:cNvSpPr>
          <p:nvPr/>
        </p:nvSpPr>
        <p:spPr>
          <a:xfrm>
            <a:off x="6200775" y="3600450"/>
            <a:ext cx="4429125" cy="304800"/>
          </a:xfrm>
          <a:prstGeom prst="rect">
            <a:avLst/>
          </a:prstGeom>
          <a:solidFill>
            <a:srgbClr val="F7F1EA"/>
          </a:solidFill>
          <a:ln w="0">
            <a:solidFill>
              <a:srgbClr val="F7F1EA"/>
            </a:solidFill>
            <a:prstDash val="solid"/>
          </a:ln>
        </p:spPr>
        <p:txBody>
          <a:bodyPr anchor="ctr"/>
          <a:lstStyle/>
          <a:p>
            <a:pPr algn="l">
              <a:defRPr sz="1300" b="1" i="0">
                <a:solidFill>
                  <a:srgbClr val="5F1118"/>
                </a:solidFill>
                <a:latin typeface="Times New Roman" panose="020B0604020202020204"/>
                <a:ea typeface="Times New Roman" panose="020B0604020202020204"/>
                <a:cs typeface="Times New Roman" panose="020B0604020202020204"/>
              </a:defRPr>
            </a:pPr>
            <a:r>
              <a:rPr>
                <a:solidFill/>
                <a:latin typeface="Times New Roman"/>
              </a:rPr>
              <a:t>Adds composition without redefining the backbone</a:t>
            </a:r>
          </a:p>
        </p:txBody>
      </p:sp>
      <p:sp>
        <p:nvSpPr>
          <p:cNvPr id="19" name="anim_251"/>
          <p:cNvSpPr>
            <a:spLocks noGrp="1"/>
          </p:cNvSpPr>
          <p:nvPr/>
        </p:nvSpPr>
        <p:spPr>
          <a:xfrm>
            <a:off x="1200150" y="4457700"/>
            <a:ext cx="9172575" cy="1123950"/>
          </a:xfrm>
          <a:prstGeom prst="roundRect">
            <a:avLst>
              <a:gd name="adj" fmla="val 6780"/>
            </a:avLst>
          </a:prstGeom>
          <a:solidFill>
            <a:srgbClr val="FAFBFA">
              <a:alpha val="74000"/>
            </a:srgbClr>
          </a:solidFill>
          <a:ln w="12383">
            <a:solidFill>
              <a:srgbClr val="D5DED6"/>
            </a:solidFill>
            <a:prstDash val="solid"/>
          </a:ln>
        </p:spPr>
        <p:txBody>
          <a:bodyPr/>
          <a:p>
            <a:pPr>
              <a:defRPr>
                <a:latin typeface="Times New Roman"/>
              </a:defRPr>
            </a:pPr>
          </a:p>
        </p:txBody>
      </p:sp>
      <p:sp>
        <p:nvSpPr>
          <p:cNvPr id="20" name="anim_252"/>
          <p:cNvSpPr>
            <a:spLocks noGrp="1"/>
          </p:cNvSpPr>
          <p:nvPr/>
        </p:nvSpPr>
        <p:spPr>
          <a:xfrm>
            <a:off x="1428750" y="4629150"/>
            <a:ext cx="1714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MERGE PRINCIPLE</a:t>
            </a:r>
          </a:p>
        </p:txBody>
      </p:sp>
      <p:sp>
        <p:nvSpPr>
          <p:cNvPr id="21" name="anim_253"/>
          <p:cNvSpPr>
            <a:spLocks noGrp="1"/>
          </p:cNvSpPr>
          <p:nvPr/>
        </p:nvSpPr>
        <p:spPr>
          <a:xfrm>
            <a:off x="1428750" y="4972050"/>
            <a:ext cx="2143125" cy="361950"/>
          </a:xfrm>
          <a:prstGeom prst="rect">
            <a:avLst/>
          </a:prstGeom>
          <a:solidFill>
            <a:srgbClr val="FAFBFA">
              <a:alpha val="74000"/>
            </a:srgbClr>
          </a:solidFill>
          <a:ln w="0">
            <a:solidFill>
              <a:srgbClr val="FAFBFA"/>
            </a:solidFill>
            <a:prstDash val="solid"/>
          </a:ln>
        </p:spPr>
        <p:txBody>
          <a:bodyPr anchor="ctr"/>
          <a:lstStyle/>
          <a:p>
            <a:pPr algn="ctr">
              <a:defRPr sz="1425"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Retain OWID rows</a:t>
            </a:r>
          </a:p>
        </p:txBody>
      </p:sp>
      <p:sp>
        <p:nvSpPr>
          <p:cNvPr id="22" name="anim_254"/>
          <p:cNvSpPr>
            <a:spLocks noGrp="1"/>
          </p:cNvSpPr>
          <p:nvPr/>
        </p:nvSpPr>
        <p:spPr>
          <a:xfrm>
            <a:off x="3619500" y="4972050"/>
            <a:ext cx="381000" cy="361950"/>
          </a:xfrm>
          <a:prstGeom prst="rect">
            <a:avLst/>
          </a:prstGeom>
          <a:solidFill>
            <a:srgbClr val="FAFBFA">
              <a:alpha val="74000"/>
            </a:srgbClr>
          </a:solidFill>
          <a:ln w="0">
            <a:solidFill>
              <a:srgbClr val="FAFBFA"/>
            </a:solidFill>
            <a:prstDash val="solid"/>
          </a:ln>
        </p:spPr>
        <p:txBody>
          <a:bodyPr anchor="ctr"/>
          <a:lstStyle/>
          <a:p>
            <a:pPr algn="ctr">
              <a:defRPr sz="1950" b="1"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a:t>
            </a:r>
          </a:p>
        </p:txBody>
      </p:sp>
      <p:sp>
        <p:nvSpPr>
          <p:cNvPr id="23" name="anim_255"/>
          <p:cNvSpPr>
            <a:spLocks noGrp="1"/>
          </p:cNvSpPr>
          <p:nvPr/>
        </p:nvSpPr>
        <p:spPr>
          <a:xfrm>
            <a:off x="4048125" y="4972050"/>
            <a:ext cx="2667000" cy="361950"/>
          </a:xfrm>
          <a:prstGeom prst="rect">
            <a:avLst/>
          </a:prstGeom>
          <a:solidFill>
            <a:srgbClr val="FAFBFA">
              <a:alpha val="74000"/>
            </a:srgbClr>
          </a:solidFill>
          <a:ln w="0">
            <a:solidFill>
              <a:srgbClr val="FAFBFA"/>
            </a:solidFill>
            <a:prstDash val="solid"/>
          </a:ln>
        </p:spPr>
        <p:txBody>
          <a:bodyPr anchor="ctr"/>
          <a:lstStyle/>
          <a:p>
            <a:pPr algn="ctr">
              <a:defRPr sz="1425" b="1" i="0">
                <a:solidFill>
                  <a:srgbClr val="ED7D31"/>
                </a:solidFill>
                <a:latin typeface="Times New Roman" panose="020B0604020202020204"/>
                <a:ea typeface="Times New Roman" panose="020B0604020202020204"/>
                <a:cs typeface="Times New Roman" panose="020B0604020202020204"/>
              </a:defRPr>
            </a:pPr>
            <a:r>
              <a:rPr>
                <a:solidFill/>
                <a:latin typeface="Times New Roman"/>
              </a:rPr>
              <a:t>Fill missing fuel fields</a:t>
            </a:r>
          </a:p>
        </p:txBody>
      </p:sp>
      <p:sp>
        <p:nvSpPr>
          <p:cNvPr id="24" name="anim_256"/>
          <p:cNvSpPr>
            <a:spLocks noGrp="1"/>
          </p:cNvSpPr>
          <p:nvPr/>
        </p:nvSpPr>
        <p:spPr>
          <a:xfrm>
            <a:off x="6762750" y="4972050"/>
            <a:ext cx="381000" cy="361950"/>
          </a:xfrm>
          <a:prstGeom prst="rect">
            <a:avLst/>
          </a:prstGeom>
          <a:solidFill>
            <a:srgbClr val="FAFBFA">
              <a:alpha val="74000"/>
            </a:srgbClr>
          </a:solidFill>
          <a:ln w="0">
            <a:solidFill>
              <a:srgbClr val="FAFBFA"/>
            </a:solidFill>
            <a:prstDash val="solid"/>
          </a:ln>
        </p:spPr>
        <p:txBody>
          <a:bodyPr anchor="ctr"/>
          <a:lstStyle/>
          <a:p>
            <a:pPr algn="ctr">
              <a:defRPr sz="1950" b="1"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a:t>
            </a:r>
          </a:p>
        </p:txBody>
      </p:sp>
      <p:sp>
        <p:nvSpPr>
          <p:cNvPr id="25" name="anim_257"/>
          <p:cNvSpPr>
            <a:spLocks noGrp="1"/>
          </p:cNvSpPr>
          <p:nvPr/>
        </p:nvSpPr>
        <p:spPr>
          <a:xfrm>
            <a:off x="7191375" y="4972050"/>
            <a:ext cx="2952750" cy="361950"/>
          </a:xfrm>
          <a:prstGeom prst="rect">
            <a:avLst/>
          </a:prstGeom>
          <a:solidFill>
            <a:srgbClr val="FAFBFA">
              <a:alpha val="74000"/>
            </a:srgbClr>
          </a:solidFill>
          <a:ln w="0">
            <a:solidFill>
              <a:srgbClr val="FAFBFA"/>
            </a:solidFill>
            <a:prstDash val="solid"/>
          </a:ln>
        </p:spPr>
        <p:txBody>
          <a:bodyPr anchor="ctr"/>
          <a:lstStyle/>
          <a:p>
            <a:pPr algn="ctr">
              <a:defRPr sz="1425"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Never overwrite observed values</a:t>
            </a:r>
          </a:p>
        </p:txBody>
      </p:sp>
      <p:sp>
        <p:nvSpPr>
          <p:cNvPr id="31" name="TextBox 30"/>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1 / 7</a:t>
            </a:r>
          </a:p>
        </p:txBody>
      </p:sp>
      <p:sp>
        <p:nvSpPr>
          <p:cNvPr id="33" name="Rectangle 32"/>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4" name="anim_23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5" name="TextBox 34"/>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EXPLORATION OF DATASET · Where the emission data comes from</a:t>
            </a:r>
          </a:p>
          <a:p>
            <a:pPr algn="l">
              <a:spcBef>
                <a:spcPts val="200"/>
              </a:spcBef>
              <a:defRPr>
                <a:latin typeface="Times New Roman"/>
              </a:defRPr>
            </a:pPr>
            <a:r>
              <a:rPr sz="2300" b="1">
                <a:solidFill>
                  <a:srgbClr val="FFFFFF"/>
                </a:solidFill>
                <a:latin typeface="Georgia"/>
              </a:rPr>
              <a:t>Two sources create one traceable emissions panel</a:t>
            </a:r>
          </a:p>
        </p:txBody>
      </p:sp>
      <p:sp>
        <p:nvSpPr>
          <p:cNvPr id="36" name="TextBox 35"/>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1 / 7</a:t>
            </a:r>
          </a:p>
        </p:txBody>
      </p:sp>
      <p:sp>
        <p:nvSpPr>
          <p:cNvPr id="37" name="anim_263"/>
          <p:cNvSpPr txBox="1"/>
          <p:nvPr/>
        </p:nvSpPr>
        <p:spPr>
          <a:xfrm>
            <a:off x="777240" y="5815584"/>
            <a:ext cx="10607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Why it matters:  </a:t>
            </a:r>
            <a:r>
              <a:rPr sz="1350" b="0">
                <a:solidFill>
                  <a:srgbClr val="252B30"/>
                </a:solidFill>
                <a:latin typeface="Times New Roman"/>
              </a:rPr>
              <a:t>every later feature is computed from these same 6,378 country-year rows, so the panel has to be auditable first.</a:t>
            </a:r>
          </a:p>
        </p:txBody>
      </p:sp>
      <p:sp>
        <p:nvSpPr>
          <p:cNvPr id="38" name="anim_26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SHEN RUITING</a:t>
            </a:r>
          </a:p>
        </p:txBody>
      </p:sp>
      <p:sp>
        <p:nvSpPr>
          <p:cNvPr id="39" name="anim_262"/>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4</a:t>
            </a:r>
          </a:p>
        </p:txBody>
      </p:sp>
      <p:sp>
        <p:nvSpPr>
          <p:cNvPr id="40" name="anim_261"/>
          <p:cNvSpPr txBox="1"/>
          <p:nvPr/>
        </p:nvSpPr>
        <p:spPr>
          <a:xfrm>
            <a:off x="7818120" y="6492240"/>
            <a:ext cx="2743200" cy="292608"/>
          </a:xfrm>
          <a:prstGeom prst="rect">
            <a:avLst/>
          </a:prstGeom>
          <a:noFill/>
          <a:ln>
            <a:noFill/>
          </a:ln>
          <a:effectLst/>
        </p:spPr>
        <p:txBody>
          <a:bodyPr wrap="square" anchor="ctr" lIns="45720" rIns="45720" tIns="18288" bIns="18288">
            <a:spAutoFit/>
          </a:bodyPr>
          <a:lstStyle/>
          <a:p>
            <a:pPr algn="r">
              <a:defRPr>
                <a:latin typeface="Times New Roman"/>
              </a:defRPr>
            </a:pPr>
            <a:r>
              <a:rPr sz="1300" b="0">
                <a:solidFill>
                  <a:srgbClr val="6E7672"/>
                </a:solidFill>
                <a:latin typeface="Times New Roman"/>
              </a:rPr>
              <a:t>Data: [1]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0" fill="hold">
                      <p:stCondLst>
                        <p:cond delay="0"/>
                      </p:stCondLst>
                      <p:childTnLst>
                        <p:par>
                          <p:cTn id="41"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34"/>
                                        </p:tgtEl>
                                        <p:attrNameLst>
                                          <p:attrName>style.visibility</p:attrName>
                                        </p:attrNameLst>
                                      </p:cBhvr>
                                      <p:to>
                                        <p:strVal val="visible"/>
                                      </p:to>
                                    </p:set>
                                    <p:animEffect transition="in" filter="fade">
                                      <p:cBhvr>
                                        <p:cTn id="6" dur="450"/>
                                        <p:tgtEl>
                                          <p:spTgt spid="34"/>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withEffect">
                                  <p:stCondLst>
                                    <p:cond delay="79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grpId="0" nodeType="withEffect">
                                  <p:stCondLst>
                                    <p:cond delay="92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grpId="0" nodeType="withEffect">
                                  <p:stCondLst>
                                    <p:cond delay="105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grpId="0" nodeType="withEffect">
                                  <p:stCondLst>
                                    <p:cond delay="118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131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grpId="0" nodeType="withEffect">
                                  <p:stCondLst>
                                    <p:cond delay="144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par>
                                <p:cTn id="31" presetID="10" presetClass="entr" presetSubtype="0" fill="hold" grpId="0" nodeType="withEffect">
                                  <p:stCondLst>
                                    <p:cond delay="157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grpId="0" nodeType="withEffect">
                                  <p:stCondLst>
                                    <p:cond delay="17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450"/>
                                        <p:tgtEl>
                                          <p:spTgt spid="11"/>
                                        </p:tgtEl>
                                      </p:cBhvr>
                                    </p:animEffect>
                                  </p:childTnLst>
                                </p:cTn>
                              </p:par>
                              <p:par>
                                <p:cTn id="37" presetID="10" presetClass="entr" presetSubtype="0" fill="hold" grpId="0" nodeType="withEffect">
                                  <p:stCondLst>
                                    <p:cond delay="183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50"/>
                                        <p:tgtEl>
                                          <p:spTgt spid="17"/>
                                        </p:tgtEl>
                                      </p:cBhvr>
                                    </p:animEffect>
                                  </p:childTnLst>
                                </p:cTn>
                              </p:par>
                            </p:childTnLst>
                          </p:cTn>
                        </p:par>
                      </p:childTnLst>
                    </p:cTn>
                  </p:par>
                  <p:par>
                    <p:cTn id="54" fill="hold">
                      <p:stCondLst>
                        <p:cond delay="0"/>
                      </p:stCondLst>
                      <p:childTnLst>
                        <p:par>
                          <p:cTn id="55" fill="hold">
                            <p:stCondLst>
                              <p:cond delay="0"/>
                            </p:stCondLst>
                            <p:childTnLst>
                              <p:par>
                                <p:cTn id="42" presetID="10" presetClass="entr" presetSubtype="0" fill="hold" grpId="0" nodeType="afterEffect">
                                  <p:stCondLst>
                                    <p:cond delay="40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450"/>
                                        <p:tgtEl>
                                          <p:spTgt spid="12"/>
                                        </p:tgtEl>
                                      </p:cBhvr>
                                    </p:animEffect>
                                  </p:childTnLst>
                                </p:cTn>
                              </p:par>
                              <p:par>
                                <p:cTn id="45" presetID="10" presetClass="entr" presetSubtype="0" fill="hold" grpId="0" nodeType="withEffect">
                                  <p:stCondLst>
                                    <p:cond delay="53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66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79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childTnLst>
                          </p:cTn>
                        </p:par>
                      </p:childTnLst>
                    </p:cTn>
                  </p:par>
                  <p:par>
                    <p:cTn id="83" fill="hold">
                      <p:stCondLst>
                        <p:cond delay="0"/>
                      </p:stCondLst>
                      <p:childTnLst>
                        <p:par>
                          <p:cTn id="84" fill="hold">
                            <p:stCondLst>
                              <p:cond delay="0"/>
                            </p:stCondLst>
                            <p:childTnLst>
                              <p:par>
                                <p:cTn id="56" presetID="10" presetClass="entr" presetSubtype="0" fill="hold" grpId="0" nodeType="afterEffect">
                                  <p:stCondLst>
                                    <p:cond delay="4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53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66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79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92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1050"/>
                                  </p:stCondLst>
                                  <p:childTnLst>
                                    <p:set>
                                      <p:cBhvr>
                                        <p:cTn id="72" dur="1" fill="hold">
                                          <p:stCondLst>
                                            <p:cond delay="0"/>
                                          </p:stCondLst>
                                        </p:cTn>
                                        <p:tgtEl>
                                          <p:spTgt spid="5"/>
                                        </p:tgtEl>
                                        <p:attrNameLst>
                                          <p:attrName>style.visibility</p:attrName>
                                        </p:attrNameLst>
                                      </p:cBhvr>
                                      <p:to>
                                        <p:strVal val="visible"/>
                                      </p:to>
                                    </p:set>
                                    <p:animEffect transition="in" filter="fade">
                                      <p:cBhvr>
                                        <p:cTn id="73" dur="450"/>
                                        <p:tgtEl>
                                          <p:spTgt spid="5"/>
                                        </p:tgtEl>
                                      </p:cBhvr>
                                    </p:animEffect>
                                  </p:childTnLst>
                                </p:cTn>
                              </p:par>
                              <p:par>
                                <p:cTn id="74" presetID="10" presetClass="entr" presetSubtype="0" fill="hold" grpId="0" nodeType="withEffect">
                                  <p:stCondLst>
                                    <p:cond delay="1180"/>
                                  </p:stCondLst>
                                  <p:childTnLst>
                                    <p:set>
                                      <p:cBhvr>
                                        <p:cTn id="75" dur="1" fill="hold">
                                          <p:stCondLst>
                                            <p:cond delay="0"/>
                                          </p:stCondLst>
                                        </p:cTn>
                                        <p:tgtEl>
                                          <p:spTgt spid="38"/>
                                        </p:tgtEl>
                                        <p:attrNameLst>
                                          <p:attrName>style.visibility</p:attrName>
                                        </p:attrNameLst>
                                      </p:cBhvr>
                                      <p:to>
                                        <p:strVal val="visible"/>
                                      </p:to>
                                    </p:set>
                                    <p:animEffect transition="in" filter="fade">
                                      <p:cBhvr>
                                        <p:cTn id="76" dur="450"/>
                                        <p:tgtEl>
                                          <p:spTgt spid="38"/>
                                        </p:tgtEl>
                                      </p:cBhvr>
                                    </p:animEffect>
                                  </p:childTnLst>
                                </p:cTn>
                              </p:par>
                              <p:par>
                                <p:cTn id="77" presetID="10" presetClass="entr" presetSubtype="0" fill="hold" grpId="0" nodeType="withEffect">
                                  <p:stCondLst>
                                    <p:cond delay="1310"/>
                                  </p:stCondLst>
                                  <p:childTnLst>
                                    <p:set>
                                      <p:cBhvr>
                                        <p:cTn id="78" dur="1" fill="hold">
                                          <p:stCondLst>
                                            <p:cond delay="0"/>
                                          </p:stCondLst>
                                        </p:cTn>
                                        <p:tgtEl>
                                          <p:spTgt spid="40"/>
                                        </p:tgtEl>
                                        <p:attrNameLst>
                                          <p:attrName>style.visibility</p:attrName>
                                        </p:attrNameLst>
                                      </p:cBhvr>
                                      <p:to>
                                        <p:strVal val="visible"/>
                                      </p:to>
                                    </p:set>
                                    <p:animEffect transition="in" filter="fade">
                                      <p:cBhvr>
                                        <p:cTn id="79" dur="450"/>
                                        <p:tgtEl>
                                          <p:spTgt spid="40"/>
                                        </p:tgtEl>
                                      </p:cBhvr>
                                    </p:animEffect>
                                  </p:childTnLst>
                                </p:cTn>
                              </p:par>
                              <p:par>
                                <p:cTn id="80" presetID="10" presetClass="entr" presetSubtype="0" fill="hold" grpId="0" nodeType="withEffect">
                                  <p:stCondLst>
                                    <p:cond delay="144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50"/>
                                        <p:tgtEl>
                                          <p:spTgt spid="39"/>
                                        </p:tgtEl>
                                      </p:cBhvr>
                                    </p:animEffect>
                                  </p:childTnLst>
                                </p:cTn>
                              </p:par>
                            </p:childTnLst>
                          </p:cTn>
                        </p:par>
                      </p:childTnLst>
                    </p:cTn>
                  </p:par>
                  <p:par>
                    <p:cTn id="88" fill="hold">
                      <p:stCondLst>
                        <p:cond delay="0"/>
                      </p:stCondLst>
                      <p:childTnLst>
                        <p:par>
                          <p:cTn id="89" fill="hold">
                            <p:stCondLst>
                              <p:cond delay="0"/>
                            </p:stCondLst>
                            <p:childTnLst>
                              <p:par>
                                <p:cTn id="85" presetID="10" presetClass="entr" presetSubtype="0" fill="hold" grpId="0" nodeType="afterEffect">
                                  <p:stCondLst>
                                    <p:cond delay="40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03"/>
          <p:cNvSpPr>
            <a:spLocks noGrp="1"/>
          </p:cNvSpPr>
          <p:nvPr>
            <p:ph type="sldNum" idx="12"/>
          </p:nvPr>
        </p:nvSpPr>
        <p:spPr>
          <a:xfrm>
            <a:off x="11561522" y="6356350"/>
            <a:ext cx="518786" cy="362485"/>
          </a:xfrm>
          <a:ln/>
        </p:spPr>
        <p:txBody>
          <a:bodyPr wrap="none"/>
          <a:lstStyle/>
          <a:p>
            <a:pPr marL="0" marR="0" lvl="0" indent="0" algn="r" defTabSz="914400">
              <a:lnSpc>
                <a:spcPct val="100000"/>
              </a:lnSpc>
              <a:spcBef>
                <a:spcPts val="0"/>
              </a:spcBef>
              <a:spcAft>
                <a:spcPts val="0"/>
              </a:spcAft>
              <a:buClrTx/>
              <a:buSzTx/>
              <a:buFontTx/>
              <a:buNone/>
              <a:defRPr>
                <a:latin typeface="Times New Roman"/>
              </a:defRPr>
            </a:pPr>
            <a:fld id="{202359C0-8A7A-196E-DD58-8E6569619F09}"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72" name="Rectangle 71"/>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anim_265"/>
          <p:cNvSpPr>
            <a:spLocks noGrp="1"/>
          </p:cNvSpPr>
          <p:nvPr/>
        </p:nvSpPr>
        <p:spPr>
          <a:xfrm>
            <a:off x="400050" y="1028700"/>
            <a:ext cx="2857500"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CONDITIONING WORKFLOW</a:t>
            </a:r>
          </a:p>
        </p:txBody>
      </p:sp>
      <p:sp>
        <p:nvSpPr>
          <p:cNvPr id="7" name="anim_266"/>
          <p:cNvSpPr>
            <a:spLocks noGrp="1"/>
          </p:cNvSpPr>
          <p:nvPr/>
        </p:nvSpPr>
        <p:spPr>
          <a:xfrm>
            <a:off x="476250" y="1524000"/>
            <a:ext cx="2247900" cy="1562100"/>
          </a:xfrm>
          <a:prstGeom prst="roundRect">
            <a:avLst>
              <a:gd name="adj" fmla="val 4878"/>
            </a:avLst>
          </a:prstGeom>
          <a:solidFill>
            <a:srgbClr val="ECEFF4">
              <a:alpha val="74000"/>
            </a:srgbClr>
          </a:solidFill>
          <a:ln w="19050">
            <a:solidFill>
              <a:srgbClr val="4F6E96"/>
            </a:solidFill>
            <a:prstDash val="solid"/>
          </a:ln>
        </p:spPr>
        <p:txBody>
          <a:bodyPr/>
          <a:p>
            <a:pPr>
              <a:defRPr>
                <a:latin typeface="Times New Roman"/>
              </a:defRPr>
            </a:pPr>
          </a:p>
        </p:txBody>
      </p:sp>
      <p:sp>
        <p:nvSpPr>
          <p:cNvPr id="8" name="anim_274"/>
          <p:cNvSpPr>
            <a:spLocks noGrp="1"/>
          </p:cNvSpPr>
          <p:nvPr/>
        </p:nvSpPr>
        <p:spPr>
          <a:xfrm>
            <a:off x="628650" y="1676400"/>
            <a:ext cx="428625" cy="381000"/>
          </a:xfrm>
          <a:prstGeom prst="ellipse">
            <a:avLst/>
          </a:prstGeom>
          <a:solidFill>
            <a:srgbClr val="4F6E96"/>
          </a:solidFill>
          <a:ln w="0">
            <a:solidFill>
              <a:srgbClr val="4F6E96"/>
            </a:solidFill>
            <a:prstDash val="solid"/>
          </a:ln>
        </p:spPr>
        <p:txBody>
          <a:bodyPr anchor="ctr"/>
          <a:lstStyle/>
          <a:p>
            <a:pPr algn="ctr">
              <a:defRPr sz="1125"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1</a:t>
            </a:r>
          </a:p>
        </p:txBody>
      </p:sp>
      <p:sp>
        <p:nvSpPr>
          <p:cNvPr id="9" name="anim_270"/>
          <p:cNvSpPr>
            <a:spLocks noGrp="1"/>
          </p:cNvSpPr>
          <p:nvPr/>
        </p:nvSpPr>
        <p:spPr>
          <a:xfrm>
            <a:off x="1143000" y="1657350"/>
            <a:ext cx="1381125" cy="419100"/>
          </a:xfrm>
          <a:prstGeom prst="rect">
            <a:avLst/>
          </a:prstGeom>
          <a:solidFill>
            <a:srgbClr val="ECEFF4">
              <a:alpha val="74000"/>
            </a:srgbClr>
          </a:solidFill>
          <a:ln w="0">
            <a:solidFill>
              <a:srgbClr val="ECEFF4"/>
            </a:solidFill>
            <a:prstDash val="solid"/>
          </a:ln>
        </p:spPr>
        <p:txBody>
          <a:bodyPr anchor="ctr" wrap="none"/>
          <a:lstStyle/>
          <a:p>
            <a:pPr algn="l">
              <a:defRPr sz="17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Scope</a:t>
            </a:r>
          </a:p>
        </p:txBody>
      </p:sp>
      <p:sp>
        <p:nvSpPr>
          <p:cNvPr id="10" name="anim_278"/>
          <p:cNvSpPr>
            <a:spLocks noGrp="1"/>
          </p:cNvSpPr>
          <p:nvPr/>
        </p:nvSpPr>
        <p:spPr>
          <a:xfrm>
            <a:off x="685800" y="2190750"/>
            <a:ext cx="1828800" cy="666750"/>
          </a:xfrm>
          <a:prstGeom prst="rect">
            <a:avLst/>
          </a:prstGeom>
          <a:solidFill>
            <a:srgbClr val="ECEFF4">
              <a:alpha val="74000"/>
            </a:srgbClr>
          </a:solidFill>
          <a:ln w="0">
            <a:solidFill>
              <a:srgbClr val="ECEFF4"/>
            </a:solidFill>
            <a:prstDash val="solid"/>
          </a:ln>
        </p:spPr>
        <p:txBody>
          <a:bodyPr anchor="ctr"/>
          <a:lstStyle/>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1992–2021</a:t>
            </a:r>
          </a:p>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valid ISO rows</a:t>
            </a:r>
          </a:p>
        </p:txBody>
      </p:sp>
      <p:sp>
        <p:nvSpPr>
          <p:cNvPr id="11" name="anim_267"/>
          <p:cNvSpPr>
            <a:spLocks noGrp="1"/>
          </p:cNvSpPr>
          <p:nvPr/>
        </p:nvSpPr>
        <p:spPr>
          <a:xfrm>
            <a:off x="3314700" y="1524000"/>
            <a:ext cx="2247900" cy="1562100"/>
          </a:xfrm>
          <a:prstGeom prst="roundRect">
            <a:avLst>
              <a:gd name="adj" fmla="val 4878"/>
            </a:avLst>
          </a:prstGeom>
          <a:solidFill>
            <a:srgbClr val="F6F2E4"/>
          </a:solidFill>
          <a:ln w="19050">
            <a:solidFill>
              <a:srgbClr val="8A6E42"/>
            </a:solidFill>
            <a:prstDash val="solid"/>
          </a:ln>
        </p:spPr>
        <p:txBody>
          <a:bodyPr/>
          <a:p>
            <a:pPr>
              <a:defRPr>
                <a:latin typeface="Times New Roman"/>
              </a:defRPr>
            </a:pPr>
          </a:p>
        </p:txBody>
      </p:sp>
      <p:sp>
        <p:nvSpPr>
          <p:cNvPr id="12" name="anim_275"/>
          <p:cNvSpPr>
            <a:spLocks noGrp="1"/>
          </p:cNvSpPr>
          <p:nvPr/>
        </p:nvSpPr>
        <p:spPr>
          <a:xfrm>
            <a:off x="3467100" y="1676400"/>
            <a:ext cx="428625" cy="381000"/>
          </a:xfrm>
          <a:prstGeom prst="ellipse">
            <a:avLst/>
          </a:prstGeom>
          <a:solidFill>
            <a:srgbClr val="8A6E42"/>
          </a:solidFill>
          <a:ln w="0">
            <a:solidFill>
              <a:srgbClr val="8A6E42"/>
            </a:solidFill>
            <a:prstDash val="solid"/>
          </a:ln>
        </p:spPr>
        <p:txBody>
          <a:bodyPr anchor="ctr"/>
          <a:lstStyle/>
          <a:p>
            <a:pPr algn="ctr">
              <a:defRPr sz="1125"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2</a:t>
            </a:r>
          </a:p>
        </p:txBody>
      </p:sp>
      <p:sp>
        <p:nvSpPr>
          <p:cNvPr id="13" name="anim_271"/>
          <p:cNvSpPr>
            <a:spLocks noGrp="1"/>
          </p:cNvSpPr>
          <p:nvPr/>
        </p:nvSpPr>
        <p:spPr>
          <a:xfrm>
            <a:off x="3981450" y="1657350"/>
            <a:ext cx="1381125" cy="419100"/>
          </a:xfrm>
          <a:prstGeom prst="rect">
            <a:avLst/>
          </a:prstGeom>
          <a:solidFill>
            <a:srgbClr val="F6F2E4"/>
          </a:solidFill>
          <a:ln w="0">
            <a:solidFill>
              <a:srgbClr val="F6F2E4"/>
            </a:solidFill>
            <a:prstDash val="solid"/>
          </a:ln>
        </p:spPr>
        <p:txBody>
          <a:bodyPr anchor="ctr" wrap="none"/>
          <a:lstStyle/>
          <a:p>
            <a:pPr algn="l">
              <a:defRPr sz="17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Harmonise</a:t>
            </a:r>
          </a:p>
        </p:txBody>
      </p:sp>
      <p:sp>
        <p:nvSpPr>
          <p:cNvPr id="14" name="anim_279"/>
          <p:cNvSpPr>
            <a:spLocks noGrp="1"/>
          </p:cNvSpPr>
          <p:nvPr/>
        </p:nvSpPr>
        <p:spPr>
          <a:xfrm>
            <a:off x="3524250" y="2190750"/>
            <a:ext cx="1828800" cy="666750"/>
          </a:xfrm>
          <a:prstGeom prst="rect">
            <a:avLst/>
          </a:prstGeom>
          <a:solidFill>
            <a:srgbClr val="F6F2E4"/>
          </a:solidFill>
          <a:ln w="0">
            <a:solidFill>
              <a:srgbClr val="F6F2E4"/>
            </a:solidFill>
            <a:prstDash val="solid"/>
          </a:ln>
        </p:spPr>
        <p:txBody>
          <a:bodyPr anchor="ctr"/>
          <a:lstStyle/>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ISO-3 + year</a:t>
            </a:r>
          </a:p>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units + names</a:t>
            </a:r>
          </a:p>
        </p:txBody>
      </p:sp>
      <p:sp>
        <p:nvSpPr>
          <p:cNvPr id="15" name="anim_268"/>
          <p:cNvSpPr>
            <a:spLocks noGrp="1"/>
          </p:cNvSpPr>
          <p:nvPr/>
        </p:nvSpPr>
        <p:spPr>
          <a:xfrm>
            <a:off x="6153150" y="1524000"/>
            <a:ext cx="2247900" cy="1562100"/>
          </a:xfrm>
          <a:prstGeom prst="roundRect">
            <a:avLst>
              <a:gd name="adj" fmla="val 4878"/>
            </a:avLst>
          </a:prstGeom>
          <a:solidFill>
            <a:srgbClr val="F7F1EA"/>
          </a:solidFill>
          <a:ln w="19050">
            <a:solidFill>
              <a:srgbClr val="BE7F4E"/>
            </a:solidFill>
            <a:prstDash val="solid"/>
          </a:ln>
        </p:spPr>
        <p:txBody>
          <a:bodyPr/>
          <a:p>
            <a:pPr>
              <a:defRPr>
                <a:latin typeface="Times New Roman"/>
              </a:defRPr>
            </a:pPr>
          </a:p>
        </p:txBody>
      </p:sp>
      <p:sp>
        <p:nvSpPr>
          <p:cNvPr id="16" name="anim_276"/>
          <p:cNvSpPr>
            <a:spLocks noGrp="1"/>
          </p:cNvSpPr>
          <p:nvPr/>
        </p:nvSpPr>
        <p:spPr>
          <a:xfrm>
            <a:off x="6305550" y="1676400"/>
            <a:ext cx="428625" cy="381000"/>
          </a:xfrm>
          <a:prstGeom prst="ellipse">
            <a:avLst/>
          </a:prstGeom>
          <a:solidFill>
            <a:srgbClr val="BE7F4E"/>
          </a:solidFill>
          <a:ln w="0">
            <a:solidFill>
              <a:srgbClr val="BE7F4E"/>
            </a:solidFill>
            <a:prstDash val="solid"/>
          </a:ln>
        </p:spPr>
        <p:txBody>
          <a:bodyPr anchor="ctr"/>
          <a:lstStyle/>
          <a:p>
            <a:pPr algn="ctr">
              <a:defRPr sz="1125"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3</a:t>
            </a:r>
          </a:p>
        </p:txBody>
      </p:sp>
      <p:sp>
        <p:nvSpPr>
          <p:cNvPr id="17" name="anim_272"/>
          <p:cNvSpPr>
            <a:spLocks noGrp="1"/>
          </p:cNvSpPr>
          <p:nvPr/>
        </p:nvSpPr>
        <p:spPr>
          <a:xfrm>
            <a:off x="6819900" y="1657350"/>
            <a:ext cx="1381125" cy="419100"/>
          </a:xfrm>
          <a:prstGeom prst="rect">
            <a:avLst/>
          </a:prstGeom>
          <a:solidFill>
            <a:srgbClr val="F7F1EA"/>
          </a:solidFill>
          <a:ln w="0">
            <a:solidFill>
              <a:srgbClr val="F7F1EA"/>
            </a:solidFill>
            <a:prstDash val="solid"/>
          </a:ln>
        </p:spPr>
        <p:txBody>
          <a:bodyPr anchor="ctr"/>
          <a:lstStyle/>
          <a:p>
            <a:pPr algn="l">
              <a:defRPr sz="17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Left join</a:t>
            </a:r>
          </a:p>
        </p:txBody>
      </p:sp>
      <p:sp>
        <p:nvSpPr>
          <p:cNvPr id="18" name="anim_280"/>
          <p:cNvSpPr>
            <a:spLocks noGrp="1"/>
          </p:cNvSpPr>
          <p:nvPr/>
        </p:nvSpPr>
        <p:spPr>
          <a:xfrm>
            <a:off x="6362700" y="2190750"/>
            <a:ext cx="1828800" cy="666750"/>
          </a:xfrm>
          <a:prstGeom prst="rect">
            <a:avLst/>
          </a:prstGeom>
          <a:solidFill>
            <a:srgbClr val="F7F1EA"/>
          </a:solidFill>
          <a:ln w="0">
            <a:solidFill>
              <a:srgbClr val="F7F1EA"/>
            </a:solidFill>
            <a:prstDash val="solid"/>
          </a:ln>
        </p:spPr>
        <p:txBody>
          <a:bodyPr anchor="ctr"/>
          <a:lstStyle/>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OWID → GCB</a:t>
            </a:r>
          </a:p>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fuel-only fill</a:t>
            </a:r>
          </a:p>
        </p:txBody>
      </p:sp>
      <p:sp>
        <p:nvSpPr>
          <p:cNvPr id="19" name="anim_269"/>
          <p:cNvSpPr>
            <a:spLocks noGrp="1"/>
          </p:cNvSpPr>
          <p:nvPr/>
        </p:nvSpPr>
        <p:spPr>
          <a:xfrm>
            <a:off x="8991600" y="1524000"/>
            <a:ext cx="2247900" cy="1562100"/>
          </a:xfrm>
          <a:prstGeom prst="roundRect">
            <a:avLst>
              <a:gd name="adj" fmla="val 4878"/>
            </a:avLst>
          </a:prstGeom>
          <a:solidFill>
            <a:srgbClr val="EEF4EC">
              <a:alpha val="74000"/>
            </a:srgbClr>
          </a:solidFill>
          <a:ln w="19050">
            <a:solidFill>
              <a:srgbClr val="6E8C74"/>
            </a:solidFill>
            <a:prstDash val="solid"/>
          </a:ln>
        </p:spPr>
        <p:txBody>
          <a:bodyPr/>
          <a:p>
            <a:pPr>
              <a:defRPr>
                <a:latin typeface="Times New Roman"/>
              </a:defRPr>
            </a:pPr>
          </a:p>
        </p:txBody>
      </p:sp>
      <p:sp>
        <p:nvSpPr>
          <p:cNvPr id="20" name="anim_277"/>
          <p:cNvSpPr>
            <a:spLocks noGrp="1"/>
          </p:cNvSpPr>
          <p:nvPr/>
        </p:nvSpPr>
        <p:spPr>
          <a:xfrm>
            <a:off x="9144000" y="1676400"/>
            <a:ext cx="428625" cy="381000"/>
          </a:xfrm>
          <a:prstGeom prst="ellipse">
            <a:avLst/>
          </a:prstGeom>
          <a:solidFill>
            <a:srgbClr val="6E8C74"/>
          </a:solidFill>
          <a:ln w="0">
            <a:solidFill>
              <a:srgbClr val="6E8C74"/>
            </a:solidFill>
            <a:prstDash val="solid"/>
          </a:ln>
        </p:spPr>
        <p:txBody>
          <a:bodyPr anchor="ctr"/>
          <a:lstStyle/>
          <a:p>
            <a:pPr algn="ctr">
              <a:defRPr sz="1125"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4</a:t>
            </a:r>
          </a:p>
        </p:txBody>
      </p:sp>
      <p:sp>
        <p:nvSpPr>
          <p:cNvPr id="21" name="anim_273"/>
          <p:cNvSpPr>
            <a:spLocks noGrp="1"/>
          </p:cNvSpPr>
          <p:nvPr/>
        </p:nvSpPr>
        <p:spPr>
          <a:xfrm>
            <a:off x="9658350" y="1657350"/>
            <a:ext cx="1381125" cy="419100"/>
          </a:xfrm>
          <a:prstGeom prst="rect">
            <a:avLst/>
          </a:prstGeom>
          <a:solidFill>
            <a:srgbClr val="EEF4EC">
              <a:alpha val="74000"/>
            </a:srgbClr>
          </a:solidFill>
          <a:ln w="0">
            <a:solidFill>
              <a:srgbClr val="EEF4EC"/>
            </a:solidFill>
            <a:prstDash val="solid"/>
          </a:ln>
        </p:spPr>
        <p:txBody>
          <a:bodyPr anchor="ctr" wrap="none"/>
          <a:lstStyle/>
          <a:p>
            <a:pPr algn="l">
              <a:defRPr sz="1725"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Condition</a:t>
            </a:r>
          </a:p>
        </p:txBody>
      </p:sp>
      <p:sp>
        <p:nvSpPr>
          <p:cNvPr id="22" name="anim_281"/>
          <p:cNvSpPr>
            <a:spLocks noGrp="1"/>
          </p:cNvSpPr>
          <p:nvPr/>
        </p:nvSpPr>
        <p:spPr>
          <a:xfrm>
            <a:off x="9201150" y="2190750"/>
            <a:ext cx="1828800" cy="666750"/>
          </a:xfrm>
          <a:prstGeom prst="rect">
            <a:avLst/>
          </a:prstGeom>
          <a:solidFill>
            <a:srgbClr val="EEF4EC">
              <a:alpha val="74000"/>
            </a:srgbClr>
          </a:solidFill>
          <a:ln w="0">
            <a:solidFill>
              <a:srgbClr val="EEF4EC"/>
            </a:solidFill>
            <a:prstDash val="solid"/>
          </a:ln>
        </p:spPr>
        <p:txBody>
          <a:bodyPr anchor="ctr"/>
          <a:lstStyle/>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core + growth</a:t>
            </a:r>
          </a:p>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shares + flags</a:t>
            </a:r>
          </a:p>
        </p:txBody>
      </p:sp>
      <p:cxnSp>
        <p:nvCxnSpPr>
          <p:cNvPr id="63" name="anim_282"/>
          <p:cNvCxnSpPr>
            <a:stCxn id="7" idx="3"/>
            <a:endCxn id="11" idx="1"/>
          </p:cNvCxnSpPr>
          <p:nvPr/>
        </p:nvCxnSpPr>
        <p:spPr>
          <a:xfrm>
            <a:off x="2724150" y="2305050"/>
            <a:ext cx="590550" cy="0"/>
          </a:xfrm>
          <a:prstGeom prst="straightConnector1">
            <a:avLst/>
          </a:prstGeom>
          <a:ln w="23813">
            <a:solidFill>
              <a:srgbClr val="2F5248"/>
            </a:solidFill>
            <a:prstDash val="solid"/>
            <a:tailEnd type="arrow" w="med" len="med"/>
          </a:ln>
        </p:spPr>
      </p:cxnSp>
      <p:cxnSp>
        <p:nvCxnSpPr>
          <p:cNvPr id="64" name="anim_283"/>
          <p:cNvCxnSpPr>
            <a:stCxn id="11" idx="3"/>
            <a:endCxn id="15" idx="1"/>
          </p:cNvCxnSpPr>
          <p:nvPr/>
        </p:nvCxnSpPr>
        <p:spPr>
          <a:xfrm>
            <a:off x="5562600" y="2305050"/>
            <a:ext cx="590550" cy="0"/>
          </a:xfrm>
          <a:prstGeom prst="straightConnector1">
            <a:avLst/>
          </a:prstGeom>
          <a:ln w="23813">
            <a:solidFill>
              <a:srgbClr val="2F5248"/>
            </a:solidFill>
            <a:prstDash val="solid"/>
            <a:tailEnd type="arrow" w="med" len="med"/>
          </a:ln>
        </p:spPr>
      </p:cxnSp>
      <p:cxnSp>
        <p:nvCxnSpPr>
          <p:cNvPr id="65" name="anim_284"/>
          <p:cNvCxnSpPr>
            <a:stCxn id="15" idx="3"/>
            <a:endCxn id="19" idx="1"/>
          </p:cNvCxnSpPr>
          <p:nvPr/>
        </p:nvCxnSpPr>
        <p:spPr>
          <a:xfrm>
            <a:off x="8401050" y="2305050"/>
            <a:ext cx="590550" cy="0"/>
          </a:xfrm>
          <a:prstGeom prst="straightConnector1">
            <a:avLst/>
          </a:prstGeom>
          <a:ln w="23813">
            <a:solidFill>
              <a:srgbClr val="2F5248"/>
            </a:solidFill>
            <a:prstDash val="solid"/>
            <a:tailEnd type="arrow" w="med" len="med"/>
          </a:ln>
        </p:spPr>
      </p:cxnSp>
      <p:sp>
        <p:nvSpPr>
          <p:cNvPr id="26" name="anim_285"/>
          <p:cNvSpPr>
            <a:spLocks noGrp="1"/>
          </p:cNvSpPr>
          <p:nvPr/>
        </p:nvSpPr>
        <p:spPr>
          <a:xfrm>
            <a:off x="476250" y="3133725"/>
            <a:ext cx="10763250" cy="228600"/>
          </a:xfrm>
          <a:prstGeom prst="rect">
            <a:avLst/>
          </a:prstGeom>
          <a:solidFill>
            <a:srgbClr val="FFFFFF">
              <a:alpha val="74000"/>
            </a:srgbClr>
          </a:solidFill>
          <a:ln w="0">
            <a:solidFill>
              <a:srgbClr val="FFFFFF"/>
            </a:solidFill>
            <a:prstDash val="solid"/>
          </a:ln>
        </p:spPr>
        <p:txBody>
          <a:bodyPr anchor="ctr"/>
          <a:lstStyle/>
          <a:p>
            <a:pPr algn="ctr">
              <a:defRPr sz="1000" b="1"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Final checks: unique country-year keys · consistent units · traceable source fields</a:t>
            </a:r>
          </a:p>
        </p:txBody>
      </p:sp>
      <p:sp>
        <p:nvSpPr>
          <p:cNvPr id="27" name="anim_286"/>
          <p:cNvSpPr>
            <a:spLocks noGrp="1"/>
          </p:cNvSpPr>
          <p:nvPr/>
        </p:nvSpPr>
        <p:spPr>
          <a:xfrm>
            <a:off x="46672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6,378</a:t>
            </a:r>
          </a:p>
        </p:txBody>
      </p:sp>
      <p:sp>
        <p:nvSpPr>
          <p:cNvPr id="28" name="anim_291"/>
          <p:cNvSpPr>
            <a:spLocks noGrp="1"/>
          </p:cNvSpPr>
          <p:nvPr/>
        </p:nvSpPr>
        <p:spPr>
          <a:xfrm>
            <a:off x="46672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country-year rows</a:t>
            </a:r>
          </a:p>
        </p:txBody>
      </p:sp>
      <p:sp>
        <p:nvSpPr>
          <p:cNvPr id="29" name="anim_287"/>
          <p:cNvSpPr>
            <a:spLocks noGrp="1"/>
          </p:cNvSpPr>
          <p:nvPr/>
        </p:nvSpPr>
        <p:spPr>
          <a:xfrm>
            <a:off x="273367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213</a:t>
            </a:r>
          </a:p>
        </p:txBody>
      </p:sp>
      <p:sp>
        <p:nvSpPr>
          <p:cNvPr id="30" name="anim_292"/>
          <p:cNvSpPr>
            <a:spLocks noGrp="1"/>
          </p:cNvSpPr>
          <p:nvPr/>
        </p:nvSpPr>
        <p:spPr>
          <a:xfrm>
            <a:off x="273367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ISO entities</a:t>
            </a:r>
          </a:p>
        </p:txBody>
      </p:sp>
      <p:sp>
        <p:nvSpPr>
          <p:cNvPr id="31" name="anim_288"/>
          <p:cNvSpPr>
            <a:spLocks noGrp="1"/>
          </p:cNvSpPr>
          <p:nvPr/>
        </p:nvSpPr>
        <p:spPr>
          <a:xfrm>
            <a:off x="500062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30</a:t>
            </a:r>
          </a:p>
        </p:txBody>
      </p:sp>
      <p:sp>
        <p:nvSpPr>
          <p:cNvPr id="32" name="anim_293"/>
          <p:cNvSpPr>
            <a:spLocks noGrp="1"/>
          </p:cNvSpPr>
          <p:nvPr/>
        </p:nvSpPr>
        <p:spPr>
          <a:xfrm>
            <a:off x="500062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years</a:t>
            </a:r>
          </a:p>
        </p:txBody>
      </p:sp>
      <p:sp>
        <p:nvSpPr>
          <p:cNvPr id="33" name="anim_289"/>
          <p:cNvSpPr>
            <a:spLocks noGrp="1"/>
          </p:cNvSpPr>
          <p:nvPr/>
        </p:nvSpPr>
        <p:spPr>
          <a:xfrm>
            <a:off x="726757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22</a:t>
            </a:r>
          </a:p>
        </p:txBody>
      </p:sp>
      <p:sp>
        <p:nvSpPr>
          <p:cNvPr id="34" name="anim_294"/>
          <p:cNvSpPr>
            <a:spLocks noGrp="1"/>
          </p:cNvSpPr>
          <p:nvPr/>
        </p:nvSpPr>
        <p:spPr>
          <a:xfrm>
            <a:off x="726757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fields</a:t>
            </a:r>
          </a:p>
        </p:txBody>
      </p:sp>
      <p:sp>
        <p:nvSpPr>
          <p:cNvPr id="35" name="anim_290"/>
          <p:cNvSpPr>
            <a:spLocks noGrp="1"/>
          </p:cNvSpPr>
          <p:nvPr/>
        </p:nvSpPr>
        <p:spPr>
          <a:xfrm>
            <a:off x="953452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ED7D31"/>
                </a:solidFill>
                <a:latin typeface="Times New Roman" panose="020B0604020202020204"/>
                <a:ea typeface="Times New Roman" panose="020B0604020202020204"/>
                <a:cs typeface="Times New Roman" panose="020B0604020202020204"/>
              </a:defRPr>
            </a:pPr>
            <a:r>
              <a:rPr>
                <a:solidFill/>
                <a:latin typeface="Times New Roman"/>
              </a:rPr>
              <a:t>50.8%</a:t>
            </a:r>
          </a:p>
        </p:txBody>
      </p:sp>
      <p:sp>
        <p:nvSpPr>
          <p:cNvPr id="36" name="anim_295"/>
          <p:cNvSpPr>
            <a:spLocks noGrp="1"/>
          </p:cNvSpPr>
          <p:nvPr/>
        </p:nvSpPr>
        <p:spPr>
          <a:xfrm>
            <a:off x="953452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rows supplemented</a:t>
            </a:r>
          </a:p>
        </p:txBody>
      </p:sp>
      <p:sp>
        <p:nvSpPr>
          <p:cNvPr id="37" name="anim_296"/>
          <p:cNvSpPr>
            <a:spLocks noGrp="1"/>
          </p:cNvSpPr>
          <p:nvPr/>
        </p:nvSpPr>
        <p:spPr>
          <a:xfrm>
            <a:off x="476250" y="4572000"/>
            <a:ext cx="5314950" cy="971550"/>
          </a:xfrm>
          <a:prstGeom prst="roundRect">
            <a:avLst>
              <a:gd name="adj" fmla="val 7843"/>
            </a:avLst>
          </a:prstGeom>
          <a:solidFill>
            <a:srgbClr val="ECEFF4">
              <a:alpha val="74000"/>
            </a:srgbClr>
          </a:solidFill>
          <a:ln w="13335">
            <a:solidFill>
              <a:srgbClr val="4F6E96"/>
            </a:solidFill>
            <a:prstDash val="solid"/>
          </a:ln>
        </p:spPr>
        <p:txBody>
          <a:bodyPr/>
          <a:p>
            <a:pPr>
              <a:defRPr>
                <a:latin typeface="Times New Roman"/>
              </a:defRPr>
            </a:pPr>
          </a:p>
        </p:txBody>
      </p:sp>
      <p:sp>
        <p:nvSpPr>
          <p:cNvPr id="38" name="anim_298"/>
          <p:cNvSpPr>
            <a:spLocks noGrp="1"/>
          </p:cNvSpPr>
          <p:nvPr/>
        </p:nvSpPr>
        <p:spPr>
          <a:xfrm>
            <a:off x="666750" y="4695825"/>
            <a:ext cx="1428750" cy="266700"/>
          </a:xfrm>
          <a:prstGeom prst="rect">
            <a:avLst/>
          </a:prstGeom>
          <a:solidFill>
            <a:srgbClr val="ECEFF4">
              <a:alpha val="74000"/>
            </a:srgbClr>
          </a:solidFill>
          <a:ln w="0">
            <a:solidFill>
              <a:srgbClr val="ECEFF4"/>
            </a:solidFill>
            <a:prstDash val="solid"/>
          </a:ln>
        </p:spPr>
        <p:txBody>
          <a:bodyPr anchor="ctr" wrap="none"/>
          <a:lstStyle/>
          <a:p>
            <a:pPr algn="l">
              <a:defRPr sz="10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STRENGTH</a:t>
            </a:r>
          </a:p>
        </p:txBody>
      </p:sp>
      <p:sp>
        <p:nvSpPr>
          <p:cNvPr id="39" name="anim_300"/>
          <p:cNvSpPr>
            <a:spLocks noGrp="1"/>
          </p:cNvSpPr>
          <p:nvPr/>
        </p:nvSpPr>
        <p:spPr>
          <a:xfrm>
            <a:off x="666750" y="4991100"/>
            <a:ext cx="4905375" cy="400050"/>
          </a:xfrm>
          <a:prstGeom prst="rect">
            <a:avLst/>
          </a:prstGeom>
          <a:solidFill>
            <a:srgbClr val="ECEFF4">
              <a:alpha val="74000"/>
            </a:srgbClr>
          </a:solidFill>
          <a:ln w="0">
            <a:solidFill>
              <a:srgbClr val="ECEFF4"/>
            </a:solidFill>
            <a:prstDash val="solid"/>
          </a:ln>
        </p:spPr>
        <p:txBody>
          <a:bodyPr anchor="ctr"/>
          <a:lstStyle/>
          <a:p>
            <a:pPr algn="l">
              <a:defRPr sz="13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Traceable row retention and field-level supplementation</a:t>
            </a:r>
          </a:p>
        </p:txBody>
      </p:sp>
      <p:sp>
        <p:nvSpPr>
          <p:cNvPr id="40" name="anim_297"/>
          <p:cNvSpPr>
            <a:spLocks noGrp="1"/>
          </p:cNvSpPr>
          <p:nvPr/>
        </p:nvSpPr>
        <p:spPr>
          <a:xfrm>
            <a:off x="5981700" y="4572000"/>
            <a:ext cx="5257800" cy="971550"/>
          </a:xfrm>
          <a:prstGeom prst="roundRect">
            <a:avLst>
              <a:gd name="adj" fmla="val 7843"/>
            </a:avLst>
          </a:prstGeom>
          <a:solidFill>
            <a:srgbClr val="F6F2E4"/>
          </a:solidFill>
          <a:ln w="13335">
            <a:solidFill>
              <a:srgbClr val="A98A52"/>
            </a:solidFill>
            <a:prstDash val="solid"/>
          </a:ln>
        </p:spPr>
        <p:txBody>
          <a:bodyPr/>
          <a:p>
            <a:pPr>
              <a:defRPr>
                <a:latin typeface="Times New Roman"/>
              </a:defRPr>
            </a:pPr>
          </a:p>
        </p:txBody>
      </p:sp>
      <p:sp>
        <p:nvSpPr>
          <p:cNvPr id="41" name="anim_299"/>
          <p:cNvSpPr>
            <a:spLocks noGrp="1"/>
          </p:cNvSpPr>
          <p:nvPr/>
        </p:nvSpPr>
        <p:spPr>
          <a:xfrm>
            <a:off x="6172200" y="4695825"/>
            <a:ext cx="1428750" cy="266700"/>
          </a:xfrm>
          <a:prstGeom prst="rect">
            <a:avLst/>
          </a:prstGeom>
          <a:solidFill>
            <a:srgbClr val="F6F2E4"/>
          </a:solidFill>
          <a:ln w="0">
            <a:solidFill>
              <a:srgbClr val="F6F2E4"/>
            </a:solidFill>
            <a:prstDash val="solid"/>
          </a:ln>
        </p:spPr>
        <p:txBody>
          <a:bodyPr anchor="ctr" wrap="none"/>
          <a:lstStyle/>
          <a:p>
            <a:pPr algn="l">
              <a:defRPr sz="1000" b="1" i="0">
                <a:solidFill>
                  <a:srgbClr val="825E00"/>
                </a:solidFill>
                <a:latin typeface="Times New Roman" panose="020B0604020202020204"/>
                <a:ea typeface="Times New Roman" panose="020B0604020202020204"/>
                <a:cs typeface="Times New Roman" panose="020B0604020202020204"/>
              </a:defRPr>
            </a:pPr>
            <a:r>
              <a:rPr>
                <a:solidFill/>
                <a:latin typeface="Times New Roman"/>
              </a:rPr>
              <a:t>LIMITATION</a:t>
            </a:r>
          </a:p>
        </p:txBody>
      </p:sp>
      <p:sp>
        <p:nvSpPr>
          <p:cNvPr id="42" name="anim_301"/>
          <p:cNvSpPr>
            <a:spLocks noGrp="1"/>
          </p:cNvSpPr>
          <p:nvPr/>
        </p:nvSpPr>
        <p:spPr>
          <a:xfrm>
            <a:off x="6172200" y="4991100"/>
            <a:ext cx="4857750" cy="400050"/>
          </a:xfrm>
          <a:prstGeom prst="rect">
            <a:avLst/>
          </a:prstGeom>
          <a:solidFill>
            <a:srgbClr val="F6F2E4"/>
          </a:solidFill>
          <a:ln w="0">
            <a:solidFill>
              <a:srgbClr val="F6F2E4"/>
            </a:solidFill>
            <a:prstDash val="solid"/>
          </a:ln>
        </p:spPr>
        <p:txBody>
          <a:bodyPr anchor="ctr"/>
          <a:lstStyle/>
          <a:p>
            <a:pPr algn="l">
              <a:defRPr sz="13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Unbalanced country panel; coverage varies across small entities</a:t>
            </a:r>
          </a:p>
        </p:txBody>
      </p:sp>
      <p:sp>
        <p:nvSpPr>
          <p:cNvPr id="71" name="TextBox 70"/>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2 / 7</a:t>
            </a:r>
          </a:p>
        </p:txBody>
      </p:sp>
      <p:sp>
        <p:nvSpPr>
          <p:cNvPr id="73" name="Rectangle 72"/>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4" name="anim_264"/>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5" name="TextBox 74"/>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EXPLORATION OF DATASET · Building one comparable country-year panel</a:t>
            </a:r>
          </a:p>
          <a:p>
            <a:pPr algn="l">
              <a:spcBef>
                <a:spcPts val="200"/>
              </a:spcBef>
              <a:defRPr>
                <a:latin typeface="Times New Roman"/>
              </a:defRPr>
            </a:pPr>
            <a:r>
              <a:rPr sz="2300" b="1">
                <a:solidFill>
                  <a:srgbClr val="FFFFFF"/>
                </a:solidFill>
                <a:latin typeface="Georgia"/>
              </a:rPr>
              <a:t>A controlled left join keeps the OWID backbone intact</a:t>
            </a:r>
          </a:p>
        </p:txBody>
      </p:sp>
      <p:sp>
        <p:nvSpPr>
          <p:cNvPr id="76" name="TextBox 75"/>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2 / 7</a:t>
            </a:r>
          </a:p>
        </p:txBody>
      </p:sp>
      <p:sp>
        <p:nvSpPr>
          <p:cNvPr id="77" name="anim_307"/>
          <p:cNvSpPr txBox="1"/>
          <p:nvPr/>
        </p:nvSpPr>
        <p:spPr>
          <a:xfrm>
            <a:off x="777240" y="5815584"/>
            <a:ext cx="10607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Why it matters:  </a:t>
            </a:r>
            <a:r>
              <a:rPr sz="1350" b="0">
                <a:solidFill>
                  <a:srgbClr val="252B30"/>
                </a:solidFill>
                <a:latin typeface="Times New Roman"/>
              </a:rPr>
              <a:t>conditioning is where a study can silently bias itself, so no observed value is overwritten and every filled field stays flagged.</a:t>
            </a:r>
          </a:p>
        </p:txBody>
      </p:sp>
      <p:sp>
        <p:nvSpPr>
          <p:cNvPr id="78" name="anim_304"/>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SHEN RUITING</a:t>
            </a:r>
          </a:p>
        </p:txBody>
      </p:sp>
      <p:sp>
        <p:nvSpPr>
          <p:cNvPr id="79" name="anim_306"/>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5</a:t>
            </a:r>
          </a:p>
        </p:txBody>
      </p:sp>
      <p:sp>
        <p:nvSpPr>
          <p:cNvPr id="80" name="anim_305"/>
          <p:cNvSpPr txBox="1"/>
          <p:nvPr/>
        </p:nvSpPr>
        <p:spPr>
          <a:xfrm>
            <a:off x="7818120" y="6492240"/>
            <a:ext cx="2743200" cy="292608"/>
          </a:xfrm>
          <a:prstGeom prst="rect">
            <a:avLst/>
          </a:prstGeom>
          <a:noFill/>
          <a:ln>
            <a:noFill/>
          </a:ln>
          <a:effectLst/>
        </p:spPr>
        <p:txBody>
          <a:bodyPr wrap="square" anchor="ctr" lIns="45720" rIns="45720" tIns="18288" bIns="18288">
            <a:spAutoFit/>
          </a:bodyPr>
          <a:lstStyle/>
          <a:p>
            <a:pPr algn="r">
              <a:defRPr>
                <a:latin typeface="Times New Roman"/>
              </a:defRPr>
            </a:pPr>
            <a:r>
              <a:rPr sz="1300" b="0">
                <a:solidFill>
                  <a:srgbClr val="6E7672"/>
                </a:solidFill>
                <a:latin typeface="Times New Roman"/>
              </a:rPr>
              <a:t>Data: [1]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7" fill="hold">
                      <p:stCondLst>
                        <p:cond delay="0"/>
                      </p:stCondLst>
                      <p:childTnLst>
                        <p:par>
                          <p:cTn id="68"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74"/>
                                        </p:tgtEl>
                                        <p:attrNameLst>
                                          <p:attrName>style.visibility</p:attrName>
                                        </p:attrNameLst>
                                      </p:cBhvr>
                                      <p:to>
                                        <p:strVal val="visible"/>
                                      </p:to>
                                    </p:set>
                                    <p:animEffect transition="in" filter="fade">
                                      <p:cBhvr>
                                        <p:cTn id="6" dur="450"/>
                                        <p:tgtEl>
                                          <p:spTgt spid="74"/>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withEffect">
                                  <p:stCondLst>
                                    <p:cond delay="79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childTnLst>
                                </p:cTn>
                              </p:par>
                              <p:par>
                                <p:cTn id="16" presetID="10" presetClass="entr" presetSubtype="0" fill="hold" grpId="0" nodeType="withEffect">
                                  <p:stCondLst>
                                    <p:cond delay="92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grpId="0" nodeType="withEffect">
                                  <p:stCondLst>
                                    <p:cond delay="105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par>
                                <p:cTn id="22" presetID="10" presetClass="entr" presetSubtype="0" fill="hold" grpId="0" nodeType="withEffect">
                                  <p:stCondLst>
                                    <p:cond delay="118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131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childTnLst>
                                </p:cTn>
                              </p:par>
                              <p:par>
                                <p:cTn id="28" presetID="10" presetClass="entr" presetSubtype="0" fill="hold" grpId="0" nodeType="withEffect">
                                  <p:stCondLst>
                                    <p:cond delay="144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childTnLst>
                                </p:cTn>
                              </p:par>
                              <p:par>
                                <p:cTn id="31" presetID="10" presetClass="entr" presetSubtype="0" fill="hold" grpId="0" nodeType="withEffect">
                                  <p:stCondLst>
                                    <p:cond delay="157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50"/>
                                        <p:tgtEl>
                                          <p:spTgt spid="21"/>
                                        </p:tgtEl>
                                      </p:cBhvr>
                                    </p:animEffect>
                                  </p:childTnLst>
                                </p:cTn>
                              </p:par>
                              <p:par>
                                <p:cTn id="34" presetID="10" presetClass="entr" presetSubtype="0" fill="hold" grpId="0" nodeType="withEffect">
                                  <p:stCondLst>
                                    <p:cond delay="170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450"/>
                                        <p:tgtEl>
                                          <p:spTgt spid="8"/>
                                        </p:tgtEl>
                                      </p:cBhvr>
                                    </p:animEffect>
                                  </p:childTnLst>
                                </p:cTn>
                              </p:par>
                              <p:par>
                                <p:cTn id="37" presetID="10" presetClass="entr" presetSubtype="0" fill="hold" grpId="0" nodeType="withEffect">
                                  <p:stCondLst>
                                    <p:cond delay="183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childTnLst>
                                </p:cTn>
                              </p:par>
                              <p:par>
                                <p:cTn id="40" presetID="10" presetClass="entr" presetSubtype="0" fill="hold" grpId="0" nodeType="withEffect">
                                  <p:stCondLst>
                                    <p:cond delay="196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grpId="0" nodeType="withEffect">
                                  <p:stCondLst>
                                    <p:cond delay="209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450"/>
                                        <p:tgtEl>
                                          <p:spTgt spid="20"/>
                                        </p:tgtEl>
                                      </p:cBhvr>
                                    </p:animEffect>
                                  </p:childTnLst>
                                </p:cTn>
                              </p:par>
                              <p:par>
                                <p:cTn id="46" presetID="10" presetClass="entr" presetSubtype="0" fill="hold" grpId="0" nodeType="withEffect">
                                  <p:stCondLst>
                                    <p:cond delay="222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450"/>
                                        <p:tgtEl>
                                          <p:spTgt spid="10"/>
                                        </p:tgtEl>
                                      </p:cBhvr>
                                    </p:animEffect>
                                  </p:childTnLst>
                                </p:cTn>
                              </p:par>
                              <p:par>
                                <p:cTn id="49" presetID="10" presetClass="entr" presetSubtype="0" fill="hold" grpId="0" nodeType="withEffect">
                                  <p:stCondLst>
                                    <p:cond delay="235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450"/>
                                        <p:tgtEl>
                                          <p:spTgt spid="14"/>
                                        </p:tgtEl>
                                      </p:cBhvr>
                                    </p:animEffect>
                                  </p:childTnLst>
                                </p:cTn>
                              </p:par>
                              <p:par>
                                <p:cTn id="52" presetID="10" presetClass="entr" presetSubtype="0" fill="hold" grpId="0" nodeType="withEffect">
                                  <p:stCondLst>
                                    <p:cond delay="248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50"/>
                                        <p:tgtEl>
                                          <p:spTgt spid="18"/>
                                        </p:tgtEl>
                                      </p:cBhvr>
                                    </p:animEffect>
                                  </p:childTnLst>
                                </p:cTn>
                              </p:par>
                              <p:par>
                                <p:cTn id="55" presetID="10" presetClass="entr" presetSubtype="0" fill="hold" grpId="0" nodeType="withEffect">
                                  <p:stCondLst>
                                    <p:cond delay="261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50"/>
                                        <p:tgtEl>
                                          <p:spTgt spid="22"/>
                                        </p:tgtEl>
                                      </p:cBhvr>
                                    </p:animEffect>
                                  </p:childTnLst>
                                </p:cTn>
                              </p:par>
                              <p:par>
                                <p:cTn id="58" presetID="10" presetClass="entr" presetSubtype="0" fill="hold" grpId="0" nodeType="withEffect">
                                  <p:stCondLst>
                                    <p:cond delay="2740"/>
                                  </p:stCondLst>
                                  <p:childTnLst>
                                    <p:set>
                                      <p:cBhvr>
                                        <p:cTn id="59" dur="1" fill="hold">
                                          <p:stCondLst>
                                            <p:cond delay="0"/>
                                          </p:stCondLst>
                                        </p:cTn>
                                        <p:tgtEl>
                                          <p:spTgt spid="63"/>
                                        </p:tgtEl>
                                        <p:attrNameLst>
                                          <p:attrName>style.visibility</p:attrName>
                                        </p:attrNameLst>
                                      </p:cBhvr>
                                      <p:to>
                                        <p:strVal val="visible"/>
                                      </p:to>
                                    </p:set>
                                    <p:animEffect transition="in" filter="fade">
                                      <p:cBhvr>
                                        <p:cTn id="60" dur="450"/>
                                        <p:tgtEl>
                                          <p:spTgt spid="63"/>
                                        </p:tgtEl>
                                      </p:cBhvr>
                                    </p:animEffect>
                                  </p:childTnLst>
                                </p:cTn>
                              </p:par>
                              <p:par>
                                <p:cTn id="61" presetID="10" presetClass="entr" presetSubtype="0" fill="hold" grpId="0" nodeType="withEffect">
                                  <p:stCondLst>
                                    <p:cond delay="2870"/>
                                  </p:stCondLst>
                                  <p:childTnLst>
                                    <p:set>
                                      <p:cBhvr>
                                        <p:cTn id="62" dur="1" fill="hold">
                                          <p:stCondLst>
                                            <p:cond delay="0"/>
                                          </p:stCondLst>
                                        </p:cTn>
                                        <p:tgtEl>
                                          <p:spTgt spid="64"/>
                                        </p:tgtEl>
                                        <p:attrNameLst>
                                          <p:attrName>style.visibility</p:attrName>
                                        </p:attrNameLst>
                                      </p:cBhvr>
                                      <p:to>
                                        <p:strVal val="visible"/>
                                      </p:to>
                                    </p:set>
                                    <p:animEffect transition="in" filter="fade">
                                      <p:cBhvr>
                                        <p:cTn id="63" dur="450"/>
                                        <p:tgtEl>
                                          <p:spTgt spid="64"/>
                                        </p:tgtEl>
                                      </p:cBhvr>
                                    </p:animEffect>
                                  </p:childTnLst>
                                </p:cTn>
                              </p:par>
                              <p:par>
                                <p:cTn id="64" presetID="10" presetClass="entr" presetSubtype="0" fill="hold" grpId="0" nodeType="withEffect">
                                  <p:stCondLst>
                                    <p:cond delay="3000"/>
                                  </p:stCondLst>
                                  <p:childTnLst>
                                    <p:set>
                                      <p:cBhvr>
                                        <p:cTn id="65" dur="1" fill="hold">
                                          <p:stCondLst>
                                            <p:cond delay="0"/>
                                          </p:stCondLst>
                                        </p:cTn>
                                        <p:tgtEl>
                                          <p:spTgt spid="65"/>
                                        </p:tgtEl>
                                        <p:attrNameLst>
                                          <p:attrName>style.visibility</p:attrName>
                                        </p:attrNameLst>
                                      </p:cBhvr>
                                      <p:to>
                                        <p:strVal val="visible"/>
                                      </p:to>
                                    </p:set>
                                    <p:animEffect transition="in" filter="fade">
                                      <p:cBhvr>
                                        <p:cTn id="66" dur="450"/>
                                        <p:tgtEl>
                                          <p:spTgt spid="65"/>
                                        </p:tgtEl>
                                      </p:cBhvr>
                                    </p:animEffect>
                                  </p:childTnLst>
                                </p:cTn>
                              </p:par>
                            </p:childTnLst>
                          </p:cTn>
                        </p:par>
                      </p:childTnLst>
                    </p:cTn>
                  </p:par>
                  <p:par>
                    <p:cTn id="114" fill="hold">
                      <p:stCondLst>
                        <p:cond delay="0"/>
                      </p:stCondLst>
                      <p:childTnLst>
                        <p:par>
                          <p:cTn id="115" fill="hold">
                            <p:stCondLst>
                              <p:cond delay="0"/>
                            </p:stCondLst>
                            <p:childTnLst>
                              <p:par>
                                <p:cTn id="69" presetID="10" presetClass="entr" presetSubtype="0" fill="hold" grpId="0" nodeType="afterEffect">
                                  <p:stCondLst>
                                    <p:cond delay="40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50"/>
                                        <p:tgtEl>
                                          <p:spTgt spid="26"/>
                                        </p:tgtEl>
                                      </p:cBhvr>
                                    </p:animEffect>
                                  </p:childTnLst>
                                </p:cTn>
                              </p:par>
                              <p:par>
                                <p:cTn id="72" presetID="10" presetClass="entr" presetSubtype="0" fill="hold" grpId="0" nodeType="withEffect">
                                  <p:stCondLst>
                                    <p:cond delay="53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grpId="0" nodeType="withEffect">
                                  <p:stCondLst>
                                    <p:cond delay="66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50"/>
                                        <p:tgtEl>
                                          <p:spTgt spid="29"/>
                                        </p:tgtEl>
                                      </p:cBhvr>
                                    </p:animEffect>
                                  </p:childTnLst>
                                </p:cTn>
                              </p:par>
                              <p:par>
                                <p:cTn id="78" presetID="10" presetClass="entr" presetSubtype="0" fill="hold" grpId="0" nodeType="withEffect">
                                  <p:stCondLst>
                                    <p:cond delay="79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50"/>
                                        <p:tgtEl>
                                          <p:spTgt spid="31"/>
                                        </p:tgtEl>
                                      </p:cBhvr>
                                    </p:animEffect>
                                  </p:childTnLst>
                                </p:cTn>
                              </p:par>
                              <p:par>
                                <p:cTn id="81" presetID="10" presetClass="entr" presetSubtype="0" fill="hold" grpId="0" nodeType="withEffect">
                                  <p:stCondLst>
                                    <p:cond delay="92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50"/>
                                        <p:tgtEl>
                                          <p:spTgt spid="33"/>
                                        </p:tgtEl>
                                      </p:cBhvr>
                                    </p:animEffect>
                                  </p:childTnLst>
                                </p:cTn>
                              </p:par>
                              <p:par>
                                <p:cTn id="84" presetID="10" presetClass="entr" presetSubtype="0" fill="hold" grpId="0" nodeType="withEffect">
                                  <p:stCondLst>
                                    <p:cond delay="105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450"/>
                                        <p:tgtEl>
                                          <p:spTgt spid="35"/>
                                        </p:tgtEl>
                                      </p:cBhvr>
                                    </p:animEffect>
                                  </p:childTnLst>
                                </p:cTn>
                              </p:par>
                              <p:par>
                                <p:cTn id="87" presetID="10" presetClass="entr" presetSubtype="0" fill="hold" grpId="0" nodeType="withEffect">
                                  <p:stCondLst>
                                    <p:cond delay="118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450"/>
                                        <p:tgtEl>
                                          <p:spTgt spid="28"/>
                                        </p:tgtEl>
                                      </p:cBhvr>
                                    </p:animEffect>
                                  </p:childTnLst>
                                </p:cTn>
                              </p:par>
                              <p:par>
                                <p:cTn id="90" presetID="10" presetClass="entr" presetSubtype="0" fill="hold" grpId="0" nodeType="withEffect">
                                  <p:stCondLst>
                                    <p:cond delay="131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50"/>
                                        <p:tgtEl>
                                          <p:spTgt spid="30"/>
                                        </p:tgtEl>
                                      </p:cBhvr>
                                    </p:animEffect>
                                  </p:childTnLst>
                                </p:cTn>
                              </p:par>
                              <p:par>
                                <p:cTn id="93" presetID="10" presetClass="entr" presetSubtype="0" fill="hold" grpId="0" nodeType="withEffect">
                                  <p:stCondLst>
                                    <p:cond delay="144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450"/>
                                        <p:tgtEl>
                                          <p:spTgt spid="32"/>
                                        </p:tgtEl>
                                      </p:cBhvr>
                                    </p:animEffect>
                                  </p:childTnLst>
                                </p:cTn>
                              </p:par>
                              <p:par>
                                <p:cTn id="96" presetID="10" presetClass="entr" presetSubtype="0" fill="hold" grpId="0" nodeType="withEffect">
                                  <p:stCondLst>
                                    <p:cond delay="157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450"/>
                                        <p:tgtEl>
                                          <p:spTgt spid="34"/>
                                        </p:tgtEl>
                                      </p:cBhvr>
                                    </p:animEffect>
                                  </p:childTnLst>
                                </p:cTn>
                              </p:par>
                              <p:par>
                                <p:cTn id="99" presetID="10" presetClass="entr" presetSubtype="0" fill="hold" grpId="0" nodeType="withEffect">
                                  <p:stCondLst>
                                    <p:cond delay="170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par>
                                <p:cTn id="102" presetID="10" presetClass="entr" presetSubtype="0" fill="hold" grpId="0" nodeType="withEffect">
                                  <p:stCondLst>
                                    <p:cond delay="183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450"/>
                                        <p:tgtEl>
                                          <p:spTgt spid="37"/>
                                        </p:tgtEl>
                                      </p:cBhvr>
                                    </p:animEffect>
                                  </p:childTnLst>
                                </p:cTn>
                              </p:par>
                              <p:par>
                                <p:cTn id="105" presetID="10" presetClass="entr" presetSubtype="0" fill="hold" grpId="0" nodeType="withEffect">
                                  <p:stCondLst>
                                    <p:cond delay="196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450"/>
                                        <p:tgtEl>
                                          <p:spTgt spid="40"/>
                                        </p:tgtEl>
                                      </p:cBhvr>
                                    </p:animEffect>
                                  </p:childTnLst>
                                </p:cTn>
                              </p:par>
                              <p:par>
                                <p:cTn id="108" presetID="10" presetClass="entr" presetSubtype="0" fill="hold" grpId="0" nodeType="withEffect">
                                  <p:stCondLst>
                                    <p:cond delay="209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450"/>
                                        <p:tgtEl>
                                          <p:spTgt spid="38"/>
                                        </p:tgtEl>
                                      </p:cBhvr>
                                    </p:animEffect>
                                  </p:childTnLst>
                                </p:cTn>
                              </p:par>
                              <p:par>
                                <p:cTn id="111" presetID="10" presetClass="entr" presetSubtype="0" fill="hold" grpId="0" nodeType="withEffect">
                                  <p:stCondLst>
                                    <p:cond delay="222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450"/>
                                        <p:tgtEl>
                                          <p:spTgt spid="41"/>
                                        </p:tgtEl>
                                      </p:cBhvr>
                                    </p:animEffect>
                                  </p:childTnLst>
                                </p:cTn>
                              </p:par>
                            </p:childTnLst>
                          </p:cTn>
                        </p:par>
                      </p:childTnLst>
                    </p:cTn>
                  </p:par>
                  <p:par>
                    <p:cTn id="134" fill="hold">
                      <p:stCondLst>
                        <p:cond delay="0"/>
                      </p:stCondLst>
                      <p:childTnLst>
                        <p:par>
                          <p:cTn id="135" fill="hold">
                            <p:stCondLst>
                              <p:cond delay="0"/>
                            </p:stCondLst>
                            <p:childTnLst>
                              <p:par>
                                <p:cTn id="116" presetID="10" presetClass="entr" presetSubtype="0" fill="hold" grpId="0" nodeType="afterEffect">
                                  <p:stCondLst>
                                    <p:cond delay="40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par>
                                <p:cTn id="119" presetID="10" presetClass="entr" presetSubtype="0" fill="hold" grpId="0" nodeType="withEffect">
                                  <p:stCondLst>
                                    <p:cond delay="53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450"/>
                                        <p:tgtEl>
                                          <p:spTgt spid="42"/>
                                        </p:tgtEl>
                                      </p:cBhvr>
                                    </p:animEffect>
                                  </p:childTnLst>
                                </p:cTn>
                              </p:par>
                              <p:par>
                                <p:cTn id="122" presetID="10" presetClass="entr" presetSubtype="0" fill="hold" grpId="0" nodeType="withEffect">
                                  <p:stCondLst>
                                    <p:cond delay="660"/>
                                  </p:stCondLst>
                                  <p:childTnLst>
                                    <p:set>
                                      <p:cBhvr>
                                        <p:cTn id="123" dur="1" fill="hold">
                                          <p:stCondLst>
                                            <p:cond delay="0"/>
                                          </p:stCondLst>
                                        </p:cTn>
                                        <p:tgtEl>
                                          <p:spTgt spid="5"/>
                                        </p:tgtEl>
                                        <p:attrNameLst>
                                          <p:attrName>style.visibility</p:attrName>
                                        </p:attrNameLst>
                                      </p:cBhvr>
                                      <p:to>
                                        <p:strVal val="visible"/>
                                      </p:to>
                                    </p:set>
                                    <p:animEffect transition="in" filter="fade">
                                      <p:cBhvr>
                                        <p:cTn id="124" dur="450"/>
                                        <p:tgtEl>
                                          <p:spTgt spid="5"/>
                                        </p:tgtEl>
                                      </p:cBhvr>
                                    </p:animEffect>
                                  </p:childTnLst>
                                </p:cTn>
                              </p:par>
                              <p:par>
                                <p:cTn id="125" presetID="10" presetClass="entr" presetSubtype="0" fill="hold" grpId="0" nodeType="withEffect">
                                  <p:stCondLst>
                                    <p:cond delay="790"/>
                                  </p:stCondLst>
                                  <p:childTnLst>
                                    <p:set>
                                      <p:cBhvr>
                                        <p:cTn id="126" dur="1" fill="hold">
                                          <p:stCondLst>
                                            <p:cond delay="0"/>
                                          </p:stCondLst>
                                        </p:cTn>
                                        <p:tgtEl>
                                          <p:spTgt spid="78"/>
                                        </p:tgtEl>
                                        <p:attrNameLst>
                                          <p:attrName>style.visibility</p:attrName>
                                        </p:attrNameLst>
                                      </p:cBhvr>
                                      <p:to>
                                        <p:strVal val="visible"/>
                                      </p:to>
                                    </p:set>
                                    <p:animEffect transition="in" filter="fade">
                                      <p:cBhvr>
                                        <p:cTn id="127" dur="450"/>
                                        <p:tgtEl>
                                          <p:spTgt spid="78"/>
                                        </p:tgtEl>
                                      </p:cBhvr>
                                    </p:animEffect>
                                  </p:childTnLst>
                                </p:cTn>
                              </p:par>
                              <p:par>
                                <p:cTn id="128" presetID="10" presetClass="entr" presetSubtype="0" fill="hold" grpId="0" nodeType="withEffect">
                                  <p:stCondLst>
                                    <p:cond delay="920"/>
                                  </p:stCondLst>
                                  <p:childTnLst>
                                    <p:set>
                                      <p:cBhvr>
                                        <p:cTn id="129" dur="1" fill="hold">
                                          <p:stCondLst>
                                            <p:cond delay="0"/>
                                          </p:stCondLst>
                                        </p:cTn>
                                        <p:tgtEl>
                                          <p:spTgt spid="80"/>
                                        </p:tgtEl>
                                        <p:attrNameLst>
                                          <p:attrName>style.visibility</p:attrName>
                                        </p:attrNameLst>
                                      </p:cBhvr>
                                      <p:to>
                                        <p:strVal val="visible"/>
                                      </p:to>
                                    </p:set>
                                    <p:animEffect transition="in" filter="fade">
                                      <p:cBhvr>
                                        <p:cTn id="130" dur="450"/>
                                        <p:tgtEl>
                                          <p:spTgt spid="80"/>
                                        </p:tgtEl>
                                      </p:cBhvr>
                                    </p:animEffect>
                                  </p:childTnLst>
                                </p:cTn>
                              </p:par>
                              <p:par>
                                <p:cTn id="131" presetID="10" presetClass="entr" presetSubtype="0" fill="hold" grpId="0" nodeType="withEffect">
                                  <p:stCondLst>
                                    <p:cond delay="1050"/>
                                  </p:stCondLst>
                                  <p:childTnLst>
                                    <p:set>
                                      <p:cBhvr>
                                        <p:cTn id="132" dur="1" fill="hold">
                                          <p:stCondLst>
                                            <p:cond delay="0"/>
                                          </p:stCondLst>
                                        </p:cTn>
                                        <p:tgtEl>
                                          <p:spTgt spid="79"/>
                                        </p:tgtEl>
                                        <p:attrNameLst>
                                          <p:attrName>style.visibility</p:attrName>
                                        </p:attrNameLst>
                                      </p:cBhvr>
                                      <p:to>
                                        <p:strVal val="visible"/>
                                      </p:to>
                                    </p:set>
                                    <p:animEffect transition="in" filter="fade">
                                      <p:cBhvr>
                                        <p:cTn id="133" dur="450"/>
                                        <p:tgtEl>
                                          <p:spTgt spid="79"/>
                                        </p:tgtEl>
                                      </p:cBhvr>
                                    </p:animEffect>
                                  </p:childTnLst>
                                </p:cTn>
                              </p:par>
                            </p:childTnLst>
                          </p:cTn>
                        </p:par>
                      </p:childTnLst>
                    </p:cTn>
                  </p:par>
                  <p:par>
                    <p:cTn id="139" fill="hold">
                      <p:stCondLst>
                        <p:cond delay="0"/>
                      </p:stCondLst>
                      <p:childTnLst>
                        <p:par>
                          <p:cTn id="140" fill="hold">
                            <p:stCondLst>
                              <p:cond delay="0"/>
                            </p:stCondLst>
                            <p:childTnLst>
                              <p:par>
                                <p:cTn id="136" presetID="10" presetClass="entr" presetSubtype="0" fill="hold" grpId="0" nodeType="afterEffect">
                                  <p:stCondLst>
                                    <p:cond delay="400"/>
                                  </p:stCondLst>
                                  <p:childTnLst>
                                    <p:set>
                                      <p:cBhvr>
                                        <p:cTn id="137" dur="1" fill="hold">
                                          <p:stCondLst>
                                            <p:cond delay="0"/>
                                          </p:stCondLst>
                                        </p:cTn>
                                        <p:tgtEl>
                                          <p:spTgt spid="77"/>
                                        </p:tgtEl>
                                        <p:attrNameLst>
                                          <p:attrName>style.visibility</p:attrName>
                                        </p:attrNameLst>
                                      </p:cBhvr>
                                      <p:to>
                                        <p:strVal val="visible"/>
                                      </p:to>
                                    </p:set>
                                    <p:animEffect transition="in" filter="fade">
                                      <p:cBhvr>
                                        <p:cTn id="138" dur="4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22"/>
          <p:cNvSpPr>
            <a:spLocks noGrp="1"/>
          </p:cNvSpPr>
          <p:nvPr>
            <p:ph type="sldNum" idx="12"/>
          </p:nvPr>
        </p:nvSpPr>
        <p:spPr>
          <a:xfrm>
            <a:off x="11561522" y="6356350"/>
            <a:ext cx="518786" cy="362485"/>
          </a:xfrm>
          <a:ln/>
        </p:spPr>
        <p:txBody>
          <a:bodyPr wrap="none"/>
          <a:lstStyle/>
          <a:p>
            <a:pPr marL="0" marR="0" lvl="0" indent="0" algn="r" defTabSz="914400">
              <a:lnSpc>
                <a:spcPct val="100000"/>
              </a:lnSpc>
              <a:spcBef>
                <a:spcPts val="0"/>
              </a:spcBef>
              <a:spcAft>
                <a:spcPts val="0"/>
              </a:spcAft>
              <a:buClrTx/>
              <a:buSzTx/>
              <a:buFontTx/>
              <a:buNone/>
              <a:defRPr>
                <a:latin typeface="Times New Roman"/>
              </a:defRPr>
            </a:pPr>
            <a:fld id="{EFD6AB9A-5F9E-5F59-51AB-3C8734130965}"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29" name="Rectangle 28"/>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anim_309"/>
          <p:cNvSpPr>
            <a:spLocks noGrp="1"/>
          </p:cNvSpPr>
          <p:nvPr/>
        </p:nvSpPr>
        <p:spPr>
          <a:xfrm>
            <a:off x="361950" y="1123950"/>
            <a:ext cx="7915275" cy="4514850"/>
          </a:xfrm>
          <a:prstGeom prst="roundRect">
            <a:avLst>
              <a:gd name="adj" fmla="val 1688"/>
            </a:avLst>
          </a:prstGeom>
          <a:solidFill>
            <a:srgbClr val="FAFBFA">
              <a:alpha val="74000"/>
            </a:srgbClr>
          </a:solidFill>
          <a:ln w="11430">
            <a:solidFill>
              <a:srgbClr val="D5DED6"/>
            </a:solidFill>
            <a:prstDash val="solid"/>
          </a:ln>
        </p:spPr>
        <p:txBody>
          <a:bodyPr/>
          <a:p>
            <a:pPr>
              <a:defRPr>
                <a:latin typeface="Times New Roman"/>
              </a:defRPr>
            </a:pPr>
          </a:p>
        </p:txBody>
      </p:sp>
      <p:pic>
        <p:nvPicPr>
          <p:cNvPr id="22" name="anim_311"/>
          <p:cNvPicPr>
            <a:picLocks noChangeAspect="1"/>
          </p:cNvPicPr>
          <p:nvPr/>
        </p:nvPicPr>
        <p:blipFill>
          <a:blip r:embed="rId2"/>
          <a:stretch>
            <a:fillRect/>
          </a:stretch>
        </p:blipFill>
        <p:spPr>
          <a:xfrm>
            <a:off x="494172" y="1162050"/>
            <a:ext cx="7650831" cy="4438650"/>
          </a:xfrm>
          <a:prstGeom prst="rect">
            <a:avLst/>
          </a:prstGeom>
          <a:ln/>
        </p:spPr>
      </p:pic>
      <p:sp>
        <p:nvSpPr>
          <p:cNvPr id="8" name="anim_310"/>
          <p:cNvSpPr>
            <a:spLocks noGrp="1"/>
          </p:cNvSpPr>
          <p:nvPr/>
        </p:nvSpPr>
        <p:spPr>
          <a:xfrm>
            <a:off x="8572500" y="1143000"/>
            <a:ext cx="2190750"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1992 → 2021</a:t>
            </a:r>
          </a:p>
        </p:txBody>
      </p:sp>
      <p:sp>
        <p:nvSpPr>
          <p:cNvPr id="9" name="anim_312"/>
          <p:cNvSpPr>
            <a:spLocks noGrp="1"/>
          </p:cNvSpPr>
          <p:nvPr/>
        </p:nvSpPr>
        <p:spPr>
          <a:xfrm>
            <a:off x="8572500" y="1504950"/>
            <a:ext cx="2609850" cy="1123950"/>
          </a:xfrm>
          <a:prstGeom prst="roundRect">
            <a:avLst>
              <a:gd name="adj" fmla="val 10169"/>
            </a:avLst>
          </a:prstGeom>
          <a:solidFill>
            <a:srgbClr val="ECEFF4">
              <a:alpha val="74000"/>
            </a:srgbClr>
          </a:solidFill>
          <a:ln w="14288">
            <a:solidFill>
              <a:srgbClr val="4F6E96"/>
            </a:solidFill>
            <a:prstDash val="solid"/>
          </a:ln>
        </p:spPr>
        <p:txBody>
          <a:bodyPr/>
          <a:p>
            <a:pPr>
              <a:defRPr>
                <a:latin typeface="Times New Roman"/>
              </a:defRPr>
            </a:pPr>
          </a:p>
        </p:txBody>
      </p:sp>
      <p:sp>
        <p:nvSpPr>
          <p:cNvPr id="10" name="anim_313"/>
          <p:cNvSpPr>
            <a:spLocks noGrp="1"/>
          </p:cNvSpPr>
          <p:nvPr/>
        </p:nvSpPr>
        <p:spPr>
          <a:xfrm>
            <a:off x="8705850" y="1600200"/>
            <a:ext cx="2343150" cy="514350"/>
          </a:xfrm>
          <a:prstGeom prst="rect">
            <a:avLst/>
          </a:prstGeom>
          <a:solidFill>
            <a:srgbClr val="ECEFF4">
              <a:alpha val="74000"/>
            </a:srgbClr>
          </a:solidFill>
          <a:ln w="0">
            <a:solidFill>
              <a:srgbClr val="ECEFF4"/>
            </a:solidFill>
            <a:prstDash val="solid"/>
          </a:ln>
        </p:spPr>
        <p:txBody>
          <a:bodyPr anchor="ctr"/>
          <a:lstStyle/>
          <a:p>
            <a:pPr algn="l">
              <a:defRPr sz="2550" b="1" i="0">
                <a:solidFill>
                  <a:srgbClr val="4472C4"/>
                </a:solidFill>
                <a:latin typeface="Times New Roman" panose="020B0604020202020204"/>
                <a:ea typeface="Times New Roman" panose="020B0604020202020204"/>
                <a:cs typeface="Times New Roman" panose="020B0604020202020204"/>
              </a:defRPr>
            </a:pPr>
            <a:r>
              <a:rPr>
                <a:solidFill/>
                <a:latin typeface="Times New Roman"/>
              </a:rPr>
              <a:t>+63.8%</a:t>
            </a:r>
          </a:p>
        </p:txBody>
      </p:sp>
      <p:sp>
        <p:nvSpPr>
          <p:cNvPr id="11" name="anim_314"/>
          <p:cNvSpPr>
            <a:spLocks noGrp="1"/>
          </p:cNvSpPr>
          <p:nvPr/>
        </p:nvSpPr>
        <p:spPr>
          <a:xfrm>
            <a:off x="8705850" y="2114550"/>
            <a:ext cx="2343150" cy="381000"/>
          </a:xfrm>
          <a:prstGeom prst="rect">
            <a:avLst/>
          </a:prstGeom>
          <a:solidFill>
            <a:srgbClr val="ECEFF4">
              <a:alpha val="74000"/>
            </a:srgbClr>
          </a:solidFill>
          <a:ln w="0">
            <a:solidFill>
              <a:srgbClr val="ECEFF4"/>
            </a:solidFill>
            <a:prstDash val="solid"/>
          </a:ln>
        </p:spPr>
        <p:txBody>
          <a:bodyPr anchor="t"/>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Global total</a:t>
            </a:r>
          </a:p>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21.97 → 35.98 Gt</a:t>
            </a:r>
          </a:p>
        </p:txBody>
      </p:sp>
      <p:sp>
        <p:nvSpPr>
          <p:cNvPr id="12" name="anim_315"/>
          <p:cNvSpPr>
            <a:spLocks noGrp="1"/>
          </p:cNvSpPr>
          <p:nvPr/>
        </p:nvSpPr>
        <p:spPr>
          <a:xfrm>
            <a:off x="8572500" y="2819400"/>
            <a:ext cx="2609850" cy="1123950"/>
          </a:xfrm>
          <a:prstGeom prst="roundRect">
            <a:avLst>
              <a:gd name="adj" fmla="val 10169"/>
            </a:avLst>
          </a:prstGeom>
          <a:solidFill>
            <a:srgbClr val="F7F1EA"/>
          </a:solidFill>
          <a:ln w="14288">
            <a:solidFill>
              <a:srgbClr val="BE7F4E"/>
            </a:solidFill>
            <a:prstDash val="solid"/>
          </a:ln>
        </p:spPr>
        <p:txBody>
          <a:bodyPr/>
          <a:p>
            <a:pPr>
              <a:defRPr>
                <a:latin typeface="Times New Roman"/>
              </a:defRPr>
            </a:pPr>
          </a:p>
        </p:txBody>
      </p:sp>
      <p:sp>
        <p:nvSpPr>
          <p:cNvPr id="13" name="anim_316"/>
          <p:cNvSpPr>
            <a:spLocks noGrp="1"/>
          </p:cNvSpPr>
          <p:nvPr/>
        </p:nvSpPr>
        <p:spPr>
          <a:xfrm>
            <a:off x="8705850" y="2914650"/>
            <a:ext cx="2343150" cy="514350"/>
          </a:xfrm>
          <a:prstGeom prst="rect">
            <a:avLst/>
          </a:prstGeom>
          <a:solidFill>
            <a:srgbClr val="F7F1EA"/>
          </a:solidFill>
          <a:ln w="0">
            <a:solidFill>
              <a:srgbClr val="F7F1EA"/>
            </a:solidFill>
            <a:prstDash val="solid"/>
          </a:ln>
        </p:spPr>
        <p:txBody>
          <a:bodyPr anchor="ctr"/>
          <a:lstStyle/>
          <a:p>
            <a:pPr algn="l">
              <a:defRPr sz="2550" b="1" i="0">
                <a:solidFill>
                  <a:srgbClr val="ED7D31"/>
                </a:solidFill>
                <a:latin typeface="Times New Roman" panose="020B0604020202020204"/>
                <a:ea typeface="Times New Roman" panose="020B0604020202020204"/>
                <a:cs typeface="Times New Roman" panose="020B0604020202020204"/>
              </a:defRPr>
            </a:pPr>
            <a:r>
              <a:rPr>
                <a:solidFill/>
                <a:latin typeface="Times New Roman"/>
              </a:rPr>
              <a:t>+13.3%</a:t>
            </a:r>
          </a:p>
        </p:txBody>
      </p:sp>
      <p:sp>
        <p:nvSpPr>
          <p:cNvPr id="14" name="anim_317"/>
          <p:cNvSpPr>
            <a:spLocks noGrp="1"/>
          </p:cNvSpPr>
          <p:nvPr/>
        </p:nvSpPr>
        <p:spPr>
          <a:xfrm>
            <a:off x="8705850" y="3429000"/>
            <a:ext cx="2343150" cy="381000"/>
          </a:xfrm>
          <a:prstGeom prst="rect">
            <a:avLst/>
          </a:prstGeom>
          <a:solidFill>
            <a:srgbClr val="F7F1EA"/>
          </a:solidFill>
          <a:ln w="0">
            <a:solidFill>
              <a:srgbClr val="F7F1EA"/>
            </a:solidFill>
            <a:prstDash val="solid"/>
          </a:ln>
        </p:spPr>
        <p:txBody>
          <a:bodyPr anchor="t"/>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Per person</a:t>
            </a:r>
          </a:p>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4.00 → 4.53 t</a:t>
            </a:r>
          </a:p>
        </p:txBody>
      </p:sp>
      <p:sp>
        <p:nvSpPr>
          <p:cNvPr id="15" name="anim_318"/>
          <p:cNvSpPr>
            <a:spLocks noGrp="1"/>
          </p:cNvSpPr>
          <p:nvPr/>
        </p:nvSpPr>
        <p:spPr>
          <a:xfrm>
            <a:off x="8572500" y="4238625"/>
            <a:ext cx="2609850" cy="1362075"/>
          </a:xfrm>
          <a:prstGeom prst="roundRect">
            <a:avLst>
              <a:gd name="adj" fmla="val 5594"/>
            </a:avLst>
          </a:prstGeom>
          <a:solidFill>
            <a:srgbClr val="FAFBFA">
              <a:alpha val="74000"/>
            </a:srgbClr>
          </a:solidFill>
          <a:ln w="11430">
            <a:solidFill>
              <a:srgbClr val="D5DED6"/>
            </a:solidFill>
            <a:prstDash val="solid"/>
          </a:ln>
        </p:spPr>
        <p:txBody>
          <a:bodyPr/>
          <a:p>
            <a:pPr>
              <a:defRPr>
                <a:latin typeface="Times New Roman"/>
              </a:defRPr>
            </a:pPr>
          </a:p>
        </p:txBody>
      </p:sp>
      <p:sp>
        <p:nvSpPr>
          <p:cNvPr id="16" name="anim_319"/>
          <p:cNvSpPr>
            <a:spLocks noGrp="1"/>
          </p:cNvSpPr>
          <p:nvPr/>
        </p:nvSpPr>
        <p:spPr>
          <a:xfrm>
            <a:off x="8743950" y="4343400"/>
            <a:ext cx="2095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INTERPRETATION</a:t>
            </a:r>
          </a:p>
        </p:txBody>
      </p:sp>
      <p:sp>
        <p:nvSpPr>
          <p:cNvPr id="17" name="anim_320"/>
          <p:cNvSpPr>
            <a:spLocks noGrp="1"/>
          </p:cNvSpPr>
          <p:nvPr/>
        </p:nvSpPr>
        <p:spPr>
          <a:xfrm>
            <a:off x="8743950" y="4686300"/>
            <a:ext cx="2266950" cy="723900"/>
          </a:xfrm>
          <a:prstGeom prst="rect">
            <a:avLst/>
          </a:prstGeom>
          <a:solidFill>
            <a:srgbClr val="FAFBFA">
              <a:alpha val="74000"/>
            </a:srgbClr>
          </a:solidFill>
          <a:ln w="0">
            <a:solidFill>
              <a:srgbClr val="FAFBFA"/>
            </a:solidFill>
            <a:prstDash val="solid"/>
          </a:ln>
        </p:spPr>
        <p:txBody>
          <a:bodyPr anchor="t"/>
          <a:lstStyle/>
          <a:p>
            <a:pPr algn="l">
              <a:defRPr sz="13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Most growth came from scale, not equal growth in emissions intensity.</a:t>
            </a:r>
          </a:p>
        </p:txBody>
      </p:sp>
      <p:sp>
        <p:nvSpPr>
          <p:cNvPr id="28" name="TextBox 27"/>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3 / 7</a:t>
            </a:r>
          </a:p>
        </p:txBody>
      </p:sp>
      <p:sp>
        <p:nvSpPr>
          <p:cNvPr id="30" name="Rectangle 29"/>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1" name="anim_308"/>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2" name="TextBox 31"/>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EXPLORATION OF DATASET · How much did the covered emissions rise, 1992-2021?</a:t>
            </a:r>
          </a:p>
          <a:p>
            <a:pPr algn="l">
              <a:spcBef>
                <a:spcPts val="200"/>
              </a:spcBef>
              <a:defRPr>
                <a:latin typeface="Times New Roman"/>
              </a:defRPr>
            </a:pPr>
            <a:r>
              <a:rPr sz="2300" b="1">
                <a:solidFill>
                  <a:srgbClr val="FFFFFF"/>
                </a:solidFill>
                <a:latin typeface="Georgia"/>
              </a:rPr>
              <a:t>Total CO2 grew nearly five times faster than per person</a:t>
            </a:r>
          </a:p>
        </p:txBody>
      </p:sp>
      <p:sp>
        <p:nvSpPr>
          <p:cNvPr id="33" name="TextBox 32"/>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3 / 7</a:t>
            </a:r>
          </a:p>
        </p:txBody>
      </p:sp>
      <p:sp>
        <p:nvSpPr>
          <p:cNvPr id="34" name="anim_325"/>
          <p:cNvSpPr txBox="1"/>
          <p:nvPr/>
        </p:nvSpPr>
        <p:spPr>
          <a:xfrm>
            <a:off x="777240" y="5815584"/>
            <a:ext cx="10607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Why it matters:  </a:t>
            </a:r>
            <a:r>
              <a:rPr sz="1350" b="0">
                <a:solidFill>
                  <a:srgbClr val="252B30"/>
                </a:solidFill>
                <a:latin typeface="Times New Roman"/>
              </a:rPr>
              <a:t>the aggregate tells us the total grew, not which countries produced the growth or how their paths differ.</a:t>
            </a:r>
          </a:p>
        </p:txBody>
      </p:sp>
      <p:sp>
        <p:nvSpPr>
          <p:cNvPr id="35" name="anim_323"/>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REYIZA RESIBIEKE</a:t>
            </a:r>
          </a:p>
        </p:txBody>
      </p:sp>
      <p:sp>
        <p:nvSpPr>
          <p:cNvPr id="36" name="anim_324"/>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0"/>
                      </p:stCondLst>
                      <p:childTnLst>
                        <p:par>
                          <p:cTn id="29"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31"/>
                                        </p:tgtEl>
                                        <p:attrNameLst>
                                          <p:attrName>style.visibility</p:attrName>
                                        </p:attrNameLst>
                                      </p:cBhvr>
                                      <p:to>
                                        <p:strVal val="visible"/>
                                      </p:to>
                                    </p:set>
                                    <p:animEffect transition="in" filter="fade">
                                      <p:cBhvr>
                                        <p:cTn id="6" dur="450"/>
                                        <p:tgtEl>
                                          <p:spTgt spid="31"/>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par>
                                <p:cTn id="13" presetID="10" presetClass="entr" presetSubtype="0" fill="hold" grpId="0" nodeType="withEffect">
                                  <p:stCondLst>
                                    <p:cond delay="79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50"/>
                                        <p:tgtEl>
                                          <p:spTgt spid="22"/>
                                        </p:tgtEl>
                                      </p:cBhvr>
                                    </p:animEffect>
                                  </p:childTnLst>
                                </p:cTn>
                              </p:par>
                              <p:par>
                                <p:cTn id="16" presetID="10" presetClass="entr" presetSubtype="0" fill="hold" grpId="0" nodeType="withEffect">
                                  <p:stCondLst>
                                    <p:cond delay="92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105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118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131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childTnLst>
                    </p:cTn>
                  </p:par>
                  <p:par>
                    <p:cTn id="45" fill="hold">
                      <p:stCondLst>
                        <p:cond delay="0"/>
                      </p:stCondLst>
                      <p:childTnLst>
                        <p:par>
                          <p:cTn id="46" fill="hold">
                            <p:stCondLst>
                              <p:cond delay="0"/>
                            </p:stCondLst>
                            <p:childTnLst>
                              <p:par>
                                <p:cTn id="30" presetID="10" presetClass="entr" presetSubtype="0" fill="hold" grpId="0" nodeType="afterEffect">
                                  <p:stCondLst>
                                    <p:cond delay="40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grpId="0" nodeType="withEffect">
                                  <p:stCondLst>
                                    <p:cond delay="53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66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79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92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childTnLst>
                    </p:cTn>
                  </p:par>
                  <p:par>
                    <p:cTn id="56" fill="hold">
                      <p:stCondLst>
                        <p:cond delay="0"/>
                      </p:stCondLst>
                      <p:childTnLst>
                        <p:par>
                          <p:cTn id="57" fill="hold">
                            <p:stCondLst>
                              <p:cond delay="0"/>
                            </p:stCondLst>
                            <p:childTnLst>
                              <p:par>
                                <p:cTn id="47" presetID="10" presetClass="entr" presetSubtype="0" fill="hold" grpId="0" nodeType="afterEffect">
                                  <p:stCondLst>
                                    <p:cond delay="4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450"/>
                                        <p:tgtEl>
                                          <p:spTgt spid="5"/>
                                        </p:tgtEl>
                                      </p:cBhvr>
                                    </p:animEffect>
                                  </p:childTnLst>
                                </p:cTn>
                              </p:par>
                              <p:par>
                                <p:cTn id="50" presetID="10" presetClass="entr" presetSubtype="0" fill="hold" grpId="0" nodeType="withEffect">
                                  <p:stCondLst>
                                    <p:cond delay="53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50"/>
                                        <p:tgtEl>
                                          <p:spTgt spid="35"/>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450"/>
                                        <p:tgtEl>
                                          <p:spTgt spid="36"/>
                                        </p:tgtEl>
                                      </p:cBhvr>
                                    </p:animEffect>
                                  </p:childTnLst>
                                </p:cTn>
                              </p:par>
                            </p:childTnLst>
                          </p:cTn>
                        </p:par>
                      </p:childTnLst>
                    </p:cTn>
                  </p:par>
                  <p:par>
                    <p:cTn id="61" fill="hold">
                      <p:stCondLst>
                        <p:cond delay="0"/>
                      </p:stCondLst>
                      <p:childTnLst>
                        <p:par>
                          <p:cTn id="62" fill="hold">
                            <p:stCondLst>
                              <p:cond delay="0"/>
                            </p:stCondLst>
                            <p:childTnLst>
                              <p:par>
                                <p:cTn id="58" presetID="10" presetClass="entr" presetSubtype="0" fill="hold" grpId="0" nodeType="afterEffect">
                                  <p:stCondLst>
                                    <p:cond delay="40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42"/>
          <p:cNvSpPr>
            <a:spLocks noGrp="1"/>
          </p:cNvSpPr>
          <p:nvPr>
            <p:ph type="sldNum" idx="12"/>
          </p:nvPr>
        </p:nvSpPr>
        <p:spPr>
          <a:xfrm>
            <a:off x="11561522" y="6356350"/>
            <a:ext cx="518786" cy="362485"/>
          </a:xfrm>
          <a:ln/>
        </p:spPr>
        <p:txBody>
          <a:bodyPr wrap="none"/>
          <a:lstStyle/>
          <a:p>
            <a:pPr marL="0" marR="0" lvl="0" indent="0" algn="r" defTabSz="914400">
              <a:lnSpc>
                <a:spcPct val="100000"/>
              </a:lnSpc>
              <a:spcBef>
                <a:spcPts val="0"/>
              </a:spcBef>
              <a:spcAft>
                <a:spcPts val="0"/>
              </a:spcAft>
              <a:buClrTx/>
              <a:buSzTx/>
              <a:buFontTx/>
              <a:buNone/>
              <a:defRPr>
                <a:latin typeface="Times New Roman"/>
              </a:defRPr>
            </a:pPr>
            <a:fld id="{EE5B3003-2C54-13C6-9832-7637201064DE}"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43" name="Rectangle 42"/>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anim_328"/>
          <p:cNvSpPr>
            <a:spLocks noGrp="1"/>
          </p:cNvSpPr>
          <p:nvPr/>
        </p:nvSpPr>
        <p:spPr>
          <a:xfrm>
            <a:off x="400050" y="1181100"/>
            <a:ext cx="2628900" cy="4400550"/>
          </a:xfrm>
          <a:prstGeom prst="roundRect">
            <a:avLst>
              <a:gd name="adj" fmla="val 2899"/>
            </a:avLst>
          </a:prstGeom>
          <a:solidFill>
            <a:srgbClr val="FAFBFA">
              <a:alpha val="74000"/>
            </a:srgbClr>
          </a:solidFill>
          <a:ln w="11430">
            <a:solidFill>
              <a:srgbClr val="D5DED6"/>
            </a:solidFill>
            <a:prstDash val="solid"/>
          </a:ln>
        </p:spPr>
        <p:txBody>
          <a:bodyPr/>
          <a:p>
            <a:pPr>
              <a:defRPr>
                <a:latin typeface="Times New Roman"/>
              </a:defRPr>
            </a:pPr>
          </a:p>
        </p:txBody>
      </p:sp>
      <p:sp>
        <p:nvSpPr>
          <p:cNvPr id="7" name="anim_330"/>
          <p:cNvSpPr>
            <a:spLocks noGrp="1"/>
          </p:cNvSpPr>
          <p:nvPr/>
        </p:nvSpPr>
        <p:spPr>
          <a:xfrm>
            <a:off x="590550" y="1352550"/>
            <a:ext cx="2095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HOW TO READ</a:t>
            </a:r>
          </a:p>
        </p:txBody>
      </p:sp>
      <p:sp>
        <p:nvSpPr>
          <p:cNvPr id="8" name="anim_331"/>
          <p:cNvSpPr>
            <a:spLocks noGrp="1"/>
          </p:cNvSpPr>
          <p:nvPr/>
        </p:nvSpPr>
        <p:spPr>
          <a:xfrm>
            <a:off x="590550" y="1752600"/>
            <a:ext cx="361950" cy="400050"/>
          </a:xfrm>
          <a:prstGeom prst="rect">
            <a:avLst/>
          </a:prstGeom>
          <a:solidFill>
            <a:srgbClr val="4F6E96"/>
          </a:solidFill>
          <a:ln w="0">
            <a:solidFill>
              <a:srgbClr val="4F6E96"/>
            </a:solidFill>
            <a:prstDash val="solid"/>
          </a:ln>
        </p:spPr>
        <p:txBody>
          <a:bodyPr anchor="ctr"/>
          <a:lstStyle/>
          <a:p>
            <a:pPr algn="ctr">
              <a:defRPr sz="15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X</a:t>
            </a:r>
          </a:p>
        </p:txBody>
      </p:sp>
      <p:sp>
        <p:nvSpPr>
          <p:cNvPr id="9" name="anim_332"/>
          <p:cNvSpPr>
            <a:spLocks noGrp="1"/>
          </p:cNvSpPr>
          <p:nvPr/>
        </p:nvSpPr>
        <p:spPr>
          <a:xfrm>
            <a:off x="1066800" y="1752600"/>
            <a:ext cx="1695450" cy="400050"/>
          </a:xfrm>
          <a:prstGeom prst="rect">
            <a:avLst/>
          </a:prstGeom>
          <a:solidFill>
            <a:srgbClr val="FAFBFA">
              <a:alpha val="74000"/>
            </a:srgbClr>
          </a:solidFill>
          <a:ln w="0">
            <a:solidFill>
              <a:srgbClr val="FAFBFA"/>
            </a:solidFill>
            <a:prstDash val="solid"/>
          </a:ln>
        </p:spPr>
        <p:txBody>
          <a:bodyPr anchor="ctr"/>
          <a:lstStyle/>
          <a:p>
            <a:pPr algn="l">
              <a:defRPr sz="13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Long-term log trend</a:t>
            </a:r>
          </a:p>
        </p:txBody>
      </p:sp>
      <p:sp>
        <p:nvSpPr>
          <p:cNvPr id="10" name="anim_334"/>
          <p:cNvSpPr>
            <a:spLocks noGrp="1"/>
          </p:cNvSpPr>
          <p:nvPr/>
        </p:nvSpPr>
        <p:spPr>
          <a:xfrm>
            <a:off x="590550" y="2324100"/>
            <a:ext cx="361950" cy="400050"/>
          </a:xfrm>
          <a:prstGeom prst="rect">
            <a:avLst/>
          </a:prstGeom>
          <a:solidFill>
            <a:srgbClr val="BE7F4E"/>
          </a:solidFill>
          <a:ln w="0">
            <a:solidFill>
              <a:srgbClr val="BE7F4E"/>
            </a:solidFill>
            <a:prstDash val="solid"/>
          </a:ln>
        </p:spPr>
        <p:txBody>
          <a:bodyPr anchor="ctr"/>
          <a:lstStyle/>
          <a:p>
            <a:pPr algn="ctr">
              <a:defRPr sz="15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Y</a:t>
            </a:r>
          </a:p>
        </p:txBody>
      </p:sp>
      <p:sp>
        <p:nvSpPr>
          <p:cNvPr id="11" name="anim_333"/>
          <p:cNvSpPr>
            <a:spLocks noGrp="1"/>
          </p:cNvSpPr>
          <p:nvPr/>
        </p:nvSpPr>
        <p:spPr>
          <a:xfrm>
            <a:off x="1066800" y="2266950"/>
            <a:ext cx="1695450" cy="514350"/>
          </a:xfrm>
          <a:prstGeom prst="rect">
            <a:avLst/>
          </a:prstGeom>
          <a:solidFill>
            <a:srgbClr val="FAFBFA">
              <a:alpha val="74000"/>
            </a:srgbClr>
          </a:solidFill>
          <a:ln w="0">
            <a:solidFill>
              <a:srgbClr val="FAFBFA"/>
            </a:solidFill>
            <a:prstDash val="solid"/>
          </a:ln>
        </p:spPr>
        <p:txBody>
          <a:bodyPr anchor="ctr"/>
          <a:lstStyle/>
          <a:p>
            <a:pPr algn="l">
              <a:defRPr sz="13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Recent minus long-term</a:t>
            </a:r>
          </a:p>
        </p:txBody>
      </p:sp>
      <p:sp>
        <p:nvSpPr>
          <p:cNvPr id="12" name="anim_336"/>
          <p:cNvSpPr>
            <a:spLocks noGrp="1"/>
          </p:cNvSpPr>
          <p:nvPr/>
        </p:nvSpPr>
        <p:spPr>
          <a:xfrm>
            <a:off x="590550" y="3048000"/>
            <a:ext cx="323850" cy="323850"/>
          </a:xfrm>
          <a:prstGeom prst="rect">
            <a:avLst/>
          </a:prstGeom>
          <a:solidFill>
            <a:srgbClr val="FAFBFA">
              <a:alpha val="74000"/>
            </a:srgbClr>
          </a:solidFill>
          <a:ln w="0">
            <a:solidFill>
              <a:srgbClr val="FAFBFA"/>
            </a:solidFill>
            <a:prstDash val="solid"/>
          </a:ln>
        </p:spPr>
        <p:txBody>
          <a:bodyPr anchor="ctr"/>
          <a:lstStyle/>
          <a:p>
            <a:pPr algn="ctr">
              <a:defRPr sz="1500" b="0" i="0">
                <a:solidFill>
                  <a:srgbClr val="4472C4"/>
                </a:solidFill>
                <a:latin typeface="Times New Roman" panose="020B0604020202020204"/>
                <a:ea typeface="Times New Roman" panose="020B0604020202020204"/>
                <a:cs typeface="Times New Roman" panose="020B0604020202020204"/>
              </a:defRPr>
            </a:pPr>
            <a:r>
              <a:rPr>
                <a:solidFill/>
                <a:latin typeface="Times New Roman"/>
              </a:rPr>
              <a:t>■</a:t>
            </a:r>
          </a:p>
        </p:txBody>
      </p:sp>
      <p:sp>
        <p:nvSpPr>
          <p:cNvPr id="13" name="anim_335"/>
          <p:cNvSpPr>
            <a:spLocks noGrp="1"/>
          </p:cNvSpPr>
          <p:nvPr/>
        </p:nvSpPr>
        <p:spPr>
          <a:xfrm>
            <a:off x="1000125" y="3000375"/>
            <a:ext cx="1762125" cy="400050"/>
          </a:xfrm>
          <a:prstGeom prst="rect">
            <a:avLst/>
          </a:prstGeom>
          <a:solidFill>
            <a:srgbClr val="FAFBFA">
              <a:alpha val="74000"/>
            </a:srgbClr>
          </a:solidFill>
          <a:ln w="0">
            <a:solidFill>
              <a:srgbClr val="FAFBFA"/>
            </a:solidFill>
            <a:prstDash val="solid"/>
          </a:ln>
        </p:spPr>
        <p:txBody>
          <a:bodyPr anchor="ctr"/>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Per-capita trend rising</a:t>
            </a:r>
          </a:p>
        </p:txBody>
      </p:sp>
      <p:sp>
        <p:nvSpPr>
          <p:cNvPr id="14" name="anim_338"/>
          <p:cNvSpPr>
            <a:spLocks noGrp="1"/>
          </p:cNvSpPr>
          <p:nvPr/>
        </p:nvSpPr>
        <p:spPr>
          <a:xfrm>
            <a:off x="590550" y="3524250"/>
            <a:ext cx="323850" cy="323850"/>
          </a:xfrm>
          <a:prstGeom prst="rect">
            <a:avLst/>
          </a:prstGeom>
          <a:solidFill>
            <a:srgbClr val="FAFBFA">
              <a:alpha val="74000"/>
            </a:srgbClr>
          </a:solidFill>
          <a:ln w="0">
            <a:solidFill>
              <a:srgbClr val="FAFBFA"/>
            </a:solidFill>
            <a:prstDash val="solid"/>
          </a:ln>
        </p:spPr>
        <p:txBody>
          <a:bodyPr anchor="ctr"/>
          <a:lstStyle/>
          <a:p>
            <a:pPr algn="ctr">
              <a:defRPr sz="1650" b="0" i="0">
                <a:solidFill>
                  <a:srgbClr val="4472C4"/>
                </a:solidFill>
                <a:latin typeface="Times New Roman" panose="020B0604020202020204"/>
                <a:ea typeface="Times New Roman" panose="020B0604020202020204"/>
                <a:cs typeface="Times New Roman" panose="020B0604020202020204"/>
              </a:defRPr>
            </a:pPr>
            <a:r>
              <a:rPr>
                <a:solidFill/>
                <a:latin typeface="Times New Roman"/>
              </a:rPr>
              <a:t>□</a:t>
            </a:r>
          </a:p>
        </p:txBody>
      </p:sp>
      <p:sp>
        <p:nvSpPr>
          <p:cNvPr id="15" name="anim_337"/>
          <p:cNvSpPr>
            <a:spLocks noGrp="1"/>
          </p:cNvSpPr>
          <p:nvPr/>
        </p:nvSpPr>
        <p:spPr>
          <a:xfrm>
            <a:off x="1000125" y="3476625"/>
            <a:ext cx="1762125" cy="400050"/>
          </a:xfrm>
          <a:prstGeom prst="rect">
            <a:avLst/>
          </a:prstGeom>
          <a:solidFill>
            <a:srgbClr val="FAFBFA">
              <a:alpha val="74000"/>
            </a:srgbClr>
          </a:solidFill>
          <a:ln w="0">
            <a:solidFill>
              <a:srgbClr val="FAFBFA"/>
            </a:solidFill>
            <a:prstDash val="solid"/>
          </a:ln>
        </p:spPr>
        <p:txBody>
          <a:bodyPr anchor="ctr"/>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Per-capita trend falling</a:t>
            </a:r>
          </a:p>
        </p:txBody>
      </p:sp>
      <p:sp>
        <p:nvSpPr>
          <p:cNvPr id="16" name="anim_339"/>
          <p:cNvSpPr>
            <a:spLocks noGrp="1"/>
          </p:cNvSpPr>
          <p:nvPr/>
        </p:nvSpPr>
        <p:spPr>
          <a:xfrm>
            <a:off x="590550" y="4171950"/>
            <a:ext cx="2247900" cy="1162050"/>
          </a:xfrm>
          <a:prstGeom prst="roundRect">
            <a:avLst>
              <a:gd name="adj" fmla="val 6557"/>
            </a:avLst>
          </a:prstGeom>
          <a:solidFill>
            <a:srgbClr val="ECEFF4">
              <a:alpha val="74000"/>
            </a:srgbClr>
          </a:solidFill>
          <a:ln w="11430">
            <a:solidFill>
              <a:srgbClr val="4F6E96"/>
            </a:solidFill>
            <a:prstDash val="solid"/>
          </a:ln>
        </p:spPr>
        <p:txBody>
          <a:bodyPr/>
          <a:p>
            <a:pPr>
              <a:defRPr>
                <a:latin typeface="Times New Roman"/>
              </a:defRPr>
            </a:pPr>
          </a:p>
        </p:txBody>
      </p:sp>
      <p:sp>
        <p:nvSpPr>
          <p:cNvPr id="17" name="anim_340"/>
          <p:cNvSpPr>
            <a:spLocks noGrp="1"/>
          </p:cNvSpPr>
          <p:nvPr/>
        </p:nvSpPr>
        <p:spPr>
          <a:xfrm>
            <a:off x="762000" y="4343400"/>
            <a:ext cx="1905000" cy="800100"/>
          </a:xfrm>
          <a:prstGeom prst="rect">
            <a:avLst/>
          </a:prstGeom>
          <a:solidFill>
            <a:srgbClr val="ECEFF4">
              <a:alpha val="74000"/>
            </a:srgbClr>
          </a:solidFill>
          <a:ln w="0">
            <a:solidFill>
              <a:srgbClr val="ECEFF4"/>
            </a:solidFill>
            <a:prstDash val="solid"/>
          </a:ln>
        </p:spPr>
        <p:txBody>
          <a:bodyPr anchor="ctr"/>
          <a:lstStyle/>
          <a:p>
            <a:pPr algn="ctr">
              <a:defRPr sz="13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One endpoint change cannot capture both direction and momentum.</a:t>
            </a:r>
          </a:p>
        </p:txBody>
      </p:sp>
      <p:sp>
        <p:nvSpPr>
          <p:cNvPr id="18" name="anim_327"/>
          <p:cNvSpPr>
            <a:spLocks noGrp="1"/>
          </p:cNvSpPr>
          <p:nvPr/>
        </p:nvSpPr>
        <p:spPr>
          <a:xfrm>
            <a:off x="3238500" y="1143000"/>
            <a:ext cx="7991475" cy="4476750"/>
          </a:xfrm>
          <a:prstGeom prst="roundRect">
            <a:avLst>
              <a:gd name="adj" fmla="val 1702"/>
            </a:avLst>
          </a:prstGeom>
          <a:solidFill>
            <a:srgbClr val="FAFBFA">
              <a:alpha val="74000"/>
            </a:srgbClr>
          </a:solidFill>
          <a:ln w="11430">
            <a:solidFill>
              <a:srgbClr val="D5DED6"/>
            </a:solidFill>
            <a:prstDash val="solid"/>
          </a:ln>
        </p:spPr>
        <p:txBody>
          <a:bodyPr/>
          <a:p>
            <a:pPr>
              <a:defRPr>
                <a:latin typeface="Times New Roman"/>
              </a:defRPr>
            </a:pPr>
          </a:p>
        </p:txBody>
      </p:sp>
      <p:pic>
        <p:nvPicPr>
          <p:cNvPr id="36" name="anim_329"/>
          <p:cNvPicPr>
            <a:picLocks noChangeAspect="1"/>
          </p:cNvPicPr>
          <p:nvPr/>
        </p:nvPicPr>
        <p:blipFill>
          <a:blip r:embed="rId2"/>
          <a:stretch>
            <a:fillRect/>
          </a:stretch>
        </p:blipFill>
        <p:spPr>
          <a:xfrm>
            <a:off x="3917881" y="1181100"/>
            <a:ext cx="6632713" cy="4400550"/>
          </a:xfrm>
          <a:prstGeom prst="rect">
            <a:avLst/>
          </a:prstGeom>
          <a:ln/>
        </p:spPr>
      </p:pic>
      <p:sp>
        <p:nvSpPr>
          <p:cNvPr id="42" name="TextBox 41"/>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4 / 7</a:t>
            </a:r>
          </a:p>
        </p:txBody>
      </p:sp>
      <p:sp>
        <p:nvSpPr>
          <p:cNvPr id="44" name="Rectangle 43"/>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5" name="anim_326"/>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6" name="TextBox 45"/>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EXPLORATION OF DATASET · Is the rise one shared trajectory or many?</a:t>
            </a:r>
          </a:p>
          <a:p>
            <a:pPr algn="l">
              <a:spcBef>
                <a:spcPts val="200"/>
              </a:spcBef>
              <a:defRPr>
                <a:latin typeface="Times New Roman"/>
              </a:defRPr>
            </a:pPr>
            <a:r>
              <a:rPr sz="2500" b="1">
                <a:solidFill>
                  <a:srgbClr val="FFFFFF"/>
                </a:solidFill>
                <a:latin typeface="Georgia"/>
              </a:rPr>
              <a:t>Long-term growth differs from recent momentum</a:t>
            </a:r>
          </a:p>
        </p:txBody>
      </p:sp>
      <p:sp>
        <p:nvSpPr>
          <p:cNvPr id="47" name="TextBox 46"/>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4 / 7</a:t>
            </a:r>
          </a:p>
        </p:txBody>
      </p:sp>
      <p:sp>
        <p:nvSpPr>
          <p:cNvPr id="48" name="anim_345"/>
          <p:cNvSpPr txBox="1"/>
          <p:nvPr/>
        </p:nvSpPr>
        <p:spPr>
          <a:xfrm>
            <a:off x="777240" y="5815584"/>
            <a:ext cx="10607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Reading the puzzle:  </a:t>
            </a:r>
            <a:r>
              <a:rPr sz="1350" b="0">
                <a:solidFill>
                  <a:srgbClr val="252B30"/>
                </a:solidFill>
                <a:latin typeface="Times New Roman"/>
              </a:rPr>
              <a:t>long-term growth and recent momentum disagree, so no single growth number can describe a 30-year trajectory.</a:t>
            </a:r>
          </a:p>
        </p:txBody>
      </p:sp>
      <p:sp>
        <p:nvSpPr>
          <p:cNvPr id="49" name="anim_343"/>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REYIZA RESIBIEKE</a:t>
            </a:r>
          </a:p>
        </p:txBody>
      </p:sp>
      <p:sp>
        <p:nvSpPr>
          <p:cNvPr id="50" name="anim_344"/>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0"/>
                      </p:stCondLst>
                      <p:childTnLst>
                        <p:par>
                          <p:cTn id="32"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45"/>
                                        </p:tgtEl>
                                        <p:attrNameLst>
                                          <p:attrName>style.visibility</p:attrName>
                                        </p:attrNameLst>
                                      </p:cBhvr>
                                      <p:to>
                                        <p:strVal val="visible"/>
                                      </p:to>
                                    </p:set>
                                    <p:animEffect transition="in" filter="fade">
                                      <p:cBhvr>
                                        <p:cTn id="6" dur="450"/>
                                        <p:tgtEl>
                                          <p:spTgt spid="45"/>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8"/>
                                        </p:tgtEl>
                                        <p:attrNameLst>
                                          <p:attrName>style.visibility</p:attrName>
                                        </p:attrNameLst>
                                      </p:cBhvr>
                                      <p:to>
                                        <p:strVal val="visible"/>
                                      </p:to>
                                    </p:set>
                                    <p:animEffect transition="in" filter="fade">
                                      <p:cBhvr>
                                        <p:cTn id="9" dur="450"/>
                                        <p:tgtEl>
                                          <p:spTgt spid="18"/>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grpId="0" nodeType="withEffect">
                                  <p:stCondLst>
                                    <p:cond delay="79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450"/>
                                        <p:tgtEl>
                                          <p:spTgt spid="36"/>
                                        </p:tgtEl>
                                      </p:cBhvr>
                                    </p:animEffect>
                                  </p:childTnLst>
                                </p:cTn>
                              </p:par>
                              <p:par>
                                <p:cTn id="16" presetID="10" presetClass="entr" presetSubtype="0" fill="hold" grpId="0" nodeType="withEffect">
                                  <p:stCondLst>
                                    <p:cond delay="92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withEffect">
                                  <p:stCondLst>
                                    <p:cond delay="10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2" presetID="10" presetClass="entr" presetSubtype="0" fill="hold" grpId="0" nodeType="withEffect">
                                  <p:stCondLst>
                                    <p:cond delay="118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childTnLst>
                                </p:cTn>
                              </p:par>
                              <p:par>
                                <p:cTn id="25" presetID="10" presetClass="entr" presetSubtype="0" fill="hold" grpId="0" nodeType="withEffect">
                                  <p:stCondLst>
                                    <p:cond delay="131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144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childTnLst>
                          </p:cTn>
                        </p:par>
                      </p:childTnLst>
                    </p:cTn>
                  </p:par>
                  <p:par>
                    <p:cTn id="51" fill="hold">
                      <p:stCondLst>
                        <p:cond delay="0"/>
                      </p:stCondLst>
                      <p:childTnLst>
                        <p:par>
                          <p:cTn id="52" fill="hold">
                            <p:stCondLst>
                              <p:cond delay="0"/>
                            </p:stCondLst>
                            <p:childTnLst>
                              <p:par>
                                <p:cTn id="33" presetID="10" presetClass="entr" presetSubtype="0" fill="hold" grpId="0" nodeType="afterEffect">
                                  <p:stCondLst>
                                    <p:cond delay="4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53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79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50"/>
                                        <p:tgtEl>
                                          <p:spTgt spid="14"/>
                                        </p:tgtEl>
                                      </p:cBhvr>
                                    </p:animEffect>
                                  </p:childTnLst>
                                </p:cTn>
                              </p:par>
                              <p:par>
                                <p:cTn id="45" presetID="10" presetClass="entr" presetSubtype="0" fill="hold" grpId="0" nodeType="withEffect">
                                  <p:stCondLst>
                                    <p:cond delay="92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105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childTnLst>
                          </p:cTn>
                        </p:par>
                      </p:childTnLst>
                    </p:cTn>
                  </p:par>
                  <p:par>
                    <p:cTn id="62" fill="hold">
                      <p:stCondLst>
                        <p:cond delay="0"/>
                      </p:stCondLst>
                      <p:childTnLst>
                        <p:par>
                          <p:cTn id="63" fill="hold">
                            <p:stCondLst>
                              <p:cond delay="0"/>
                            </p:stCondLst>
                            <p:childTnLst>
                              <p:par>
                                <p:cTn id="53" presetID="10" presetClass="entr" presetSubtype="0" fill="hold" grpId="0" nodeType="afterEffect">
                                  <p:stCondLst>
                                    <p:cond delay="40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450"/>
                                        <p:tgtEl>
                                          <p:spTgt spid="5"/>
                                        </p:tgtEl>
                                      </p:cBhvr>
                                    </p:animEffect>
                                  </p:childTnLst>
                                </p:cTn>
                              </p:par>
                              <p:par>
                                <p:cTn id="56" presetID="10" presetClass="entr" presetSubtype="0" fill="hold" grpId="0" nodeType="withEffect">
                                  <p:stCondLst>
                                    <p:cond delay="53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450"/>
                                        <p:tgtEl>
                                          <p:spTgt spid="49"/>
                                        </p:tgtEl>
                                      </p:cBhvr>
                                    </p:animEffect>
                                  </p:childTnLst>
                                </p:cTn>
                              </p:par>
                              <p:par>
                                <p:cTn id="59" presetID="10" presetClass="entr" presetSubtype="0" fill="hold" grpId="0" nodeType="withEffect">
                                  <p:stCondLst>
                                    <p:cond delay="66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450"/>
                                        <p:tgtEl>
                                          <p:spTgt spid="50"/>
                                        </p:tgtEl>
                                      </p:cBhvr>
                                    </p:animEffect>
                                  </p:childTnLst>
                                </p:cTn>
                              </p:par>
                            </p:childTnLst>
                          </p:cTn>
                        </p:par>
                      </p:childTnLst>
                    </p:cTn>
                  </p:par>
                  <p:par>
                    <p:cTn id="67" fill="hold">
                      <p:stCondLst>
                        <p:cond delay="0"/>
                      </p:stCondLst>
                      <p:childTnLst>
                        <p:par>
                          <p:cTn id="68" fill="hold">
                            <p:stCondLst>
                              <p:cond delay="0"/>
                            </p:stCondLst>
                            <p:childTnLst>
                              <p:par>
                                <p:cTn id="64" presetID="10" presetClass="entr" presetSubtype="0" fill="hold" grpId="0" nodeType="afterEffect">
                                  <p:stCondLst>
                                    <p:cond delay="40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60"/>
          <p:cNvSpPr>
            <a:spLocks noGrp="1"/>
          </p:cNvSpPr>
          <p:nvPr>
            <p:ph type="sldNum" idx="12"/>
          </p:nvPr>
        </p:nvSpPr>
        <p:spPr>
          <a:xfrm>
            <a:off x="11561522" y="6356350"/>
            <a:ext cx="518786" cy="362485"/>
          </a:xfrm>
          <a:ln/>
        </p:spPr>
        <p:txBody>
          <a:bodyPr wrap="none"/>
          <a:lstStyle/>
          <a:p>
            <a:pPr marL="0" marR="0" lvl="0" indent="0" algn="r" defTabSz="914400">
              <a:lnSpc>
                <a:spcPct val="100000"/>
              </a:lnSpc>
              <a:spcBef>
                <a:spcPts val="0"/>
              </a:spcBef>
              <a:spcAft>
                <a:spcPts val="0"/>
              </a:spcAft>
              <a:buClrTx/>
              <a:buSzTx/>
              <a:buFontTx/>
              <a:buNone/>
              <a:defRPr>
                <a:latin typeface="Times New Roman"/>
              </a:defRPr>
            </a:pPr>
            <a:fld id="{8C630A04-5A25-9E0C-9436-126091DB86B3}"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29" name="Rectangle 28"/>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anim_347"/>
          <p:cNvSpPr>
            <a:spLocks noGrp="1"/>
          </p:cNvSpPr>
          <p:nvPr/>
        </p:nvSpPr>
        <p:spPr>
          <a:xfrm>
            <a:off x="361950" y="1085850"/>
            <a:ext cx="8077200" cy="4610100"/>
          </a:xfrm>
          <a:prstGeom prst="roundRect">
            <a:avLst>
              <a:gd name="adj" fmla="val 1653"/>
            </a:avLst>
          </a:prstGeom>
          <a:solidFill>
            <a:srgbClr val="FAFBFA">
              <a:alpha val="74000"/>
            </a:srgbClr>
          </a:solidFill>
          <a:ln w="11430">
            <a:solidFill>
              <a:srgbClr val="D5DED6"/>
            </a:solidFill>
            <a:prstDash val="solid"/>
          </a:ln>
        </p:spPr>
        <p:txBody>
          <a:bodyPr/>
          <a:p>
            <a:pPr>
              <a:defRPr>
                <a:latin typeface="Times New Roman"/>
              </a:defRPr>
            </a:pPr>
          </a:p>
        </p:txBody>
      </p:sp>
      <p:pic>
        <p:nvPicPr>
          <p:cNvPr id="22" name="anim_348"/>
          <p:cNvPicPr>
            <a:picLocks noChangeAspect="1"/>
          </p:cNvPicPr>
          <p:nvPr/>
        </p:nvPicPr>
        <p:blipFill>
          <a:blip r:embed="rId2"/>
          <a:srcRect t="6582" b="6582"/>
          <a:stretch>
            <a:fillRect/>
          </a:stretch>
        </p:blipFill>
        <p:spPr>
          <a:xfrm>
            <a:off x="400050" y="1123950"/>
            <a:ext cx="8001000" cy="4533900"/>
          </a:xfrm>
          <a:prstGeom prst="rect">
            <a:avLst/>
          </a:prstGeom>
          <a:ln/>
        </p:spPr>
      </p:pic>
      <p:sp>
        <p:nvSpPr>
          <p:cNvPr id="8" name="anim_349"/>
          <p:cNvSpPr>
            <a:spLocks noGrp="1"/>
          </p:cNvSpPr>
          <p:nvPr/>
        </p:nvSpPr>
        <p:spPr>
          <a:xfrm>
            <a:off x="8743950" y="1123950"/>
            <a:ext cx="2333625"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CONCENTRATION</a:t>
            </a:r>
          </a:p>
        </p:txBody>
      </p:sp>
      <p:sp>
        <p:nvSpPr>
          <p:cNvPr id="9" name="anim_350"/>
          <p:cNvSpPr>
            <a:spLocks noGrp="1"/>
          </p:cNvSpPr>
          <p:nvPr/>
        </p:nvSpPr>
        <p:spPr>
          <a:xfrm>
            <a:off x="8743950" y="1457325"/>
            <a:ext cx="2438400" cy="1123950"/>
          </a:xfrm>
          <a:prstGeom prst="roundRect">
            <a:avLst>
              <a:gd name="adj" fmla="val 10169"/>
            </a:avLst>
          </a:prstGeom>
          <a:solidFill>
            <a:srgbClr val="EEF4EC">
              <a:alpha val="74000"/>
            </a:srgbClr>
          </a:solidFill>
          <a:ln w="14288">
            <a:solidFill>
              <a:srgbClr val="2F5248"/>
            </a:solidFill>
            <a:prstDash val="solid"/>
          </a:ln>
        </p:spPr>
        <p:txBody>
          <a:bodyPr/>
          <a:p>
            <a:pPr>
              <a:defRPr>
                <a:latin typeface="Times New Roman"/>
              </a:defRPr>
            </a:pPr>
          </a:p>
        </p:txBody>
      </p:sp>
      <p:sp>
        <p:nvSpPr>
          <p:cNvPr id="10" name="anim_351"/>
          <p:cNvSpPr>
            <a:spLocks noGrp="1"/>
          </p:cNvSpPr>
          <p:nvPr/>
        </p:nvSpPr>
        <p:spPr>
          <a:xfrm>
            <a:off x="8877300" y="1552575"/>
            <a:ext cx="2171700" cy="514350"/>
          </a:xfrm>
          <a:prstGeom prst="rect">
            <a:avLst/>
          </a:prstGeom>
          <a:solidFill>
            <a:srgbClr val="EEF4EC">
              <a:alpha val="74000"/>
            </a:srgbClr>
          </a:solidFill>
          <a:ln w="0">
            <a:solidFill>
              <a:srgbClr val="EEF4EC"/>
            </a:solidFill>
            <a:prstDash val="solid"/>
          </a:ln>
        </p:spPr>
        <p:txBody>
          <a:bodyPr anchor="ctr"/>
          <a:lstStyle/>
          <a:p>
            <a:pPr algn="l">
              <a:defRPr sz="255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59.8%</a:t>
            </a:r>
          </a:p>
        </p:txBody>
      </p:sp>
      <p:sp>
        <p:nvSpPr>
          <p:cNvPr id="11" name="anim_352"/>
          <p:cNvSpPr>
            <a:spLocks noGrp="1"/>
          </p:cNvSpPr>
          <p:nvPr/>
        </p:nvSpPr>
        <p:spPr>
          <a:xfrm>
            <a:off x="8877300" y="2066925"/>
            <a:ext cx="2171700" cy="381000"/>
          </a:xfrm>
          <a:prstGeom prst="rect">
            <a:avLst/>
          </a:prstGeom>
          <a:solidFill>
            <a:srgbClr val="EEF4EC">
              <a:alpha val="74000"/>
            </a:srgbClr>
          </a:solidFill>
          <a:ln w="0">
            <a:solidFill>
              <a:srgbClr val="EEF4EC"/>
            </a:solidFill>
            <a:prstDash val="solid"/>
          </a:ln>
        </p:spPr>
        <p:txBody>
          <a:bodyPr anchor="t"/>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Asia's share of</a:t>
            </a:r>
          </a:p>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2021 emissions</a:t>
            </a:r>
          </a:p>
        </p:txBody>
      </p:sp>
      <p:sp>
        <p:nvSpPr>
          <p:cNvPr id="12" name="anim_353"/>
          <p:cNvSpPr>
            <a:spLocks noGrp="1"/>
          </p:cNvSpPr>
          <p:nvPr/>
        </p:nvSpPr>
        <p:spPr>
          <a:xfrm>
            <a:off x="8743950" y="2733675"/>
            <a:ext cx="2438400" cy="1123950"/>
          </a:xfrm>
          <a:prstGeom prst="roundRect">
            <a:avLst>
              <a:gd name="adj" fmla="val 10169"/>
            </a:avLst>
          </a:prstGeom>
          <a:solidFill>
            <a:srgbClr val="F7F1EA"/>
          </a:solidFill>
          <a:ln w="14288">
            <a:solidFill>
              <a:srgbClr val="BE7F4E"/>
            </a:solidFill>
            <a:prstDash val="solid"/>
          </a:ln>
        </p:spPr>
        <p:txBody>
          <a:bodyPr/>
          <a:p>
            <a:pPr>
              <a:defRPr>
                <a:latin typeface="Times New Roman"/>
              </a:defRPr>
            </a:pPr>
          </a:p>
        </p:txBody>
      </p:sp>
      <p:sp>
        <p:nvSpPr>
          <p:cNvPr id="13" name="anim_354"/>
          <p:cNvSpPr>
            <a:spLocks noGrp="1"/>
          </p:cNvSpPr>
          <p:nvPr/>
        </p:nvSpPr>
        <p:spPr>
          <a:xfrm>
            <a:off x="8877300" y="2828925"/>
            <a:ext cx="2171700" cy="514350"/>
          </a:xfrm>
          <a:prstGeom prst="rect">
            <a:avLst/>
          </a:prstGeom>
          <a:solidFill>
            <a:srgbClr val="F7F1EA"/>
          </a:solidFill>
          <a:ln w="0">
            <a:solidFill>
              <a:srgbClr val="F7F1EA"/>
            </a:solidFill>
            <a:prstDash val="solid"/>
          </a:ln>
        </p:spPr>
        <p:txBody>
          <a:bodyPr anchor="ctr"/>
          <a:lstStyle/>
          <a:p>
            <a:pPr algn="l">
              <a:defRPr sz="2550" b="1" i="0">
                <a:solidFill>
                  <a:srgbClr val="ED7D31"/>
                </a:solidFill>
                <a:latin typeface="Times New Roman" panose="020B0604020202020204"/>
                <a:ea typeface="Times New Roman" panose="020B0604020202020204"/>
                <a:cs typeface="Times New Roman" panose="020B0604020202020204"/>
              </a:defRPr>
            </a:pPr>
            <a:r>
              <a:rPr>
                <a:solidFill/>
                <a:latin typeface="Times New Roman"/>
              </a:rPr>
              <a:t>31.4%</a:t>
            </a:r>
          </a:p>
        </p:txBody>
      </p:sp>
      <p:sp>
        <p:nvSpPr>
          <p:cNvPr id="14" name="anim_355"/>
          <p:cNvSpPr>
            <a:spLocks noGrp="1"/>
          </p:cNvSpPr>
          <p:nvPr/>
        </p:nvSpPr>
        <p:spPr>
          <a:xfrm>
            <a:off x="8877300" y="3343275"/>
            <a:ext cx="2171700" cy="381000"/>
          </a:xfrm>
          <a:prstGeom prst="rect">
            <a:avLst/>
          </a:prstGeom>
          <a:solidFill>
            <a:srgbClr val="F7F1EA"/>
          </a:solidFill>
          <a:ln w="0">
            <a:solidFill>
              <a:srgbClr val="F7F1EA"/>
            </a:solidFill>
            <a:prstDash val="solid"/>
          </a:ln>
        </p:spPr>
        <p:txBody>
          <a:bodyPr anchor="t"/>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China's share of</a:t>
            </a:r>
          </a:p>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the global total</a:t>
            </a:r>
          </a:p>
        </p:txBody>
      </p:sp>
      <p:sp>
        <p:nvSpPr>
          <p:cNvPr id="15" name="anim_356"/>
          <p:cNvSpPr>
            <a:spLocks noGrp="1"/>
          </p:cNvSpPr>
          <p:nvPr/>
        </p:nvSpPr>
        <p:spPr>
          <a:xfrm>
            <a:off x="8743950" y="4010025"/>
            <a:ext cx="2438400" cy="1123950"/>
          </a:xfrm>
          <a:prstGeom prst="roundRect">
            <a:avLst>
              <a:gd name="adj" fmla="val 10169"/>
            </a:avLst>
          </a:prstGeom>
          <a:solidFill>
            <a:srgbClr val="ECEFF4">
              <a:alpha val="74000"/>
            </a:srgbClr>
          </a:solidFill>
          <a:ln w="14288">
            <a:solidFill>
              <a:srgbClr val="4F6E96"/>
            </a:solidFill>
            <a:prstDash val="solid"/>
          </a:ln>
        </p:spPr>
        <p:txBody>
          <a:bodyPr/>
          <a:p>
            <a:pPr>
              <a:defRPr>
                <a:latin typeface="Times New Roman"/>
              </a:defRPr>
            </a:pPr>
          </a:p>
        </p:txBody>
      </p:sp>
      <p:sp>
        <p:nvSpPr>
          <p:cNvPr id="16" name="anim_357"/>
          <p:cNvSpPr>
            <a:spLocks noGrp="1"/>
          </p:cNvSpPr>
          <p:nvPr/>
        </p:nvSpPr>
        <p:spPr>
          <a:xfrm>
            <a:off x="8877300" y="4105275"/>
            <a:ext cx="2171700" cy="514350"/>
          </a:xfrm>
          <a:prstGeom prst="rect">
            <a:avLst/>
          </a:prstGeom>
          <a:solidFill>
            <a:srgbClr val="ECEFF4">
              <a:alpha val="74000"/>
            </a:srgbClr>
          </a:solidFill>
          <a:ln w="0">
            <a:solidFill>
              <a:srgbClr val="ECEFF4"/>
            </a:solidFill>
            <a:prstDash val="solid"/>
          </a:ln>
        </p:spPr>
        <p:txBody>
          <a:bodyPr anchor="ctr"/>
          <a:lstStyle/>
          <a:p>
            <a:pPr algn="l">
              <a:defRPr sz="2550" b="1" i="0">
                <a:solidFill>
                  <a:srgbClr val="4472C4"/>
                </a:solidFill>
                <a:latin typeface="Times New Roman" panose="020B0604020202020204"/>
                <a:ea typeface="Times New Roman" panose="020B0604020202020204"/>
                <a:cs typeface="Times New Roman" panose="020B0604020202020204"/>
              </a:defRPr>
            </a:pPr>
            <a:r>
              <a:rPr>
                <a:solidFill/>
                <a:latin typeface="Times New Roman"/>
              </a:rPr>
              <a:t>81.2%</a:t>
            </a:r>
          </a:p>
        </p:txBody>
      </p:sp>
      <p:sp>
        <p:nvSpPr>
          <p:cNvPr id="17" name="anim_358"/>
          <p:cNvSpPr>
            <a:spLocks noGrp="1"/>
          </p:cNvSpPr>
          <p:nvPr/>
        </p:nvSpPr>
        <p:spPr>
          <a:xfrm>
            <a:off x="8877300" y="4619625"/>
            <a:ext cx="2171700" cy="381000"/>
          </a:xfrm>
          <a:prstGeom prst="rect">
            <a:avLst/>
          </a:prstGeom>
          <a:solidFill>
            <a:srgbClr val="ECEFF4">
              <a:alpha val="74000"/>
            </a:srgbClr>
          </a:solidFill>
          <a:ln w="0">
            <a:solidFill>
              <a:srgbClr val="ECEFF4"/>
            </a:solidFill>
            <a:prstDash val="solid"/>
          </a:ln>
        </p:spPr>
        <p:txBody>
          <a:bodyPr anchor="t"/>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Combined share of</a:t>
            </a:r>
          </a:p>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the top 20 emitters</a:t>
            </a:r>
          </a:p>
        </p:txBody>
      </p:sp>
      <p:sp>
        <p:nvSpPr>
          <p:cNvPr id="28" name="TextBox 27"/>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5 / 7</a:t>
            </a:r>
          </a:p>
        </p:txBody>
      </p:sp>
      <p:sp>
        <p:nvSpPr>
          <p:cNvPr id="30" name="Rectangle 29"/>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1" name="anim_346"/>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2" name="TextBox 31"/>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EXPLORATION OF DATASET · Who carries the current emission burden?</a:t>
            </a:r>
          </a:p>
          <a:p>
            <a:pPr algn="l">
              <a:spcBef>
                <a:spcPts val="200"/>
              </a:spcBef>
              <a:defRPr>
                <a:latin typeface="Times New Roman"/>
              </a:defRPr>
            </a:pPr>
            <a:r>
              <a:rPr sz="2300" b="1">
                <a:solidFill>
                  <a:srgbClr val="FFFFFF"/>
                </a:solidFill>
                <a:latin typeface="Georgia"/>
              </a:rPr>
              <a:t>A small set of countries drives most 2021 emissions</a:t>
            </a:r>
          </a:p>
        </p:txBody>
      </p:sp>
      <p:sp>
        <p:nvSpPr>
          <p:cNvPr id="33" name="TextBox 32"/>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5 / 7</a:t>
            </a:r>
          </a:p>
        </p:txBody>
      </p:sp>
      <p:sp>
        <p:nvSpPr>
          <p:cNvPr id="34" name="anim_363"/>
          <p:cNvSpPr txBox="1"/>
          <p:nvPr/>
        </p:nvSpPr>
        <p:spPr>
          <a:xfrm>
            <a:off x="777240" y="5815584"/>
            <a:ext cx="10607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Why it matters:  </a:t>
            </a:r>
            <a:r>
              <a:rPr sz="1350" b="0">
                <a:solidFill>
                  <a:srgbClr val="252B30"/>
                </a:solidFill>
                <a:latin typeface="Times New Roman"/>
              </a:rPr>
              <a:t>monitoring built around today's biggest emitters alone will overlook the fast-growing rest.</a:t>
            </a:r>
          </a:p>
        </p:txBody>
      </p:sp>
      <p:sp>
        <p:nvSpPr>
          <p:cNvPr id="35" name="anim_361"/>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SHEN RUITING</a:t>
            </a:r>
          </a:p>
        </p:txBody>
      </p:sp>
      <p:sp>
        <p:nvSpPr>
          <p:cNvPr id="36" name="anim_362"/>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0"/>
                      </p:stCondLst>
                      <p:childTnLst>
                        <p:par>
                          <p:cTn id="32"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31"/>
                                        </p:tgtEl>
                                        <p:attrNameLst>
                                          <p:attrName>style.visibility</p:attrName>
                                        </p:attrNameLst>
                                      </p:cBhvr>
                                      <p:to>
                                        <p:strVal val="visible"/>
                                      </p:to>
                                    </p:set>
                                    <p:animEffect transition="in" filter="fade">
                                      <p:cBhvr>
                                        <p:cTn id="6" dur="450"/>
                                        <p:tgtEl>
                                          <p:spTgt spid="31"/>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50"/>
                                        <p:tgtEl>
                                          <p:spTgt spid="22"/>
                                        </p:tgtEl>
                                      </p:cBhvr>
                                    </p:animEffect>
                                  </p:childTnLst>
                                </p:cTn>
                              </p:par>
                              <p:par>
                                <p:cTn id="13" presetID="10" presetClass="entr" presetSubtype="0" fill="hold" grpId="0" nodeType="withEffect">
                                  <p:stCondLst>
                                    <p:cond delay="79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92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105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118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131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144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childTnLst>
                          </p:cTn>
                        </p:par>
                      </p:childTnLst>
                    </p:cTn>
                  </p:par>
                  <p:par>
                    <p:cTn id="45" fill="hold">
                      <p:stCondLst>
                        <p:cond delay="0"/>
                      </p:stCondLst>
                      <p:childTnLst>
                        <p:par>
                          <p:cTn id="46" fill="hold">
                            <p:stCondLst>
                              <p:cond delay="0"/>
                            </p:stCondLst>
                            <p:childTnLst>
                              <p:par>
                                <p:cTn id="33" presetID="10" presetClass="entr" presetSubtype="0" fill="hold" grpId="0" nodeType="afterEffect">
                                  <p:stCondLst>
                                    <p:cond delay="4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5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7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childTnLst>
                    </p:cTn>
                  </p:par>
                  <p:par>
                    <p:cTn id="56" fill="hold">
                      <p:stCondLst>
                        <p:cond delay="0"/>
                      </p:stCondLst>
                      <p:childTnLst>
                        <p:par>
                          <p:cTn id="57" fill="hold">
                            <p:stCondLst>
                              <p:cond delay="0"/>
                            </p:stCondLst>
                            <p:childTnLst>
                              <p:par>
                                <p:cTn id="47" presetID="10" presetClass="entr" presetSubtype="0" fill="hold" grpId="0" nodeType="afterEffect">
                                  <p:stCondLst>
                                    <p:cond delay="4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450"/>
                                        <p:tgtEl>
                                          <p:spTgt spid="5"/>
                                        </p:tgtEl>
                                      </p:cBhvr>
                                    </p:animEffect>
                                  </p:childTnLst>
                                </p:cTn>
                              </p:par>
                              <p:par>
                                <p:cTn id="50" presetID="10" presetClass="entr" presetSubtype="0" fill="hold" grpId="0" nodeType="withEffect">
                                  <p:stCondLst>
                                    <p:cond delay="53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50"/>
                                        <p:tgtEl>
                                          <p:spTgt spid="35"/>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450"/>
                                        <p:tgtEl>
                                          <p:spTgt spid="36"/>
                                        </p:tgtEl>
                                      </p:cBhvr>
                                    </p:animEffect>
                                  </p:childTnLst>
                                </p:cTn>
                              </p:par>
                            </p:childTnLst>
                          </p:cTn>
                        </p:par>
                      </p:childTnLst>
                    </p:cTn>
                  </p:par>
                  <p:par>
                    <p:cTn id="61" fill="hold">
                      <p:stCondLst>
                        <p:cond delay="0"/>
                      </p:stCondLst>
                      <p:childTnLst>
                        <p:par>
                          <p:cTn id="62" fill="hold">
                            <p:stCondLst>
                              <p:cond delay="0"/>
                            </p:stCondLst>
                            <p:childTnLst>
                              <p:par>
                                <p:cTn id="58" presetID="10" presetClass="entr" presetSubtype="0" fill="hold" grpId="0" nodeType="afterEffect">
                                  <p:stCondLst>
                                    <p:cond delay="40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85"/>
          <p:cNvSpPr>
            <a:spLocks noGrp="1"/>
          </p:cNvSpPr>
          <p:nvPr>
            <p:ph type="sldNum" idx="12"/>
          </p:nvPr>
        </p:nvSpPr>
        <p:spPr>
          <a:xfrm>
            <a:off x="11561522" y="6356350"/>
            <a:ext cx="518786" cy="362485"/>
          </a:xfrm>
          <a:ln/>
        </p:spPr>
        <p:txBody>
          <a:bodyPr wrap="none"/>
          <a:lstStyle/>
          <a:p>
            <a:pPr marL="0" marR="0" lvl="0" indent="0" algn="r" defTabSz="914400">
              <a:lnSpc>
                <a:spcPct val="100000"/>
              </a:lnSpc>
              <a:spcBef>
                <a:spcPts val="0"/>
              </a:spcBef>
              <a:spcAft>
                <a:spcPts val="0"/>
              </a:spcAft>
              <a:buClrTx/>
              <a:buSzTx/>
              <a:buFontTx/>
              <a:buNone/>
              <a:defRPr>
                <a:latin typeface="Times New Roman"/>
              </a:defRPr>
            </a:pPr>
            <a:fld id="{D3D7D1C8-AE23-AA48-DF65-C742588DBE47}"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42" name="Rectangle 41"/>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anim_365"/>
          <p:cNvSpPr>
            <a:spLocks noGrp="1"/>
          </p:cNvSpPr>
          <p:nvPr/>
        </p:nvSpPr>
        <p:spPr>
          <a:xfrm>
            <a:off x="342900" y="1143000"/>
            <a:ext cx="8572500" cy="3743325"/>
          </a:xfrm>
          <a:prstGeom prst="roundRect">
            <a:avLst>
              <a:gd name="adj" fmla="val 2036"/>
            </a:avLst>
          </a:prstGeom>
          <a:solidFill>
            <a:srgbClr val="E4E9F0"/>
          </a:solidFill>
          <a:ln w="11430">
            <a:solidFill>
              <a:srgbClr val="D5DED6"/>
            </a:solidFill>
            <a:prstDash val="solid"/>
          </a:ln>
        </p:spPr>
        <p:txBody>
          <a:bodyPr/>
          <a:p>
            <a:pPr>
              <a:defRPr>
                <a:latin typeface="Times New Roman"/>
              </a:defRPr>
            </a:pPr>
          </a:p>
        </p:txBody>
      </p:sp>
      <p:pic>
        <p:nvPicPr>
          <p:cNvPr id="29" name="anim_366"/>
          <p:cNvPicPr>
            <a:picLocks noChangeAspect="1"/>
          </p:cNvPicPr>
          <p:nvPr/>
        </p:nvPicPr>
        <p:blipFill>
          <a:blip r:embed="rId2"/>
          <a:srcRect l="766" r="766"/>
          <a:stretch>
            <a:fillRect/>
          </a:stretch>
        </p:blipFill>
        <p:spPr>
          <a:xfrm>
            <a:off x="381000" y="1181100"/>
            <a:ext cx="8496300" cy="3667125"/>
          </a:xfrm>
          <a:prstGeom prst="rect">
            <a:avLst/>
          </a:prstGeom>
          <a:ln/>
        </p:spPr>
      </p:pic>
      <p:sp>
        <p:nvSpPr>
          <p:cNvPr id="8" name="anim_376"/>
          <p:cNvSpPr>
            <a:spLocks noGrp="1"/>
          </p:cNvSpPr>
          <p:nvPr/>
        </p:nvSpPr>
        <p:spPr>
          <a:xfrm>
            <a:off x="419100" y="4953000"/>
            <a:ext cx="2381250" cy="24765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LAND FILL · CO2 PER PERSON</a:t>
            </a:r>
          </a:p>
        </p:txBody>
      </p:sp>
      <p:pic>
        <p:nvPicPr>
          <p:cNvPr id="31" name="anim_379"/>
          <p:cNvPicPr>
            <a:picLocks noChangeAspect="1"/>
          </p:cNvPicPr>
          <p:nvPr/>
        </p:nvPicPr>
        <p:blipFill>
          <a:blip r:embed="rId3"/>
          <a:srcRect t="17391" b="17391"/>
          <a:stretch>
            <a:fillRect/>
          </a:stretch>
        </p:blipFill>
        <p:spPr>
          <a:xfrm>
            <a:off x="2724150" y="5019675"/>
            <a:ext cx="2628900" cy="114300"/>
          </a:xfrm>
          <a:prstGeom prst="rect">
            <a:avLst/>
          </a:prstGeom>
          <a:ln/>
        </p:spPr>
      </p:pic>
      <p:sp>
        <p:nvSpPr>
          <p:cNvPr id="10" name="anim_377"/>
          <p:cNvSpPr>
            <a:spLocks noGrp="1"/>
          </p:cNvSpPr>
          <p:nvPr/>
        </p:nvSpPr>
        <p:spPr>
          <a:xfrm>
            <a:off x="5429250" y="4953000"/>
            <a:ext cx="342900" cy="247650"/>
          </a:xfrm>
          <a:prstGeom prst="rect">
            <a:avLst/>
          </a:prstGeom>
          <a:solidFill>
            <a:srgbClr val="FFFFFF">
              <a:alpha val="74000"/>
            </a:srgbClr>
          </a:solidFill>
          <a:ln w="0">
            <a:solidFill>
              <a:srgbClr val="FFFFFF"/>
            </a:solidFill>
            <a:prstDash val="solid"/>
          </a:ln>
        </p:spPr>
        <p:txBody>
          <a:bodyPr anchor="ctr" wrap="none"/>
          <a:lstStyle/>
          <a:p>
            <a:pPr algn="ctr">
              <a:defRPr sz="10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low</a:t>
            </a:r>
          </a:p>
        </p:txBody>
      </p:sp>
      <p:sp>
        <p:nvSpPr>
          <p:cNvPr id="11" name="anim_378"/>
          <p:cNvSpPr>
            <a:spLocks noGrp="1"/>
          </p:cNvSpPr>
          <p:nvPr/>
        </p:nvSpPr>
        <p:spPr>
          <a:xfrm>
            <a:off x="5772150" y="4953000"/>
            <a:ext cx="400050" cy="247650"/>
          </a:xfrm>
          <a:prstGeom prst="rect">
            <a:avLst/>
          </a:prstGeom>
          <a:solidFill>
            <a:srgbClr val="FFFFFF">
              <a:alpha val="74000"/>
            </a:srgbClr>
          </a:solidFill>
          <a:ln w="0">
            <a:solidFill>
              <a:srgbClr val="FFFFFF"/>
            </a:solidFill>
            <a:prstDash val="solid"/>
          </a:ln>
        </p:spPr>
        <p:txBody>
          <a:bodyPr anchor="ctr" wrap="none"/>
          <a:lstStyle/>
          <a:p>
            <a:pPr algn="ctr">
              <a:defRPr sz="10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high</a:t>
            </a:r>
          </a:p>
        </p:txBody>
      </p:sp>
      <p:sp>
        <p:nvSpPr>
          <p:cNvPr id="12" name="anim_380"/>
          <p:cNvSpPr>
            <a:spLocks noGrp="1"/>
          </p:cNvSpPr>
          <p:nvPr/>
        </p:nvSpPr>
        <p:spPr>
          <a:xfrm>
            <a:off x="419100" y="5286375"/>
            <a:ext cx="2381250" cy="24765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BAR HEIGHT · TOTAL CO2</a:t>
            </a:r>
          </a:p>
        </p:txBody>
      </p:sp>
      <p:pic>
        <p:nvPicPr>
          <p:cNvPr id="35" name="anim_383"/>
          <p:cNvPicPr>
            <a:picLocks noChangeAspect="1"/>
          </p:cNvPicPr>
          <p:nvPr/>
        </p:nvPicPr>
        <p:blipFill>
          <a:blip r:embed="rId4"/>
          <a:srcRect t="17391" b="17391"/>
          <a:stretch>
            <a:fillRect/>
          </a:stretch>
        </p:blipFill>
        <p:spPr>
          <a:xfrm>
            <a:off x="2724150" y="5353050"/>
            <a:ext cx="2628900" cy="114300"/>
          </a:xfrm>
          <a:prstGeom prst="rect">
            <a:avLst/>
          </a:prstGeom>
          <a:ln/>
        </p:spPr>
      </p:pic>
      <p:sp>
        <p:nvSpPr>
          <p:cNvPr id="14" name="anim_381"/>
          <p:cNvSpPr>
            <a:spLocks noGrp="1"/>
          </p:cNvSpPr>
          <p:nvPr/>
        </p:nvSpPr>
        <p:spPr>
          <a:xfrm>
            <a:off x="5429250" y="5286375"/>
            <a:ext cx="419100" cy="247650"/>
          </a:xfrm>
          <a:prstGeom prst="rect">
            <a:avLst/>
          </a:prstGeom>
          <a:solidFill>
            <a:srgbClr val="FFFFFF">
              <a:alpha val="74000"/>
            </a:srgbClr>
          </a:solidFill>
          <a:ln w="0">
            <a:solidFill>
              <a:srgbClr val="FFFFFF"/>
            </a:solidFill>
            <a:prstDash val="solid"/>
          </a:ln>
        </p:spPr>
        <p:txBody>
          <a:bodyPr anchor="ctr" wrap="none"/>
          <a:lstStyle/>
          <a:p>
            <a:pPr algn="ctr">
              <a:defRPr sz="9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short</a:t>
            </a:r>
          </a:p>
        </p:txBody>
      </p:sp>
      <p:sp>
        <p:nvSpPr>
          <p:cNvPr id="15" name="anim_382"/>
          <p:cNvSpPr>
            <a:spLocks noGrp="1"/>
          </p:cNvSpPr>
          <p:nvPr/>
        </p:nvSpPr>
        <p:spPr>
          <a:xfrm>
            <a:off x="5848350" y="5286375"/>
            <a:ext cx="361950" cy="247650"/>
          </a:xfrm>
          <a:prstGeom prst="rect">
            <a:avLst/>
          </a:prstGeom>
          <a:solidFill>
            <a:srgbClr val="FFFFFF">
              <a:alpha val="74000"/>
            </a:srgbClr>
          </a:solidFill>
          <a:ln w="0">
            <a:solidFill>
              <a:srgbClr val="FFFFFF"/>
            </a:solidFill>
            <a:prstDash val="solid"/>
          </a:ln>
        </p:spPr>
        <p:txBody>
          <a:bodyPr anchor="ctr" wrap="none"/>
          <a:lstStyle/>
          <a:p>
            <a:pPr algn="ctr">
              <a:defRPr sz="10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tall</a:t>
            </a:r>
          </a:p>
        </p:txBody>
      </p:sp>
      <p:sp>
        <p:nvSpPr>
          <p:cNvPr id="16" name="anim_367"/>
          <p:cNvSpPr>
            <a:spLocks noGrp="1"/>
          </p:cNvSpPr>
          <p:nvPr/>
        </p:nvSpPr>
        <p:spPr>
          <a:xfrm>
            <a:off x="9124950" y="1181100"/>
            <a:ext cx="2095500" cy="4381500"/>
          </a:xfrm>
          <a:prstGeom prst="roundRect">
            <a:avLst>
              <a:gd name="adj" fmla="val 3636"/>
            </a:avLst>
          </a:prstGeom>
          <a:solidFill>
            <a:srgbClr val="FAFBFA">
              <a:alpha val="74000"/>
            </a:srgbClr>
          </a:solidFill>
          <a:ln w="11430">
            <a:solidFill>
              <a:srgbClr val="D5DED6"/>
            </a:solidFill>
            <a:prstDash val="solid"/>
          </a:ln>
        </p:spPr>
        <p:txBody>
          <a:bodyPr/>
          <a:p>
            <a:pPr>
              <a:defRPr>
                <a:latin typeface="Times New Roman"/>
              </a:defRPr>
            </a:pPr>
          </a:p>
        </p:txBody>
      </p:sp>
      <p:sp>
        <p:nvSpPr>
          <p:cNvPr id="17" name="anim_368"/>
          <p:cNvSpPr>
            <a:spLocks noGrp="1"/>
          </p:cNvSpPr>
          <p:nvPr/>
        </p:nvSpPr>
        <p:spPr>
          <a:xfrm>
            <a:off x="9305925" y="1333500"/>
            <a:ext cx="1714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B0604020202020204"/>
                <a:ea typeface="Times New Roman" panose="020B0604020202020204"/>
                <a:cs typeface="Times New Roman" panose="020B0604020202020204"/>
              </a:defRPr>
            </a:pPr>
            <a:r>
              <a:rPr>
                <a:solidFill/>
                <a:latin typeface="Times New Roman"/>
              </a:rPr>
              <a:t>TWO LENSES</a:t>
            </a:r>
          </a:p>
        </p:txBody>
      </p:sp>
      <p:sp>
        <p:nvSpPr>
          <p:cNvPr id="18" name="anim_369"/>
          <p:cNvSpPr>
            <a:spLocks noGrp="1"/>
          </p:cNvSpPr>
          <p:nvPr/>
        </p:nvSpPr>
        <p:spPr>
          <a:xfrm>
            <a:off x="9305925" y="1781175"/>
            <a:ext cx="723900" cy="285750"/>
          </a:xfrm>
          <a:prstGeom prst="rect">
            <a:avLst/>
          </a:prstGeom>
          <a:solidFill>
            <a:srgbClr val="4F6E96"/>
          </a:solidFill>
          <a:ln w="0">
            <a:solidFill>
              <a:srgbClr val="4F6E96"/>
            </a:solidFill>
            <a:prstDash val="solid"/>
          </a:ln>
        </p:spPr>
        <p:txBody>
          <a:bodyPr anchor="ctr" wrap="none"/>
          <a:lstStyle/>
          <a:p>
            <a:pPr algn="ctr">
              <a:defRPr sz="9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TOTAL</a:t>
            </a:r>
          </a:p>
        </p:txBody>
      </p:sp>
      <p:sp>
        <p:nvSpPr>
          <p:cNvPr id="19" name="anim_370"/>
          <p:cNvSpPr>
            <a:spLocks noGrp="1"/>
          </p:cNvSpPr>
          <p:nvPr/>
        </p:nvSpPr>
        <p:spPr>
          <a:xfrm>
            <a:off x="9305925" y="2152650"/>
            <a:ext cx="1714500" cy="400050"/>
          </a:xfrm>
          <a:prstGeom prst="rect">
            <a:avLst/>
          </a:prstGeom>
          <a:solidFill>
            <a:srgbClr val="FAFBFA">
              <a:alpha val="74000"/>
            </a:srgbClr>
          </a:solidFill>
          <a:ln w="0">
            <a:solidFill>
              <a:srgbClr val="FAFBFA"/>
            </a:solidFill>
            <a:prstDash val="solid"/>
          </a:ln>
        </p:spPr>
        <p:txBody>
          <a:bodyPr anchor="ctr"/>
          <a:lstStyle/>
          <a:p>
            <a:pPr algn="l">
              <a:defRPr sz="18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China</a:t>
            </a:r>
          </a:p>
        </p:txBody>
      </p:sp>
      <p:sp>
        <p:nvSpPr>
          <p:cNvPr id="20" name="anim_371"/>
          <p:cNvSpPr>
            <a:spLocks noGrp="1"/>
          </p:cNvSpPr>
          <p:nvPr/>
        </p:nvSpPr>
        <p:spPr>
          <a:xfrm>
            <a:off x="9305925" y="2533650"/>
            <a:ext cx="1714500" cy="428625"/>
          </a:xfrm>
          <a:prstGeom prst="rect">
            <a:avLst/>
          </a:prstGeom>
          <a:solidFill>
            <a:srgbClr val="FAFBFA">
              <a:alpha val="74000"/>
            </a:srgbClr>
          </a:solidFill>
          <a:ln w="0">
            <a:solidFill>
              <a:srgbClr val="FAFBFA"/>
            </a:solidFill>
            <a:prstDash val="solid"/>
          </a:ln>
        </p:spPr>
        <p:txBody>
          <a:bodyPr anchor="t"/>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Largest national burden</a:t>
            </a:r>
          </a:p>
        </p:txBody>
      </p:sp>
      <p:sp>
        <p:nvSpPr>
          <p:cNvPr id="21" name="anim_372"/>
          <p:cNvSpPr>
            <a:spLocks noGrp="1"/>
          </p:cNvSpPr>
          <p:nvPr/>
        </p:nvSpPr>
        <p:spPr>
          <a:xfrm>
            <a:off x="9305925" y="3181350"/>
            <a:ext cx="971550" cy="285750"/>
          </a:xfrm>
          <a:prstGeom prst="rect">
            <a:avLst/>
          </a:prstGeom>
          <a:solidFill>
            <a:srgbClr val="BE7F4E"/>
          </a:solidFill>
          <a:ln w="0">
            <a:solidFill>
              <a:srgbClr val="BE7F4E"/>
            </a:solidFill>
            <a:prstDash val="solid"/>
          </a:ln>
        </p:spPr>
        <p:txBody>
          <a:bodyPr anchor="ctr"/>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PER PERSON</a:t>
            </a:r>
          </a:p>
        </p:txBody>
      </p:sp>
      <p:sp>
        <p:nvSpPr>
          <p:cNvPr id="22" name="anim_373"/>
          <p:cNvSpPr>
            <a:spLocks noGrp="1"/>
          </p:cNvSpPr>
          <p:nvPr/>
        </p:nvSpPr>
        <p:spPr>
          <a:xfrm>
            <a:off x="9305925" y="3552825"/>
            <a:ext cx="1714500" cy="400050"/>
          </a:xfrm>
          <a:prstGeom prst="rect">
            <a:avLst/>
          </a:prstGeom>
          <a:solidFill>
            <a:srgbClr val="FAFBFA">
              <a:alpha val="74000"/>
            </a:srgbClr>
          </a:solidFill>
          <a:ln w="0">
            <a:solidFill>
              <a:srgbClr val="FAFBFA"/>
            </a:solidFill>
            <a:prstDash val="solid"/>
          </a:ln>
        </p:spPr>
        <p:txBody>
          <a:bodyPr anchor="ctr"/>
          <a:lstStyle/>
          <a:p>
            <a:pPr algn="l">
              <a:defRPr sz="18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Qatar</a:t>
            </a:r>
          </a:p>
        </p:txBody>
      </p:sp>
      <p:sp>
        <p:nvSpPr>
          <p:cNvPr id="23" name="anim_374"/>
          <p:cNvSpPr>
            <a:spLocks noGrp="1"/>
          </p:cNvSpPr>
          <p:nvPr/>
        </p:nvSpPr>
        <p:spPr>
          <a:xfrm>
            <a:off x="9305925" y="3933825"/>
            <a:ext cx="1714500" cy="590550"/>
          </a:xfrm>
          <a:prstGeom prst="rect">
            <a:avLst/>
          </a:prstGeom>
          <a:solidFill>
            <a:srgbClr val="FAFBFA">
              <a:alpha val="74000"/>
            </a:srgbClr>
          </a:solidFill>
          <a:ln w="0">
            <a:solidFill>
              <a:srgbClr val="FAFBFA"/>
            </a:solidFill>
            <a:prstDash val="solid"/>
          </a:ln>
        </p:spPr>
        <p:txBody>
          <a:bodyPr anchor="t"/>
          <a:lstStyle/>
          <a:p>
            <a:pPr algn="l">
              <a:defRPr sz="1300" b="0" i="0">
                <a:solidFill>
                  <a:srgbClr val="5B6774"/>
                </a:solidFill>
                <a:latin typeface="Times New Roman" panose="020B0604020202020204"/>
                <a:ea typeface="Times New Roman" panose="020B0604020202020204"/>
                <a:cs typeface="Times New Roman" panose="020B0604020202020204"/>
              </a:defRPr>
            </a:pPr>
            <a:r>
              <a:rPr>
                <a:solidFill/>
                <a:latin typeface="Times New Roman"/>
              </a:rPr>
              <a:t>High intensity, much smaller total</a:t>
            </a:r>
          </a:p>
        </p:txBody>
      </p:sp>
      <p:sp>
        <p:nvSpPr>
          <p:cNvPr id="24" name="anim_375"/>
          <p:cNvSpPr>
            <a:spLocks noGrp="1"/>
          </p:cNvSpPr>
          <p:nvPr/>
        </p:nvSpPr>
        <p:spPr>
          <a:xfrm>
            <a:off x="9305925" y="4943475"/>
            <a:ext cx="1714500" cy="342900"/>
          </a:xfrm>
          <a:prstGeom prst="rect">
            <a:avLst/>
          </a:prstGeom>
          <a:solidFill>
            <a:srgbClr val="2F5248"/>
          </a:solidFill>
          <a:ln w="0">
            <a:solidFill>
              <a:srgbClr val="2F5248"/>
            </a:solidFill>
            <a:prstDash val="solid"/>
          </a:ln>
        </p:spPr>
        <p:txBody>
          <a:bodyPr anchor="ctr"/>
          <a:lstStyle/>
          <a:p>
            <a:pPr algn="ctr">
              <a:defRPr sz="13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Scale ≠ intensity</a:t>
            </a:r>
          </a:p>
        </p:txBody>
      </p:sp>
      <p:sp>
        <p:nvSpPr>
          <p:cNvPr id="41" name="TextBox 40"/>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6 / 7</a:t>
            </a:r>
          </a:p>
        </p:txBody>
      </p:sp>
      <p:sp>
        <p:nvSpPr>
          <p:cNvPr id="43" name="Rectangle 42"/>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4" name="anim_364"/>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5" name="TextBox 44"/>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EXPLORATION OF DATASET · Emission scale versus emission intensity</a:t>
            </a:r>
          </a:p>
          <a:p>
            <a:pPr algn="l">
              <a:spcBef>
                <a:spcPts val="200"/>
              </a:spcBef>
              <a:defRPr>
                <a:latin typeface="Times New Roman"/>
              </a:defRPr>
            </a:pPr>
            <a:r>
              <a:rPr sz="2100" b="1">
                <a:solidFill>
                  <a:srgbClr val="FFFFFF"/>
                </a:solidFill>
                <a:latin typeface="Georgia"/>
              </a:rPr>
              <a:t>Total burden and per-capita intensity tell different stories</a:t>
            </a:r>
          </a:p>
        </p:txBody>
      </p:sp>
      <p:sp>
        <p:nvSpPr>
          <p:cNvPr id="46" name="TextBox 45"/>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6 / 7</a:t>
            </a:r>
          </a:p>
        </p:txBody>
      </p:sp>
      <p:sp>
        <p:nvSpPr>
          <p:cNvPr id="47" name="anim_388"/>
          <p:cNvSpPr txBox="1"/>
          <p:nvPr/>
        </p:nvSpPr>
        <p:spPr>
          <a:xfrm>
            <a:off x="777240" y="5815584"/>
            <a:ext cx="10607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Why it matters:  </a:t>
            </a:r>
            <a:r>
              <a:rPr sz="1350" b="0">
                <a:solidFill>
                  <a:srgbClr val="252B30"/>
                </a:solidFill>
                <a:latin typeface="Times New Roman"/>
              </a:rPr>
              <a:t>scale and intensity rank countries differently, which is the first evidence that one ranking cannot serve as one diagnosis.</a:t>
            </a:r>
          </a:p>
        </p:txBody>
      </p:sp>
      <p:sp>
        <p:nvSpPr>
          <p:cNvPr id="48" name="anim_386"/>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SHEN RUITING</a:t>
            </a:r>
          </a:p>
        </p:txBody>
      </p:sp>
      <p:sp>
        <p:nvSpPr>
          <p:cNvPr id="49" name="anim_387"/>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0"/>
                      </p:stCondLst>
                      <p:childTnLst>
                        <p:par>
                          <p:cTn id="29"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44"/>
                                        </p:tgtEl>
                                        <p:attrNameLst>
                                          <p:attrName>style.visibility</p:attrName>
                                        </p:attrNameLst>
                                      </p:cBhvr>
                                      <p:to>
                                        <p:strVal val="visible"/>
                                      </p:to>
                                    </p:set>
                                    <p:animEffect transition="in" filter="fade">
                                      <p:cBhvr>
                                        <p:cTn id="6" dur="450"/>
                                        <p:tgtEl>
                                          <p:spTgt spid="44"/>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50"/>
                                        <p:tgtEl>
                                          <p:spTgt spid="29"/>
                                        </p:tgtEl>
                                      </p:cBhvr>
                                    </p:animEffect>
                                  </p:childTnLst>
                                </p:cTn>
                              </p:par>
                              <p:par>
                                <p:cTn id="13" presetID="10" presetClass="entr" presetSubtype="0" fill="hold" grpId="0" nodeType="withEffect">
                                  <p:stCondLst>
                                    <p:cond delay="79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50"/>
                                        <p:tgtEl>
                                          <p:spTgt spid="16"/>
                                        </p:tgtEl>
                                      </p:cBhvr>
                                    </p:animEffect>
                                  </p:childTnLst>
                                </p:cTn>
                              </p:par>
                              <p:par>
                                <p:cTn id="16" presetID="10" presetClass="entr" presetSubtype="0" fill="hold" grpId="0" nodeType="withEffect">
                                  <p:stCondLst>
                                    <p:cond delay="92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50"/>
                                        <p:tgtEl>
                                          <p:spTgt spid="17"/>
                                        </p:tgtEl>
                                      </p:cBhvr>
                                    </p:animEffect>
                                  </p:childTnLst>
                                </p:cTn>
                              </p:par>
                              <p:par>
                                <p:cTn id="19" presetID="10" presetClass="entr" presetSubtype="0" fill="hold" grpId="0" nodeType="withEffect">
                                  <p:stCondLst>
                                    <p:cond delay="105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par>
                                <p:cTn id="22" presetID="10" presetClass="entr" presetSubtype="0" fill="hold" grpId="0" nodeType="withEffect">
                                  <p:stCondLst>
                                    <p:cond delay="118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50"/>
                                        <p:tgtEl>
                                          <p:spTgt spid="19"/>
                                        </p:tgtEl>
                                      </p:cBhvr>
                                    </p:animEffect>
                                  </p:childTnLst>
                                </p:cTn>
                              </p:par>
                              <p:par>
                                <p:cTn id="25" presetID="10" presetClass="entr" presetSubtype="0" fill="hold" grpId="0" nodeType="withEffect">
                                  <p:stCondLst>
                                    <p:cond delay="131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childTnLst>
                          </p:cTn>
                        </p:par>
                      </p:childTnLst>
                    </p:cTn>
                  </p:par>
                  <p:par>
                    <p:cTn id="39" fill="hold">
                      <p:stCondLst>
                        <p:cond delay="0"/>
                      </p:stCondLst>
                      <p:childTnLst>
                        <p:par>
                          <p:cTn id="40" fill="hold">
                            <p:stCondLst>
                              <p:cond delay="0"/>
                            </p:stCondLst>
                            <p:childTnLst>
                              <p:par>
                                <p:cTn id="30" presetID="10" presetClass="entr" presetSubtype="0" fill="hold" grpId="0" nodeType="afterEffect">
                                  <p:stCondLst>
                                    <p:cond delay="40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50"/>
                                        <p:tgtEl>
                                          <p:spTgt spid="21"/>
                                        </p:tgtEl>
                                      </p:cBhvr>
                                    </p:animEffect>
                                  </p:childTnLst>
                                </p:cTn>
                              </p:par>
                              <p:par>
                                <p:cTn id="33" presetID="10" presetClass="entr" presetSubtype="0" fill="hold" grpId="0" nodeType="withEffect">
                                  <p:stCondLst>
                                    <p:cond delay="53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50"/>
                                        <p:tgtEl>
                                          <p:spTgt spid="22"/>
                                        </p:tgtEl>
                                      </p:cBhvr>
                                    </p:animEffect>
                                  </p:childTnLst>
                                </p:cTn>
                              </p:par>
                              <p:par>
                                <p:cTn id="36" presetID="10" presetClass="entr" presetSubtype="0" fill="hold" grpId="0" nodeType="withEffect">
                                  <p:stCondLst>
                                    <p:cond delay="66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50"/>
                                        <p:tgtEl>
                                          <p:spTgt spid="23"/>
                                        </p:tgtEl>
                                      </p:cBhvr>
                                    </p:animEffect>
                                  </p:childTnLst>
                                </p:cTn>
                              </p:par>
                            </p:childTnLst>
                          </p:cTn>
                        </p:par>
                      </p:childTnLst>
                    </p:cTn>
                  </p:par>
                  <p:par>
                    <p:cTn id="77" fill="hold">
                      <p:stCondLst>
                        <p:cond delay="0"/>
                      </p:stCondLst>
                      <p:childTnLst>
                        <p:par>
                          <p:cTn id="78" fill="hold">
                            <p:stCondLst>
                              <p:cond delay="0"/>
                            </p:stCondLst>
                            <p:childTnLst>
                              <p:par>
                                <p:cTn id="41" presetID="10" presetClass="entr" presetSubtype="0" fill="hold" grpId="0" nodeType="afterEffect">
                                  <p:stCondLst>
                                    <p:cond delay="40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4" presetID="10" presetClass="entr" presetSubtype="0" fill="hold" grpId="0" nodeType="withEffect">
                                  <p:stCondLst>
                                    <p:cond delay="53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450"/>
                                        <p:tgtEl>
                                          <p:spTgt spid="8"/>
                                        </p:tgtEl>
                                      </p:cBhvr>
                                    </p:animEffect>
                                  </p:childTnLst>
                                </p:cTn>
                              </p:par>
                              <p:par>
                                <p:cTn id="47" presetID="10" presetClass="entr" presetSubtype="0" fill="hold" grpId="0" nodeType="withEffect">
                                  <p:stCondLst>
                                    <p:cond delay="66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450"/>
                                        <p:tgtEl>
                                          <p:spTgt spid="10"/>
                                        </p:tgtEl>
                                      </p:cBhvr>
                                    </p:animEffect>
                                  </p:childTnLst>
                                </p:cTn>
                              </p:par>
                              <p:par>
                                <p:cTn id="50" presetID="10" presetClass="entr" presetSubtype="0" fill="hold" grpId="0" nodeType="withEffect">
                                  <p:stCondLst>
                                    <p:cond delay="79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450"/>
                                        <p:tgtEl>
                                          <p:spTgt spid="11"/>
                                        </p:tgtEl>
                                      </p:cBhvr>
                                    </p:animEffect>
                                  </p:childTnLst>
                                </p:cTn>
                              </p:par>
                              <p:par>
                                <p:cTn id="53" presetID="10" presetClass="entr" presetSubtype="0" fill="hold" grpId="0" nodeType="withEffect">
                                  <p:stCondLst>
                                    <p:cond delay="92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450"/>
                                        <p:tgtEl>
                                          <p:spTgt spid="31"/>
                                        </p:tgtEl>
                                      </p:cBhvr>
                                    </p:animEffect>
                                  </p:childTnLst>
                                </p:cTn>
                              </p:par>
                              <p:par>
                                <p:cTn id="56" presetID="10" presetClass="entr" presetSubtype="0" fill="hold" grpId="0" nodeType="withEffect">
                                  <p:stCondLst>
                                    <p:cond delay="105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450"/>
                                        <p:tgtEl>
                                          <p:spTgt spid="12"/>
                                        </p:tgtEl>
                                      </p:cBhvr>
                                    </p:animEffect>
                                  </p:childTnLst>
                                </p:cTn>
                              </p:par>
                              <p:par>
                                <p:cTn id="59" presetID="10" presetClass="entr" presetSubtype="0" fill="hold" grpId="0" nodeType="withEffect">
                                  <p:stCondLst>
                                    <p:cond delay="118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450"/>
                                        <p:tgtEl>
                                          <p:spTgt spid="14"/>
                                        </p:tgtEl>
                                      </p:cBhvr>
                                    </p:animEffect>
                                  </p:childTnLst>
                                </p:cTn>
                              </p:par>
                              <p:par>
                                <p:cTn id="62" presetID="10" presetClass="entr" presetSubtype="0" fill="hold" grpId="0" nodeType="withEffect">
                                  <p:stCondLst>
                                    <p:cond delay="131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450"/>
                                        <p:tgtEl>
                                          <p:spTgt spid="15"/>
                                        </p:tgtEl>
                                      </p:cBhvr>
                                    </p:animEffect>
                                  </p:childTnLst>
                                </p:cTn>
                              </p:par>
                              <p:par>
                                <p:cTn id="65" presetID="10" presetClass="entr" presetSubtype="0" fill="hold" grpId="0" nodeType="withEffect">
                                  <p:stCondLst>
                                    <p:cond delay="144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450"/>
                                        <p:tgtEl>
                                          <p:spTgt spid="35"/>
                                        </p:tgtEl>
                                      </p:cBhvr>
                                    </p:animEffect>
                                  </p:childTnLst>
                                </p:cTn>
                              </p:par>
                              <p:par>
                                <p:cTn id="68" presetID="10" presetClass="entr" presetSubtype="0" fill="hold" grpId="0" nodeType="withEffect">
                                  <p:stCondLst>
                                    <p:cond delay="1570"/>
                                  </p:stCondLst>
                                  <p:childTnLst>
                                    <p:set>
                                      <p:cBhvr>
                                        <p:cTn id="69" dur="1" fill="hold">
                                          <p:stCondLst>
                                            <p:cond delay="0"/>
                                          </p:stCondLst>
                                        </p:cTn>
                                        <p:tgtEl>
                                          <p:spTgt spid="5"/>
                                        </p:tgtEl>
                                        <p:attrNameLst>
                                          <p:attrName>style.visibility</p:attrName>
                                        </p:attrNameLst>
                                      </p:cBhvr>
                                      <p:to>
                                        <p:strVal val="visible"/>
                                      </p:to>
                                    </p:set>
                                    <p:animEffect transition="in" filter="fade">
                                      <p:cBhvr>
                                        <p:cTn id="70" dur="450"/>
                                        <p:tgtEl>
                                          <p:spTgt spid="5"/>
                                        </p:tgtEl>
                                      </p:cBhvr>
                                    </p:animEffect>
                                  </p:childTnLst>
                                </p:cTn>
                              </p:par>
                              <p:par>
                                <p:cTn id="71" presetID="10" presetClass="entr" presetSubtype="0" fill="hold" grpId="0" nodeType="withEffect">
                                  <p:stCondLst>
                                    <p:cond delay="1700"/>
                                  </p:stCondLst>
                                  <p:childTnLst>
                                    <p:set>
                                      <p:cBhvr>
                                        <p:cTn id="72" dur="1" fill="hold">
                                          <p:stCondLst>
                                            <p:cond delay="0"/>
                                          </p:stCondLst>
                                        </p:cTn>
                                        <p:tgtEl>
                                          <p:spTgt spid="48"/>
                                        </p:tgtEl>
                                        <p:attrNameLst>
                                          <p:attrName>style.visibility</p:attrName>
                                        </p:attrNameLst>
                                      </p:cBhvr>
                                      <p:to>
                                        <p:strVal val="visible"/>
                                      </p:to>
                                    </p:set>
                                    <p:animEffect transition="in" filter="fade">
                                      <p:cBhvr>
                                        <p:cTn id="73" dur="450"/>
                                        <p:tgtEl>
                                          <p:spTgt spid="48"/>
                                        </p:tgtEl>
                                      </p:cBhvr>
                                    </p:animEffect>
                                  </p:childTnLst>
                                </p:cTn>
                              </p:par>
                              <p:par>
                                <p:cTn id="74" presetID="10" presetClass="entr" presetSubtype="0" fill="hold" grpId="0" nodeType="withEffect">
                                  <p:stCondLst>
                                    <p:cond delay="1830"/>
                                  </p:stCondLst>
                                  <p:childTnLst>
                                    <p:set>
                                      <p:cBhvr>
                                        <p:cTn id="75" dur="1" fill="hold">
                                          <p:stCondLst>
                                            <p:cond delay="0"/>
                                          </p:stCondLst>
                                        </p:cTn>
                                        <p:tgtEl>
                                          <p:spTgt spid="49"/>
                                        </p:tgtEl>
                                        <p:attrNameLst>
                                          <p:attrName>style.visibility</p:attrName>
                                        </p:attrNameLst>
                                      </p:cBhvr>
                                      <p:to>
                                        <p:strVal val="visible"/>
                                      </p:to>
                                    </p:set>
                                    <p:animEffect transition="in" filter="fade">
                                      <p:cBhvr>
                                        <p:cTn id="76" dur="450"/>
                                        <p:tgtEl>
                                          <p:spTgt spid="49"/>
                                        </p:tgtEl>
                                      </p:cBhvr>
                                    </p:animEffect>
                                  </p:childTnLst>
                                </p:cTn>
                              </p:par>
                            </p:childTnLst>
                          </p:cTn>
                        </p:par>
                      </p:childTnLst>
                    </p:cTn>
                  </p:par>
                  <p:par>
                    <p:cTn id="82" fill="hold">
                      <p:stCondLst>
                        <p:cond delay="0"/>
                      </p:stCondLst>
                      <p:childTnLst>
                        <p:par>
                          <p:cTn id="83" fill="hold">
                            <p:stCondLst>
                              <p:cond delay="0"/>
                            </p:stCondLst>
                            <p:childTnLst>
                              <p:par>
                                <p:cTn id="79" presetID="10" presetClass="entr" presetSubtype="0" fill="hold" grpId="0" nodeType="afterEffect">
                                  <p:stCondLst>
                                    <p:cond delay="400"/>
                                  </p:stCondLst>
                                  <p:childTnLst>
                                    <p:set>
                                      <p:cBhvr>
                                        <p:cTn id="80" dur="1" fill="hold">
                                          <p:stCondLst>
                                            <p:cond delay="0"/>
                                          </p:stCondLst>
                                        </p:cTn>
                                        <p:tgtEl>
                                          <p:spTgt spid="47"/>
                                        </p:tgtEl>
                                        <p:attrNameLst>
                                          <p:attrName>style.visibility</p:attrName>
                                        </p:attrNameLst>
                                      </p:cBhvr>
                                      <p:to>
                                        <p:strVal val="visible"/>
                                      </p:to>
                                    </p:set>
                                    <p:animEffect transition="in" filter="fade">
                                      <p:cBhvr>
                                        <p:cTn id="81" dur="4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402"/>
          <p:cNvSpPr>
            <a:spLocks noGrp="1"/>
          </p:cNvSpPr>
          <p:nvPr>
            <p:ph type="sldNum" idx="12"/>
          </p:nvPr>
        </p:nvSpPr>
        <p:spPr>
          <a:xfrm>
            <a:off x="11561522" y="6356350"/>
            <a:ext cx="518786" cy="362485"/>
          </a:xfrm>
          <a:ln/>
        </p:spPr>
        <p:txBody>
          <a:bodyPr wrap="none"/>
          <a:lstStyle/>
          <a:p>
            <a:pPr marL="0" marR="0" lvl="0" indent="0" algn="r" defTabSz="914400">
              <a:lnSpc>
                <a:spcPct val="100000"/>
              </a:lnSpc>
              <a:spcBef>
                <a:spcPts val="0"/>
              </a:spcBef>
              <a:spcAft>
                <a:spcPts val="0"/>
              </a:spcAft>
              <a:buClrTx/>
              <a:buSzTx/>
              <a:buFontTx/>
              <a:buNone/>
              <a:defRPr>
                <a:latin typeface="Times New Roman"/>
              </a:defRPr>
            </a:pPr>
            <a:fld id="{BA58DA2A-B818-18A9-29C1-B697728D5BCE}" type="slidenum">
              <a:rPr sz="900" b="0" i="0" u="none" cap="none" spc="0">
                <a:ln>
                  <a:noFill/>
                </a:ln>
                <a:solidFill>
                  <a:prstClr val="black">
                    <a:tint val="75000"/>
                  </a:prstClr>
                </a:solidFill>
                <a:latin typeface="Times New Roman" panose="020B0604020202020204"/>
                <a:ea typeface="Times New Roman" panose="020B0604020202020204"/>
                <a:cs typeface="Times New Roman" panose="020B0604020202020204"/>
              </a:rPr>
            </a:fld>
            <a:endParaRPr sz="2000" b="0" i="0" u="none" kern="1200" cap="none" spc="0" baseline="0">
              <a:ln>
                <a:noFill/>
              </a:ln>
              <a:solidFill>
                <a:prstClr val="black">
                  <a:tint val="75000"/>
                </a:prstClr>
              </a:solidFill>
              <a:latin typeface="Times New Roman"/>
              <a:ea typeface="Times New Roman"/>
              <a:cs typeface="Times New Roman"/>
            </a:endParaRPr>
          </a:p>
        </p:txBody>
      </p:sp>
      <p:sp>
        <p:nvSpPr>
          <p:cNvPr id="28" name="Rectangle 27"/>
          <p:cNvSpPr/>
          <p:nvPr/>
        </p:nvSpPr>
        <p:spPr>
          <a:xfrm>
            <a:off x="0" y="0"/>
            <a:ext cx="12192000" cy="6272784"/>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anim_390"/>
          <p:cNvSpPr>
            <a:spLocks noGrp="1"/>
          </p:cNvSpPr>
          <p:nvPr/>
        </p:nvSpPr>
        <p:spPr>
          <a:xfrm>
            <a:off x="342900" y="1076325"/>
            <a:ext cx="11410950" cy="4810125"/>
          </a:xfrm>
          <a:prstGeom prst="roundRect">
            <a:avLst>
              <a:gd name="adj" fmla="val 1584"/>
            </a:avLst>
          </a:prstGeom>
          <a:solidFill>
            <a:srgbClr val="EDF3EF">
              <a:alpha val="74000"/>
            </a:srgbClr>
          </a:solidFill>
          <a:ln w="11430">
            <a:solidFill>
              <a:srgbClr val="D5DED6"/>
            </a:solidFill>
            <a:prstDash val="solid"/>
          </a:ln>
        </p:spPr>
        <p:txBody>
          <a:bodyPr/>
          <a:p>
            <a:pPr>
              <a:defRPr>
                <a:latin typeface="Times New Roman"/>
              </a:defRPr>
            </a:pPr>
          </a:p>
        </p:txBody>
      </p:sp>
      <p:pic>
        <p:nvPicPr>
          <p:cNvPr id="21" name="anim_391"/>
          <p:cNvPicPr>
            <a:picLocks noChangeAspect="1"/>
          </p:cNvPicPr>
          <p:nvPr/>
        </p:nvPicPr>
        <p:blipFill>
          <a:blip r:embed="rId2"/>
          <a:srcRect t="50" b="50"/>
          <a:stretch>
            <a:fillRect/>
          </a:stretch>
        </p:blipFill>
        <p:spPr>
          <a:xfrm>
            <a:off x="381000" y="1114425"/>
            <a:ext cx="11334750" cy="4733925"/>
          </a:xfrm>
          <a:prstGeom prst="rect">
            <a:avLst/>
          </a:prstGeom>
          <a:ln/>
        </p:spPr>
      </p:pic>
      <p:sp>
        <p:nvSpPr>
          <p:cNvPr id="8" name="anim_392"/>
          <p:cNvSpPr>
            <a:spLocks noGrp="1"/>
          </p:cNvSpPr>
          <p:nvPr/>
        </p:nvSpPr>
        <p:spPr>
          <a:xfrm>
            <a:off x="723900" y="5048250"/>
            <a:ext cx="7962900" cy="581025"/>
          </a:xfrm>
          <a:prstGeom prst="roundRect">
            <a:avLst>
              <a:gd name="adj" fmla="val 13115"/>
            </a:avLst>
          </a:prstGeom>
          <a:solidFill>
            <a:srgbClr val="FAFBFA">
              <a:alpha val="74000"/>
            </a:srgbClr>
          </a:solidFill>
          <a:ln w="9525">
            <a:solidFill>
              <a:srgbClr val="D5DED6"/>
            </a:solidFill>
            <a:prstDash val="solid"/>
          </a:ln>
        </p:spPr>
        <p:txBody>
          <a:bodyPr/>
          <a:p>
            <a:pPr>
              <a:defRPr>
                <a:latin typeface="Times New Roman"/>
              </a:defRPr>
            </a:pPr>
          </a:p>
        </p:txBody>
      </p:sp>
      <p:sp>
        <p:nvSpPr>
          <p:cNvPr id="9" name="anim_395"/>
          <p:cNvSpPr>
            <a:spLocks noGrp="1"/>
          </p:cNvSpPr>
          <p:nvPr/>
        </p:nvSpPr>
        <p:spPr>
          <a:xfrm>
            <a:off x="895350" y="5191125"/>
            <a:ext cx="685800" cy="285750"/>
          </a:xfrm>
          <a:prstGeom prst="rect">
            <a:avLst/>
          </a:prstGeom>
          <a:solidFill>
            <a:srgbClr val="6B6250"/>
          </a:solidFill>
          <a:ln w="0">
            <a:solidFill>
              <a:srgbClr val="6B6250"/>
            </a:solidFill>
            <a:prstDash val="solid"/>
          </a:ln>
        </p:spPr>
        <p:txBody>
          <a:bodyPr anchor="ctr" wrap="none"/>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COAL</a:t>
            </a:r>
          </a:p>
        </p:txBody>
      </p:sp>
      <p:sp>
        <p:nvSpPr>
          <p:cNvPr id="10" name="anim_396"/>
          <p:cNvSpPr>
            <a:spLocks noGrp="1"/>
          </p:cNvSpPr>
          <p:nvPr/>
        </p:nvSpPr>
        <p:spPr>
          <a:xfrm>
            <a:off x="1657350" y="5191125"/>
            <a:ext cx="952500" cy="285750"/>
          </a:xfrm>
          <a:prstGeom prst="rect">
            <a:avLst/>
          </a:prstGeom>
          <a:solidFill>
            <a:srgbClr val="FAFBFA">
              <a:alpha val="74000"/>
            </a:srgbClr>
          </a:solidFill>
          <a:ln w="0">
            <a:solidFill>
              <a:srgbClr val="FAFBFA"/>
            </a:solidFill>
            <a:prstDash val="solid"/>
          </a:ln>
        </p:spPr>
        <p:txBody>
          <a:bodyPr anchor="ctr" wrap="none"/>
          <a:lstStyle/>
          <a:p>
            <a:pPr algn="l">
              <a:defRPr sz="105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Asia</a:t>
            </a:r>
          </a:p>
        </p:txBody>
      </p:sp>
      <p:sp>
        <p:nvSpPr>
          <p:cNvPr id="11" name="anim_397"/>
          <p:cNvSpPr>
            <a:spLocks noGrp="1"/>
          </p:cNvSpPr>
          <p:nvPr/>
        </p:nvSpPr>
        <p:spPr>
          <a:xfrm>
            <a:off x="2857500" y="5191125"/>
            <a:ext cx="685800" cy="285750"/>
          </a:xfrm>
          <a:prstGeom prst="rect">
            <a:avLst/>
          </a:prstGeom>
          <a:solidFill>
            <a:srgbClr val="BE7F4E"/>
          </a:solidFill>
          <a:ln w="0">
            <a:solidFill>
              <a:srgbClr val="BE7F4E"/>
            </a:solidFill>
            <a:prstDash val="solid"/>
          </a:ln>
        </p:spPr>
        <p:txBody>
          <a:bodyPr anchor="ctr" wrap="none"/>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OIL</a:t>
            </a:r>
          </a:p>
        </p:txBody>
      </p:sp>
      <p:sp>
        <p:nvSpPr>
          <p:cNvPr id="12" name="anim_398"/>
          <p:cNvSpPr>
            <a:spLocks noGrp="1"/>
          </p:cNvSpPr>
          <p:nvPr/>
        </p:nvSpPr>
        <p:spPr>
          <a:xfrm>
            <a:off x="3619500" y="5191125"/>
            <a:ext cx="2476500" cy="285750"/>
          </a:xfrm>
          <a:prstGeom prst="rect">
            <a:avLst/>
          </a:prstGeom>
          <a:solidFill>
            <a:srgbClr val="FAFBFA">
              <a:alpha val="74000"/>
            </a:srgbClr>
          </a:solidFill>
          <a:ln w="0">
            <a:solidFill>
              <a:srgbClr val="FAFBFA"/>
            </a:solidFill>
            <a:prstDash val="solid"/>
          </a:ln>
        </p:spPr>
        <p:txBody>
          <a:bodyPr anchor="ctr"/>
          <a:lstStyle/>
          <a:p>
            <a:pPr algn="l">
              <a:defRPr sz="130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Africa · Middle East · Americas</a:t>
            </a:r>
          </a:p>
        </p:txBody>
      </p:sp>
      <p:sp>
        <p:nvSpPr>
          <p:cNvPr id="13" name="anim_399"/>
          <p:cNvSpPr>
            <a:spLocks noGrp="1"/>
          </p:cNvSpPr>
          <p:nvPr/>
        </p:nvSpPr>
        <p:spPr>
          <a:xfrm>
            <a:off x="6305550" y="5191125"/>
            <a:ext cx="685800" cy="285750"/>
          </a:xfrm>
          <a:prstGeom prst="rect">
            <a:avLst/>
          </a:prstGeom>
          <a:solidFill>
            <a:srgbClr val="4F6E96"/>
          </a:solidFill>
          <a:ln w="0">
            <a:solidFill>
              <a:srgbClr val="4F6E96"/>
            </a:solidFill>
            <a:prstDash val="solid"/>
          </a:ln>
        </p:spPr>
        <p:txBody>
          <a:bodyPr anchor="ctr" wrap="none"/>
          <a:lstStyle/>
          <a:p>
            <a:pPr algn="ctr">
              <a:defRPr sz="1000" b="1" i="0">
                <a:solidFill>
                  <a:srgbClr val="FFFFFF"/>
                </a:solidFill>
                <a:latin typeface="Times New Roman" panose="020B0604020202020204"/>
                <a:ea typeface="Times New Roman" panose="020B0604020202020204"/>
                <a:cs typeface="Times New Roman" panose="020B0604020202020204"/>
              </a:defRPr>
            </a:pPr>
            <a:r>
              <a:rPr>
                <a:solidFill/>
                <a:latin typeface="Times New Roman"/>
              </a:rPr>
              <a:t>GAS</a:t>
            </a:r>
          </a:p>
        </p:txBody>
      </p:sp>
      <p:sp>
        <p:nvSpPr>
          <p:cNvPr id="14" name="anim_400"/>
          <p:cNvSpPr>
            <a:spLocks noGrp="1"/>
          </p:cNvSpPr>
          <p:nvPr/>
        </p:nvSpPr>
        <p:spPr>
          <a:xfrm>
            <a:off x="7067550" y="5191125"/>
            <a:ext cx="1447800" cy="285750"/>
          </a:xfrm>
          <a:prstGeom prst="rect">
            <a:avLst/>
          </a:prstGeom>
          <a:solidFill>
            <a:srgbClr val="FAFBFA">
              <a:alpha val="74000"/>
            </a:srgbClr>
          </a:solidFill>
          <a:ln w="0">
            <a:solidFill>
              <a:srgbClr val="FAFBFA"/>
            </a:solidFill>
            <a:prstDash val="solid"/>
          </a:ln>
        </p:spPr>
        <p:txBody>
          <a:bodyPr anchor="ctr"/>
          <a:lstStyle/>
          <a:p>
            <a:pPr algn="l">
              <a:defRPr sz="1050" b="1" i="0">
                <a:solidFill>
                  <a:srgbClr val="25313C"/>
                </a:solidFill>
                <a:latin typeface="Times New Roman" panose="020B0604020202020204"/>
                <a:ea typeface="Times New Roman" panose="020B0604020202020204"/>
                <a:cs typeface="Times New Roman" panose="020B0604020202020204"/>
              </a:defRPr>
            </a:pPr>
            <a:r>
              <a:rPr>
                <a:solidFill/>
                <a:latin typeface="Times New Roman"/>
              </a:rPr>
              <a:t>Russia · Central Asia</a:t>
            </a:r>
          </a:p>
        </p:txBody>
      </p:sp>
      <p:sp>
        <p:nvSpPr>
          <p:cNvPr id="15" name="anim_393"/>
          <p:cNvSpPr>
            <a:spLocks noGrp="1"/>
          </p:cNvSpPr>
          <p:nvPr/>
        </p:nvSpPr>
        <p:spPr>
          <a:xfrm>
            <a:off x="8896350" y="5048250"/>
            <a:ext cx="2724150" cy="581025"/>
          </a:xfrm>
          <a:prstGeom prst="roundRect">
            <a:avLst>
              <a:gd name="adj" fmla="val 13115"/>
            </a:avLst>
          </a:prstGeom>
          <a:solidFill>
            <a:srgbClr val="ECEFF4">
              <a:alpha val="74000"/>
            </a:srgbClr>
          </a:solidFill>
          <a:ln w="11430">
            <a:solidFill>
              <a:srgbClr val="4F6E96"/>
            </a:solidFill>
            <a:prstDash val="solid"/>
          </a:ln>
        </p:spPr>
        <p:txBody>
          <a:bodyPr/>
          <a:p>
            <a:pPr>
              <a:defRPr>
                <a:latin typeface="Times New Roman"/>
              </a:defRPr>
            </a:pPr>
          </a:p>
        </p:txBody>
      </p:sp>
      <p:sp>
        <p:nvSpPr>
          <p:cNvPr id="16" name="anim_394"/>
          <p:cNvSpPr>
            <a:spLocks noGrp="1"/>
          </p:cNvSpPr>
          <p:nvPr/>
        </p:nvSpPr>
        <p:spPr>
          <a:xfrm>
            <a:off x="9048750" y="5143500"/>
            <a:ext cx="2419350" cy="390525"/>
          </a:xfrm>
          <a:prstGeom prst="rect">
            <a:avLst/>
          </a:prstGeom>
          <a:solidFill>
            <a:srgbClr val="ECEFF4">
              <a:alpha val="74000"/>
            </a:srgbClr>
          </a:solidFill>
          <a:ln w="0">
            <a:solidFill>
              <a:srgbClr val="ECEFF4"/>
            </a:solidFill>
            <a:prstDash val="solid"/>
          </a:ln>
        </p:spPr>
        <p:txBody>
          <a:bodyPr anchor="ctr"/>
          <a:lstStyle/>
          <a:p>
            <a:pPr algn="ctr">
              <a:defRPr sz="1300" b="1" i="0">
                <a:solidFill>
                  <a:srgbClr val="1F4E79"/>
                </a:solidFill>
                <a:latin typeface="Times New Roman" panose="020B0604020202020204"/>
                <a:ea typeface="Times New Roman" panose="020B0604020202020204"/>
                <a:cs typeface="Times New Roman" panose="020B0604020202020204"/>
              </a:defRPr>
            </a:pPr>
            <a:r>
              <a:rPr>
                <a:solidFill/>
                <a:latin typeface="Times New Roman"/>
              </a:rPr>
              <a:t>Dominant fuel shows category; pies retain the actual mix.</a:t>
            </a:r>
          </a:p>
        </p:txBody>
      </p:sp>
      <p:sp>
        <p:nvSpPr>
          <p:cNvPr id="27" name="TextBox 26"/>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300" b="1">
                <a:solidFill>
                  <a:srgbClr val="D3E3D6"/>
                </a:solidFill>
                <a:latin typeface="Times New Roman"/>
              </a:rPr>
              <a:t>7 / 7</a:t>
            </a:r>
          </a:p>
        </p:txBody>
      </p:sp>
      <p:sp>
        <p:nvSpPr>
          <p:cNvPr id="29" name="Rectangle 28"/>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0" name="anim_389"/>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1" name="TextBox 30"/>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EXPLORATION OF DATASET · What the emissions are actually made of</a:t>
            </a:r>
          </a:p>
          <a:p>
            <a:pPr algn="l">
              <a:spcBef>
                <a:spcPts val="200"/>
              </a:spcBef>
              <a:defRPr>
                <a:latin typeface="Times New Roman"/>
              </a:defRPr>
            </a:pPr>
            <a:r>
              <a:rPr sz="2500" b="1">
                <a:solidFill>
                  <a:srgbClr val="FFFFFF"/>
                </a:solidFill>
                <a:latin typeface="Georgia"/>
              </a:rPr>
              <a:t>Fuel dependence is geographically uneven</a:t>
            </a:r>
          </a:p>
        </p:txBody>
      </p:sp>
      <p:sp>
        <p:nvSpPr>
          <p:cNvPr id="32" name="TextBox 31"/>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7 / 7</a:t>
            </a:r>
          </a:p>
        </p:txBody>
      </p:sp>
      <p:sp>
        <p:nvSpPr>
          <p:cNvPr id="33" name="anim_405"/>
          <p:cNvSpPr txBox="1"/>
          <p:nvPr/>
        </p:nvSpPr>
        <p:spPr>
          <a:xfrm>
            <a:off x="777240" y="5815584"/>
            <a:ext cx="10607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Why it matters:  </a:t>
            </a:r>
            <a:r>
              <a:rPr sz="1350" b="0">
                <a:solidFill>
                  <a:srgbClr val="252B30"/>
                </a:solidFill>
                <a:latin typeface="Times New Roman"/>
              </a:rPr>
              <a:t>fuel composition is what makes a transition easy or locked in, so coal and gas shares enter the model as the fuel-shift block.</a:t>
            </a:r>
          </a:p>
        </p:txBody>
      </p:sp>
      <p:sp>
        <p:nvSpPr>
          <p:cNvPr id="34" name="anim_403"/>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SHEN RUITING</a:t>
            </a:r>
          </a:p>
        </p:txBody>
      </p:sp>
      <p:sp>
        <p:nvSpPr>
          <p:cNvPr id="35" name="anim_404"/>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0"/>
                      </p:stCondLst>
                      <p:childTnLst>
                        <p:par>
                          <p:cTn id="14"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30"/>
                                        </p:tgtEl>
                                        <p:attrNameLst>
                                          <p:attrName>style.visibility</p:attrName>
                                        </p:attrNameLst>
                                      </p:cBhvr>
                                      <p:to>
                                        <p:strVal val="visible"/>
                                      </p:to>
                                    </p:set>
                                    <p:animEffect transition="in" filter="fade">
                                      <p:cBhvr>
                                        <p:cTn id="6" dur="450"/>
                                        <p:tgtEl>
                                          <p:spTgt spid="30"/>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50"/>
                                        <p:tgtEl>
                                          <p:spTgt spid="21"/>
                                        </p:tgtEl>
                                      </p:cBhvr>
                                    </p:animEffect>
                                  </p:childTnLst>
                                </p:cTn>
                              </p:par>
                            </p:childTnLst>
                          </p:cTn>
                        </p:par>
                      </p:childTnLst>
                    </p:cTn>
                  </p:par>
                  <p:par>
                    <p:cTn id="51" fill="hold">
                      <p:stCondLst>
                        <p:cond delay="0"/>
                      </p:stCondLst>
                      <p:childTnLst>
                        <p:par>
                          <p:cTn id="52" fill="hold">
                            <p:stCondLst>
                              <p:cond delay="0"/>
                            </p:stCondLst>
                            <p:childTnLst>
                              <p:par>
                                <p:cTn id="15" presetID="10" presetClass="entr" presetSubtype="0" fill="hold" grpId="0" nodeType="afterEffect">
                                  <p:stCondLst>
                                    <p:cond delay="4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53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66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grpId="0" nodeType="withEffect">
                                  <p:stCondLst>
                                    <p:cond delay="79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0" nodeType="withEffect">
                                  <p:stCondLst>
                                    <p:cond delay="92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0" nodeType="withEffect">
                                  <p:stCondLst>
                                    <p:cond delay="105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0" nodeType="withEffect">
                                  <p:stCondLst>
                                    <p:cond delay="118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13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144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157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450"/>
                                        <p:tgtEl>
                                          <p:spTgt spid="5"/>
                                        </p:tgtEl>
                                      </p:cBhvr>
                                    </p:animEffect>
                                  </p:childTnLst>
                                </p:cTn>
                              </p:par>
                              <p:par>
                                <p:cTn id="45" presetID="10" presetClass="entr" presetSubtype="0" fill="hold" grpId="0" nodeType="withEffect">
                                  <p:stCondLst>
                                    <p:cond delay="170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50"/>
                                        <p:tgtEl>
                                          <p:spTgt spid="34"/>
                                        </p:tgtEl>
                                      </p:cBhvr>
                                    </p:animEffect>
                                  </p:childTnLst>
                                </p:cTn>
                              </p:par>
                              <p:par>
                                <p:cTn id="48" presetID="10" presetClass="entr" presetSubtype="0" fill="hold" grpId="0" nodeType="withEffect">
                                  <p:stCondLst>
                                    <p:cond delay="183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50"/>
                                        <p:tgtEl>
                                          <p:spTgt spid="35"/>
                                        </p:tgtEl>
                                      </p:cBhvr>
                                    </p:animEffect>
                                  </p:childTnLst>
                                </p:cTn>
                              </p:par>
                            </p:childTnLst>
                          </p:cTn>
                        </p:par>
                      </p:childTnLst>
                    </p:cTn>
                  </p:par>
                  <p:par>
                    <p:cTn id="56" fill="hold">
                      <p:stCondLst>
                        <p:cond delay="0"/>
                      </p:stCondLst>
                      <p:childTnLst>
                        <p:par>
                          <p:cTn id="57" fill="hold">
                            <p:stCondLst>
                              <p:cond delay="0"/>
                            </p:stCondLst>
                            <p:childTnLst>
                              <p:par>
                                <p:cTn id="53" presetID="10" presetClass="entr" presetSubtype="0" fill="hold" grpId="0" nodeType="afterEffect">
                                  <p:stCondLst>
                                    <p:cond delay="40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5" name="Picture 4" descr="art_hills.png"/>
          <p:cNvPicPr>
            <a:picLocks noChangeAspect="1"/>
          </p:cNvPicPr>
          <p:nvPr/>
        </p:nvPicPr>
        <p:blipFill>
          <a:blip r:embed="rId2"/>
          <a:stretch>
            <a:fillRect/>
          </a:stretch>
        </p:blipFill>
        <p:spPr>
          <a:xfrm>
            <a:off x="0" y="5074920"/>
            <a:ext cx="12192000" cy="1280160"/>
          </a:xfrm>
          <a:prstGeom prst="rect">
            <a:avLst/>
          </a:prstGeom>
        </p:spPr>
      </p:pic>
      <p:sp>
        <p:nvSpPr>
          <p:cNvPr id="6" name="Rectangle 5"/>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7" name="Picture 6" descr="ntu_logo.png"/>
          <p:cNvPicPr>
            <a:picLocks noChangeAspect="1"/>
          </p:cNvPicPr>
          <p:nvPr/>
        </p:nvPicPr>
        <p:blipFill>
          <a:blip r:embed="rId3"/>
          <a:stretch>
            <a:fillRect/>
          </a:stretch>
        </p:blipFill>
        <p:spPr>
          <a:xfrm>
            <a:off x="292608" y="6364224"/>
            <a:ext cx="1133856" cy="457200"/>
          </a:xfrm>
          <a:prstGeom prst="rect">
            <a:avLst/>
          </a:prstGeom>
        </p:spPr>
      </p:pic>
      <p:sp>
        <p:nvSpPr>
          <p:cNvPr id="8" name="Rectangle 7"/>
          <p:cNvSpPr/>
          <p:nvPr/>
        </p:nvSpPr>
        <p:spPr>
          <a:xfrm>
            <a:off x="0" y="0"/>
            <a:ext cx="12192000" cy="310896"/>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Rectangle 8"/>
          <p:cNvSpPr/>
          <p:nvPr/>
        </p:nvSpPr>
        <p:spPr>
          <a:xfrm>
            <a:off x="502920" y="960120"/>
            <a:ext cx="68580" cy="3291840"/>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10" name="anim_13"/>
          <p:cNvSpPr txBox="1"/>
          <p:nvPr/>
        </p:nvSpPr>
        <p:spPr>
          <a:xfrm>
            <a:off x="777240" y="932688"/>
            <a:ext cx="6035040" cy="329184"/>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F5248"/>
                </a:solidFill>
                <a:latin typeface="Times New Roman"/>
              </a:rPr>
              <a:t>CA6002  ·  AI UX &amp; DATA VISUALISATION</a:t>
            </a:r>
          </a:p>
        </p:txBody>
      </p:sp>
      <p:sp>
        <p:nvSpPr>
          <p:cNvPr id="11" name="anim_14"/>
          <p:cNvSpPr txBox="1"/>
          <p:nvPr/>
        </p:nvSpPr>
        <p:spPr>
          <a:xfrm>
            <a:off x="777240" y="1261872"/>
            <a:ext cx="6035040" cy="1051560"/>
          </a:xfrm>
          <a:prstGeom prst="rect">
            <a:avLst/>
          </a:prstGeom>
          <a:noFill/>
          <a:ln>
            <a:noFill/>
          </a:ln>
          <a:effectLst/>
        </p:spPr>
        <p:txBody>
          <a:bodyPr wrap="square" anchor="t" lIns="45720" rIns="45720" tIns="18288" bIns="18288">
            <a:spAutoFit/>
          </a:bodyPr>
          <a:lstStyle/>
          <a:p>
            <a:pPr algn="l">
              <a:lnSpc>
                <a:spcPct val="95000"/>
              </a:lnSpc>
              <a:defRPr>
                <a:latin typeface="Times New Roman"/>
              </a:defRPr>
            </a:pPr>
            <a:r>
              <a:rPr sz="3200" b="1">
                <a:solidFill>
                  <a:srgbClr val="252B30"/>
                </a:solidFill>
                <a:latin typeface="Georgia"/>
              </a:rPr>
              <a:t>Investigating Country</a:t>
            </a:r>
          </a:p>
          <a:p>
            <a:pPr algn="l">
              <a:lnSpc>
                <a:spcPct val="95000"/>
              </a:lnSpc>
              <a:defRPr>
                <a:latin typeface="Times New Roman"/>
              </a:defRPr>
            </a:pPr>
            <a:r>
              <a:rPr sz="3200" b="1">
                <a:solidFill>
                  <a:srgbClr val="252B30"/>
                </a:solidFill>
                <a:latin typeface="Georgia"/>
              </a:rPr>
              <a:t>Carbon Emission Patterns</a:t>
            </a:r>
          </a:p>
        </p:txBody>
      </p:sp>
      <p:sp>
        <p:nvSpPr>
          <p:cNvPr id="12" name="anim_15"/>
          <p:cNvSpPr txBox="1"/>
          <p:nvPr/>
        </p:nvSpPr>
        <p:spPr>
          <a:xfrm>
            <a:off x="777240" y="2304288"/>
            <a:ext cx="6035040" cy="457200"/>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2F5248"/>
                </a:solidFill>
                <a:latin typeface="Times New Roman"/>
              </a:rPr>
              <a:t>- one rising total, two transition pathways</a:t>
            </a:r>
          </a:p>
        </p:txBody>
      </p:sp>
      <p:sp>
        <p:nvSpPr>
          <p:cNvPr id="13" name="anim_16"/>
          <p:cNvSpPr/>
          <p:nvPr/>
        </p:nvSpPr>
        <p:spPr>
          <a:xfrm>
            <a:off x="777240" y="2907792"/>
            <a:ext cx="1371600" cy="41148"/>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4" name="anim_17"/>
          <p:cNvSpPr txBox="1"/>
          <p:nvPr/>
        </p:nvSpPr>
        <p:spPr>
          <a:xfrm>
            <a:off x="777240" y="3054096"/>
            <a:ext cx="5760720" cy="1417320"/>
          </a:xfrm>
          <a:prstGeom prst="rect">
            <a:avLst/>
          </a:prstGeom>
          <a:noFill/>
          <a:ln>
            <a:noFill/>
          </a:ln>
          <a:effectLst/>
        </p:spPr>
        <p:txBody>
          <a:bodyPr wrap="square" anchor="t" lIns="45720" rIns="45720" tIns="18288" bIns="18288">
            <a:spAutoFit/>
          </a:bodyPr>
          <a:lstStyle/>
          <a:p>
            <a:pPr algn="l">
              <a:defRPr>
                <a:latin typeface="Times New Roman"/>
              </a:defRPr>
            </a:pPr>
            <a:r>
              <a:rPr sz="1850" b="0">
                <a:solidFill>
                  <a:srgbClr val="252B30"/>
                </a:solidFill>
                <a:latin typeface="Times New Roman"/>
              </a:rPr>
              <a:t>Fossil CO2 of 193 countries, 1992-2021: does one shared trajectory explain the rise?</a:t>
            </a:r>
          </a:p>
          <a:p>
            <a:pPr algn="l">
              <a:spcBef>
                <a:spcPts val="700"/>
              </a:spcBef>
              <a:defRPr>
                <a:latin typeface="Times New Roman"/>
              </a:defRPr>
            </a:pPr>
            <a:r>
              <a:rPr sz="1850" b="0">
                <a:solidFill>
                  <a:srgbClr val="252B30"/>
                </a:solidFill>
                <a:latin typeface="Times New Roman"/>
              </a:rPr>
              <a:t>The covered total rose from </a:t>
            </a:r>
            <a:r>
              <a:rPr sz="1850" b="1">
                <a:solidFill>
                  <a:srgbClr val="2F5248"/>
                </a:solidFill>
                <a:latin typeface="Times New Roman"/>
              </a:rPr>
              <a:t>21.97 Gt</a:t>
            </a:r>
            <a:r>
              <a:rPr sz="1850" b="0">
                <a:solidFill>
                  <a:srgbClr val="252B30"/>
                </a:solidFill>
                <a:latin typeface="Times New Roman"/>
              </a:rPr>
              <a:t> to </a:t>
            </a:r>
            <a:r>
              <a:rPr sz="1850" b="1">
                <a:solidFill>
                  <a:srgbClr val="2F5248"/>
                </a:solidFill>
                <a:latin typeface="Times New Roman"/>
              </a:rPr>
              <a:t>35.98 Gt</a:t>
            </a:r>
            <a:r>
              <a:rPr sz="1850" b="1">
                <a:solidFill>
                  <a:srgbClr val="2F5248"/>
                </a:solidFill>
                <a:latin typeface="Times New Roman"/>
              </a:rPr>
              <a:t>  (+63.8%)</a:t>
            </a:r>
          </a:p>
          <a:p>
            <a:pPr algn="l">
              <a:spcBef>
                <a:spcPts val="700"/>
              </a:spcBef>
              <a:defRPr>
                <a:latin typeface="Times New Roman"/>
              </a:defRPr>
            </a:pPr>
            <a:r>
              <a:rPr sz="1600" b="0">
                <a:solidFill>
                  <a:srgbClr val="6E7672"/>
                </a:solidFill>
                <a:latin typeface="Times New Roman"/>
              </a:rPr>
              <a:t>K-means used as a screening tool for climate-monitoring priorities</a:t>
            </a:r>
          </a:p>
        </p:txBody>
      </p:sp>
      <p:pic>
        <p:nvPicPr>
          <p:cNvPr id="15" name="anim_18" descr="art_sky.png"/>
          <p:cNvPicPr>
            <a:picLocks noChangeAspect="1"/>
          </p:cNvPicPr>
          <p:nvPr/>
        </p:nvPicPr>
        <p:blipFill>
          <a:blip r:embed="rId4"/>
          <a:stretch>
            <a:fillRect/>
          </a:stretch>
        </p:blipFill>
        <p:spPr>
          <a:xfrm>
            <a:off x="7726679" y="502920"/>
            <a:ext cx="4023360" cy="2011680"/>
          </a:xfrm>
          <a:prstGeom prst="rect">
            <a:avLst/>
          </a:prstGeom>
        </p:spPr>
      </p:pic>
      <p:pic>
        <p:nvPicPr>
          <p:cNvPr id="16" name="anim_19" descr="art_plant.png"/>
          <p:cNvPicPr>
            <a:picLocks noChangeAspect="1"/>
          </p:cNvPicPr>
          <p:nvPr/>
        </p:nvPicPr>
        <p:blipFill>
          <a:blip r:embed="rId5"/>
          <a:stretch>
            <a:fillRect/>
          </a:stretch>
        </p:blipFill>
        <p:spPr>
          <a:xfrm>
            <a:off x="960120" y="4754880"/>
            <a:ext cx="2468880" cy="1517904"/>
          </a:xfrm>
          <a:prstGeom prst="rect">
            <a:avLst/>
          </a:prstGeom>
        </p:spPr>
      </p:pic>
      <p:sp>
        <p:nvSpPr>
          <p:cNvPr id="17" name="puff_1"/>
          <p:cNvSpPr/>
          <p:nvPr/>
        </p:nvSpPr>
        <p:spPr>
          <a:xfrm>
            <a:off x="2066544" y="4892040"/>
            <a:ext cx="274320" cy="274320"/>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18" name="puff_2"/>
          <p:cNvSpPr/>
          <p:nvPr/>
        </p:nvSpPr>
        <p:spPr>
          <a:xfrm>
            <a:off x="2077516" y="4903012"/>
            <a:ext cx="252374" cy="252374"/>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19" name="puff_3"/>
          <p:cNvSpPr/>
          <p:nvPr/>
        </p:nvSpPr>
        <p:spPr>
          <a:xfrm>
            <a:off x="2088489" y="4913985"/>
            <a:ext cx="230428" cy="230428"/>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0" name="puff_4"/>
          <p:cNvSpPr/>
          <p:nvPr/>
        </p:nvSpPr>
        <p:spPr>
          <a:xfrm>
            <a:off x="2099462" y="4924958"/>
            <a:ext cx="208483" cy="208483"/>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1" name="puff_5"/>
          <p:cNvSpPr/>
          <p:nvPr/>
        </p:nvSpPr>
        <p:spPr>
          <a:xfrm>
            <a:off x="2359152" y="5157216"/>
            <a:ext cx="237744" cy="237744"/>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2" name="puff_6"/>
          <p:cNvSpPr/>
          <p:nvPr/>
        </p:nvSpPr>
        <p:spPr>
          <a:xfrm>
            <a:off x="2368661" y="5166725"/>
            <a:ext cx="218724" cy="218724"/>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3" name="puff_7"/>
          <p:cNvSpPr/>
          <p:nvPr/>
        </p:nvSpPr>
        <p:spPr>
          <a:xfrm>
            <a:off x="2378171" y="5176235"/>
            <a:ext cx="199704" cy="199704"/>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4" name="puff_8"/>
          <p:cNvSpPr/>
          <p:nvPr/>
        </p:nvSpPr>
        <p:spPr>
          <a:xfrm>
            <a:off x="2387681" y="5185745"/>
            <a:ext cx="180685" cy="180685"/>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5" name="puff_9"/>
          <p:cNvSpPr/>
          <p:nvPr/>
        </p:nvSpPr>
        <p:spPr>
          <a:xfrm>
            <a:off x="2615184" y="5376672"/>
            <a:ext cx="201168" cy="201168"/>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6" name="puff_10"/>
          <p:cNvSpPr/>
          <p:nvPr/>
        </p:nvSpPr>
        <p:spPr>
          <a:xfrm>
            <a:off x="2623230" y="5384718"/>
            <a:ext cx="185074" cy="185074"/>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7" name="puff_11"/>
          <p:cNvSpPr/>
          <p:nvPr/>
        </p:nvSpPr>
        <p:spPr>
          <a:xfrm>
            <a:off x="2631277" y="5392765"/>
            <a:ext cx="168981" cy="168981"/>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8" name="puff_12"/>
          <p:cNvSpPr/>
          <p:nvPr/>
        </p:nvSpPr>
        <p:spPr>
          <a:xfrm>
            <a:off x="2639324" y="5400812"/>
            <a:ext cx="152887" cy="152887"/>
          </a:xfrm>
          <a:prstGeom prst="ellipse">
            <a:avLst/>
          </a:prstGeom>
          <a:solidFill>
            <a:srgbClr val="8C9790">
              <a:alpha val="62000"/>
            </a:srgbClr>
          </a:solidFill>
          <a:ln>
            <a:noFill/>
          </a:ln>
          <a:effectLst/>
          <a:effectLst>
            <a:softEdge rad="25400"/>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9" name="anim_20"/>
          <p:cNvSpPr txBox="1"/>
          <p:nvPr/>
        </p:nvSpPr>
        <p:spPr>
          <a:xfrm>
            <a:off x="6903720" y="1920240"/>
            <a:ext cx="4572000" cy="1691640"/>
          </a:xfrm>
          <a:prstGeom prst="rect">
            <a:avLst/>
          </a:prstGeom>
          <a:noFill/>
          <a:ln>
            <a:noFill/>
          </a:ln>
          <a:effectLst/>
        </p:spPr>
        <p:txBody>
          <a:bodyPr wrap="none" lIns="0" rIns="0" tIns="0" bIns="0">
            <a:spAutoFit/>
          </a:bodyPr>
          <a:lstStyle/>
          <a:p>
            <a:pPr algn="ctr">
              <a:defRPr>
                <a:latin typeface="Times New Roman"/>
              </a:defRPr>
            </a:pPr>
            <a:r>
              <a:rPr sz="13200" b="1">
                <a:ln w="12700">
                  <a:solidFill>
                    <a:srgbClr val="FFFFFF"/>
                  </a:solidFill>
                </a:ln>
                <a:gradFill>
                  <a:gsLst>
                    <a:gs pos="0">
                      <a:srgbClr val="769682"/>
                    </a:gs>
                    <a:gs pos="100000">
                      <a:srgbClr val="2F5248"/>
                    </a:gs>
                  </a:gsLst>
                  <a:lin ang="5400000" scaled="0"/>
                </a:gradFill>
                <a:effectLst>
                  <a:outerShdw blurRad="50800" dist="25400" dir="2700000" algn="tl" rotWithShape="0">
                    <a:srgbClr val="1F2A24">
                      <a:alpha val="20000"/>
                    </a:srgbClr>
                  </a:outerShdw>
                </a:effectLst>
                <a:latin typeface="Georgia"/>
              </a:rPr>
              <a:t>CO</a:t>
            </a:r>
            <a:r>
              <a:rPr sz="8184" b="1" baseline="-25000">
                <a:ln w="12700">
                  <a:solidFill>
                    <a:srgbClr val="FFFFFF"/>
                  </a:solidFill>
                </a:ln>
                <a:gradFill>
                  <a:gsLst>
                    <a:gs pos="0">
                      <a:srgbClr val="769682"/>
                    </a:gs>
                    <a:gs pos="100000">
                      <a:srgbClr val="2F5248"/>
                    </a:gs>
                  </a:gsLst>
                  <a:lin ang="5400000" scaled="0"/>
                </a:gradFill>
                <a:effectLst>
                  <a:outerShdw blurRad="50800" dist="25400" dir="2700000" algn="tl" rotWithShape="0">
                    <a:srgbClr val="1F2A24">
                      <a:alpha val="20000"/>
                    </a:srgbClr>
                  </a:outerShdw>
                </a:effectLst>
                <a:latin typeface="Georgia"/>
              </a:rPr>
              <a:t>2</a:t>
            </a:r>
          </a:p>
        </p:txBody>
      </p:sp>
      <p:sp>
        <p:nvSpPr>
          <p:cNvPr id="30" name="anim_21"/>
          <p:cNvSpPr txBox="1"/>
          <p:nvPr/>
        </p:nvSpPr>
        <p:spPr>
          <a:xfrm>
            <a:off x="6675120" y="3785615"/>
            <a:ext cx="4983480" cy="365760"/>
          </a:xfrm>
          <a:prstGeom prst="rect">
            <a:avLst/>
          </a:prstGeom>
          <a:noFill/>
          <a:ln>
            <a:noFill/>
          </a:ln>
          <a:effectLst/>
        </p:spPr>
        <p:txBody>
          <a:bodyPr wrap="square" anchor="t" lIns="45720" rIns="45720" tIns="18288" bIns="18288">
            <a:spAutoFit/>
          </a:bodyPr>
          <a:lstStyle/>
          <a:p>
            <a:pPr algn="ctr">
              <a:defRPr>
                <a:latin typeface="Times New Roman"/>
              </a:defRPr>
            </a:pPr>
            <a:r>
              <a:rPr sz="1450" b="1">
                <a:solidFill>
                  <a:srgbClr val="6E7672"/>
                </a:solidFill>
                <a:latin typeface="Times New Roman"/>
              </a:rPr>
              <a:t>FOSSIL CARBON DIOXIDE  ·  193 COUNTRIES</a:t>
            </a:r>
          </a:p>
        </p:txBody>
      </p:sp>
      <p:sp>
        <p:nvSpPr>
          <p:cNvPr id="31" name="anim_22"/>
          <p:cNvSpPr/>
          <p:nvPr/>
        </p:nvSpPr>
        <p:spPr>
          <a:xfrm>
            <a:off x="6675120" y="4370832"/>
            <a:ext cx="4983480" cy="141732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2" name="anim_23"/>
          <p:cNvSpPr txBox="1"/>
          <p:nvPr/>
        </p:nvSpPr>
        <p:spPr>
          <a:xfrm>
            <a:off x="6876288" y="4498848"/>
            <a:ext cx="4617720" cy="1188720"/>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2F5248"/>
                </a:solidFill>
                <a:latin typeface="Times New Roman"/>
              </a:rPr>
              <a:t>Group 30</a:t>
            </a:r>
          </a:p>
          <a:p>
            <a:pPr algn="l">
              <a:spcBef>
                <a:spcPts val="500"/>
              </a:spcBef>
              <a:defRPr>
                <a:latin typeface="Times New Roman"/>
              </a:defRPr>
            </a:pPr>
            <a:r>
              <a:rPr sz="1500" b="1">
                <a:solidFill>
                  <a:srgbClr val="252B30"/>
                </a:solidFill>
                <a:latin typeface="Times New Roman"/>
              </a:rPr>
              <a:t>RAN CHANGMING  ·  REN SIYU  ·  REYIZA RESIBIEKE  ·  SHEN RUITING</a:t>
            </a:r>
          </a:p>
          <a:p>
            <a:pPr algn="l">
              <a:spcBef>
                <a:spcPts val="400"/>
              </a:spcBef>
              <a:defRPr>
                <a:latin typeface="Times New Roman"/>
              </a:defRPr>
            </a:pPr>
            <a:r>
              <a:rPr sz="1450" b="0">
                <a:solidFill>
                  <a:srgbClr val="6E7672"/>
                </a:solidFill>
                <a:latin typeface="Times New Roman"/>
              </a:rPr>
              <a:t>Nanyang Technological University  ·  Group Assignment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0"/>
                      </p:stCondLst>
                      <p:childTnLst>
                        <p:par>
                          <p:cTn id="20" fill="hold">
                            <p:stCondLst>
                              <p:cond delay="0"/>
                            </p:stCondLst>
                            <p:childTnLst>
                              <p:par>
                                <p:cTn id="4" presetID="10" presetClass="entr" presetSubtype="0" fill="hold" grpId="0" nodeType="afterEffect">
                                  <p:stCondLst>
                                    <p:cond delay="20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600"/>
                                        <p:tgtEl>
                                          <p:spTgt spid="10"/>
                                        </p:tgtEl>
                                      </p:cBhvr>
                                    </p:animEffect>
                                  </p:childTnLst>
                                </p:cTn>
                              </p:par>
                              <p:par>
                                <p:cTn id="7" presetID="10" presetClass="entr" presetSubtype="0" fill="hold" grpId="0" nodeType="withEffect">
                                  <p:stCondLst>
                                    <p:cond delay="44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600"/>
                                        <p:tgtEl>
                                          <p:spTgt spid="11"/>
                                        </p:tgtEl>
                                      </p:cBhvr>
                                    </p:animEffect>
                                  </p:childTnLst>
                                </p:cTn>
                              </p:par>
                              <p:par>
                                <p:cTn id="10" presetID="10" presetClass="entr" presetSubtype="0" fill="hold" grpId="0" nodeType="withEffect">
                                  <p:stCondLst>
                                    <p:cond delay="68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00"/>
                                        <p:tgtEl>
                                          <p:spTgt spid="12"/>
                                        </p:tgtEl>
                                      </p:cBhvr>
                                    </p:animEffect>
                                  </p:childTnLst>
                                </p:cTn>
                              </p:par>
                              <p:par>
                                <p:cTn id="13" presetID="10" presetClass="entr" presetSubtype="0" fill="hold" grpId="0" nodeType="withEffect">
                                  <p:stCondLst>
                                    <p:cond delay="92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600"/>
                                        <p:tgtEl>
                                          <p:spTgt spid="13"/>
                                        </p:tgtEl>
                                      </p:cBhvr>
                                    </p:animEffect>
                                  </p:childTnLst>
                                </p:cTn>
                              </p:par>
                              <p:par>
                                <p:cTn id="16" presetID="10" presetClass="entr" presetSubtype="0" fill="hold" grpId="0" nodeType="withEffect">
                                  <p:stCondLst>
                                    <p:cond delay="116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600"/>
                                        <p:tgtEl>
                                          <p:spTgt spid="14"/>
                                        </p:tgtEl>
                                      </p:cBhvr>
                                    </p:animEffect>
                                  </p:childTnLst>
                                </p:cTn>
                              </p:par>
                            </p:childTnLst>
                          </p:cTn>
                        </p:par>
                      </p:childTnLst>
                    </p:cTn>
                  </p:par>
                  <p:par>
                    <p:cTn id="24" fill="hold">
                      <p:stCondLst>
                        <p:cond delay="0"/>
                      </p:stCondLst>
                      <p:childTnLst>
                        <p:par>
                          <p:cTn id="25" fill="hold">
                            <p:stCondLst>
                              <p:cond delay="0"/>
                            </p:stCondLst>
                            <p:childTnLst>
                              <p:par>
                                <p:cTn id="21" presetID="10" presetClass="entr" presetSubtype="0" fill="hold" grpId="0" nodeType="afterEffect">
                                  <p:stCondLst>
                                    <p:cond delay="15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700"/>
                                        <p:tgtEl>
                                          <p:spTgt spid="15"/>
                                        </p:tgtEl>
                                      </p:cBhvr>
                                    </p:animEffect>
                                  </p:childTnLst>
                                </p:cTn>
                              </p:par>
                            </p:childTnLst>
                          </p:cTn>
                        </p:par>
                      </p:childTnLst>
                    </p:cTn>
                  </p:par>
                  <p:par>
                    <p:cTn id="29" fill="hold">
                      <p:stCondLst>
                        <p:cond delay="0"/>
                      </p:stCondLst>
                      <p:childTnLst>
                        <p:par>
                          <p:cTn id="30" fill="hold">
                            <p:stCondLst>
                              <p:cond delay="0"/>
                            </p:stCondLst>
                            <p:childTnLst>
                              <p:par>
                                <p:cTn id="26" presetID="10" presetClass="entr" presetSubtype="0" fill="hold" grpId="0" nodeType="afterEffect">
                                  <p:stCondLst>
                                    <p:cond delay="150"/>
                                  </p:stCondLst>
                                  <p:childTnLst>
                                    <p:set>
                                      <p:cBhvr>
                                        <p:cTn id="27" dur="1" fill="hold">
                                          <p:stCondLst>
                                            <p:cond delay="0"/>
                                          </p:stCondLst>
                                        </p:cTn>
                                        <p:tgtEl>
                                          <p:spTgt spid="16"/>
                                        </p:tgtEl>
                                        <p:attrNameLst>
                                          <p:attrName>style.visibility</p:attrName>
                                        </p:attrNameLst>
                                      </p:cBhvr>
                                      <p:to>
                                        <p:strVal val="visible"/>
                                      </p:to>
                                    </p:set>
                                    <p:animEffect transition="in" filter="wipe(up)">
                                      <p:cBhvr>
                                        <p:cTn id="28" dur="700"/>
                                        <p:tgtEl>
                                          <p:spTgt spid="16"/>
                                        </p:tgtEl>
                                      </p:cBhvr>
                                    </p:animEffect>
                                  </p:childTnLst>
                                </p:cTn>
                              </p:par>
                            </p:childTnLst>
                          </p:cTn>
                        </p:par>
                      </p:childTnLst>
                    </p:cTn>
                  </p:par>
                  <p:par>
                    <p:cTn id="37" fill="hold">
                      <p:stCondLst>
                        <p:cond delay="0"/>
                      </p:stCondLst>
                      <p:childTnLst>
                        <p:par>
                          <p:cTn id="38" fill="hold">
                            <p:stCondLst>
                              <p:cond delay="0"/>
                            </p:stCondLst>
                            <p:childTnLst>
                              <p:par>
                                <p:cTn id="31" presetID="10" presetClass="entr" presetSubtype="0" fill="hold" grpId="0" nodeType="afterEffect">
                                  <p:stCondLst>
                                    <p:cond delay="15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600"/>
                                        <p:tgtEl>
                                          <p:spTgt spid="29"/>
                                        </p:tgtEl>
                                      </p:cBhvr>
                                    </p:animEffect>
                                  </p:childTnLst>
                                </p:cTn>
                              </p:par>
                              <p:par>
                                <p:cTn id="34" presetID="10" presetClass="entr" presetSubtype="0" fill="hold" grpId="0" nodeType="withEffect">
                                  <p:stCondLst>
                                    <p:cond delay="33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600"/>
                                        <p:tgtEl>
                                          <p:spTgt spid="30"/>
                                        </p:tgtEl>
                                      </p:cBhvr>
                                    </p:animEffect>
                                  </p:childTnLst>
                                </p:cTn>
                              </p:par>
                            </p:childTnLst>
                          </p:cTn>
                        </p:par>
                      </p:childTnLst>
                    </p:cTn>
                  </p:par>
                  <p:par>
                    <p:cTn id="45" fill="hold">
                      <p:stCondLst>
                        <p:cond delay="0"/>
                      </p:stCondLst>
                      <p:childTnLst>
                        <p:par>
                          <p:cTn id="46" fill="hold">
                            <p:stCondLst>
                              <p:cond delay="0"/>
                            </p:stCondLst>
                            <p:childTnLst>
                              <p:par>
                                <p:cTn id="39" presetID="10" presetClass="entr" presetSubtype="0" fill="hold" grpId="0" nodeType="afterEffect">
                                  <p:stCondLst>
                                    <p:cond delay="15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600"/>
                                        <p:tgtEl>
                                          <p:spTgt spid="31"/>
                                        </p:tgtEl>
                                      </p:cBhvr>
                                    </p:animEffect>
                                  </p:childTnLst>
                                </p:cTn>
                              </p:par>
                              <p:par>
                                <p:cTn id="42" presetID="10" presetClass="entr" presetSubtype="0" fill="hold" grpId="0" nodeType="withEffect">
                                  <p:stCondLst>
                                    <p:cond delay="33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600"/>
                                        <p:tgtEl>
                                          <p:spTgt spid="32"/>
                                        </p:tgtEl>
                                      </p:cBhvr>
                                    </p:animEffect>
                                  </p:childTnLst>
                                </p:cTn>
                              </p:par>
                            </p:childTnLst>
                          </p:cTn>
                        </p:par>
                      </p:childTnLst>
                    </p:cTn>
                  </p:par>
                  <p:par>
                    <p:cTn id="47" fill="hold">
                      <p:stCondLst>
                        <p:cond delay="0"/>
                      </p:stCondLst>
                      <p:childTnLst>
                        <p:par>
                          <p:cTn id="57" fill="hold">
                            <p:stCondLst>
                              <p:cond delay="0"/>
                            </p:stCondLst>
                            <p:childTnLst>
                              <p:par>
                                <p:cTn id="48" presetID="10" presetClass="entr"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0" presetClass="path" fill="hold" grpId="1" nodeType="withEffect">
                                  <p:stCondLst>
                                    <p:cond delay="0"/>
                                  </p:stCondLst>
                                  <p:childTnLst>
                                    <p:animMotion origin="layout" path="M 0 0 L -0.0255 -0.20667 E" pathEditMode="relative" ptsTypes="AA">
                                      <p:cBhvr additive="base">
                                        <p:cTn id="52" dur="3600" fill="hold"/>
                                        <p:tgtEl>
                                          <p:spTgt spid="17"/>
                                        </p:tgtEl>
                                        <p:attrNameLst>
                                          <p:attrName>ppt_x</p:attrName>
                                          <p:attrName>ppt_y</p:attrName>
                                        </p:attrNameLst>
                                      </p:cBhvr>
                                      <p:rCtr x="0" y="0"/>
                                    </p:animMotion>
                                    <p:animScale>
                                      <p:cBhvr>
                                        <p:cTn id="53" dur="3600" fill="hold"/>
                                        <p:tgtEl>
                                          <p:spTgt spid="17"/>
                                        </p:tgtEl>
                                      </p:cBhvr>
                                      <p:from x="100000" y="100000"/>
                                      <p:to x="320000" y="320000"/>
                                    </p:animScale>
                                  </p:childTnLst>
                                </p:cTn>
                              </p:par>
                              <p:par>
                                <p:cTn id="54" presetID="10" presetClass="exit" fill="hold" grpId="2" nodeType="withEffect">
                                  <p:stCondLst>
                                    <p:cond delay="2700"/>
                                  </p:stCondLst>
                                  <p:childTnLst>
                                    <p:animEffect transition="out" filter="fade">
                                      <p:cBhvr>
                                        <p:cTn id="55" dur="900"/>
                                        <p:tgtEl>
                                          <p:spTgt spid="17"/>
                                        </p:tgtEl>
                                      </p:cBhvr>
                                    </p:animEffect>
                                    <p:set>
                                      <p:cBhvr>
                                        <p:cTn id="56" dur="1" fill="hold">
                                          <p:stCondLst>
                                            <p:cond delay="899"/>
                                          </p:stCondLst>
                                        </p:cTn>
                                        <p:tgtEl>
                                          <p:spTgt spid="17"/>
                                        </p:tgtEl>
                                        <p:attrNameLst>
                                          <p:attrName>style.visibility</p:attrName>
                                        </p:attrNameLst>
                                      </p:cBhvr>
                                      <p:to>
                                        <p:strVal val="hidden"/>
                                      </p:to>
                                    </p:set>
                                  </p:childTnLst>
                                </p:cTn>
                              </p:par>
                            </p:childTnLst>
                          </p:cTn>
                        </p:par>
                        <p:par>
                          <p:cTn id="67" fill="hold">
                            <p:stCondLst>
                              <p:cond delay="0"/>
                            </p:stCondLst>
                            <p:childTnLst>
                              <p:par>
                                <p:cTn id="58" presetID="10" presetClass="entr" fill="hold" grpId="3" nodeType="withEffect">
                                  <p:stCondLst>
                                    <p:cond delay="360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par>
                                <p:cTn id="61" presetID="0" presetClass="path" fill="hold" grpId="4" nodeType="withEffect">
                                  <p:stCondLst>
                                    <p:cond delay="3600"/>
                                  </p:stCondLst>
                                  <p:childTnLst>
                                    <p:animMotion origin="layout" path="M 0 0 L -0.0255 -0.20667 E" pathEditMode="relative" ptsTypes="AA">
                                      <p:cBhvr additive="base">
                                        <p:cTn id="62" dur="3600" fill="hold"/>
                                        <p:tgtEl>
                                          <p:spTgt spid="17"/>
                                        </p:tgtEl>
                                        <p:attrNameLst>
                                          <p:attrName>ppt_x</p:attrName>
                                          <p:attrName>ppt_y</p:attrName>
                                        </p:attrNameLst>
                                      </p:cBhvr>
                                      <p:rCtr x="0" y="0"/>
                                    </p:animMotion>
                                    <p:animScale>
                                      <p:cBhvr>
                                        <p:cTn id="63" dur="3600" fill="hold"/>
                                        <p:tgtEl>
                                          <p:spTgt spid="17"/>
                                        </p:tgtEl>
                                      </p:cBhvr>
                                      <p:from x="100000" y="100000"/>
                                      <p:to x="320000" y="320000"/>
                                    </p:animScale>
                                  </p:childTnLst>
                                </p:cTn>
                              </p:par>
                              <p:par>
                                <p:cTn id="64" presetID="10" presetClass="exit" fill="hold" grpId="5" nodeType="withEffect">
                                  <p:stCondLst>
                                    <p:cond delay="6300"/>
                                  </p:stCondLst>
                                  <p:childTnLst>
                                    <p:animEffect transition="out" filter="fade">
                                      <p:cBhvr>
                                        <p:cTn id="65" dur="900"/>
                                        <p:tgtEl>
                                          <p:spTgt spid="17"/>
                                        </p:tgtEl>
                                      </p:cBhvr>
                                    </p:animEffect>
                                    <p:set>
                                      <p:cBhvr>
                                        <p:cTn id="66" dur="1" fill="hold">
                                          <p:stCondLst>
                                            <p:cond delay="899"/>
                                          </p:stCondLst>
                                        </p:cTn>
                                        <p:tgtEl>
                                          <p:spTgt spid="17"/>
                                        </p:tgtEl>
                                        <p:attrNameLst>
                                          <p:attrName>style.visibility</p:attrName>
                                        </p:attrNameLst>
                                      </p:cBhvr>
                                      <p:to>
                                        <p:strVal val="hidden"/>
                                      </p:to>
                                    </p:set>
                                  </p:childTnLst>
                                </p:cTn>
                              </p:par>
                            </p:childTnLst>
                          </p:cTn>
                        </p:par>
                        <p:par>
                          <p:cTn id="77" fill="hold">
                            <p:stCondLst>
                              <p:cond delay="0"/>
                            </p:stCondLst>
                            <p:childTnLst>
                              <p:par>
                                <p:cTn id="68" presetID="10" presetClass="entr" fill="hold" grpId="6" nodeType="withEffect">
                                  <p:stCondLst>
                                    <p:cond delay="720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childTnLst>
                                </p:cTn>
                              </p:par>
                              <p:par>
                                <p:cTn id="71" presetID="0" presetClass="path" fill="hold" grpId="7" nodeType="withEffect">
                                  <p:stCondLst>
                                    <p:cond delay="7200"/>
                                  </p:stCondLst>
                                  <p:childTnLst>
                                    <p:animMotion origin="layout" path="M 0 0 L -0.0255 -0.20667 E" pathEditMode="relative" ptsTypes="AA">
                                      <p:cBhvr additive="base">
                                        <p:cTn id="72" dur="3600" fill="hold"/>
                                        <p:tgtEl>
                                          <p:spTgt spid="17"/>
                                        </p:tgtEl>
                                        <p:attrNameLst>
                                          <p:attrName>ppt_x</p:attrName>
                                          <p:attrName>ppt_y</p:attrName>
                                        </p:attrNameLst>
                                      </p:cBhvr>
                                      <p:rCtr x="0" y="0"/>
                                    </p:animMotion>
                                    <p:animScale>
                                      <p:cBhvr>
                                        <p:cTn id="73" dur="3600" fill="hold"/>
                                        <p:tgtEl>
                                          <p:spTgt spid="17"/>
                                        </p:tgtEl>
                                      </p:cBhvr>
                                      <p:from x="100000" y="100000"/>
                                      <p:to x="320000" y="320000"/>
                                    </p:animScale>
                                  </p:childTnLst>
                                </p:cTn>
                              </p:par>
                              <p:par>
                                <p:cTn id="74" presetID="10" presetClass="exit" fill="hold" grpId="8" nodeType="withEffect">
                                  <p:stCondLst>
                                    <p:cond delay="9900"/>
                                  </p:stCondLst>
                                  <p:childTnLst>
                                    <p:animEffect transition="out" filter="fade">
                                      <p:cBhvr>
                                        <p:cTn id="75" dur="900"/>
                                        <p:tgtEl>
                                          <p:spTgt spid="17"/>
                                        </p:tgtEl>
                                      </p:cBhvr>
                                    </p:animEffect>
                                    <p:set>
                                      <p:cBhvr>
                                        <p:cTn id="76" dur="1" fill="hold">
                                          <p:stCondLst>
                                            <p:cond delay="899"/>
                                          </p:stCondLst>
                                        </p:cTn>
                                        <p:tgtEl>
                                          <p:spTgt spid="17"/>
                                        </p:tgtEl>
                                        <p:attrNameLst>
                                          <p:attrName>style.visibility</p:attrName>
                                        </p:attrNameLst>
                                      </p:cBhvr>
                                      <p:to>
                                        <p:strVal val="hidden"/>
                                      </p:to>
                                    </p:set>
                                  </p:childTnLst>
                                </p:cTn>
                              </p:par>
                            </p:childTnLst>
                          </p:cTn>
                        </p:par>
                        <p:par>
                          <p:cTn id="87" fill="hold">
                            <p:stCondLst>
                              <p:cond delay="0"/>
                            </p:stCondLst>
                            <p:childTnLst>
                              <p:par>
                                <p:cTn id="78" presetID="10" presetClass="entr" fill="hold" grpId="9" nodeType="withEffect">
                                  <p:stCondLst>
                                    <p:cond delay="1080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500"/>
                                        <p:tgtEl>
                                          <p:spTgt spid="17"/>
                                        </p:tgtEl>
                                      </p:cBhvr>
                                    </p:animEffect>
                                  </p:childTnLst>
                                </p:cTn>
                              </p:par>
                              <p:par>
                                <p:cTn id="81" presetID="0" presetClass="path" fill="hold" grpId="10" nodeType="withEffect">
                                  <p:stCondLst>
                                    <p:cond delay="10800"/>
                                  </p:stCondLst>
                                  <p:childTnLst>
                                    <p:animMotion origin="layout" path="M 0 0 L -0.0255 -0.20667 E" pathEditMode="relative" ptsTypes="AA">
                                      <p:cBhvr additive="base">
                                        <p:cTn id="82" dur="3600" fill="hold"/>
                                        <p:tgtEl>
                                          <p:spTgt spid="17"/>
                                        </p:tgtEl>
                                        <p:attrNameLst>
                                          <p:attrName>ppt_x</p:attrName>
                                          <p:attrName>ppt_y</p:attrName>
                                        </p:attrNameLst>
                                      </p:cBhvr>
                                      <p:rCtr x="0" y="0"/>
                                    </p:animMotion>
                                    <p:animScale>
                                      <p:cBhvr>
                                        <p:cTn id="83" dur="3600" fill="hold"/>
                                        <p:tgtEl>
                                          <p:spTgt spid="17"/>
                                        </p:tgtEl>
                                      </p:cBhvr>
                                      <p:from x="100000" y="100000"/>
                                      <p:to x="320000" y="320000"/>
                                    </p:animScale>
                                  </p:childTnLst>
                                </p:cTn>
                              </p:par>
                              <p:par>
                                <p:cTn id="84" presetID="10" presetClass="exit" fill="hold" grpId="11" nodeType="withEffect">
                                  <p:stCondLst>
                                    <p:cond delay="13500"/>
                                  </p:stCondLst>
                                  <p:childTnLst>
                                    <p:animEffect transition="out" filter="fade">
                                      <p:cBhvr>
                                        <p:cTn id="85" dur="900"/>
                                        <p:tgtEl>
                                          <p:spTgt spid="17"/>
                                        </p:tgtEl>
                                      </p:cBhvr>
                                    </p:animEffect>
                                    <p:set>
                                      <p:cBhvr>
                                        <p:cTn id="86" dur="1" fill="hold">
                                          <p:stCondLst>
                                            <p:cond delay="899"/>
                                          </p:stCondLst>
                                        </p:cTn>
                                        <p:tgtEl>
                                          <p:spTgt spid="17"/>
                                        </p:tgtEl>
                                        <p:attrNameLst>
                                          <p:attrName>style.visibility</p:attrName>
                                        </p:attrNameLst>
                                      </p:cBhvr>
                                      <p:to>
                                        <p:strVal val="hidden"/>
                                      </p:to>
                                    </p:set>
                                  </p:childTnLst>
                                </p:cTn>
                              </p:par>
                            </p:childTnLst>
                          </p:cTn>
                        </p:par>
                        <p:par>
                          <p:cTn id="97" fill="hold">
                            <p:stCondLst>
                              <p:cond delay="0"/>
                            </p:stCondLst>
                            <p:childTnLst>
                              <p:par>
                                <p:cTn id="88" presetID="10" presetClass="entr" fill="hold" grpId="12" nodeType="withEffect">
                                  <p:stCondLst>
                                    <p:cond delay="1440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500"/>
                                        <p:tgtEl>
                                          <p:spTgt spid="17"/>
                                        </p:tgtEl>
                                      </p:cBhvr>
                                    </p:animEffect>
                                  </p:childTnLst>
                                </p:cTn>
                              </p:par>
                              <p:par>
                                <p:cTn id="91" presetID="0" presetClass="path" fill="hold" grpId="13" nodeType="withEffect">
                                  <p:stCondLst>
                                    <p:cond delay="14400"/>
                                  </p:stCondLst>
                                  <p:childTnLst>
                                    <p:animMotion origin="layout" path="M 0 0 L -0.0255 -0.20667 E" pathEditMode="relative" ptsTypes="AA">
                                      <p:cBhvr additive="base">
                                        <p:cTn id="92" dur="3600" fill="hold"/>
                                        <p:tgtEl>
                                          <p:spTgt spid="17"/>
                                        </p:tgtEl>
                                        <p:attrNameLst>
                                          <p:attrName>ppt_x</p:attrName>
                                          <p:attrName>ppt_y</p:attrName>
                                        </p:attrNameLst>
                                      </p:cBhvr>
                                      <p:rCtr x="0" y="0"/>
                                    </p:animMotion>
                                    <p:animScale>
                                      <p:cBhvr>
                                        <p:cTn id="93" dur="3600" fill="hold"/>
                                        <p:tgtEl>
                                          <p:spTgt spid="17"/>
                                        </p:tgtEl>
                                      </p:cBhvr>
                                      <p:from x="100000" y="100000"/>
                                      <p:to x="320000" y="320000"/>
                                    </p:animScale>
                                  </p:childTnLst>
                                </p:cTn>
                              </p:par>
                              <p:par>
                                <p:cTn id="94" presetID="10" presetClass="exit" fill="hold" grpId="14" nodeType="withEffect">
                                  <p:stCondLst>
                                    <p:cond delay="17100"/>
                                  </p:stCondLst>
                                  <p:childTnLst>
                                    <p:animEffect transition="out" filter="fade">
                                      <p:cBhvr>
                                        <p:cTn id="95" dur="900"/>
                                        <p:tgtEl>
                                          <p:spTgt spid="17"/>
                                        </p:tgtEl>
                                      </p:cBhvr>
                                    </p:animEffect>
                                    <p:set>
                                      <p:cBhvr>
                                        <p:cTn id="96" dur="1" fill="hold">
                                          <p:stCondLst>
                                            <p:cond delay="899"/>
                                          </p:stCondLst>
                                        </p:cTn>
                                        <p:tgtEl>
                                          <p:spTgt spid="17"/>
                                        </p:tgtEl>
                                        <p:attrNameLst>
                                          <p:attrName>style.visibility</p:attrName>
                                        </p:attrNameLst>
                                      </p:cBhvr>
                                      <p:to>
                                        <p:strVal val="hidden"/>
                                      </p:to>
                                    </p:set>
                                  </p:childTnLst>
                                </p:cTn>
                              </p:par>
                            </p:childTnLst>
                          </p:cTn>
                        </p:par>
                        <p:par>
                          <p:cTn id="107" fill="hold">
                            <p:stCondLst>
                              <p:cond delay="0"/>
                            </p:stCondLst>
                            <p:childTnLst>
                              <p:par>
                                <p:cTn id="98" presetID="10" presetClass="entr" fill="hold" grpId="15" nodeType="withEffect">
                                  <p:stCondLst>
                                    <p:cond delay="18000"/>
                                  </p:stCondLst>
                                  <p:childTnLst>
                                    <p:set>
                                      <p:cBhvr>
                                        <p:cTn id="99" dur="1" fill="hold">
                                          <p:stCondLst>
                                            <p:cond delay="0"/>
                                          </p:stCondLst>
                                        </p:cTn>
                                        <p:tgtEl>
                                          <p:spTgt spid="17"/>
                                        </p:tgtEl>
                                        <p:attrNameLst>
                                          <p:attrName>style.visibility</p:attrName>
                                        </p:attrNameLst>
                                      </p:cBhvr>
                                      <p:to>
                                        <p:strVal val="visible"/>
                                      </p:to>
                                    </p:set>
                                    <p:animEffect transition="in" filter="fade">
                                      <p:cBhvr>
                                        <p:cTn id="100" dur="500"/>
                                        <p:tgtEl>
                                          <p:spTgt spid="17"/>
                                        </p:tgtEl>
                                      </p:cBhvr>
                                    </p:animEffect>
                                  </p:childTnLst>
                                </p:cTn>
                              </p:par>
                              <p:par>
                                <p:cTn id="101" presetID="0" presetClass="path" fill="hold" grpId="16" nodeType="withEffect">
                                  <p:stCondLst>
                                    <p:cond delay="18000"/>
                                  </p:stCondLst>
                                  <p:childTnLst>
                                    <p:animMotion origin="layout" path="M 0 0 L -0.0255 -0.20667 E" pathEditMode="relative" ptsTypes="AA">
                                      <p:cBhvr additive="base">
                                        <p:cTn id="102" dur="3600" fill="hold"/>
                                        <p:tgtEl>
                                          <p:spTgt spid="17"/>
                                        </p:tgtEl>
                                        <p:attrNameLst>
                                          <p:attrName>ppt_x</p:attrName>
                                          <p:attrName>ppt_y</p:attrName>
                                        </p:attrNameLst>
                                      </p:cBhvr>
                                      <p:rCtr x="0" y="0"/>
                                    </p:animMotion>
                                    <p:animScale>
                                      <p:cBhvr>
                                        <p:cTn id="103" dur="3600" fill="hold"/>
                                        <p:tgtEl>
                                          <p:spTgt spid="17"/>
                                        </p:tgtEl>
                                      </p:cBhvr>
                                      <p:from x="100000" y="100000"/>
                                      <p:to x="320000" y="320000"/>
                                    </p:animScale>
                                  </p:childTnLst>
                                </p:cTn>
                              </p:par>
                              <p:par>
                                <p:cTn id="104" presetID="10" presetClass="exit" fill="hold" grpId="17" nodeType="withEffect">
                                  <p:stCondLst>
                                    <p:cond delay="20700"/>
                                  </p:stCondLst>
                                  <p:childTnLst>
                                    <p:animEffect transition="out" filter="fade">
                                      <p:cBhvr>
                                        <p:cTn id="105" dur="900"/>
                                        <p:tgtEl>
                                          <p:spTgt spid="17"/>
                                        </p:tgtEl>
                                      </p:cBhvr>
                                    </p:animEffect>
                                    <p:set>
                                      <p:cBhvr>
                                        <p:cTn id="106" dur="1" fill="hold">
                                          <p:stCondLst>
                                            <p:cond delay="899"/>
                                          </p:stCondLst>
                                        </p:cTn>
                                        <p:tgtEl>
                                          <p:spTgt spid="17"/>
                                        </p:tgtEl>
                                        <p:attrNameLst>
                                          <p:attrName>style.visibility</p:attrName>
                                        </p:attrNameLst>
                                      </p:cBhvr>
                                      <p:to>
                                        <p:strVal val="hidden"/>
                                      </p:to>
                                    </p:set>
                                  </p:childTnLst>
                                </p:cTn>
                              </p:par>
                            </p:childTnLst>
                          </p:cTn>
                        </p:par>
                        <p:par>
                          <p:cTn id="117" fill="hold">
                            <p:stCondLst>
                              <p:cond delay="0"/>
                            </p:stCondLst>
                            <p:childTnLst>
                              <p:par>
                                <p:cTn id="108" presetID="10" presetClass="entr" fill="hold" grpId="18" nodeType="withEffect">
                                  <p:stCondLst>
                                    <p:cond delay="21600"/>
                                  </p:stCondLst>
                                  <p:childTnLst>
                                    <p:set>
                                      <p:cBhvr>
                                        <p:cTn id="109" dur="1" fill="hold">
                                          <p:stCondLst>
                                            <p:cond delay="0"/>
                                          </p:stCondLst>
                                        </p:cTn>
                                        <p:tgtEl>
                                          <p:spTgt spid="17"/>
                                        </p:tgtEl>
                                        <p:attrNameLst>
                                          <p:attrName>style.visibility</p:attrName>
                                        </p:attrNameLst>
                                      </p:cBhvr>
                                      <p:to>
                                        <p:strVal val="visible"/>
                                      </p:to>
                                    </p:set>
                                    <p:animEffect transition="in" filter="fade">
                                      <p:cBhvr>
                                        <p:cTn id="110" dur="500"/>
                                        <p:tgtEl>
                                          <p:spTgt spid="17"/>
                                        </p:tgtEl>
                                      </p:cBhvr>
                                    </p:animEffect>
                                  </p:childTnLst>
                                </p:cTn>
                              </p:par>
                              <p:par>
                                <p:cTn id="111" presetID="0" presetClass="path" fill="hold" grpId="19" nodeType="withEffect">
                                  <p:stCondLst>
                                    <p:cond delay="21600"/>
                                  </p:stCondLst>
                                  <p:childTnLst>
                                    <p:animMotion origin="layout" path="M 0 0 L -0.0255 -0.20667 E" pathEditMode="relative" ptsTypes="AA">
                                      <p:cBhvr additive="base">
                                        <p:cTn id="112" dur="3600" fill="hold"/>
                                        <p:tgtEl>
                                          <p:spTgt spid="17"/>
                                        </p:tgtEl>
                                        <p:attrNameLst>
                                          <p:attrName>ppt_x</p:attrName>
                                          <p:attrName>ppt_y</p:attrName>
                                        </p:attrNameLst>
                                      </p:cBhvr>
                                      <p:rCtr x="0" y="0"/>
                                    </p:animMotion>
                                    <p:animScale>
                                      <p:cBhvr>
                                        <p:cTn id="113" dur="3600" fill="hold"/>
                                        <p:tgtEl>
                                          <p:spTgt spid="17"/>
                                        </p:tgtEl>
                                      </p:cBhvr>
                                      <p:from x="100000" y="100000"/>
                                      <p:to x="320000" y="320000"/>
                                    </p:animScale>
                                  </p:childTnLst>
                                </p:cTn>
                              </p:par>
                              <p:par>
                                <p:cTn id="114" presetID="10" presetClass="exit" fill="hold" grpId="20" nodeType="withEffect">
                                  <p:stCondLst>
                                    <p:cond delay="24300"/>
                                  </p:stCondLst>
                                  <p:childTnLst>
                                    <p:animEffect transition="out" filter="fade">
                                      <p:cBhvr>
                                        <p:cTn id="115" dur="900"/>
                                        <p:tgtEl>
                                          <p:spTgt spid="17"/>
                                        </p:tgtEl>
                                      </p:cBhvr>
                                    </p:animEffect>
                                    <p:set>
                                      <p:cBhvr>
                                        <p:cTn id="116" dur="1" fill="hold">
                                          <p:stCondLst>
                                            <p:cond delay="899"/>
                                          </p:stCondLst>
                                        </p:cTn>
                                        <p:tgtEl>
                                          <p:spTgt spid="17"/>
                                        </p:tgtEl>
                                        <p:attrNameLst>
                                          <p:attrName>style.visibility</p:attrName>
                                        </p:attrNameLst>
                                      </p:cBhvr>
                                      <p:to>
                                        <p:strVal val="hidden"/>
                                      </p:to>
                                    </p:set>
                                  </p:childTnLst>
                                </p:cTn>
                              </p:par>
                            </p:childTnLst>
                          </p:cTn>
                        </p:par>
                        <p:par>
                          <p:cTn id="127" fill="hold">
                            <p:stCondLst>
                              <p:cond delay="0"/>
                            </p:stCondLst>
                            <p:childTnLst>
                              <p:par>
                                <p:cTn id="118" presetID="10" presetClass="entr" fill="hold" grpId="21" nodeType="withEffect">
                                  <p:stCondLst>
                                    <p:cond delay="25200"/>
                                  </p:stCondLst>
                                  <p:childTnLst>
                                    <p:set>
                                      <p:cBhvr>
                                        <p:cTn id="119" dur="1" fill="hold">
                                          <p:stCondLst>
                                            <p:cond delay="0"/>
                                          </p:stCondLst>
                                        </p:cTn>
                                        <p:tgtEl>
                                          <p:spTgt spid="17"/>
                                        </p:tgtEl>
                                        <p:attrNameLst>
                                          <p:attrName>style.visibility</p:attrName>
                                        </p:attrNameLst>
                                      </p:cBhvr>
                                      <p:to>
                                        <p:strVal val="visible"/>
                                      </p:to>
                                    </p:set>
                                    <p:animEffect transition="in" filter="fade">
                                      <p:cBhvr>
                                        <p:cTn id="120" dur="500"/>
                                        <p:tgtEl>
                                          <p:spTgt spid="17"/>
                                        </p:tgtEl>
                                      </p:cBhvr>
                                    </p:animEffect>
                                  </p:childTnLst>
                                </p:cTn>
                              </p:par>
                              <p:par>
                                <p:cTn id="121" presetID="0" presetClass="path" fill="hold" grpId="22" nodeType="withEffect">
                                  <p:stCondLst>
                                    <p:cond delay="25200"/>
                                  </p:stCondLst>
                                  <p:childTnLst>
                                    <p:animMotion origin="layout" path="M 0 0 L -0.0255 -0.20667 E" pathEditMode="relative" ptsTypes="AA">
                                      <p:cBhvr additive="base">
                                        <p:cTn id="122" dur="3600" fill="hold"/>
                                        <p:tgtEl>
                                          <p:spTgt spid="17"/>
                                        </p:tgtEl>
                                        <p:attrNameLst>
                                          <p:attrName>ppt_x</p:attrName>
                                          <p:attrName>ppt_y</p:attrName>
                                        </p:attrNameLst>
                                      </p:cBhvr>
                                      <p:rCtr x="0" y="0"/>
                                    </p:animMotion>
                                    <p:animScale>
                                      <p:cBhvr>
                                        <p:cTn id="123" dur="3600" fill="hold"/>
                                        <p:tgtEl>
                                          <p:spTgt spid="17"/>
                                        </p:tgtEl>
                                      </p:cBhvr>
                                      <p:from x="100000" y="100000"/>
                                      <p:to x="320000" y="320000"/>
                                    </p:animScale>
                                  </p:childTnLst>
                                </p:cTn>
                              </p:par>
                              <p:par>
                                <p:cTn id="124" presetID="10" presetClass="exit" fill="hold" grpId="23" nodeType="withEffect">
                                  <p:stCondLst>
                                    <p:cond delay="27900"/>
                                  </p:stCondLst>
                                  <p:childTnLst>
                                    <p:animEffect transition="out" filter="fade">
                                      <p:cBhvr>
                                        <p:cTn id="125" dur="900"/>
                                        <p:tgtEl>
                                          <p:spTgt spid="17"/>
                                        </p:tgtEl>
                                      </p:cBhvr>
                                    </p:animEffect>
                                    <p:set>
                                      <p:cBhvr>
                                        <p:cTn id="126" dur="1" fill="hold">
                                          <p:stCondLst>
                                            <p:cond delay="899"/>
                                          </p:stCondLst>
                                        </p:cTn>
                                        <p:tgtEl>
                                          <p:spTgt spid="17"/>
                                        </p:tgtEl>
                                        <p:attrNameLst>
                                          <p:attrName>style.visibility</p:attrName>
                                        </p:attrNameLst>
                                      </p:cBhvr>
                                      <p:to>
                                        <p:strVal val="hidden"/>
                                      </p:to>
                                    </p:set>
                                  </p:childTnLst>
                                </p:cTn>
                              </p:par>
                            </p:childTnLst>
                          </p:cTn>
                        </p:par>
                        <p:par>
                          <p:cTn id="137" fill="hold">
                            <p:stCondLst>
                              <p:cond delay="0"/>
                            </p:stCondLst>
                            <p:childTnLst>
                              <p:par>
                                <p:cTn id="128" presetID="10" presetClass="entr" fill="hold" grpId="24" nodeType="withEffect">
                                  <p:stCondLst>
                                    <p:cond delay="28800"/>
                                  </p:stCondLst>
                                  <p:childTnLst>
                                    <p:set>
                                      <p:cBhvr>
                                        <p:cTn id="129" dur="1" fill="hold">
                                          <p:stCondLst>
                                            <p:cond delay="0"/>
                                          </p:stCondLst>
                                        </p:cTn>
                                        <p:tgtEl>
                                          <p:spTgt spid="17"/>
                                        </p:tgtEl>
                                        <p:attrNameLst>
                                          <p:attrName>style.visibility</p:attrName>
                                        </p:attrNameLst>
                                      </p:cBhvr>
                                      <p:to>
                                        <p:strVal val="visible"/>
                                      </p:to>
                                    </p:set>
                                    <p:animEffect transition="in" filter="fade">
                                      <p:cBhvr>
                                        <p:cTn id="130" dur="500"/>
                                        <p:tgtEl>
                                          <p:spTgt spid="17"/>
                                        </p:tgtEl>
                                      </p:cBhvr>
                                    </p:animEffect>
                                  </p:childTnLst>
                                </p:cTn>
                              </p:par>
                              <p:par>
                                <p:cTn id="131" presetID="0" presetClass="path" fill="hold" grpId="25" nodeType="withEffect">
                                  <p:stCondLst>
                                    <p:cond delay="28800"/>
                                  </p:stCondLst>
                                  <p:childTnLst>
                                    <p:animMotion origin="layout" path="M 0 0 L -0.0255 -0.20667 E" pathEditMode="relative" ptsTypes="AA">
                                      <p:cBhvr additive="base">
                                        <p:cTn id="132" dur="3600" fill="hold"/>
                                        <p:tgtEl>
                                          <p:spTgt spid="17"/>
                                        </p:tgtEl>
                                        <p:attrNameLst>
                                          <p:attrName>ppt_x</p:attrName>
                                          <p:attrName>ppt_y</p:attrName>
                                        </p:attrNameLst>
                                      </p:cBhvr>
                                      <p:rCtr x="0" y="0"/>
                                    </p:animMotion>
                                    <p:animScale>
                                      <p:cBhvr>
                                        <p:cTn id="133" dur="3600" fill="hold"/>
                                        <p:tgtEl>
                                          <p:spTgt spid="17"/>
                                        </p:tgtEl>
                                      </p:cBhvr>
                                      <p:from x="100000" y="100000"/>
                                      <p:to x="320000" y="320000"/>
                                    </p:animScale>
                                  </p:childTnLst>
                                </p:cTn>
                              </p:par>
                              <p:par>
                                <p:cTn id="134" presetID="10" presetClass="exit" fill="hold" grpId="26" nodeType="withEffect">
                                  <p:stCondLst>
                                    <p:cond delay="31500"/>
                                  </p:stCondLst>
                                  <p:childTnLst>
                                    <p:animEffect transition="out" filter="fade">
                                      <p:cBhvr>
                                        <p:cTn id="135" dur="900"/>
                                        <p:tgtEl>
                                          <p:spTgt spid="17"/>
                                        </p:tgtEl>
                                      </p:cBhvr>
                                    </p:animEffect>
                                    <p:set>
                                      <p:cBhvr>
                                        <p:cTn id="136" dur="1" fill="hold">
                                          <p:stCondLst>
                                            <p:cond delay="899"/>
                                          </p:stCondLst>
                                        </p:cTn>
                                        <p:tgtEl>
                                          <p:spTgt spid="17"/>
                                        </p:tgtEl>
                                        <p:attrNameLst>
                                          <p:attrName>style.visibility</p:attrName>
                                        </p:attrNameLst>
                                      </p:cBhvr>
                                      <p:to>
                                        <p:strVal val="hidden"/>
                                      </p:to>
                                    </p:set>
                                  </p:childTnLst>
                                </p:cTn>
                              </p:par>
                            </p:childTnLst>
                          </p:cTn>
                        </p:par>
                        <p:par>
                          <p:cTn id="147" fill="hold">
                            <p:stCondLst>
                              <p:cond delay="0"/>
                            </p:stCondLst>
                            <p:childTnLst>
                              <p:par>
                                <p:cTn id="138" presetID="10" presetClass="entr" fill="hold" grpId="27" nodeType="withEffect">
                                  <p:stCondLst>
                                    <p:cond delay="32400"/>
                                  </p:stCondLst>
                                  <p:childTnLst>
                                    <p:set>
                                      <p:cBhvr>
                                        <p:cTn id="139" dur="1" fill="hold">
                                          <p:stCondLst>
                                            <p:cond delay="0"/>
                                          </p:stCondLst>
                                        </p:cTn>
                                        <p:tgtEl>
                                          <p:spTgt spid="17"/>
                                        </p:tgtEl>
                                        <p:attrNameLst>
                                          <p:attrName>style.visibility</p:attrName>
                                        </p:attrNameLst>
                                      </p:cBhvr>
                                      <p:to>
                                        <p:strVal val="visible"/>
                                      </p:to>
                                    </p:set>
                                    <p:animEffect transition="in" filter="fade">
                                      <p:cBhvr>
                                        <p:cTn id="140" dur="500"/>
                                        <p:tgtEl>
                                          <p:spTgt spid="17"/>
                                        </p:tgtEl>
                                      </p:cBhvr>
                                    </p:animEffect>
                                  </p:childTnLst>
                                </p:cTn>
                              </p:par>
                              <p:par>
                                <p:cTn id="141" presetID="0" presetClass="path" fill="hold" grpId="28" nodeType="withEffect">
                                  <p:stCondLst>
                                    <p:cond delay="32400"/>
                                  </p:stCondLst>
                                  <p:childTnLst>
                                    <p:animMotion origin="layout" path="M 0 0 L -0.0255 -0.20667 E" pathEditMode="relative" ptsTypes="AA">
                                      <p:cBhvr additive="base">
                                        <p:cTn id="142" dur="3600" fill="hold"/>
                                        <p:tgtEl>
                                          <p:spTgt spid="17"/>
                                        </p:tgtEl>
                                        <p:attrNameLst>
                                          <p:attrName>ppt_x</p:attrName>
                                          <p:attrName>ppt_y</p:attrName>
                                        </p:attrNameLst>
                                      </p:cBhvr>
                                      <p:rCtr x="0" y="0"/>
                                    </p:animMotion>
                                    <p:animScale>
                                      <p:cBhvr>
                                        <p:cTn id="143" dur="3600" fill="hold"/>
                                        <p:tgtEl>
                                          <p:spTgt spid="17"/>
                                        </p:tgtEl>
                                      </p:cBhvr>
                                      <p:from x="100000" y="100000"/>
                                      <p:to x="320000" y="320000"/>
                                    </p:animScale>
                                  </p:childTnLst>
                                </p:cTn>
                              </p:par>
                              <p:par>
                                <p:cTn id="144" presetID="10" presetClass="exit" fill="hold" grpId="29" nodeType="withEffect">
                                  <p:stCondLst>
                                    <p:cond delay="35100"/>
                                  </p:stCondLst>
                                  <p:childTnLst>
                                    <p:animEffect transition="out" filter="fade">
                                      <p:cBhvr>
                                        <p:cTn id="145" dur="900"/>
                                        <p:tgtEl>
                                          <p:spTgt spid="17"/>
                                        </p:tgtEl>
                                      </p:cBhvr>
                                    </p:animEffect>
                                    <p:set>
                                      <p:cBhvr>
                                        <p:cTn id="146" dur="1" fill="hold">
                                          <p:stCondLst>
                                            <p:cond delay="899"/>
                                          </p:stCondLst>
                                        </p:cTn>
                                        <p:tgtEl>
                                          <p:spTgt spid="17"/>
                                        </p:tgtEl>
                                        <p:attrNameLst>
                                          <p:attrName>style.visibility</p:attrName>
                                        </p:attrNameLst>
                                      </p:cBhvr>
                                      <p:to>
                                        <p:strVal val="hidden"/>
                                      </p:to>
                                    </p:set>
                                  </p:childTnLst>
                                </p:cTn>
                              </p:par>
                            </p:childTnLst>
                          </p:cTn>
                        </p:par>
                        <p:par>
                          <p:cTn id="157" fill="hold">
                            <p:stCondLst>
                              <p:cond delay="0"/>
                            </p:stCondLst>
                            <p:childTnLst>
                              <p:par>
                                <p:cTn id="148" presetID="10" presetClass="entr" fill="hold" grpId="30" nodeType="withEffect">
                                  <p:stCondLst>
                                    <p:cond delay="36000"/>
                                  </p:stCondLst>
                                  <p:childTnLst>
                                    <p:set>
                                      <p:cBhvr>
                                        <p:cTn id="149" dur="1" fill="hold">
                                          <p:stCondLst>
                                            <p:cond delay="0"/>
                                          </p:stCondLst>
                                        </p:cTn>
                                        <p:tgtEl>
                                          <p:spTgt spid="17"/>
                                        </p:tgtEl>
                                        <p:attrNameLst>
                                          <p:attrName>style.visibility</p:attrName>
                                        </p:attrNameLst>
                                      </p:cBhvr>
                                      <p:to>
                                        <p:strVal val="visible"/>
                                      </p:to>
                                    </p:set>
                                    <p:animEffect transition="in" filter="fade">
                                      <p:cBhvr>
                                        <p:cTn id="150" dur="500"/>
                                        <p:tgtEl>
                                          <p:spTgt spid="17"/>
                                        </p:tgtEl>
                                      </p:cBhvr>
                                    </p:animEffect>
                                  </p:childTnLst>
                                </p:cTn>
                              </p:par>
                              <p:par>
                                <p:cTn id="151" presetID="0" presetClass="path" fill="hold" grpId="31" nodeType="withEffect">
                                  <p:stCondLst>
                                    <p:cond delay="36000"/>
                                  </p:stCondLst>
                                  <p:childTnLst>
                                    <p:animMotion origin="layout" path="M 0 0 L -0.0255 -0.20667 E" pathEditMode="relative" ptsTypes="AA">
                                      <p:cBhvr additive="base">
                                        <p:cTn id="152" dur="3600" fill="hold"/>
                                        <p:tgtEl>
                                          <p:spTgt spid="17"/>
                                        </p:tgtEl>
                                        <p:attrNameLst>
                                          <p:attrName>ppt_x</p:attrName>
                                          <p:attrName>ppt_y</p:attrName>
                                        </p:attrNameLst>
                                      </p:cBhvr>
                                      <p:rCtr x="0" y="0"/>
                                    </p:animMotion>
                                    <p:animScale>
                                      <p:cBhvr>
                                        <p:cTn id="153" dur="3600" fill="hold"/>
                                        <p:tgtEl>
                                          <p:spTgt spid="17"/>
                                        </p:tgtEl>
                                      </p:cBhvr>
                                      <p:from x="100000" y="100000"/>
                                      <p:to x="320000" y="320000"/>
                                    </p:animScale>
                                  </p:childTnLst>
                                </p:cTn>
                              </p:par>
                              <p:par>
                                <p:cTn id="154" presetID="10" presetClass="exit" fill="hold" grpId="32" nodeType="withEffect">
                                  <p:stCondLst>
                                    <p:cond delay="38700"/>
                                  </p:stCondLst>
                                  <p:childTnLst>
                                    <p:animEffect transition="out" filter="fade">
                                      <p:cBhvr>
                                        <p:cTn id="155" dur="900"/>
                                        <p:tgtEl>
                                          <p:spTgt spid="17"/>
                                        </p:tgtEl>
                                      </p:cBhvr>
                                    </p:animEffect>
                                    <p:set>
                                      <p:cBhvr>
                                        <p:cTn id="156" dur="1" fill="hold">
                                          <p:stCondLst>
                                            <p:cond delay="899"/>
                                          </p:stCondLst>
                                        </p:cTn>
                                        <p:tgtEl>
                                          <p:spTgt spid="17"/>
                                        </p:tgtEl>
                                        <p:attrNameLst>
                                          <p:attrName>style.visibility</p:attrName>
                                        </p:attrNameLst>
                                      </p:cBhvr>
                                      <p:to>
                                        <p:strVal val="hidden"/>
                                      </p:to>
                                    </p:set>
                                  </p:childTnLst>
                                </p:cTn>
                              </p:par>
                            </p:childTnLst>
                          </p:cTn>
                        </p:par>
                        <p:par>
                          <p:cTn id="167" fill="hold">
                            <p:stCondLst>
                              <p:cond delay="0"/>
                            </p:stCondLst>
                            <p:childTnLst>
                              <p:par>
                                <p:cTn id="158" presetID="10" presetClass="entr" fill="hold" grpId="33" nodeType="withEffect">
                                  <p:stCondLst>
                                    <p:cond delay="39600"/>
                                  </p:stCondLst>
                                  <p:childTnLst>
                                    <p:set>
                                      <p:cBhvr>
                                        <p:cTn id="159" dur="1" fill="hold">
                                          <p:stCondLst>
                                            <p:cond delay="0"/>
                                          </p:stCondLst>
                                        </p:cTn>
                                        <p:tgtEl>
                                          <p:spTgt spid="17"/>
                                        </p:tgtEl>
                                        <p:attrNameLst>
                                          <p:attrName>style.visibility</p:attrName>
                                        </p:attrNameLst>
                                      </p:cBhvr>
                                      <p:to>
                                        <p:strVal val="visible"/>
                                      </p:to>
                                    </p:set>
                                    <p:animEffect transition="in" filter="fade">
                                      <p:cBhvr>
                                        <p:cTn id="160" dur="500"/>
                                        <p:tgtEl>
                                          <p:spTgt spid="17"/>
                                        </p:tgtEl>
                                      </p:cBhvr>
                                    </p:animEffect>
                                  </p:childTnLst>
                                </p:cTn>
                              </p:par>
                              <p:par>
                                <p:cTn id="161" presetID="0" presetClass="path" fill="hold" grpId="34" nodeType="withEffect">
                                  <p:stCondLst>
                                    <p:cond delay="39600"/>
                                  </p:stCondLst>
                                  <p:childTnLst>
                                    <p:animMotion origin="layout" path="M 0 0 L -0.0255 -0.20667 E" pathEditMode="relative" ptsTypes="AA">
                                      <p:cBhvr additive="base">
                                        <p:cTn id="162" dur="3600" fill="hold"/>
                                        <p:tgtEl>
                                          <p:spTgt spid="17"/>
                                        </p:tgtEl>
                                        <p:attrNameLst>
                                          <p:attrName>ppt_x</p:attrName>
                                          <p:attrName>ppt_y</p:attrName>
                                        </p:attrNameLst>
                                      </p:cBhvr>
                                      <p:rCtr x="0" y="0"/>
                                    </p:animMotion>
                                    <p:animScale>
                                      <p:cBhvr>
                                        <p:cTn id="163" dur="3600" fill="hold"/>
                                        <p:tgtEl>
                                          <p:spTgt spid="17"/>
                                        </p:tgtEl>
                                      </p:cBhvr>
                                      <p:from x="100000" y="100000"/>
                                      <p:to x="320000" y="320000"/>
                                    </p:animScale>
                                  </p:childTnLst>
                                </p:cTn>
                              </p:par>
                              <p:par>
                                <p:cTn id="164" presetID="10" presetClass="exit" fill="hold" grpId="35" nodeType="withEffect">
                                  <p:stCondLst>
                                    <p:cond delay="42300"/>
                                  </p:stCondLst>
                                  <p:childTnLst>
                                    <p:animEffect transition="out" filter="fade">
                                      <p:cBhvr>
                                        <p:cTn id="165" dur="900"/>
                                        <p:tgtEl>
                                          <p:spTgt spid="17"/>
                                        </p:tgtEl>
                                      </p:cBhvr>
                                    </p:animEffect>
                                    <p:set>
                                      <p:cBhvr>
                                        <p:cTn id="166" dur="1" fill="hold">
                                          <p:stCondLst>
                                            <p:cond delay="899"/>
                                          </p:stCondLst>
                                        </p:cTn>
                                        <p:tgtEl>
                                          <p:spTgt spid="17"/>
                                        </p:tgtEl>
                                        <p:attrNameLst>
                                          <p:attrName>style.visibility</p:attrName>
                                        </p:attrNameLst>
                                      </p:cBhvr>
                                      <p:to>
                                        <p:strVal val="hidden"/>
                                      </p:to>
                                    </p:set>
                                  </p:childTnLst>
                                </p:cTn>
                              </p:par>
                            </p:childTnLst>
                          </p:cTn>
                        </p:par>
                        <p:par>
                          <p:cTn id="177" fill="hold">
                            <p:stCondLst>
                              <p:cond delay="0"/>
                            </p:stCondLst>
                            <p:childTnLst>
                              <p:par>
                                <p:cTn id="168" presetID="10" presetClass="entr" fill="hold" grpId="36" nodeType="withEffect">
                                  <p:stCondLst>
                                    <p:cond delay="43200"/>
                                  </p:stCondLst>
                                  <p:childTnLst>
                                    <p:set>
                                      <p:cBhvr>
                                        <p:cTn id="169" dur="1" fill="hold">
                                          <p:stCondLst>
                                            <p:cond delay="0"/>
                                          </p:stCondLst>
                                        </p:cTn>
                                        <p:tgtEl>
                                          <p:spTgt spid="17"/>
                                        </p:tgtEl>
                                        <p:attrNameLst>
                                          <p:attrName>style.visibility</p:attrName>
                                        </p:attrNameLst>
                                      </p:cBhvr>
                                      <p:to>
                                        <p:strVal val="visible"/>
                                      </p:to>
                                    </p:set>
                                    <p:animEffect transition="in" filter="fade">
                                      <p:cBhvr>
                                        <p:cTn id="170" dur="500"/>
                                        <p:tgtEl>
                                          <p:spTgt spid="17"/>
                                        </p:tgtEl>
                                      </p:cBhvr>
                                    </p:animEffect>
                                  </p:childTnLst>
                                </p:cTn>
                              </p:par>
                              <p:par>
                                <p:cTn id="171" presetID="0" presetClass="path" fill="hold" grpId="37" nodeType="withEffect">
                                  <p:stCondLst>
                                    <p:cond delay="43200"/>
                                  </p:stCondLst>
                                  <p:childTnLst>
                                    <p:animMotion origin="layout" path="M 0 0 L -0.0255 -0.20667 E" pathEditMode="relative" ptsTypes="AA">
                                      <p:cBhvr additive="base">
                                        <p:cTn id="172" dur="3600" fill="hold"/>
                                        <p:tgtEl>
                                          <p:spTgt spid="17"/>
                                        </p:tgtEl>
                                        <p:attrNameLst>
                                          <p:attrName>ppt_x</p:attrName>
                                          <p:attrName>ppt_y</p:attrName>
                                        </p:attrNameLst>
                                      </p:cBhvr>
                                      <p:rCtr x="0" y="0"/>
                                    </p:animMotion>
                                    <p:animScale>
                                      <p:cBhvr>
                                        <p:cTn id="173" dur="3600" fill="hold"/>
                                        <p:tgtEl>
                                          <p:spTgt spid="17"/>
                                        </p:tgtEl>
                                      </p:cBhvr>
                                      <p:from x="100000" y="100000"/>
                                      <p:to x="320000" y="320000"/>
                                    </p:animScale>
                                  </p:childTnLst>
                                </p:cTn>
                              </p:par>
                              <p:par>
                                <p:cTn id="174" presetID="10" presetClass="exit" fill="hold" grpId="38" nodeType="withEffect">
                                  <p:stCondLst>
                                    <p:cond delay="45900"/>
                                  </p:stCondLst>
                                  <p:childTnLst>
                                    <p:animEffect transition="out" filter="fade">
                                      <p:cBhvr>
                                        <p:cTn id="175" dur="900"/>
                                        <p:tgtEl>
                                          <p:spTgt spid="17"/>
                                        </p:tgtEl>
                                      </p:cBhvr>
                                    </p:animEffect>
                                    <p:set>
                                      <p:cBhvr>
                                        <p:cTn id="176" dur="1" fill="hold">
                                          <p:stCondLst>
                                            <p:cond delay="899"/>
                                          </p:stCondLst>
                                        </p:cTn>
                                        <p:tgtEl>
                                          <p:spTgt spid="17"/>
                                        </p:tgtEl>
                                        <p:attrNameLst>
                                          <p:attrName>style.visibility</p:attrName>
                                        </p:attrNameLst>
                                      </p:cBhvr>
                                      <p:to>
                                        <p:strVal val="hidden"/>
                                      </p:to>
                                    </p:set>
                                  </p:childTnLst>
                                </p:cTn>
                              </p:par>
                            </p:childTnLst>
                          </p:cTn>
                        </p:par>
                        <p:par>
                          <p:cTn id="187" fill="hold">
                            <p:stCondLst>
                              <p:cond delay="0"/>
                            </p:stCondLst>
                            <p:childTnLst>
                              <p:par>
                                <p:cTn id="178" presetID="10" presetClass="entr" fill="hold" grpId="39" nodeType="withEffect">
                                  <p:stCondLst>
                                    <p:cond delay="46800"/>
                                  </p:stCondLst>
                                  <p:childTnLst>
                                    <p:set>
                                      <p:cBhvr>
                                        <p:cTn id="179" dur="1" fill="hold">
                                          <p:stCondLst>
                                            <p:cond delay="0"/>
                                          </p:stCondLst>
                                        </p:cTn>
                                        <p:tgtEl>
                                          <p:spTgt spid="17"/>
                                        </p:tgtEl>
                                        <p:attrNameLst>
                                          <p:attrName>style.visibility</p:attrName>
                                        </p:attrNameLst>
                                      </p:cBhvr>
                                      <p:to>
                                        <p:strVal val="visible"/>
                                      </p:to>
                                    </p:set>
                                    <p:animEffect transition="in" filter="fade">
                                      <p:cBhvr>
                                        <p:cTn id="180" dur="500"/>
                                        <p:tgtEl>
                                          <p:spTgt spid="17"/>
                                        </p:tgtEl>
                                      </p:cBhvr>
                                    </p:animEffect>
                                  </p:childTnLst>
                                </p:cTn>
                              </p:par>
                              <p:par>
                                <p:cTn id="181" presetID="0" presetClass="path" fill="hold" grpId="40" nodeType="withEffect">
                                  <p:stCondLst>
                                    <p:cond delay="46800"/>
                                  </p:stCondLst>
                                  <p:childTnLst>
                                    <p:animMotion origin="layout" path="M 0 0 L -0.0255 -0.20667 E" pathEditMode="relative" ptsTypes="AA">
                                      <p:cBhvr additive="base">
                                        <p:cTn id="182" dur="3600" fill="hold"/>
                                        <p:tgtEl>
                                          <p:spTgt spid="17"/>
                                        </p:tgtEl>
                                        <p:attrNameLst>
                                          <p:attrName>ppt_x</p:attrName>
                                          <p:attrName>ppt_y</p:attrName>
                                        </p:attrNameLst>
                                      </p:cBhvr>
                                      <p:rCtr x="0" y="0"/>
                                    </p:animMotion>
                                    <p:animScale>
                                      <p:cBhvr>
                                        <p:cTn id="183" dur="3600" fill="hold"/>
                                        <p:tgtEl>
                                          <p:spTgt spid="17"/>
                                        </p:tgtEl>
                                      </p:cBhvr>
                                      <p:from x="100000" y="100000"/>
                                      <p:to x="320000" y="320000"/>
                                    </p:animScale>
                                  </p:childTnLst>
                                </p:cTn>
                              </p:par>
                              <p:par>
                                <p:cTn id="184" presetID="10" presetClass="exit" fill="hold" grpId="41" nodeType="withEffect">
                                  <p:stCondLst>
                                    <p:cond delay="49500"/>
                                  </p:stCondLst>
                                  <p:childTnLst>
                                    <p:animEffect transition="out" filter="fade">
                                      <p:cBhvr>
                                        <p:cTn id="185" dur="900"/>
                                        <p:tgtEl>
                                          <p:spTgt spid="17"/>
                                        </p:tgtEl>
                                      </p:cBhvr>
                                    </p:animEffect>
                                    <p:set>
                                      <p:cBhvr>
                                        <p:cTn id="186" dur="1" fill="hold">
                                          <p:stCondLst>
                                            <p:cond delay="899"/>
                                          </p:stCondLst>
                                        </p:cTn>
                                        <p:tgtEl>
                                          <p:spTgt spid="17"/>
                                        </p:tgtEl>
                                        <p:attrNameLst>
                                          <p:attrName>style.visibility</p:attrName>
                                        </p:attrNameLst>
                                      </p:cBhvr>
                                      <p:to>
                                        <p:strVal val="hidden"/>
                                      </p:to>
                                    </p:set>
                                  </p:childTnLst>
                                </p:cTn>
                              </p:par>
                            </p:childTnLst>
                          </p:cTn>
                        </p:par>
                        <p:par>
                          <p:cTn id="197" fill="hold">
                            <p:stCondLst>
                              <p:cond delay="0"/>
                            </p:stCondLst>
                            <p:childTnLst>
                              <p:par>
                                <p:cTn id="188" presetID="10" presetClass="entr" fill="hold" grpId="0" nodeType="withEffect">
                                  <p:stCondLst>
                                    <p:cond delay="900"/>
                                  </p:stCondLst>
                                  <p:childTnLst>
                                    <p:set>
                                      <p:cBhvr>
                                        <p:cTn id="189" dur="1" fill="hold">
                                          <p:stCondLst>
                                            <p:cond delay="0"/>
                                          </p:stCondLst>
                                        </p:cTn>
                                        <p:tgtEl>
                                          <p:spTgt spid="18"/>
                                        </p:tgtEl>
                                        <p:attrNameLst>
                                          <p:attrName>style.visibility</p:attrName>
                                        </p:attrNameLst>
                                      </p:cBhvr>
                                      <p:to>
                                        <p:strVal val="visible"/>
                                      </p:to>
                                    </p:set>
                                    <p:animEffect transition="in" filter="fade">
                                      <p:cBhvr>
                                        <p:cTn id="190" dur="500"/>
                                        <p:tgtEl>
                                          <p:spTgt spid="18"/>
                                        </p:tgtEl>
                                      </p:cBhvr>
                                    </p:animEffect>
                                  </p:childTnLst>
                                </p:cTn>
                              </p:par>
                              <p:par>
                                <p:cTn id="191" presetID="0" presetClass="path" fill="hold" grpId="1" nodeType="withEffect">
                                  <p:stCondLst>
                                    <p:cond delay="900"/>
                                  </p:stCondLst>
                                  <p:childTnLst>
                                    <p:animMotion origin="layout" path="M 0 0 L -0.02244 -0.19633 E" pathEditMode="relative" ptsTypes="AA">
                                      <p:cBhvr additive="base">
                                        <p:cTn id="192" dur="3600" fill="hold"/>
                                        <p:tgtEl>
                                          <p:spTgt spid="18"/>
                                        </p:tgtEl>
                                        <p:attrNameLst>
                                          <p:attrName>ppt_x</p:attrName>
                                          <p:attrName>ppt_y</p:attrName>
                                        </p:attrNameLst>
                                      </p:cBhvr>
                                      <p:rCtr x="0" y="0"/>
                                    </p:animMotion>
                                    <p:animScale>
                                      <p:cBhvr>
                                        <p:cTn id="193" dur="3600" fill="hold"/>
                                        <p:tgtEl>
                                          <p:spTgt spid="18"/>
                                        </p:tgtEl>
                                      </p:cBhvr>
                                      <p:from x="100000" y="100000"/>
                                      <p:to x="320000" y="320000"/>
                                    </p:animScale>
                                  </p:childTnLst>
                                </p:cTn>
                              </p:par>
                              <p:par>
                                <p:cTn id="194" presetID="10" presetClass="exit" fill="hold" grpId="2" nodeType="withEffect">
                                  <p:stCondLst>
                                    <p:cond delay="3600"/>
                                  </p:stCondLst>
                                  <p:childTnLst>
                                    <p:animEffect transition="out" filter="fade">
                                      <p:cBhvr>
                                        <p:cTn id="195" dur="900"/>
                                        <p:tgtEl>
                                          <p:spTgt spid="18"/>
                                        </p:tgtEl>
                                      </p:cBhvr>
                                    </p:animEffect>
                                    <p:set>
                                      <p:cBhvr>
                                        <p:cTn id="196" dur="1" fill="hold">
                                          <p:stCondLst>
                                            <p:cond delay="899"/>
                                          </p:stCondLst>
                                        </p:cTn>
                                        <p:tgtEl>
                                          <p:spTgt spid="18"/>
                                        </p:tgtEl>
                                        <p:attrNameLst>
                                          <p:attrName>style.visibility</p:attrName>
                                        </p:attrNameLst>
                                      </p:cBhvr>
                                      <p:to>
                                        <p:strVal val="hidden"/>
                                      </p:to>
                                    </p:set>
                                  </p:childTnLst>
                                </p:cTn>
                              </p:par>
                            </p:childTnLst>
                          </p:cTn>
                        </p:par>
                        <p:par>
                          <p:cTn id="207" fill="hold">
                            <p:stCondLst>
                              <p:cond delay="0"/>
                            </p:stCondLst>
                            <p:childTnLst>
                              <p:par>
                                <p:cTn id="198" presetID="10" presetClass="entr" fill="hold" grpId="3" nodeType="withEffect">
                                  <p:stCondLst>
                                    <p:cond delay="4500"/>
                                  </p:stCondLst>
                                  <p:childTnLst>
                                    <p:set>
                                      <p:cBhvr>
                                        <p:cTn id="199" dur="1" fill="hold">
                                          <p:stCondLst>
                                            <p:cond delay="0"/>
                                          </p:stCondLst>
                                        </p:cTn>
                                        <p:tgtEl>
                                          <p:spTgt spid="18"/>
                                        </p:tgtEl>
                                        <p:attrNameLst>
                                          <p:attrName>style.visibility</p:attrName>
                                        </p:attrNameLst>
                                      </p:cBhvr>
                                      <p:to>
                                        <p:strVal val="visible"/>
                                      </p:to>
                                    </p:set>
                                    <p:animEffect transition="in" filter="fade">
                                      <p:cBhvr>
                                        <p:cTn id="200" dur="500"/>
                                        <p:tgtEl>
                                          <p:spTgt spid="18"/>
                                        </p:tgtEl>
                                      </p:cBhvr>
                                    </p:animEffect>
                                  </p:childTnLst>
                                </p:cTn>
                              </p:par>
                              <p:par>
                                <p:cTn id="201" presetID="0" presetClass="path" fill="hold" grpId="4" nodeType="withEffect">
                                  <p:stCondLst>
                                    <p:cond delay="4500"/>
                                  </p:stCondLst>
                                  <p:childTnLst>
                                    <p:animMotion origin="layout" path="M 0 0 L -0.02244 -0.19633 E" pathEditMode="relative" ptsTypes="AA">
                                      <p:cBhvr additive="base">
                                        <p:cTn id="202" dur="3600" fill="hold"/>
                                        <p:tgtEl>
                                          <p:spTgt spid="18"/>
                                        </p:tgtEl>
                                        <p:attrNameLst>
                                          <p:attrName>ppt_x</p:attrName>
                                          <p:attrName>ppt_y</p:attrName>
                                        </p:attrNameLst>
                                      </p:cBhvr>
                                      <p:rCtr x="0" y="0"/>
                                    </p:animMotion>
                                    <p:animScale>
                                      <p:cBhvr>
                                        <p:cTn id="203" dur="3600" fill="hold"/>
                                        <p:tgtEl>
                                          <p:spTgt spid="18"/>
                                        </p:tgtEl>
                                      </p:cBhvr>
                                      <p:from x="100000" y="100000"/>
                                      <p:to x="320000" y="320000"/>
                                    </p:animScale>
                                  </p:childTnLst>
                                </p:cTn>
                              </p:par>
                              <p:par>
                                <p:cTn id="204" presetID="10" presetClass="exit" fill="hold" grpId="5" nodeType="withEffect">
                                  <p:stCondLst>
                                    <p:cond delay="7200"/>
                                  </p:stCondLst>
                                  <p:childTnLst>
                                    <p:animEffect transition="out" filter="fade">
                                      <p:cBhvr>
                                        <p:cTn id="205" dur="900"/>
                                        <p:tgtEl>
                                          <p:spTgt spid="18"/>
                                        </p:tgtEl>
                                      </p:cBhvr>
                                    </p:animEffect>
                                    <p:set>
                                      <p:cBhvr>
                                        <p:cTn id="206" dur="1" fill="hold">
                                          <p:stCondLst>
                                            <p:cond delay="899"/>
                                          </p:stCondLst>
                                        </p:cTn>
                                        <p:tgtEl>
                                          <p:spTgt spid="18"/>
                                        </p:tgtEl>
                                        <p:attrNameLst>
                                          <p:attrName>style.visibility</p:attrName>
                                        </p:attrNameLst>
                                      </p:cBhvr>
                                      <p:to>
                                        <p:strVal val="hidden"/>
                                      </p:to>
                                    </p:set>
                                  </p:childTnLst>
                                </p:cTn>
                              </p:par>
                            </p:childTnLst>
                          </p:cTn>
                        </p:par>
                        <p:par>
                          <p:cTn id="217" fill="hold">
                            <p:stCondLst>
                              <p:cond delay="0"/>
                            </p:stCondLst>
                            <p:childTnLst>
                              <p:par>
                                <p:cTn id="208" presetID="10" presetClass="entr" fill="hold" grpId="6" nodeType="withEffect">
                                  <p:stCondLst>
                                    <p:cond delay="8100"/>
                                  </p:stCondLst>
                                  <p:childTnLst>
                                    <p:set>
                                      <p:cBhvr>
                                        <p:cTn id="209" dur="1" fill="hold">
                                          <p:stCondLst>
                                            <p:cond delay="0"/>
                                          </p:stCondLst>
                                        </p:cTn>
                                        <p:tgtEl>
                                          <p:spTgt spid="18"/>
                                        </p:tgtEl>
                                        <p:attrNameLst>
                                          <p:attrName>style.visibility</p:attrName>
                                        </p:attrNameLst>
                                      </p:cBhvr>
                                      <p:to>
                                        <p:strVal val="visible"/>
                                      </p:to>
                                    </p:set>
                                    <p:animEffect transition="in" filter="fade">
                                      <p:cBhvr>
                                        <p:cTn id="210" dur="500"/>
                                        <p:tgtEl>
                                          <p:spTgt spid="18"/>
                                        </p:tgtEl>
                                      </p:cBhvr>
                                    </p:animEffect>
                                  </p:childTnLst>
                                </p:cTn>
                              </p:par>
                              <p:par>
                                <p:cTn id="211" presetID="0" presetClass="path" fill="hold" grpId="7" nodeType="withEffect">
                                  <p:stCondLst>
                                    <p:cond delay="8100"/>
                                  </p:stCondLst>
                                  <p:childTnLst>
                                    <p:animMotion origin="layout" path="M 0 0 L -0.02244 -0.19633 E" pathEditMode="relative" ptsTypes="AA">
                                      <p:cBhvr additive="base">
                                        <p:cTn id="212" dur="3600" fill="hold"/>
                                        <p:tgtEl>
                                          <p:spTgt spid="18"/>
                                        </p:tgtEl>
                                        <p:attrNameLst>
                                          <p:attrName>ppt_x</p:attrName>
                                          <p:attrName>ppt_y</p:attrName>
                                        </p:attrNameLst>
                                      </p:cBhvr>
                                      <p:rCtr x="0" y="0"/>
                                    </p:animMotion>
                                    <p:animScale>
                                      <p:cBhvr>
                                        <p:cTn id="213" dur="3600" fill="hold"/>
                                        <p:tgtEl>
                                          <p:spTgt spid="18"/>
                                        </p:tgtEl>
                                      </p:cBhvr>
                                      <p:from x="100000" y="100000"/>
                                      <p:to x="320000" y="320000"/>
                                    </p:animScale>
                                  </p:childTnLst>
                                </p:cTn>
                              </p:par>
                              <p:par>
                                <p:cTn id="214" presetID="10" presetClass="exit" fill="hold" grpId="8" nodeType="withEffect">
                                  <p:stCondLst>
                                    <p:cond delay="10800"/>
                                  </p:stCondLst>
                                  <p:childTnLst>
                                    <p:animEffect transition="out" filter="fade">
                                      <p:cBhvr>
                                        <p:cTn id="215" dur="900"/>
                                        <p:tgtEl>
                                          <p:spTgt spid="18"/>
                                        </p:tgtEl>
                                      </p:cBhvr>
                                    </p:animEffect>
                                    <p:set>
                                      <p:cBhvr>
                                        <p:cTn id="216" dur="1" fill="hold">
                                          <p:stCondLst>
                                            <p:cond delay="899"/>
                                          </p:stCondLst>
                                        </p:cTn>
                                        <p:tgtEl>
                                          <p:spTgt spid="18"/>
                                        </p:tgtEl>
                                        <p:attrNameLst>
                                          <p:attrName>style.visibility</p:attrName>
                                        </p:attrNameLst>
                                      </p:cBhvr>
                                      <p:to>
                                        <p:strVal val="hidden"/>
                                      </p:to>
                                    </p:set>
                                  </p:childTnLst>
                                </p:cTn>
                              </p:par>
                            </p:childTnLst>
                          </p:cTn>
                        </p:par>
                        <p:par>
                          <p:cTn id="227" fill="hold">
                            <p:stCondLst>
                              <p:cond delay="0"/>
                            </p:stCondLst>
                            <p:childTnLst>
                              <p:par>
                                <p:cTn id="218" presetID="10" presetClass="entr" fill="hold" grpId="9" nodeType="withEffect">
                                  <p:stCondLst>
                                    <p:cond delay="11700"/>
                                  </p:stCondLst>
                                  <p:childTnLst>
                                    <p:set>
                                      <p:cBhvr>
                                        <p:cTn id="219" dur="1" fill="hold">
                                          <p:stCondLst>
                                            <p:cond delay="0"/>
                                          </p:stCondLst>
                                        </p:cTn>
                                        <p:tgtEl>
                                          <p:spTgt spid="18"/>
                                        </p:tgtEl>
                                        <p:attrNameLst>
                                          <p:attrName>style.visibility</p:attrName>
                                        </p:attrNameLst>
                                      </p:cBhvr>
                                      <p:to>
                                        <p:strVal val="visible"/>
                                      </p:to>
                                    </p:set>
                                    <p:animEffect transition="in" filter="fade">
                                      <p:cBhvr>
                                        <p:cTn id="220" dur="500"/>
                                        <p:tgtEl>
                                          <p:spTgt spid="18"/>
                                        </p:tgtEl>
                                      </p:cBhvr>
                                    </p:animEffect>
                                  </p:childTnLst>
                                </p:cTn>
                              </p:par>
                              <p:par>
                                <p:cTn id="221" presetID="0" presetClass="path" fill="hold" grpId="10" nodeType="withEffect">
                                  <p:stCondLst>
                                    <p:cond delay="11700"/>
                                  </p:stCondLst>
                                  <p:childTnLst>
                                    <p:animMotion origin="layout" path="M 0 0 L -0.02244 -0.19633 E" pathEditMode="relative" ptsTypes="AA">
                                      <p:cBhvr additive="base">
                                        <p:cTn id="222" dur="3600" fill="hold"/>
                                        <p:tgtEl>
                                          <p:spTgt spid="18"/>
                                        </p:tgtEl>
                                        <p:attrNameLst>
                                          <p:attrName>ppt_x</p:attrName>
                                          <p:attrName>ppt_y</p:attrName>
                                        </p:attrNameLst>
                                      </p:cBhvr>
                                      <p:rCtr x="0" y="0"/>
                                    </p:animMotion>
                                    <p:animScale>
                                      <p:cBhvr>
                                        <p:cTn id="223" dur="3600" fill="hold"/>
                                        <p:tgtEl>
                                          <p:spTgt spid="18"/>
                                        </p:tgtEl>
                                      </p:cBhvr>
                                      <p:from x="100000" y="100000"/>
                                      <p:to x="320000" y="320000"/>
                                    </p:animScale>
                                  </p:childTnLst>
                                </p:cTn>
                              </p:par>
                              <p:par>
                                <p:cTn id="224" presetID="10" presetClass="exit" fill="hold" grpId="11" nodeType="withEffect">
                                  <p:stCondLst>
                                    <p:cond delay="14400"/>
                                  </p:stCondLst>
                                  <p:childTnLst>
                                    <p:animEffect transition="out" filter="fade">
                                      <p:cBhvr>
                                        <p:cTn id="225" dur="900"/>
                                        <p:tgtEl>
                                          <p:spTgt spid="18"/>
                                        </p:tgtEl>
                                      </p:cBhvr>
                                    </p:animEffect>
                                    <p:set>
                                      <p:cBhvr>
                                        <p:cTn id="226" dur="1" fill="hold">
                                          <p:stCondLst>
                                            <p:cond delay="899"/>
                                          </p:stCondLst>
                                        </p:cTn>
                                        <p:tgtEl>
                                          <p:spTgt spid="18"/>
                                        </p:tgtEl>
                                        <p:attrNameLst>
                                          <p:attrName>style.visibility</p:attrName>
                                        </p:attrNameLst>
                                      </p:cBhvr>
                                      <p:to>
                                        <p:strVal val="hidden"/>
                                      </p:to>
                                    </p:set>
                                  </p:childTnLst>
                                </p:cTn>
                              </p:par>
                            </p:childTnLst>
                          </p:cTn>
                        </p:par>
                        <p:par>
                          <p:cTn id="237" fill="hold">
                            <p:stCondLst>
                              <p:cond delay="0"/>
                            </p:stCondLst>
                            <p:childTnLst>
                              <p:par>
                                <p:cTn id="228" presetID="10" presetClass="entr" fill="hold" grpId="12" nodeType="withEffect">
                                  <p:stCondLst>
                                    <p:cond delay="15300"/>
                                  </p:stCondLst>
                                  <p:childTnLst>
                                    <p:set>
                                      <p:cBhvr>
                                        <p:cTn id="229" dur="1" fill="hold">
                                          <p:stCondLst>
                                            <p:cond delay="0"/>
                                          </p:stCondLst>
                                        </p:cTn>
                                        <p:tgtEl>
                                          <p:spTgt spid="18"/>
                                        </p:tgtEl>
                                        <p:attrNameLst>
                                          <p:attrName>style.visibility</p:attrName>
                                        </p:attrNameLst>
                                      </p:cBhvr>
                                      <p:to>
                                        <p:strVal val="visible"/>
                                      </p:to>
                                    </p:set>
                                    <p:animEffect transition="in" filter="fade">
                                      <p:cBhvr>
                                        <p:cTn id="230" dur="500"/>
                                        <p:tgtEl>
                                          <p:spTgt spid="18"/>
                                        </p:tgtEl>
                                      </p:cBhvr>
                                    </p:animEffect>
                                  </p:childTnLst>
                                </p:cTn>
                              </p:par>
                              <p:par>
                                <p:cTn id="231" presetID="0" presetClass="path" fill="hold" grpId="13" nodeType="withEffect">
                                  <p:stCondLst>
                                    <p:cond delay="15300"/>
                                  </p:stCondLst>
                                  <p:childTnLst>
                                    <p:animMotion origin="layout" path="M 0 0 L -0.02244 -0.19633 E" pathEditMode="relative" ptsTypes="AA">
                                      <p:cBhvr additive="base">
                                        <p:cTn id="232" dur="3600" fill="hold"/>
                                        <p:tgtEl>
                                          <p:spTgt spid="18"/>
                                        </p:tgtEl>
                                        <p:attrNameLst>
                                          <p:attrName>ppt_x</p:attrName>
                                          <p:attrName>ppt_y</p:attrName>
                                        </p:attrNameLst>
                                      </p:cBhvr>
                                      <p:rCtr x="0" y="0"/>
                                    </p:animMotion>
                                    <p:animScale>
                                      <p:cBhvr>
                                        <p:cTn id="233" dur="3600" fill="hold"/>
                                        <p:tgtEl>
                                          <p:spTgt spid="18"/>
                                        </p:tgtEl>
                                      </p:cBhvr>
                                      <p:from x="100000" y="100000"/>
                                      <p:to x="320000" y="320000"/>
                                    </p:animScale>
                                  </p:childTnLst>
                                </p:cTn>
                              </p:par>
                              <p:par>
                                <p:cTn id="234" presetID="10" presetClass="exit" fill="hold" grpId="14" nodeType="withEffect">
                                  <p:stCondLst>
                                    <p:cond delay="18000"/>
                                  </p:stCondLst>
                                  <p:childTnLst>
                                    <p:animEffect transition="out" filter="fade">
                                      <p:cBhvr>
                                        <p:cTn id="235" dur="900"/>
                                        <p:tgtEl>
                                          <p:spTgt spid="18"/>
                                        </p:tgtEl>
                                      </p:cBhvr>
                                    </p:animEffect>
                                    <p:set>
                                      <p:cBhvr>
                                        <p:cTn id="236" dur="1" fill="hold">
                                          <p:stCondLst>
                                            <p:cond delay="899"/>
                                          </p:stCondLst>
                                        </p:cTn>
                                        <p:tgtEl>
                                          <p:spTgt spid="18"/>
                                        </p:tgtEl>
                                        <p:attrNameLst>
                                          <p:attrName>style.visibility</p:attrName>
                                        </p:attrNameLst>
                                      </p:cBhvr>
                                      <p:to>
                                        <p:strVal val="hidden"/>
                                      </p:to>
                                    </p:set>
                                  </p:childTnLst>
                                </p:cTn>
                              </p:par>
                            </p:childTnLst>
                          </p:cTn>
                        </p:par>
                        <p:par>
                          <p:cTn id="247" fill="hold">
                            <p:stCondLst>
                              <p:cond delay="0"/>
                            </p:stCondLst>
                            <p:childTnLst>
                              <p:par>
                                <p:cTn id="238" presetID="10" presetClass="entr" fill="hold" grpId="15" nodeType="withEffect">
                                  <p:stCondLst>
                                    <p:cond delay="18900"/>
                                  </p:stCondLst>
                                  <p:childTnLst>
                                    <p:set>
                                      <p:cBhvr>
                                        <p:cTn id="239" dur="1" fill="hold">
                                          <p:stCondLst>
                                            <p:cond delay="0"/>
                                          </p:stCondLst>
                                        </p:cTn>
                                        <p:tgtEl>
                                          <p:spTgt spid="18"/>
                                        </p:tgtEl>
                                        <p:attrNameLst>
                                          <p:attrName>style.visibility</p:attrName>
                                        </p:attrNameLst>
                                      </p:cBhvr>
                                      <p:to>
                                        <p:strVal val="visible"/>
                                      </p:to>
                                    </p:set>
                                    <p:animEffect transition="in" filter="fade">
                                      <p:cBhvr>
                                        <p:cTn id="240" dur="500"/>
                                        <p:tgtEl>
                                          <p:spTgt spid="18"/>
                                        </p:tgtEl>
                                      </p:cBhvr>
                                    </p:animEffect>
                                  </p:childTnLst>
                                </p:cTn>
                              </p:par>
                              <p:par>
                                <p:cTn id="241" presetID="0" presetClass="path" fill="hold" grpId="16" nodeType="withEffect">
                                  <p:stCondLst>
                                    <p:cond delay="18900"/>
                                  </p:stCondLst>
                                  <p:childTnLst>
                                    <p:animMotion origin="layout" path="M 0 0 L -0.02244 -0.19633 E" pathEditMode="relative" ptsTypes="AA">
                                      <p:cBhvr additive="base">
                                        <p:cTn id="242" dur="3600" fill="hold"/>
                                        <p:tgtEl>
                                          <p:spTgt spid="18"/>
                                        </p:tgtEl>
                                        <p:attrNameLst>
                                          <p:attrName>ppt_x</p:attrName>
                                          <p:attrName>ppt_y</p:attrName>
                                        </p:attrNameLst>
                                      </p:cBhvr>
                                      <p:rCtr x="0" y="0"/>
                                    </p:animMotion>
                                    <p:animScale>
                                      <p:cBhvr>
                                        <p:cTn id="243" dur="3600" fill="hold"/>
                                        <p:tgtEl>
                                          <p:spTgt spid="18"/>
                                        </p:tgtEl>
                                      </p:cBhvr>
                                      <p:from x="100000" y="100000"/>
                                      <p:to x="320000" y="320000"/>
                                    </p:animScale>
                                  </p:childTnLst>
                                </p:cTn>
                              </p:par>
                              <p:par>
                                <p:cTn id="244" presetID="10" presetClass="exit" fill="hold" grpId="17" nodeType="withEffect">
                                  <p:stCondLst>
                                    <p:cond delay="21600"/>
                                  </p:stCondLst>
                                  <p:childTnLst>
                                    <p:animEffect transition="out" filter="fade">
                                      <p:cBhvr>
                                        <p:cTn id="245" dur="900"/>
                                        <p:tgtEl>
                                          <p:spTgt spid="18"/>
                                        </p:tgtEl>
                                      </p:cBhvr>
                                    </p:animEffect>
                                    <p:set>
                                      <p:cBhvr>
                                        <p:cTn id="246" dur="1" fill="hold">
                                          <p:stCondLst>
                                            <p:cond delay="899"/>
                                          </p:stCondLst>
                                        </p:cTn>
                                        <p:tgtEl>
                                          <p:spTgt spid="18"/>
                                        </p:tgtEl>
                                        <p:attrNameLst>
                                          <p:attrName>style.visibility</p:attrName>
                                        </p:attrNameLst>
                                      </p:cBhvr>
                                      <p:to>
                                        <p:strVal val="hidden"/>
                                      </p:to>
                                    </p:set>
                                  </p:childTnLst>
                                </p:cTn>
                              </p:par>
                            </p:childTnLst>
                          </p:cTn>
                        </p:par>
                        <p:par>
                          <p:cTn id="257" fill="hold">
                            <p:stCondLst>
                              <p:cond delay="0"/>
                            </p:stCondLst>
                            <p:childTnLst>
                              <p:par>
                                <p:cTn id="248" presetID="10" presetClass="entr" fill="hold" grpId="18" nodeType="withEffect">
                                  <p:stCondLst>
                                    <p:cond delay="22500"/>
                                  </p:stCondLst>
                                  <p:childTnLst>
                                    <p:set>
                                      <p:cBhvr>
                                        <p:cTn id="249" dur="1" fill="hold">
                                          <p:stCondLst>
                                            <p:cond delay="0"/>
                                          </p:stCondLst>
                                        </p:cTn>
                                        <p:tgtEl>
                                          <p:spTgt spid="18"/>
                                        </p:tgtEl>
                                        <p:attrNameLst>
                                          <p:attrName>style.visibility</p:attrName>
                                        </p:attrNameLst>
                                      </p:cBhvr>
                                      <p:to>
                                        <p:strVal val="visible"/>
                                      </p:to>
                                    </p:set>
                                    <p:animEffect transition="in" filter="fade">
                                      <p:cBhvr>
                                        <p:cTn id="250" dur="500"/>
                                        <p:tgtEl>
                                          <p:spTgt spid="18"/>
                                        </p:tgtEl>
                                      </p:cBhvr>
                                    </p:animEffect>
                                  </p:childTnLst>
                                </p:cTn>
                              </p:par>
                              <p:par>
                                <p:cTn id="251" presetID="0" presetClass="path" fill="hold" grpId="19" nodeType="withEffect">
                                  <p:stCondLst>
                                    <p:cond delay="22500"/>
                                  </p:stCondLst>
                                  <p:childTnLst>
                                    <p:animMotion origin="layout" path="M 0 0 L -0.02244 -0.19633 E" pathEditMode="relative" ptsTypes="AA">
                                      <p:cBhvr additive="base">
                                        <p:cTn id="252" dur="3600" fill="hold"/>
                                        <p:tgtEl>
                                          <p:spTgt spid="18"/>
                                        </p:tgtEl>
                                        <p:attrNameLst>
                                          <p:attrName>ppt_x</p:attrName>
                                          <p:attrName>ppt_y</p:attrName>
                                        </p:attrNameLst>
                                      </p:cBhvr>
                                      <p:rCtr x="0" y="0"/>
                                    </p:animMotion>
                                    <p:animScale>
                                      <p:cBhvr>
                                        <p:cTn id="253" dur="3600" fill="hold"/>
                                        <p:tgtEl>
                                          <p:spTgt spid="18"/>
                                        </p:tgtEl>
                                      </p:cBhvr>
                                      <p:from x="100000" y="100000"/>
                                      <p:to x="320000" y="320000"/>
                                    </p:animScale>
                                  </p:childTnLst>
                                </p:cTn>
                              </p:par>
                              <p:par>
                                <p:cTn id="254" presetID="10" presetClass="exit" fill="hold" grpId="20" nodeType="withEffect">
                                  <p:stCondLst>
                                    <p:cond delay="25200"/>
                                  </p:stCondLst>
                                  <p:childTnLst>
                                    <p:animEffect transition="out" filter="fade">
                                      <p:cBhvr>
                                        <p:cTn id="255" dur="900"/>
                                        <p:tgtEl>
                                          <p:spTgt spid="18"/>
                                        </p:tgtEl>
                                      </p:cBhvr>
                                    </p:animEffect>
                                    <p:set>
                                      <p:cBhvr>
                                        <p:cTn id="256" dur="1" fill="hold">
                                          <p:stCondLst>
                                            <p:cond delay="899"/>
                                          </p:stCondLst>
                                        </p:cTn>
                                        <p:tgtEl>
                                          <p:spTgt spid="18"/>
                                        </p:tgtEl>
                                        <p:attrNameLst>
                                          <p:attrName>style.visibility</p:attrName>
                                        </p:attrNameLst>
                                      </p:cBhvr>
                                      <p:to>
                                        <p:strVal val="hidden"/>
                                      </p:to>
                                    </p:set>
                                  </p:childTnLst>
                                </p:cTn>
                              </p:par>
                            </p:childTnLst>
                          </p:cTn>
                        </p:par>
                        <p:par>
                          <p:cTn id="267" fill="hold">
                            <p:stCondLst>
                              <p:cond delay="0"/>
                            </p:stCondLst>
                            <p:childTnLst>
                              <p:par>
                                <p:cTn id="258" presetID="10" presetClass="entr" fill="hold" grpId="21" nodeType="withEffect">
                                  <p:stCondLst>
                                    <p:cond delay="26100"/>
                                  </p:stCondLst>
                                  <p:childTnLst>
                                    <p:set>
                                      <p:cBhvr>
                                        <p:cTn id="259" dur="1" fill="hold">
                                          <p:stCondLst>
                                            <p:cond delay="0"/>
                                          </p:stCondLst>
                                        </p:cTn>
                                        <p:tgtEl>
                                          <p:spTgt spid="18"/>
                                        </p:tgtEl>
                                        <p:attrNameLst>
                                          <p:attrName>style.visibility</p:attrName>
                                        </p:attrNameLst>
                                      </p:cBhvr>
                                      <p:to>
                                        <p:strVal val="visible"/>
                                      </p:to>
                                    </p:set>
                                    <p:animEffect transition="in" filter="fade">
                                      <p:cBhvr>
                                        <p:cTn id="260" dur="500"/>
                                        <p:tgtEl>
                                          <p:spTgt spid="18"/>
                                        </p:tgtEl>
                                      </p:cBhvr>
                                    </p:animEffect>
                                  </p:childTnLst>
                                </p:cTn>
                              </p:par>
                              <p:par>
                                <p:cTn id="261" presetID="0" presetClass="path" fill="hold" grpId="22" nodeType="withEffect">
                                  <p:stCondLst>
                                    <p:cond delay="26100"/>
                                  </p:stCondLst>
                                  <p:childTnLst>
                                    <p:animMotion origin="layout" path="M 0 0 L -0.02244 -0.19633 E" pathEditMode="relative" ptsTypes="AA">
                                      <p:cBhvr additive="base">
                                        <p:cTn id="262" dur="3600" fill="hold"/>
                                        <p:tgtEl>
                                          <p:spTgt spid="18"/>
                                        </p:tgtEl>
                                        <p:attrNameLst>
                                          <p:attrName>ppt_x</p:attrName>
                                          <p:attrName>ppt_y</p:attrName>
                                        </p:attrNameLst>
                                      </p:cBhvr>
                                      <p:rCtr x="0" y="0"/>
                                    </p:animMotion>
                                    <p:animScale>
                                      <p:cBhvr>
                                        <p:cTn id="263" dur="3600" fill="hold"/>
                                        <p:tgtEl>
                                          <p:spTgt spid="18"/>
                                        </p:tgtEl>
                                      </p:cBhvr>
                                      <p:from x="100000" y="100000"/>
                                      <p:to x="320000" y="320000"/>
                                    </p:animScale>
                                  </p:childTnLst>
                                </p:cTn>
                              </p:par>
                              <p:par>
                                <p:cTn id="264" presetID="10" presetClass="exit" fill="hold" grpId="23" nodeType="withEffect">
                                  <p:stCondLst>
                                    <p:cond delay="28800"/>
                                  </p:stCondLst>
                                  <p:childTnLst>
                                    <p:animEffect transition="out" filter="fade">
                                      <p:cBhvr>
                                        <p:cTn id="265" dur="900"/>
                                        <p:tgtEl>
                                          <p:spTgt spid="18"/>
                                        </p:tgtEl>
                                      </p:cBhvr>
                                    </p:animEffect>
                                    <p:set>
                                      <p:cBhvr>
                                        <p:cTn id="266" dur="1" fill="hold">
                                          <p:stCondLst>
                                            <p:cond delay="899"/>
                                          </p:stCondLst>
                                        </p:cTn>
                                        <p:tgtEl>
                                          <p:spTgt spid="18"/>
                                        </p:tgtEl>
                                        <p:attrNameLst>
                                          <p:attrName>style.visibility</p:attrName>
                                        </p:attrNameLst>
                                      </p:cBhvr>
                                      <p:to>
                                        <p:strVal val="hidden"/>
                                      </p:to>
                                    </p:set>
                                  </p:childTnLst>
                                </p:cTn>
                              </p:par>
                            </p:childTnLst>
                          </p:cTn>
                        </p:par>
                        <p:par>
                          <p:cTn id="277" fill="hold">
                            <p:stCondLst>
                              <p:cond delay="0"/>
                            </p:stCondLst>
                            <p:childTnLst>
                              <p:par>
                                <p:cTn id="268" presetID="10" presetClass="entr" fill="hold" grpId="24" nodeType="withEffect">
                                  <p:stCondLst>
                                    <p:cond delay="29700"/>
                                  </p:stCondLst>
                                  <p:childTnLst>
                                    <p:set>
                                      <p:cBhvr>
                                        <p:cTn id="269" dur="1" fill="hold">
                                          <p:stCondLst>
                                            <p:cond delay="0"/>
                                          </p:stCondLst>
                                        </p:cTn>
                                        <p:tgtEl>
                                          <p:spTgt spid="18"/>
                                        </p:tgtEl>
                                        <p:attrNameLst>
                                          <p:attrName>style.visibility</p:attrName>
                                        </p:attrNameLst>
                                      </p:cBhvr>
                                      <p:to>
                                        <p:strVal val="visible"/>
                                      </p:to>
                                    </p:set>
                                    <p:animEffect transition="in" filter="fade">
                                      <p:cBhvr>
                                        <p:cTn id="270" dur="500"/>
                                        <p:tgtEl>
                                          <p:spTgt spid="18"/>
                                        </p:tgtEl>
                                      </p:cBhvr>
                                    </p:animEffect>
                                  </p:childTnLst>
                                </p:cTn>
                              </p:par>
                              <p:par>
                                <p:cTn id="271" presetID="0" presetClass="path" fill="hold" grpId="25" nodeType="withEffect">
                                  <p:stCondLst>
                                    <p:cond delay="29700"/>
                                  </p:stCondLst>
                                  <p:childTnLst>
                                    <p:animMotion origin="layout" path="M 0 0 L -0.02244 -0.19633 E" pathEditMode="relative" ptsTypes="AA">
                                      <p:cBhvr additive="base">
                                        <p:cTn id="272" dur="3600" fill="hold"/>
                                        <p:tgtEl>
                                          <p:spTgt spid="18"/>
                                        </p:tgtEl>
                                        <p:attrNameLst>
                                          <p:attrName>ppt_x</p:attrName>
                                          <p:attrName>ppt_y</p:attrName>
                                        </p:attrNameLst>
                                      </p:cBhvr>
                                      <p:rCtr x="0" y="0"/>
                                    </p:animMotion>
                                    <p:animScale>
                                      <p:cBhvr>
                                        <p:cTn id="273" dur="3600" fill="hold"/>
                                        <p:tgtEl>
                                          <p:spTgt spid="18"/>
                                        </p:tgtEl>
                                      </p:cBhvr>
                                      <p:from x="100000" y="100000"/>
                                      <p:to x="320000" y="320000"/>
                                    </p:animScale>
                                  </p:childTnLst>
                                </p:cTn>
                              </p:par>
                              <p:par>
                                <p:cTn id="274" presetID="10" presetClass="exit" fill="hold" grpId="26" nodeType="withEffect">
                                  <p:stCondLst>
                                    <p:cond delay="32400"/>
                                  </p:stCondLst>
                                  <p:childTnLst>
                                    <p:animEffect transition="out" filter="fade">
                                      <p:cBhvr>
                                        <p:cTn id="275" dur="900"/>
                                        <p:tgtEl>
                                          <p:spTgt spid="18"/>
                                        </p:tgtEl>
                                      </p:cBhvr>
                                    </p:animEffect>
                                    <p:set>
                                      <p:cBhvr>
                                        <p:cTn id="276" dur="1" fill="hold">
                                          <p:stCondLst>
                                            <p:cond delay="899"/>
                                          </p:stCondLst>
                                        </p:cTn>
                                        <p:tgtEl>
                                          <p:spTgt spid="18"/>
                                        </p:tgtEl>
                                        <p:attrNameLst>
                                          <p:attrName>style.visibility</p:attrName>
                                        </p:attrNameLst>
                                      </p:cBhvr>
                                      <p:to>
                                        <p:strVal val="hidden"/>
                                      </p:to>
                                    </p:set>
                                  </p:childTnLst>
                                </p:cTn>
                              </p:par>
                            </p:childTnLst>
                          </p:cTn>
                        </p:par>
                        <p:par>
                          <p:cTn id="287" fill="hold">
                            <p:stCondLst>
                              <p:cond delay="0"/>
                            </p:stCondLst>
                            <p:childTnLst>
                              <p:par>
                                <p:cTn id="278" presetID="10" presetClass="entr" fill="hold" grpId="27" nodeType="withEffect">
                                  <p:stCondLst>
                                    <p:cond delay="33300"/>
                                  </p:stCondLst>
                                  <p:childTnLst>
                                    <p:set>
                                      <p:cBhvr>
                                        <p:cTn id="279" dur="1" fill="hold">
                                          <p:stCondLst>
                                            <p:cond delay="0"/>
                                          </p:stCondLst>
                                        </p:cTn>
                                        <p:tgtEl>
                                          <p:spTgt spid="18"/>
                                        </p:tgtEl>
                                        <p:attrNameLst>
                                          <p:attrName>style.visibility</p:attrName>
                                        </p:attrNameLst>
                                      </p:cBhvr>
                                      <p:to>
                                        <p:strVal val="visible"/>
                                      </p:to>
                                    </p:set>
                                    <p:animEffect transition="in" filter="fade">
                                      <p:cBhvr>
                                        <p:cTn id="280" dur="500"/>
                                        <p:tgtEl>
                                          <p:spTgt spid="18"/>
                                        </p:tgtEl>
                                      </p:cBhvr>
                                    </p:animEffect>
                                  </p:childTnLst>
                                </p:cTn>
                              </p:par>
                              <p:par>
                                <p:cTn id="281" presetID="0" presetClass="path" fill="hold" grpId="28" nodeType="withEffect">
                                  <p:stCondLst>
                                    <p:cond delay="33300"/>
                                  </p:stCondLst>
                                  <p:childTnLst>
                                    <p:animMotion origin="layout" path="M 0 0 L -0.02244 -0.19633 E" pathEditMode="relative" ptsTypes="AA">
                                      <p:cBhvr additive="base">
                                        <p:cTn id="282" dur="3600" fill="hold"/>
                                        <p:tgtEl>
                                          <p:spTgt spid="18"/>
                                        </p:tgtEl>
                                        <p:attrNameLst>
                                          <p:attrName>ppt_x</p:attrName>
                                          <p:attrName>ppt_y</p:attrName>
                                        </p:attrNameLst>
                                      </p:cBhvr>
                                      <p:rCtr x="0" y="0"/>
                                    </p:animMotion>
                                    <p:animScale>
                                      <p:cBhvr>
                                        <p:cTn id="283" dur="3600" fill="hold"/>
                                        <p:tgtEl>
                                          <p:spTgt spid="18"/>
                                        </p:tgtEl>
                                      </p:cBhvr>
                                      <p:from x="100000" y="100000"/>
                                      <p:to x="320000" y="320000"/>
                                    </p:animScale>
                                  </p:childTnLst>
                                </p:cTn>
                              </p:par>
                              <p:par>
                                <p:cTn id="284" presetID="10" presetClass="exit" fill="hold" grpId="29" nodeType="withEffect">
                                  <p:stCondLst>
                                    <p:cond delay="36000"/>
                                  </p:stCondLst>
                                  <p:childTnLst>
                                    <p:animEffect transition="out" filter="fade">
                                      <p:cBhvr>
                                        <p:cTn id="285" dur="900"/>
                                        <p:tgtEl>
                                          <p:spTgt spid="18"/>
                                        </p:tgtEl>
                                      </p:cBhvr>
                                    </p:animEffect>
                                    <p:set>
                                      <p:cBhvr>
                                        <p:cTn id="286" dur="1" fill="hold">
                                          <p:stCondLst>
                                            <p:cond delay="899"/>
                                          </p:stCondLst>
                                        </p:cTn>
                                        <p:tgtEl>
                                          <p:spTgt spid="18"/>
                                        </p:tgtEl>
                                        <p:attrNameLst>
                                          <p:attrName>style.visibility</p:attrName>
                                        </p:attrNameLst>
                                      </p:cBhvr>
                                      <p:to>
                                        <p:strVal val="hidden"/>
                                      </p:to>
                                    </p:set>
                                  </p:childTnLst>
                                </p:cTn>
                              </p:par>
                            </p:childTnLst>
                          </p:cTn>
                        </p:par>
                        <p:par>
                          <p:cTn id="297" fill="hold">
                            <p:stCondLst>
                              <p:cond delay="0"/>
                            </p:stCondLst>
                            <p:childTnLst>
                              <p:par>
                                <p:cTn id="288" presetID="10" presetClass="entr" fill="hold" grpId="30" nodeType="withEffect">
                                  <p:stCondLst>
                                    <p:cond delay="36900"/>
                                  </p:stCondLst>
                                  <p:childTnLst>
                                    <p:set>
                                      <p:cBhvr>
                                        <p:cTn id="289" dur="1" fill="hold">
                                          <p:stCondLst>
                                            <p:cond delay="0"/>
                                          </p:stCondLst>
                                        </p:cTn>
                                        <p:tgtEl>
                                          <p:spTgt spid="18"/>
                                        </p:tgtEl>
                                        <p:attrNameLst>
                                          <p:attrName>style.visibility</p:attrName>
                                        </p:attrNameLst>
                                      </p:cBhvr>
                                      <p:to>
                                        <p:strVal val="visible"/>
                                      </p:to>
                                    </p:set>
                                    <p:animEffect transition="in" filter="fade">
                                      <p:cBhvr>
                                        <p:cTn id="290" dur="500"/>
                                        <p:tgtEl>
                                          <p:spTgt spid="18"/>
                                        </p:tgtEl>
                                      </p:cBhvr>
                                    </p:animEffect>
                                  </p:childTnLst>
                                </p:cTn>
                              </p:par>
                              <p:par>
                                <p:cTn id="291" presetID="0" presetClass="path" fill="hold" grpId="31" nodeType="withEffect">
                                  <p:stCondLst>
                                    <p:cond delay="36900"/>
                                  </p:stCondLst>
                                  <p:childTnLst>
                                    <p:animMotion origin="layout" path="M 0 0 L -0.02244 -0.19633 E" pathEditMode="relative" ptsTypes="AA">
                                      <p:cBhvr additive="base">
                                        <p:cTn id="292" dur="3600" fill="hold"/>
                                        <p:tgtEl>
                                          <p:spTgt spid="18"/>
                                        </p:tgtEl>
                                        <p:attrNameLst>
                                          <p:attrName>ppt_x</p:attrName>
                                          <p:attrName>ppt_y</p:attrName>
                                        </p:attrNameLst>
                                      </p:cBhvr>
                                      <p:rCtr x="0" y="0"/>
                                    </p:animMotion>
                                    <p:animScale>
                                      <p:cBhvr>
                                        <p:cTn id="293" dur="3600" fill="hold"/>
                                        <p:tgtEl>
                                          <p:spTgt spid="18"/>
                                        </p:tgtEl>
                                      </p:cBhvr>
                                      <p:from x="100000" y="100000"/>
                                      <p:to x="320000" y="320000"/>
                                    </p:animScale>
                                  </p:childTnLst>
                                </p:cTn>
                              </p:par>
                              <p:par>
                                <p:cTn id="294" presetID="10" presetClass="exit" fill="hold" grpId="32" nodeType="withEffect">
                                  <p:stCondLst>
                                    <p:cond delay="39600"/>
                                  </p:stCondLst>
                                  <p:childTnLst>
                                    <p:animEffect transition="out" filter="fade">
                                      <p:cBhvr>
                                        <p:cTn id="295" dur="900"/>
                                        <p:tgtEl>
                                          <p:spTgt spid="18"/>
                                        </p:tgtEl>
                                      </p:cBhvr>
                                    </p:animEffect>
                                    <p:set>
                                      <p:cBhvr>
                                        <p:cTn id="296" dur="1" fill="hold">
                                          <p:stCondLst>
                                            <p:cond delay="899"/>
                                          </p:stCondLst>
                                        </p:cTn>
                                        <p:tgtEl>
                                          <p:spTgt spid="18"/>
                                        </p:tgtEl>
                                        <p:attrNameLst>
                                          <p:attrName>style.visibility</p:attrName>
                                        </p:attrNameLst>
                                      </p:cBhvr>
                                      <p:to>
                                        <p:strVal val="hidden"/>
                                      </p:to>
                                    </p:set>
                                  </p:childTnLst>
                                </p:cTn>
                              </p:par>
                            </p:childTnLst>
                          </p:cTn>
                        </p:par>
                        <p:par>
                          <p:cTn id="307" fill="hold">
                            <p:stCondLst>
                              <p:cond delay="0"/>
                            </p:stCondLst>
                            <p:childTnLst>
                              <p:par>
                                <p:cTn id="298" presetID="10" presetClass="entr" fill="hold" grpId="33" nodeType="withEffect">
                                  <p:stCondLst>
                                    <p:cond delay="40500"/>
                                  </p:stCondLst>
                                  <p:childTnLst>
                                    <p:set>
                                      <p:cBhvr>
                                        <p:cTn id="299" dur="1" fill="hold">
                                          <p:stCondLst>
                                            <p:cond delay="0"/>
                                          </p:stCondLst>
                                        </p:cTn>
                                        <p:tgtEl>
                                          <p:spTgt spid="18"/>
                                        </p:tgtEl>
                                        <p:attrNameLst>
                                          <p:attrName>style.visibility</p:attrName>
                                        </p:attrNameLst>
                                      </p:cBhvr>
                                      <p:to>
                                        <p:strVal val="visible"/>
                                      </p:to>
                                    </p:set>
                                    <p:animEffect transition="in" filter="fade">
                                      <p:cBhvr>
                                        <p:cTn id="300" dur="500"/>
                                        <p:tgtEl>
                                          <p:spTgt spid="18"/>
                                        </p:tgtEl>
                                      </p:cBhvr>
                                    </p:animEffect>
                                  </p:childTnLst>
                                </p:cTn>
                              </p:par>
                              <p:par>
                                <p:cTn id="301" presetID="0" presetClass="path" fill="hold" grpId="34" nodeType="withEffect">
                                  <p:stCondLst>
                                    <p:cond delay="40500"/>
                                  </p:stCondLst>
                                  <p:childTnLst>
                                    <p:animMotion origin="layout" path="M 0 0 L -0.02244 -0.19633 E" pathEditMode="relative" ptsTypes="AA">
                                      <p:cBhvr additive="base">
                                        <p:cTn id="302" dur="3600" fill="hold"/>
                                        <p:tgtEl>
                                          <p:spTgt spid="18"/>
                                        </p:tgtEl>
                                        <p:attrNameLst>
                                          <p:attrName>ppt_x</p:attrName>
                                          <p:attrName>ppt_y</p:attrName>
                                        </p:attrNameLst>
                                      </p:cBhvr>
                                      <p:rCtr x="0" y="0"/>
                                    </p:animMotion>
                                    <p:animScale>
                                      <p:cBhvr>
                                        <p:cTn id="303" dur="3600" fill="hold"/>
                                        <p:tgtEl>
                                          <p:spTgt spid="18"/>
                                        </p:tgtEl>
                                      </p:cBhvr>
                                      <p:from x="100000" y="100000"/>
                                      <p:to x="320000" y="320000"/>
                                    </p:animScale>
                                  </p:childTnLst>
                                </p:cTn>
                              </p:par>
                              <p:par>
                                <p:cTn id="304" presetID="10" presetClass="exit" fill="hold" grpId="35" nodeType="withEffect">
                                  <p:stCondLst>
                                    <p:cond delay="43200"/>
                                  </p:stCondLst>
                                  <p:childTnLst>
                                    <p:animEffect transition="out" filter="fade">
                                      <p:cBhvr>
                                        <p:cTn id="305" dur="900"/>
                                        <p:tgtEl>
                                          <p:spTgt spid="18"/>
                                        </p:tgtEl>
                                      </p:cBhvr>
                                    </p:animEffect>
                                    <p:set>
                                      <p:cBhvr>
                                        <p:cTn id="306" dur="1" fill="hold">
                                          <p:stCondLst>
                                            <p:cond delay="899"/>
                                          </p:stCondLst>
                                        </p:cTn>
                                        <p:tgtEl>
                                          <p:spTgt spid="18"/>
                                        </p:tgtEl>
                                        <p:attrNameLst>
                                          <p:attrName>style.visibility</p:attrName>
                                        </p:attrNameLst>
                                      </p:cBhvr>
                                      <p:to>
                                        <p:strVal val="hidden"/>
                                      </p:to>
                                    </p:set>
                                  </p:childTnLst>
                                </p:cTn>
                              </p:par>
                            </p:childTnLst>
                          </p:cTn>
                        </p:par>
                        <p:par>
                          <p:cTn id="317" fill="hold">
                            <p:stCondLst>
                              <p:cond delay="0"/>
                            </p:stCondLst>
                            <p:childTnLst>
                              <p:par>
                                <p:cTn id="308" presetID="10" presetClass="entr" fill="hold" grpId="36" nodeType="withEffect">
                                  <p:stCondLst>
                                    <p:cond delay="44100"/>
                                  </p:stCondLst>
                                  <p:childTnLst>
                                    <p:set>
                                      <p:cBhvr>
                                        <p:cTn id="309" dur="1" fill="hold">
                                          <p:stCondLst>
                                            <p:cond delay="0"/>
                                          </p:stCondLst>
                                        </p:cTn>
                                        <p:tgtEl>
                                          <p:spTgt spid="18"/>
                                        </p:tgtEl>
                                        <p:attrNameLst>
                                          <p:attrName>style.visibility</p:attrName>
                                        </p:attrNameLst>
                                      </p:cBhvr>
                                      <p:to>
                                        <p:strVal val="visible"/>
                                      </p:to>
                                    </p:set>
                                    <p:animEffect transition="in" filter="fade">
                                      <p:cBhvr>
                                        <p:cTn id="310" dur="500"/>
                                        <p:tgtEl>
                                          <p:spTgt spid="18"/>
                                        </p:tgtEl>
                                      </p:cBhvr>
                                    </p:animEffect>
                                  </p:childTnLst>
                                </p:cTn>
                              </p:par>
                              <p:par>
                                <p:cTn id="311" presetID="0" presetClass="path" fill="hold" grpId="37" nodeType="withEffect">
                                  <p:stCondLst>
                                    <p:cond delay="44100"/>
                                  </p:stCondLst>
                                  <p:childTnLst>
                                    <p:animMotion origin="layout" path="M 0 0 L -0.02244 -0.19633 E" pathEditMode="relative" ptsTypes="AA">
                                      <p:cBhvr additive="base">
                                        <p:cTn id="312" dur="3600" fill="hold"/>
                                        <p:tgtEl>
                                          <p:spTgt spid="18"/>
                                        </p:tgtEl>
                                        <p:attrNameLst>
                                          <p:attrName>ppt_x</p:attrName>
                                          <p:attrName>ppt_y</p:attrName>
                                        </p:attrNameLst>
                                      </p:cBhvr>
                                      <p:rCtr x="0" y="0"/>
                                    </p:animMotion>
                                    <p:animScale>
                                      <p:cBhvr>
                                        <p:cTn id="313" dur="3600" fill="hold"/>
                                        <p:tgtEl>
                                          <p:spTgt spid="18"/>
                                        </p:tgtEl>
                                      </p:cBhvr>
                                      <p:from x="100000" y="100000"/>
                                      <p:to x="320000" y="320000"/>
                                    </p:animScale>
                                  </p:childTnLst>
                                </p:cTn>
                              </p:par>
                              <p:par>
                                <p:cTn id="314" presetID="10" presetClass="exit" fill="hold" grpId="38" nodeType="withEffect">
                                  <p:stCondLst>
                                    <p:cond delay="46800"/>
                                  </p:stCondLst>
                                  <p:childTnLst>
                                    <p:animEffect transition="out" filter="fade">
                                      <p:cBhvr>
                                        <p:cTn id="315" dur="900"/>
                                        <p:tgtEl>
                                          <p:spTgt spid="18"/>
                                        </p:tgtEl>
                                      </p:cBhvr>
                                    </p:animEffect>
                                    <p:set>
                                      <p:cBhvr>
                                        <p:cTn id="316" dur="1" fill="hold">
                                          <p:stCondLst>
                                            <p:cond delay="899"/>
                                          </p:stCondLst>
                                        </p:cTn>
                                        <p:tgtEl>
                                          <p:spTgt spid="18"/>
                                        </p:tgtEl>
                                        <p:attrNameLst>
                                          <p:attrName>style.visibility</p:attrName>
                                        </p:attrNameLst>
                                      </p:cBhvr>
                                      <p:to>
                                        <p:strVal val="hidden"/>
                                      </p:to>
                                    </p:set>
                                  </p:childTnLst>
                                </p:cTn>
                              </p:par>
                            </p:childTnLst>
                          </p:cTn>
                        </p:par>
                        <p:par>
                          <p:cTn id="327" fill="hold">
                            <p:stCondLst>
                              <p:cond delay="0"/>
                            </p:stCondLst>
                            <p:childTnLst>
                              <p:par>
                                <p:cTn id="318" presetID="10" presetClass="entr" fill="hold" grpId="39" nodeType="withEffect">
                                  <p:stCondLst>
                                    <p:cond delay="47700"/>
                                  </p:stCondLst>
                                  <p:childTnLst>
                                    <p:set>
                                      <p:cBhvr>
                                        <p:cTn id="319" dur="1" fill="hold">
                                          <p:stCondLst>
                                            <p:cond delay="0"/>
                                          </p:stCondLst>
                                        </p:cTn>
                                        <p:tgtEl>
                                          <p:spTgt spid="18"/>
                                        </p:tgtEl>
                                        <p:attrNameLst>
                                          <p:attrName>style.visibility</p:attrName>
                                        </p:attrNameLst>
                                      </p:cBhvr>
                                      <p:to>
                                        <p:strVal val="visible"/>
                                      </p:to>
                                    </p:set>
                                    <p:animEffect transition="in" filter="fade">
                                      <p:cBhvr>
                                        <p:cTn id="320" dur="500"/>
                                        <p:tgtEl>
                                          <p:spTgt spid="18"/>
                                        </p:tgtEl>
                                      </p:cBhvr>
                                    </p:animEffect>
                                  </p:childTnLst>
                                </p:cTn>
                              </p:par>
                              <p:par>
                                <p:cTn id="321" presetID="0" presetClass="path" fill="hold" grpId="40" nodeType="withEffect">
                                  <p:stCondLst>
                                    <p:cond delay="47700"/>
                                  </p:stCondLst>
                                  <p:childTnLst>
                                    <p:animMotion origin="layout" path="M 0 0 L -0.02244 -0.19633 E" pathEditMode="relative" ptsTypes="AA">
                                      <p:cBhvr additive="base">
                                        <p:cTn id="322" dur="3600" fill="hold"/>
                                        <p:tgtEl>
                                          <p:spTgt spid="18"/>
                                        </p:tgtEl>
                                        <p:attrNameLst>
                                          <p:attrName>ppt_x</p:attrName>
                                          <p:attrName>ppt_y</p:attrName>
                                        </p:attrNameLst>
                                      </p:cBhvr>
                                      <p:rCtr x="0" y="0"/>
                                    </p:animMotion>
                                    <p:animScale>
                                      <p:cBhvr>
                                        <p:cTn id="323" dur="3600" fill="hold"/>
                                        <p:tgtEl>
                                          <p:spTgt spid="18"/>
                                        </p:tgtEl>
                                      </p:cBhvr>
                                      <p:from x="100000" y="100000"/>
                                      <p:to x="320000" y="320000"/>
                                    </p:animScale>
                                  </p:childTnLst>
                                </p:cTn>
                              </p:par>
                              <p:par>
                                <p:cTn id="324" presetID="10" presetClass="exit" fill="hold" grpId="41" nodeType="withEffect">
                                  <p:stCondLst>
                                    <p:cond delay="50400"/>
                                  </p:stCondLst>
                                  <p:childTnLst>
                                    <p:animEffect transition="out" filter="fade">
                                      <p:cBhvr>
                                        <p:cTn id="325" dur="900"/>
                                        <p:tgtEl>
                                          <p:spTgt spid="18"/>
                                        </p:tgtEl>
                                      </p:cBhvr>
                                    </p:animEffect>
                                    <p:set>
                                      <p:cBhvr>
                                        <p:cTn id="326" dur="1" fill="hold">
                                          <p:stCondLst>
                                            <p:cond delay="899"/>
                                          </p:stCondLst>
                                        </p:cTn>
                                        <p:tgtEl>
                                          <p:spTgt spid="18"/>
                                        </p:tgtEl>
                                        <p:attrNameLst>
                                          <p:attrName>style.visibility</p:attrName>
                                        </p:attrNameLst>
                                      </p:cBhvr>
                                      <p:to>
                                        <p:strVal val="hidden"/>
                                      </p:to>
                                    </p:set>
                                  </p:childTnLst>
                                </p:cTn>
                              </p:par>
                            </p:childTnLst>
                          </p:cTn>
                        </p:par>
                        <p:par>
                          <p:cTn id="337" fill="hold">
                            <p:stCondLst>
                              <p:cond delay="0"/>
                            </p:stCondLst>
                            <p:childTnLst>
                              <p:par>
                                <p:cTn id="328" presetID="10" presetClass="entr" fill="hold" grpId="0" nodeType="withEffect">
                                  <p:stCondLst>
                                    <p:cond delay="1800"/>
                                  </p:stCondLst>
                                  <p:childTnLst>
                                    <p:set>
                                      <p:cBhvr>
                                        <p:cTn id="329" dur="1" fill="hold">
                                          <p:stCondLst>
                                            <p:cond delay="0"/>
                                          </p:stCondLst>
                                        </p:cTn>
                                        <p:tgtEl>
                                          <p:spTgt spid="19"/>
                                        </p:tgtEl>
                                        <p:attrNameLst>
                                          <p:attrName>style.visibility</p:attrName>
                                        </p:attrNameLst>
                                      </p:cBhvr>
                                      <p:to>
                                        <p:strVal val="visible"/>
                                      </p:to>
                                    </p:set>
                                    <p:animEffect transition="in" filter="fade">
                                      <p:cBhvr>
                                        <p:cTn id="330" dur="500"/>
                                        <p:tgtEl>
                                          <p:spTgt spid="19"/>
                                        </p:tgtEl>
                                      </p:cBhvr>
                                    </p:animEffect>
                                  </p:childTnLst>
                                </p:cTn>
                              </p:par>
                              <p:par>
                                <p:cTn id="331" presetID="0" presetClass="path" fill="hold" grpId="1" nodeType="withEffect">
                                  <p:stCondLst>
                                    <p:cond delay="1800"/>
                                  </p:stCondLst>
                                  <p:childTnLst>
                                    <p:animMotion origin="layout" path="M 0 0 L -0.01938 -0.186 E" pathEditMode="relative" ptsTypes="AA">
                                      <p:cBhvr additive="base">
                                        <p:cTn id="332" dur="3600" fill="hold"/>
                                        <p:tgtEl>
                                          <p:spTgt spid="19"/>
                                        </p:tgtEl>
                                        <p:attrNameLst>
                                          <p:attrName>ppt_x</p:attrName>
                                          <p:attrName>ppt_y</p:attrName>
                                        </p:attrNameLst>
                                      </p:cBhvr>
                                      <p:rCtr x="0" y="0"/>
                                    </p:animMotion>
                                    <p:animScale>
                                      <p:cBhvr>
                                        <p:cTn id="333" dur="3600" fill="hold"/>
                                        <p:tgtEl>
                                          <p:spTgt spid="19"/>
                                        </p:tgtEl>
                                      </p:cBhvr>
                                      <p:from x="100000" y="100000"/>
                                      <p:to x="320000" y="320000"/>
                                    </p:animScale>
                                  </p:childTnLst>
                                </p:cTn>
                              </p:par>
                              <p:par>
                                <p:cTn id="334" presetID="10" presetClass="exit" fill="hold" grpId="2" nodeType="withEffect">
                                  <p:stCondLst>
                                    <p:cond delay="4500"/>
                                  </p:stCondLst>
                                  <p:childTnLst>
                                    <p:animEffect transition="out" filter="fade">
                                      <p:cBhvr>
                                        <p:cTn id="335" dur="900"/>
                                        <p:tgtEl>
                                          <p:spTgt spid="19"/>
                                        </p:tgtEl>
                                      </p:cBhvr>
                                    </p:animEffect>
                                    <p:set>
                                      <p:cBhvr>
                                        <p:cTn id="336" dur="1" fill="hold">
                                          <p:stCondLst>
                                            <p:cond delay="899"/>
                                          </p:stCondLst>
                                        </p:cTn>
                                        <p:tgtEl>
                                          <p:spTgt spid="19"/>
                                        </p:tgtEl>
                                        <p:attrNameLst>
                                          <p:attrName>style.visibility</p:attrName>
                                        </p:attrNameLst>
                                      </p:cBhvr>
                                      <p:to>
                                        <p:strVal val="hidden"/>
                                      </p:to>
                                    </p:set>
                                  </p:childTnLst>
                                </p:cTn>
                              </p:par>
                            </p:childTnLst>
                          </p:cTn>
                        </p:par>
                        <p:par>
                          <p:cTn id="347" fill="hold">
                            <p:stCondLst>
                              <p:cond delay="0"/>
                            </p:stCondLst>
                            <p:childTnLst>
                              <p:par>
                                <p:cTn id="338" presetID="10" presetClass="entr" fill="hold" grpId="3" nodeType="withEffect">
                                  <p:stCondLst>
                                    <p:cond delay="5400"/>
                                  </p:stCondLst>
                                  <p:childTnLst>
                                    <p:set>
                                      <p:cBhvr>
                                        <p:cTn id="339" dur="1" fill="hold">
                                          <p:stCondLst>
                                            <p:cond delay="0"/>
                                          </p:stCondLst>
                                        </p:cTn>
                                        <p:tgtEl>
                                          <p:spTgt spid="19"/>
                                        </p:tgtEl>
                                        <p:attrNameLst>
                                          <p:attrName>style.visibility</p:attrName>
                                        </p:attrNameLst>
                                      </p:cBhvr>
                                      <p:to>
                                        <p:strVal val="visible"/>
                                      </p:to>
                                    </p:set>
                                    <p:animEffect transition="in" filter="fade">
                                      <p:cBhvr>
                                        <p:cTn id="340" dur="500"/>
                                        <p:tgtEl>
                                          <p:spTgt spid="19"/>
                                        </p:tgtEl>
                                      </p:cBhvr>
                                    </p:animEffect>
                                  </p:childTnLst>
                                </p:cTn>
                              </p:par>
                              <p:par>
                                <p:cTn id="341" presetID="0" presetClass="path" fill="hold" grpId="4" nodeType="withEffect">
                                  <p:stCondLst>
                                    <p:cond delay="5400"/>
                                  </p:stCondLst>
                                  <p:childTnLst>
                                    <p:animMotion origin="layout" path="M 0 0 L -0.01938 -0.186 E" pathEditMode="relative" ptsTypes="AA">
                                      <p:cBhvr additive="base">
                                        <p:cTn id="342" dur="3600" fill="hold"/>
                                        <p:tgtEl>
                                          <p:spTgt spid="19"/>
                                        </p:tgtEl>
                                        <p:attrNameLst>
                                          <p:attrName>ppt_x</p:attrName>
                                          <p:attrName>ppt_y</p:attrName>
                                        </p:attrNameLst>
                                      </p:cBhvr>
                                      <p:rCtr x="0" y="0"/>
                                    </p:animMotion>
                                    <p:animScale>
                                      <p:cBhvr>
                                        <p:cTn id="343" dur="3600" fill="hold"/>
                                        <p:tgtEl>
                                          <p:spTgt spid="19"/>
                                        </p:tgtEl>
                                      </p:cBhvr>
                                      <p:from x="100000" y="100000"/>
                                      <p:to x="320000" y="320000"/>
                                    </p:animScale>
                                  </p:childTnLst>
                                </p:cTn>
                              </p:par>
                              <p:par>
                                <p:cTn id="344" presetID="10" presetClass="exit" fill="hold" grpId="5" nodeType="withEffect">
                                  <p:stCondLst>
                                    <p:cond delay="8100"/>
                                  </p:stCondLst>
                                  <p:childTnLst>
                                    <p:animEffect transition="out" filter="fade">
                                      <p:cBhvr>
                                        <p:cTn id="345" dur="900"/>
                                        <p:tgtEl>
                                          <p:spTgt spid="19"/>
                                        </p:tgtEl>
                                      </p:cBhvr>
                                    </p:animEffect>
                                    <p:set>
                                      <p:cBhvr>
                                        <p:cTn id="346" dur="1" fill="hold">
                                          <p:stCondLst>
                                            <p:cond delay="899"/>
                                          </p:stCondLst>
                                        </p:cTn>
                                        <p:tgtEl>
                                          <p:spTgt spid="19"/>
                                        </p:tgtEl>
                                        <p:attrNameLst>
                                          <p:attrName>style.visibility</p:attrName>
                                        </p:attrNameLst>
                                      </p:cBhvr>
                                      <p:to>
                                        <p:strVal val="hidden"/>
                                      </p:to>
                                    </p:set>
                                  </p:childTnLst>
                                </p:cTn>
                              </p:par>
                            </p:childTnLst>
                          </p:cTn>
                        </p:par>
                        <p:par>
                          <p:cTn id="357" fill="hold">
                            <p:stCondLst>
                              <p:cond delay="0"/>
                            </p:stCondLst>
                            <p:childTnLst>
                              <p:par>
                                <p:cTn id="348" presetID="10" presetClass="entr" fill="hold" grpId="6" nodeType="withEffect">
                                  <p:stCondLst>
                                    <p:cond delay="9000"/>
                                  </p:stCondLst>
                                  <p:childTnLst>
                                    <p:set>
                                      <p:cBhvr>
                                        <p:cTn id="349" dur="1" fill="hold">
                                          <p:stCondLst>
                                            <p:cond delay="0"/>
                                          </p:stCondLst>
                                        </p:cTn>
                                        <p:tgtEl>
                                          <p:spTgt spid="19"/>
                                        </p:tgtEl>
                                        <p:attrNameLst>
                                          <p:attrName>style.visibility</p:attrName>
                                        </p:attrNameLst>
                                      </p:cBhvr>
                                      <p:to>
                                        <p:strVal val="visible"/>
                                      </p:to>
                                    </p:set>
                                    <p:animEffect transition="in" filter="fade">
                                      <p:cBhvr>
                                        <p:cTn id="350" dur="500"/>
                                        <p:tgtEl>
                                          <p:spTgt spid="19"/>
                                        </p:tgtEl>
                                      </p:cBhvr>
                                    </p:animEffect>
                                  </p:childTnLst>
                                </p:cTn>
                              </p:par>
                              <p:par>
                                <p:cTn id="351" presetID="0" presetClass="path" fill="hold" grpId="7" nodeType="withEffect">
                                  <p:stCondLst>
                                    <p:cond delay="9000"/>
                                  </p:stCondLst>
                                  <p:childTnLst>
                                    <p:animMotion origin="layout" path="M 0 0 L -0.01938 -0.186 E" pathEditMode="relative" ptsTypes="AA">
                                      <p:cBhvr additive="base">
                                        <p:cTn id="352" dur="3600" fill="hold"/>
                                        <p:tgtEl>
                                          <p:spTgt spid="19"/>
                                        </p:tgtEl>
                                        <p:attrNameLst>
                                          <p:attrName>ppt_x</p:attrName>
                                          <p:attrName>ppt_y</p:attrName>
                                        </p:attrNameLst>
                                      </p:cBhvr>
                                      <p:rCtr x="0" y="0"/>
                                    </p:animMotion>
                                    <p:animScale>
                                      <p:cBhvr>
                                        <p:cTn id="353" dur="3600" fill="hold"/>
                                        <p:tgtEl>
                                          <p:spTgt spid="19"/>
                                        </p:tgtEl>
                                      </p:cBhvr>
                                      <p:from x="100000" y="100000"/>
                                      <p:to x="320000" y="320000"/>
                                    </p:animScale>
                                  </p:childTnLst>
                                </p:cTn>
                              </p:par>
                              <p:par>
                                <p:cTn id="354" presetID="10" presetClass="exit" fill="hold" grpId="8" nodeType="withEffect">
                                  <p:stCondLst>
                                    <p:cond delay="11700"/>
                                  </p:stCondLst>
                                  <p:childTnLst>
                                    <p:animEffect transition="out" filter="fade">
                                      <p:cBhvr>
                                        <p:cTn id="355" dur="900"/>
                                        <p:tgtEl>
                                          <p:spTgt spid="19"/>
                                        </p:tgtEl>
                                      </p:cBhvr>
                                    </p:animEffect>
                                    <p:set>
                                      <p:cBhvr>
                                        <p:cTn id="356" dur="1" fill="hold">
                                          <p:stCondLst>
                                            <p:cond delay="899"/>
                                          </p:stCondLst>
                                        </p:cTn>
                                        <p:tgtEl>
                                          <p:spTgt spid="19"/>
                                        </p:tgtEl>
                                        <p:attrNameLst>
                                          <p:attrName>style.visibility</p:attrName>
                                        </p:attrNameLst>
                                      </p:cBhvr>
                                      <p:to>
                                        <p:strVal val="hidden"/>
                                      </p:to>
                                    </p:set>
                                  </p:childTnLst>
                                </p:cTn>
                              </p:par>
                            </p:childTnLst>
                          </p:cTn>
                        </p:par>
                        <p:par>
                          <p:cTn id="367" fill="hold">
                            <p:stCondLst>
                              <p:cond delay="0"/>
                            </p:stCondLst>
                            <p:childTnLst>
                              <p:par>
                                <p:cTn id="358" presetID="10" presetClass="entr" fill="hold" grpId="9" nodeType="withEffect">
                                  <p:stCondLst>
                                    <p:cond delay="12600"/>
                                  </p:stCondLst>
                                  <p:childTnLst>
                                    <p:set>
                                      <p:cBhvr>
                                        <p:cTn id="359" dur="1" fill="hold">
                                          <p:stCondLst>
                                            <p:cond delay="0"/>
                                          </p:stCondLst>
                                        </p:cTn>
                                        <p:tgtEl>
                                          <p:spTgt spid="19"/>
                                        </p:tgtEl>
                                        <p:attrNameLst>
                                          <p:attrName>style.visibility</p:attrName>
                                        </p:attrNameLst>
                                      </p:cBhvr>
                                      <p:to>
                                        <p:strVal val="visible"/>
                                      </p:to>
                                    </p:set>
                                    <p:animEffect transition="in" filter="fade">
                                      <p:cBhvr>
                                        <p:cTn id="360" dur="500"/>
                                        <p:tgtEl>
                                          <p:spTgt spid="19"/>
                                        </p:tgtEl>
                                      </p:cBhvr>
                                    </p:animEffect>
                                  </p:childTnLst>
                                </p:cTn>
                              </p:par>
                              <p:par>
                                <p:cTn id="361" presetID="0" presetClass="path" fill="hold" grpId="10" nodeType="withEffect">
                                  <p:stCondLst>
                                    <p:cond delay="12600"/>
                                  </p:stCondLst>
                                  <p:childTnLst>
                                    <p:animMotion origin="layout" path="M 0 0 L -0.01938 -0.186 E" pathEditMode="relative" ptsTypes="AA">
                                      <p:cBhvr additive="base">
                                        <p:cTn id="362" dur="3600" fill="hold"/>
                                        <p:tgtEl>
                                          <p:spTgt spid="19"/>
                                        </p:tgtEl>
                                        <p:attrNameLst>
                                          <p:attrName>ppt_x</p:attrName>
                                          <p:attrName>ppt_y</p:attrName>
                                        </p:attrNameLst>
                                      </p:cBhvr>
                                      <p:rCtr x="0" y="0"/>
                                    </p:animMotion>
                                    <p:animScale>
                                      <p:cBhvr>
                                        <p:cTn id="363" dur="3600" fill="hold"/>
                                        <p:tgtEl>
                                          <p:spTgt spid="19"/>
                                        </p:tgtEl>
                                      </p:cBhvr>
                                      <p:from x="100000" y="100000"/>
                                      <p:to x="320000" y="320000"/>
                                    </p:animScale>
                                  </p:childTnLst>
                                </p:cTn>
                              </p:par>
                              <p:par>
                                <p:cTn id="364" presetID="10" presetClass="exit" fill="hold" grpId="11" nodeType="withEffect">
                                  <p:stCondLst>
                                    <p:cond delay="15300"/>
                                  </p:stCondLst>
                                  <p:childTnLst>
                                    <p:animEffect transition="out" filter="fade">
                                      <p:cBhvr>
                                        <p:cTn id="365" dur="900"/>
                                        <p:tgtEl>
                                          <p:spTgt spid="19"/>
                                        </p:tgtEl>
                                      </p:cBhvr>
                                    </p:animEffect>
                                    <p:set>
                                      <p:cBhvr>
                                        <p:cTn id="366" dur="1" fill="hold">
                                          <p:stCondLst>
                                            <p:cond delay="899"/>
                                          </p:stCondLst>
                                        </p:cTn>
                                        <p:tgtEl>
                                          <p:spTgt spid="19"/>
                                        </p:tgtEl>
                                        <p:attrNameLst>
                                          <p:attrName>style.visibility</p:attrName>
                                        </p:attrNameLst>
                                      </p:cBhvr>
                                      <p:to>
                                        <p:strVal val="hidden"/>
                                      </p:to>
                                    </p:set>
                                  </p:childTnLst>
                                </p:cTn>
                              </p:par>
                            </p:childTnLst>
                          </p:cTn>
                        </p:par>
                        <p:par>
                          <p:cTn id="377" fill="hold">
                            <p:stCondLst>
                              <p:cond delay="0"/>
                            </p:stCondLst>
                            <p:childTnLst>
                              <p:par>
                                <p:cTn id="368" presetID="10" presetClass="entr" fill="hold" grpId="12" nodeType="withEffect">
                                  <p:stCondLst>
                                    <p:cond delay="16200"/>
                                  </p:stCondLst>
                                  <p:childTnLst>
                                    <p:set>
                                      <p:cBhvr>
                                        <p:cTn id="369" dur="1" fill="hold">
                                          <p:stCondLst>
                                            <p:cond delay="0"/>
                                          </p:stCondLst>
                                        </p:cTn>
                                        <p:tgtEl>
                                          <p:spTgt spid="19"/>
                                        </p:tgtEl>
                                        <p:attrNameLst>
                                          <p:attrName>style.visibility</p:attrName>
                                        </p:attrNameLst>
                                      </p:cBhvr>
                                      <p:to>
                                        <p:strVal val="visible"/>
                                      </p:to>
                                    </p:set>
                                    <p:animEffect transition="in" filter="fade">
                                      <p:cBhvr>
                                        <p:cTn id="370" dur="500"/>
                                        <p:tgtEl>
                                          <p:spTgt spid="19"/>
                                        </p:tgtEl>
                                      </p:cBhvr>
                                    </p:animEffect>
                                  </p:childTnLst>
                                </p:cTn>
                              </p:par>
                              <p:par>
                                <p:cTn id="371" presetID="0" presetClass="path" fill="hold" grpId="13" nodeType="withEffect">
                                  <p:stCondLst>
                                    <p:cond delay="16200"/>
                                  </p:stCondLst>
                                  <p:childTnLst>
                                    <p:animMotion origin="layout" path="M 0 0 L -0.01938 -0.186 E" pathEditMode="relative" ptsTypes="AA">
                                      <p:cBhvr additive="base">
                                        <p:cTn id="372" dur="3600" fill="hold"/>
                                        <p:tgtEl>
                                          <p:spTgt spid="19"/>
                                        </p:tgtEl>
                                        <p:attrNameLst>
                                          <p:attrName>ppt_x</p:attrName>
                                          <p:attrName>ppt_y</p:attrName>
                                        </p:attrNameLst>
                                      </p:cBhvr>
                                      <p:rCtr x="0" y="0"/>
                                    </p:animMotion>
                                    <p:animScale>
                                      <p:cBhvr>
                                        <p:cTn id="373" dur="3600" fill="hold"/>
                                        <p:tgtEl>
                                          <p:spTgt spid="19"/>
                                        </p:tgtEl>
                                      </p:cBhvr>
                                      <p:from x="100000" y="100000"/>
                                      <p:to x="320000" y="320000"/>
                                    </p:animScale>
                                  </p:childTnLst>
                                </p:cTn>
                              </p:par>
                              <p:par>
                                <p:cTn id="374" presetID="10" presetClass="exit" fill="hold" grpId="14" nodeType="withEffect">
                                  <p:stCondLst>
                                    <p:cond delay="18900"/>
                                  </p:stCondLst>
                                  <p:childTnLst>
                                    <p:animEffect transition="out" filter="fade">
                                      <p:cBhvr>
                                        <p:cTn id="375" dur="900"/>
                                        <p:tgtEl>
                                          <p:spTgt spid="19"/>
                                        </p:tgtEl>
                                      </p:cBhvr>
                                    </p:animEffect>
                                    <p:set>
                                      <p:cBhvr>
                                        <p:cTn id="376" dur="1" fill="hold">
                                          <p:stCondLst>
                                            <p:cond delay="899"/>
                                          </p:stCondLst>
                                        </p:cTn>
                                        <p:tgtEl>
                                          <p:spTgt spid="19"/>
                                        </p:tgtEl>
                                        <p:attrNameLst>
                                          <p:attrName>style.visibility</p:attrName>
                                        </p:attrNameLst>
                                      </p:cBhvr>
                                      <p:to>
                                        <p:strVal val="hidden"/>
                                      </p:to>
                                    </p:set>
                                  </p:childTnLst>
                                </p:cTn>
                              </p:par>
                            </p:childTnLst>
                          </p:cTn>
                        </p:par>
                        <p:par>
                          <p:cTn id="387" fill="hold">
                            <p:stCondLst>
                              <p:cond delay="0"/>
                            </p:stCondLst>
                            <p:childTnLst>
                              <p:par>
                                <p:cTn id="378" presetID="10" presetClass="entr" fill="hold" grpId="15" nodeType="withEffect">
                                  <p:stCondLst>
                                    <p:cond delay="19800"/>
                                  </p:stCondLst>
                                  <p:childTnLst>
                                    <p:set>
                                      <p:cBhvr>
                                        <p:cTn id="379" dur="1" fill="hold">
                                          <p:stCondLst>
                                            <p:cond delay="0"/>
                                          </p:stCondLst>
                                        </p:cTn>
                                        <p:tgtEl>
                                          <p:spTgt spid="19"/>
                                        </p:tgtEl>
                                        <p:attrNameLst>
                                          <p:attrName>style.visibility</p:attrName>
                                        </p:attrNameLst>
                                      </p:cBhvr>
                                      <p:to>
                                        <p:strVal val="visible"/>
                                      </p:to>
                                    </p:set>
                                    <p:animEffect transition="in" filter="fade">
                                      <p:cBhvr>
                                        <p:cTn id="380" dur="500"/>
                                        <p:tgtEl>
                                          <p:spTgt spid="19"/>
                                        </p:tgtEl>
                                      </p:cBhvr>
                                    </p:animEffect>
                                  </p:childTnLst>
                                </p:cTn>
                              </p:par>
                              <p:par>
                                <p:cTn id="381" presetID="0" presetClass="path" fill="hold" grpId="16" nodeType="withEffect">
                                  <p:stCondLst>
                                    <p:cond delay="19800"/>
                                  </p:stCondLst>
                                  <p:childTnLst>
                                    <p:animMotion origin="layout" path="M 0 0 L -0.01938 -0.186 E" pathEditMode="relative" ptsTypes="AA">
                                      <p:cBhvr additive="base">
                                        <p:cTn id="382" dur="3600" fill="hold"/>
                                        <p:tgtEl>
                                          <p:spTgt spid="19"/>
                                        </p:tgtEl>
                                        <p:attrNameLst>
                                          <p:attrName>ppt_x</p:attrName>
                                          <p:attrName>ppt_y</p:attrName>
                                        </p:attrNameLst>
                                      </p:cBhvr>
                                      <p:rCtr x="0" y="0"/>
                                    </p:animMotion>
                                    <p:animScale>
                                      <p:cBhvr>
                                        <p:cTn id="383" dur="3600" fill="hold"/>
                                        <p:tgtEl>
                                          <p:spTgt spid="19"/>
                                        </p:tgtEl>
                                      </p:cBhvr>
                                      <p:from x="100000" y="100000"/>
                                      <p:to x="320000" y="320000"/>
                                    </p:animScale>
                                  </p:childTnLst>
                                </p:cTn>
                              </p:par>
                              <p:par>
                                <p:cTn id="384" presetID="10" presetClass="exit" fill="hold" grpId="17" nodeType="withEffect">
                                  <p:stCondLst>
                                    <p:cond delay="22500"/>
                                  </p:stCondLst>
                                  <p:childTnLst>
                                    <p:animEffect transition="out" filter="fade">
                                      <p:cBhvr>
                                        <p:cTn id="385" dur="900"/>
                                        <p:tgtEl>
                                          <p:spTgt spid="19"/>
                                        </p:tgtEl>
                                      </p:cBhvr>
                                    </p:animEffect>
                                    <p:set>
                                      <p:cBhvr>
                                        <p:cTn id="386" dur="1" fill="hold">
                                          <p:stCondLst>
                                            <p:cond delay="899"/>
                                          </p:stCondLst>
                                        </p:cTn>
                                        <p:tgtEl>
                                          <p:spTgt spid="19"/>
                                        </p:tgtEl>
                                        <p:attrNameLst>
                                          <p:attrName>style.visibility</p:attrName>
                                        </p:attrNameLst>
                                      </p:cBhvr>
                                      <p:to>
                                        <p:strVal val="hidden"/>
                                      </p:to>
                                    </p:set>
                                  </p:childTnLst>
                                </p:cTn>
                              </p:par>
                            </p:childTnLst>
                          </p:cTn>
                        </p:par>
                        <p:par>
                          <p:cTn id="397" fill="hold">
                            <p:stCondLst>
                              <p:cond delay="0"/>
                            </p:stCondLst>
                            <p:childTnLst>
                              <p:par>
                                <p:cTn id="388" presetID="10" presetClass="entr" fill="hold" grpId="18" nodeType="withEffect">
                                  <p:stCondLst>
                                    <p:cond delay="23400"/>
                                  </p:stCondLst>
                                  <p:childTnLst>
                                    <p:set>
                                      <p:cBhvr>
                                        <p:cTn id="389" dur="1" fill="hold">
                                          <p:stCondLst>
                                            <p:cond delay="0"/>
                                          </p:stCondLst>
                                        </p:cTn>
                                        <p:tgtEl>
                                          <p:spTgt spid="19"/>
                                        </p:tgtEl>
                                        <p:attrNameLst>
                                          <p:attrName>style.visibility</p:attrName>
                                        </p:attrNameLst>
                                      </p:cBhvr>
                                      <p:to>
                                        <p:strVal val="visible"/>
                                      </p:to>
                                    </p:set>
                                    <p:animEffect transition="in" filter="fade">
                                      <p:cBhvr>
                                        <p:cTn id="390" dur="500"/>
                                        <p:tgtEl>
                                          <p:spTgt spid="19"/>
                                        </p:tgtEl>
                                      </p:cBhvr>
                                    </p:animEffect>
                                  </p:childTnLst>
                                </p:cTn>
                              </p:par>
                              <p:par>
                                <p:cTn id="391" presetID="0" presetClass="path" fill="hold" grpId="19" nodeType="withEffect">
                                  <p:stCondLst>
                                    <p:cond delay="23400"/>
                                  </p:stCondLst>
                                  <p:childTnLst>
                                    <p:animMotion origin="layout" path="M 0 0 L -0.01938 -0.186 E" pathEditMode="relative" ptsTypes="AA">
                                      <p:cBhvr additive="base">
                                        <p:cTn id="392" dur="3600" fill="hold"/>
                                        <p:tgtEl>
                                          <p:spTgt spid="19"/>
                                        </p:tgtEl>
                                        <p:attrNameLst>
                                          <p:attrName>ppt_x</p:attrName>
                                          <p:attrName>ppt_y</p:attrName>
                                        </p:attrNameLst>
                                      </p:cBhvr>
                                      <p:rCtr x="0" y="0"/>
                                    </p:animMotion>
                                    <p:animScale>
                                      <p:cBhvr>
                                        <p:cTn id="393" dur="3600" fill="hold"/>
                                        <p:tgtEl>
                                          <p:spTgt spid="19"/>
                                        </p:tgtEl>
                                      </p:cBhvr>
                                      <p:from x="100000" y="100000"/>
                                      <p:to x="320000" y="320000"/>
                                    </p:animScale>
                                  </p:childTnLst>
                                </p:cTn>
                              </p:par>
                              <p:par>
                                <p:cTn id="394" presetID="10" presetClass="exit" fill="hold" grpId="20" nodeType="withEffect">
                                  <p:stCondLst>
                                    <p:cond delay="26100"/>
                                  </p:stCondLst>
                                  <p:childTnLst>
                                    <p:animEffect transition="out" filter="fade">
                                      <p:cBhvr>
                                        <p:cTn id="395" dur="900"/>
                                        <p:tgtEl>
                                          <p:spTgt spid="19"/>
                                        </p:tgtEl>
                                      </p:cBhvr>
                                    </p:animEffect>
                                    <p:set>
                                      <p:cBhvr>
                                        <p:cTn id="396" dur="1" fill="hold">
                                          <p:stCondLst>
                                            <p:cond delay="899"/>
                                          </p:stCondLst>
                                        </p:cTn>
                                        <p:tgtEl>
                                          <p:spTgt spid="19"/>
                                        </p:tgtEl>
                                        <p:attrNameLst>
                                          <p:attrName>style.visibility</p:attrName>
                                        </p:attrNameLst>
                                      </p:cBhvr>
                                      <p:to>
                                        <p:strVal val="hidden"/>
                                      </p:to>
                                    </p:set>
                                  </p:childTnLst>
                                </p:cTn>
                              </p:par>
                            </p:childTnLst>
                          </p:cTn>
                        </p:par>
                        <p:par>
                          <p:cTn id="407" fill="hold">
                            <p:stCondLst>
                              <p:cond delay="0"/>
                            </p:stCondLst>
                            <p:childTnLst>
                              <p:par>
                                <p:cTn id="398" presetID="10" presetClass="entr" fill="hold" grpId="21" nodeType="withEffect">
                                  <p:stCondLst>
                                    <p:cond delay="27000"/>
                                  </p:stCondLst>
                                  <p:childTnLst>
                                    <p:set>
                                      <p:cBhvr>
                                        <p:cTn id="399" dur="1" fill="hold">
                                          <p:stCondLst>
                                            <p:cond delay="0"/>
                                          </p:stCondLst>
                                        </p:cTn>
                                        <p:tgtEl>
                                          <p:spTgt spid="19"/>
                                        </p:tgtEl>
                                        <p:attrNameLst>
                                          <p:attrName>style.visibility</p:attrName>
                                        </p:attrNameLst>
                                      </p:cBhvr>
                                      <p:to>
                                        <p:strVal val="visible"/>
                                      </p:to>
                                    </p:set>
                                    <p:animEffect transition="in" filter="fade">
                                      <p:cBhvr>
                                        <p:cTn id="400" dur="500"/>
                                        <p:tgtEl>
                                          <p:spTgt spid="19"/>
                                        </p:tgtEl>
                                      </p:cBhvr>
                                    </p:animEffect>
                                  </p:childTnLst>
                                </p:cTn>
                              </p:par>
                              <p:par>
                                <p:cTn id="401" presetID="0" presetClass="path" fill="hold" grpId="22" nodeType="withEffect">
                                  <p:stCondLst>
                                    <p:cond delay="27000"/>
                                  </p:stCondLst>
                                  <p:childTnLst>
                                    <p:animMotion origin="layout" path="M 0 0 L -0.01938 -0.186 E" pathEditMode="relative" ptsTypes="AA">
                                      <p:cBhvr additive="base">
                                        <p:cTn id="402" dur="3600" fill="hold"/>
                                        <p:tgtEl>
                                          <p:spTgt spid="19"/>
                                        </p:tgtEl>
                                        <p:attrNameLst>
                                          <p:attrName>ppt_x</p:attrName>
                                          <p:attrName>ppt_y</p:attrName>
                                        </p:attrNameLst>
                                      </p:cBhvr>
                                      <p:rCtr x="0" y="0"/>
                                    </p:animMotion>
                                    <p:animScale>
                                      <p:cBhvr>
                                        <p:cTn id="403" dur="3600" fill="hold"/>
                                        <p:tgtEl>
                                          <p:spTgt spid="19"/>
                                        </p:tgtEl>
                                      </p:cBhvr>
                                      <p:from x="100000" y="100000"/>
                                      <p:to x="320000" y="320000"/>
                                    </p:animScale>
                                  </p:childTnLst>
                                </p:cTn>
                              </p:par>
                              <p:par>
                                <p:cTn id="404" presetID="10" presetClass="exit" fill="hold" grpId="23" nodeType="withEffect">
                                  <p:stCondLst>
                                    <p:cond delay="29700"/>
                                  </p:stCondLst>
                                  <p:childTnLst>
                                    <p:animEffect transition="out" filter="fade">
                                      <p:cBhvr>
                                        <p:cTn id="405" dur="900"/>
                                        <p:tgtEl>
                                          <p:spTgt spid="19"/>
                                        </p:tgtEl>
                                      </p:cBhvr>
                                    </p:animEffect>
                                    <p:set>
                                      <p:cBhvr>
                                        <p:cTn id="406" dur="1" fill="hold">
                                          <p:stCondLst>
                                            <p:cond delay="899"/>
                                          </p:stCondLst>
                                        </p:cTn>
                                        <p:tgtEl>
                                          <p:spTgt spid="19"/>
                                        </p:tgtEl>
                                        <p:attrNameLst>
                                          <p:attrName>style.visibility</p:attrName>
                                        </p:attrNameLst>
                                      </p:cBhvr>
                                      <p:to>
                                        <p:strVal val="hidden"/>
                                      </p:to>
                                    </p:set>
                                  </p:childTnLst>
                                </p:cTn>
                              </p:par>
                            </p:childTnLst>
                          </p:cTn>
                        </p:par>
                        <p:par>
                          <p:cTn id="417" fill="hold">
                            <p:stCondLst>
                              <p:cond delay="0"/>
                            </p:stCondLst>
                            <p:childTnLst>
                              <p:par>
                                <p:cTn id="408" presetID="10" presetClass="entr" fill="hold" grpId="24" nodeType="withEffect">
                                  <p:stCondLst>
                                    <p:cond delay="30600"/>
                                  </p:stCondLst>
                                  <p:childTnLst>
                                    <p:set>
                                      <p:cBhvr>
                                        <p:cTn id="409" dur="1" fill="hold">
                                          <p:stCondLst>
                                            <p:cond delay="0"/>
                                          </p:stCondLst>
                                        </p:cTn>
                                        <p:tgtEl>
                                          <p:spTgt spid="19"/>
                                        </p:tgtEl>
                                        <p:attrNameLst>
                                          <p:attrName>style.visibility</p:attrName>
                                        </p:attrNameLst>
                                      </p:cBhvr>
                                      <p:to>
                                        <p:strVal val="visible"/>
                                      </p:to>
                                    </p:set>
                                    <p:animEffect transition="in" filter="fade">
                                      <p:cBhvr>
                                        <p:cTn id="410" dur="500"/>
                                        <p:tgtEl>
                                          <p:spTgt spid="19"/>
                                        </p:tgtEl>
                                      </p:cBhvr>
                                    </p:animEffect>
                                  </p:childTnLst>
                                </p:cTn>
                              </p:par>
                              <p:par>
                                <p:cTn id="411" presetID="0" presetClass="path" fill="hold" grpId="25" nodeType="withEffect">
                                  <p:stCondLst>
                                    <p:cond delay="30600"/>
                                  </p:stCondLst>
                                  <p:childTnLst>
                                    <p:animMotion origin="layout" path="M 0 0 L -0.01938 -0.186 E" pathEditMode="relative" ptsTypes="AA">
                                      <p:cBhvr additive="base">
                                        <p:cTn id="412" dur="3600" fill="hold"/>
                                        <p:tgtEl>
                                          <p:spTgt spid="19"/>
                                        </p:tgtEl>
                                        <p:attrNameLst>
                                          <p:attrName>ppt_x</p:attrName>
                                          <p:attrName>ppt_y</p:attrName>
                                        </p:attrNameLst>
                                      </p:cBhvr>
                                      <p:rCtr x="0" y="0"/>
                                    </p:animMotion>
                                    <p:animScale>
                                      <p:cBhvr>
                                        <p:cTn id="413" dur="3600" fill="hold"/>
                                        <p:tgtEl>
                                          <p:spTgt spid="19"/>
                                        </p:tgtEl>
                                      </p:cBhvr>
                                      <p:from x="100000" y="100000"/>
                                      <p:to x="320000" y="320000"/>
                                    </p:animScale>
                                  </p:childTnLst>
                                </p:cTn>
                              </p:par>
                              <p:par>
                                <p:cTn id="414" presetID="10" presetClass="exit" fill="hold" grpId="26" nodeType="withEffect">
                                  <p:stCondLst>
                                    <p:cond delay="33300"/>
                                  </p:stCondLst>
                                  <p:childTnLst>
                                    <p:animEffect transition="out" filter="fade">
                                      <p:cBhvr>
                                        <p:cTn id="415" dur="900"/>
                                        <p:tgtEl>
                                          <p:spTgt spid="19"/>
                                        </p:tgtEl>
                                      </p:cBhvr>
                                    </p:animEffect>
                                    <p:set>
                                      <p:cBhvr>
                                        <p:cTn id="416" dur="1" fill="hold">
                                          <p:stCondLst>
                                            <p:cond delay="899"/>
                                          </p:stCondLst>
                                        </p:cTn>
                                        <p:tgtEl>
                                          <p:spTgt spid="19"/>
                                        </p:tgtEl>
                                        <p:attrNameLst>
                                          <p:attrName>style.visibility</p:attrName>
                                        </p:attrNameLst>
                                      </p:cBhvr>
                                      <p:to>
                                        <p:strVal val="hidden"/>
                                      </p:to>
                                    </p:set>
                                  </p:childTnLst>
                                </p:cTn>
                              </p:par>
                            </p:childTnLst>
                          </p:cTn>
                        </p:par>
                        <p:par>
                          <p:cTn id="427" fill="hold">
                            <p:stCondLst>
                              <p:cond delay="0"/>
                            </p:stCondLst>
                            <p:childTnLst>
                              <p:par>
                                <p:cTn id="418" presetID="10" presetClass="entr" fill="hold" grpId="27" nodeType="withEffect">
                                  <p:stCondLst>
                                    <p:cond delay="34200"/>
                                  </p:stCondLst>
                                  <p:childTnLst>
                                    <p:set>
                                      <p:cBhvr>
                                        <p:cTn id="419" dur="1" fill="hold">
                                          <p:stCondLst>
                                            <p:cond delay="0"/>
                                          </p:stCondLst>
                                        </p:cTn>
                                        <p:tgtEl>
                                          <p:spTgt spid="19"/>
                                        </p:tgtEl>
                                        <p:attrNameLst>
                                          <p:attrName>style.visibility</p:attrName>
                                        </p:attrNameLst>
                                      </p:cBhvr>
                                      <p:to>
                                        <p:strVal val="visible"/>
                                      </p:to>
                                    </p:set>
                                    <p:animEffect transition="in" filter="fade">
                                      <p:cBhvr>
                                        <p:cTn id="420" dur="500"/>
                                        <p:tgtEl>
                                          <p:spTgt spid="19"/>
                                        </p:tgtEl>
                                      </p:cBhvr>
                                    </p:animEffect>
                                  </p:childTnLst>
                                </p:cTn>
                              </p:par>
                              <p:par>
                                <p:cTn id="421" presetID="0" presetClass="path" fill="hold" grpId="28" nodeType="withEffect">
                                  <p:stCondLst>
                                    <p:cond delay="34200"/>
                                  </p:stCondLst>
                                  <p:childTnLst>
                                    <p:animMotion origin="layout" path="M 0 0 L -0.01938 -0.186 E" pathEditMode="relative" ptsTypes="AA">
                                      <p:cBhvr additive="base">
                                        <p:cTn id="422" dur="3600" fill="hold"/>
                                        <p:tgtEl>
                                          <p:spTgt spid="19"/>
                                        </p:tgtEl>
                                        <p:attrNameLst>
                                          <p:attrName>ppt_x</p:attrName>
                                          <p:attrName>ppt_y</p:attrName>
                                        </p:attrNameLst>
                                      </p:cBhvr>
                                      <p:rCtr x="0" y="0"/>
                                    </p:animMotion>
                                    <p:animScale>
                                      <p:cBhvr>
                                        <p:cTn id="423" dur="3600" fill="hold"/>
                                        <p:tgtEl>
                                          <p:spTgt spid="19"/>
                                        </p:tgtEl>
                                      </p:cBhvr>
                                      <p:from x="100000" y="100000"/>
                                      <p:to x="320000" y="320000"/>
                                    </p:animScale>
                                  </p:childTnLst>
                                </p:cTn>
                              </p:par>
                              <p:par>
                                <p:cTn id="424" presetID="10" presetClass="exit" fill="hold" grpId="29" nodeType="withEffect">
                                  <p:stCondLst>
                                    <p:cond delay="36900"/>
                                  </p:stCondLst>
                                  <p:childTnLst>
                                    <p:animEffect transition="out" filter="fade">
                                      <p:cBhvr>
                                        <p:cTn id="425" dur="900"/>
                                        <p:tgtEl>
                                          <p:spTgt spid="19"/>
                                        </p:tgtEl>
                                      </p:cBhvr>
                                    </p:animEffect>
                                    <p:set>
                                      <p:cBhvr>
                                        <p:cTn id="426" dur="1" fill="hold">
                                          <p:stCondLst>
                                            <p:cond delay="899"/>
                                          </p:stCondLst>
                                        </p:cTn>
                                        <p:tgtEl>
                                          <p:spTgt spid="19"/>
                                        </p:tgtEl>
                                        <p:attrNameLst>
                                          <p:attrName>style.visibility</p:attrName>
                                        </p:attrNameLst>
                                      </p:cBhvr>
                                      <p:to>
                                        <p:strVal val="hidden"/>
                                      </p:to>
                                    </p:set>
                                  </p:childTnLst>
                                </p:cTn>
                              </p:par>
                            </p:childTnLst>
                          </p:cTn>
                        </p:par>
                        <p:par>
                          <p:cTn id="437" fill="hold">
                            <p:stCondLst>
                              <p:cond delay="0"/>
                            </p:stCondLst>
                            <p:childTnLst>
                              <p:par>
                                <p:cTn id="428" presetID="10" presetClass="entr" fill="hold" grpId="30" nodeType="withEffect">
                                  <p:stCondLst>
                                    <p:cond delay="37800"/>
                                  </p:stCondLst>
                                  <p:childTnLst>
                                    <p:set>
                                      <p:cBhvr>
                                        <p:cTn id="429" dur="1" fill="hold">
                                          <p:stCondLst>
                                            <p:cond delay="0"/>
                                          </p:stCondLst>
                                        </p:cTn>
                                        <p:tgtEl>
                                          <p:spTgt spid="19"/>
                                        </p:tgtEl>
                                        <p:attrNameLst>
                                          <p:attrName>style.visibility</p:attrName>
                                        </p:attrNameLst>
                                      </p:cBhvr>
                                      <p:to>
                                        <p:strVal val="visible"/>
                                      </p:to>
                                    </p:set>
                                    <p:animEffect transition="in" filter="fade">
                                      <p:cBhvr>
                                        <p:cTn id="430" dur="500"/>
                                        <p:tgtEl>
                                          <p:spTgt spid="19"/>
                                        </p:tgtEl>
                                      </p:cBhvr>
                                    </p:animEffect>
                                  </p:childTnLst>
                                </p:cTn>
                              </p:par>
                              <p:par>
                                <p:cTn id="431" presetID="0" presetClass="path" fill="hold" grpId="31" nodeType="withEffect">
                                  <p:stCondLst>
                                    <p:cond delay="37800"/>
                                  </p:stCondLst>
                                  <p:childTnLst>
                                    <p:animMotion origin="layout" path="M 0 0 L -0.01938 -0.186 E" pathEditMode="relative" ptsTypes="AA">
                                      <p:cBhvr additive="base">
                                        <p:cTn id="432" dur="3600" fill="hold"/>
                                        <p:tgtEl>
                                          <p:spTgt spid="19"/>
                                        </p:tgtEl>
                                        <p:attrNameLst>
                                          <p:attrName>ppt_x</p:attrName>
                                          <p:attrName>ppt_y</p:attrName>
                                        </p:attrNameLst>
                                      </p:cBhvr>
                                      <p:rCtr x="0" y="0"/>
                                    </p:animMotion>
                                    <p:animScale>
                                      <p:cBhvr>
                                        <p:cTn id="433" dur="3600" fill="hold"/>
                                        <p:tgtEl>
                                          <p:spTgt spid="19"/>
                                        </p:tgtEl>
                                      </p:cBhvr>
                                      <p:from x="100000" y="100000"/>
                                      <p:to x="320000" y="320000"/>
                                    </p:animScale>
                                  </p:childTnLst>
                                </p:cTn>
                              </p:par>
                              <p:par>
                                <p:cTn id="434" presetID="10" presetClass="exit" fill="hold" grpId="32" nodeType="withEffect">
                                  <p:stCondLst>
                                    <p:cond delay="40500"/>
                                  </p:stCondLst>
                                  <p:childTnLst>
                                    <p:animEffect transition="out" filter="fade">
                                      <p:cBhvr>
                                        <p:cTn id="435" dur="900"/>
                                        <p:tgtEl>
                                          <p:spTgt spid="19"/>
                                        </p:tgtEl>
                                      </p:cBhvr>
                                    </p:animEffect>
                                    <p:set>
                                      <p:cBhvr>
                                        <p:cTn id="436" dur="1" fill="hold">
                                          <p:stCondLst>
                                            <p:cond delay="899"/>
                                          </p:stCondLst>
                                        </p:cTn>
                                        <p:tgtEl>
                                          <p:spTgt spid="19"/>
                                        </p:tgtEl>
                                        <p:attrNameLst>
                                          <p:attrName>style.visibility</p:attrName>
                                        </p:attrNameLst>
                                      </p:cBhvr>
                                      <p:to>
                                        <p:strVal val="hidden"/>
                                      </p:to>
                                    </p:set>
                                  </p:childTnLst>
                                </p:cTn>
                              </p:par>
                            </p:childTnLst>
                          </p:cTn>
                        </p:par>
                        <p:par>
                          <p:cTn id="447" fill="hold">
                            <p:stCondLst>
                              <p:cond delay="0"/>
                            </p:stCondLst>
                            <p:childTnLst>
                              <p:par>
                                <p:cTn id="438" presetID="10" presetClass="entr" fill="hold" grpId="33" nodeType="withEffect">
                                  <p:stCondLst>
                                    <p:cond delay="41400"/>
                                  </p:stCondLst>
                                  <p:childTnLst>
                                    <p:set>
                                      <p:cBhvr>
                                        <p:cTn id="439" dur="1" fill="hold">
                                          <p:stCondLst>
                                            <p:cond delay="0"/>
                                          </p:stCondLst>
                                        </p:cTn>
                                        <p:tgtEl>
                                          <p:spTgt spid="19"/>
                                        </p:tgtEl>
                                        <p:attrNameLst>
                                          <p:attrName>style.visibility</p:attrName>
                                        </p:attrNameLst>
                                      </p:cBhvr>
                                      <p:to>
                                        <p:strVal val="visible"/>
                                      </p:to>
                                    </p:set>
                                    <p:animEffect transition="in" filter="fade">
                                      <p:cBhvr>
                                        <p:cTn id="440" dur="500"/>
                                        <p:tgtEl>
                                          <p:spTgt spid="19"/>
                                        </p:tgtEl>
                                      </p:cBhvr>
                                    </p:animEffect>
                                  </p:childTnLst>
                                </p:cTn>
                              </p:par>
                              <p:par>
                                <p:cTn id="441" presetID="0" presetClass="path" fill="hold" grpId="34" nodeType="withEffect">
                                  <p:stCondLst>
                                    <p:cond delay="41400"/>
                                  </p:stCondLst>
                                  <p:childTnLst>
                                    <p:animMotion origin="layout" path="M 0 0 L -0.01938 -0.186 E" pathEditMode="relative" ptsTypes="AA">
                                      <p:cBhvr additive="base">
                                        <p:cTn id="442" dur="3600" fill="hold"/>
                                        <p:tgtEl>
                                          <p:spTgt spid="19"/>
                                        </p:tgtEl>
                                        <p:attrNameLst>
                                          <p:attrName>ppt_x</p:attrName>
                                          <p:attrName>ppt_y</p:attrName>
                                        </p:attrNameLst>
                                      </p:cBhvr>
                                      <p:rCtr x="0" y="0"/>
                                    </p:animMotion>
                                    <p:animScale>
                                      <p:cBhvr>
                                        <p:cTn id="443" dur="3600" fill="hold"/>
                                        <p:tgtEl>
                                          <p:spTgt spid="19"/>
                                        </p:tgtEl>
                                      </p:cBhvr>
                                      <p:from x="100000" y="100000"/>
                                      <p:to x="320000" y="320000"/>
                                    </p:animScale>
                                  </p:childTnLst>
                                </p:cTn>
                              </p:par>
                              <p:par>
                                <p:cTn id="444" presetID="10" presetClass="exit" fill="hold" grpId="35" nodeType="withEffect">
                                  <p:stCondLst>
                                    <p:cond delay="44100"/>
                                  </p:stCondLst>
                                  <p:childTnLst>
                                    <p:animEffect transition="out" filter="fade">
                                      <p:cBhvr>
                                        <p:cTn id="445" dur="900"/>
                                        <p:tgtEl>
                                          <p:spTgt spid="19"/>
                                        </p:tgtEl>
                                      </p:cBhvr>
                                    </p:animEffect>
                                    <p:set>
                                      <p:cBhvr>
                                        <p:cTn id="446" dur="1" fill="hold">
                                          <p:stCondLst>
                                            <p:cond delay="899"/>
                                          </p:stCondLst>
                                        </p:cTn>
                                        <p:tgtEl>
                                          <p:spTgt spid="19"/>
                                        </p:tgtEl>
                                        <p:attrNameLst>
                                          <p:attrName>style.visibility</p:attrName>
                                        </p:attrNameLst>
                                      </p:cBhvr>
                                      <p:to>
                                        <p:strVal val="hidden"/>
                                      </p:to>
                                    </p:set>
                                  </p:childTnLst>
                                </p:cTn>
                              </p:par>
                            </p:childTnLst>
                          </p:cTn>
                        </p:par>
                        <p:par>
                          <p:cTn id="457" fill="hold">
                            <p:stCondLst>
                              <p:cond delay="0"/>
                            </p:stCondLst>
                            <p:childTnLst>
                              <p:par>
                                <p:cTn id="448" presetID="10" presetClass="entr" fill="hold" grpId="36" nodeType="withEffect">
                                  <p:stCondLst>
                                    <p:cond delay="45000"/>
                                  </p:stCondLst>
                                  <p:childTnLst>
                                    <p:set>
                                      <p:cBhvr>
                                        <p:cTn id="449" dur="1" fill="hold">
                                          <p:stCondLst>
                                            <p:cond delay="0"/>
                                          </p:stCondLst>
                                        </p:cTn>
                                        <p:tgtEl>
                                          <p:spTgt spid="19"/>
                                        </p:tgtEl>
                                        <p:attrNameLst>
                                          <p:attrName>style.visibility</p:attrName>
                                        </p:attrNameLst>
                                      </p:cBhvr>
                                      <p:to>
                                        <p:strVal val="visible"/>
                                      </p:to>
                                    </p:set>
                                    <p:animEffect transition="in" filter="fade">
                                      <p:cBhvr>
                                        <p:cTn id="450" dur="500"/>
                                        <p:tgtEl>
                                          <p:spTgt spid="19"/>
                                        </p:tgtEl>
                                      </p:cBhvr>
                                    </p:animEffect>
                                  </p:childTnLst>
                                </p:cTn>
                              </p:par>
                              <p:par>
                                <p:cTn id="451" presetID="0" presetClass="path" fill="hold" grpId="37" nodeType="withEffect">
                                  <p:stCondLst>
                                    <p:cond delay="45000"/>
                                  </p:stCondLst>
                                  <p:childTnLst>
                                    <p:animMotion origin="layout" path="M 0 0 L -0.01938 -0.186 E" pathEditMode="relative" ptsTypes="AA">
                                      <p:cBhvr additive="base">
                                        <p:cTn id="452" dur="3600" fill="hold"/>
                                        <p:tgtEl>
                                          <p:spTgt spid="19"/>
                                        </p:tgtEl>
                                        <p:attrNameLst>
                                          <p:attrName>ppt_x</p:attrName>
                                          <p:attrName>ppt_y</p:attrName>
                                        </p:attrNameLst>
                                      </p:cBhvr>
                                      <p:rCtr x="0" y="0"/>
                                    </p:animMotion>
                                    <p:animScale>
                                      <p:cBhvr>
                                        <p:cTn id="453" dur="3600" fill="hold"/>
                                        <p:tgtEl>
                                          <p:spTgt spid="19"/>
                                        </p:tgtEl>
                                      </p:cBhvr>
                                      <p:from x="100000" y="100000"/>
                                      <p:to x="320000" y="320000"/>
                                    </p:animScale>
                                  </p:childTnLst>
                                </p:cTn>
                              </p:par>
                              <p:par>
                                <p:cTn id="454" presetID="10" presetClass="exit" fill="hold" grpId="38" nodeType="withEffect">
                                  <p:stCondLst>
                                    <p:cond delay="47700"/>
                                  </p:stCondLst>
                                  <p:childTnLst>
                                    <p:animEffect transition="out" filter="fade">
                                      <p:cBhvr>
                                        <p:cTn id="455" dur="900"/>
                                        <p:tgtEl>
                                          <p:spTgt spid="19"/>
                                        </p:tgtEl>
                                      </p:cBhvr>
                                    </p:animEffect>
                                    <p:set>
                                      <p:cBhvr>
                                        <p:cTn id="456" dur="1" fill="hold">
                                          <p:stCondLst>
                                            <p:cond delay="899"/>
                                          </p:stCondLst>
                                        </p:cTn>
                                        <p:tgtEl>
                                          <p:spTgt spid="19"/>
                                        </p:tgtEl>
                                        <p:attrNameLst>
                                          <p:attrName>style.visibility</p:attrName>
                                        </p:attrNameLst>
                                      </p:cBhvr>
                                      <p:to>
                                        <p:strVal val="hidden"/>
                                      </p:to>
                                    </p:set>
                                  </p:childTnLst>
                                </p:cTn>
                              </p:par>
                            </p:childTnLst>
                          </p:cTn>
                        </p:par>
                        <p:par>
                          <p:cTn id="467" fill="hold">
                            <p:stCondLst>
                              <p:cond delay="0"/>
                            </p:stCondLst>
                            <p:childTnLst>
                              <p:par>
                                <p:cTn id="458" presetID="10" presetClass="entr" fill="hold" grpId="39" nodeType="withEffect">
                                  <p:stCondLst>
                                    <p:cond delay="48600"/>
                                  </p:stCondLst>
                                  <p:childTnLst>
                                    <p:set>
                                      <p:cBhvr>
                                        <p:cTn id="459" dur="1" fill="hold">
                                          <p:stCondLst>
                                            <p:cond delay="0"/>
                                          </p:stCondLst>
                                        </p:cTn>
                                        <p:tgtEl>
                                          <p:spTgt spid="19"/>
                                        </p:tgtEl>
                                        <p:attrNameLst>
                                          <p:attrName>style.visibility</p:attrName>
                                        </p:attrNameLst>
                                      </p:cBhvr>
                                      <p:to>
                                        <p:strVal val="visible"/>
                                      </p:to>
                                    </p:set>
                                    <p:animEffect transition="in" filter="fade">
                                      <p:cBhvr>
                                        <p:cTn id="460" dur="500"/>
                                        <p:tgtEl>
                                          <p:spTgt spid="19"/>
                                        </p:tgtEl>
                                      </p:cBhvr>
                                    </p:animEffect>
                                  </p:childTnLst>
                                </p:cTn>
                              </p:par>
                              <p:par>
                                <p:cTn id="461" presetID="0" presetClass="path" fill="hold" grpId="40" nodeType="withEffect">
                                  <p:stCondLst>
                                    <p:cond delay="48600"/>
                                  </p:stCondLst>
                                  <p:childTnLst>
                                    <p:animMotion origin="layout" path="M 0 0 L -0.01938 -0.186 E" pathEditMode="relative" ptsTypes="AA">
                                      <p:cBhvr additive="base">
                                        <p:cTn id="462" dur="3600" fill="hold"/>
                                        <p:tgtEl>
                                          <p:spTgt spid="19"/>
                                        </p:tgtEl>
                                        <p:attrNameLst>
                                          <p:attrName>ppt_x</p:attrName>
                                          <p:attrName>ppt_y</p:attrName>
                                        </p:attrNameLst>
                                      </p:cBhvr>
                                      <p:rCtr x="0" y="0"/>
                                    </p:animMotion>
                                    <p:animScale>
                                      <p:cBhvr>
                                        <p:cTn id="463" dur="3600" fill="hold"/>
                                        <p:tgtEl>
                                          <p:spTgt spid="19"/>
                                        </p:tgtEl>
                                      </p:cBhvr>
                                      <p:from x="100000" y="100000"/>
                                      <p:to x="320000" y="320000"/>
                                    </p:animScale>
                                  </p:childTnLst>
                                </p:cTn>
                              </p:par>
                              <p:par>
                                <p:cTn id="464" presetID="10" presetClass="exit" fill="hold" grpId="41" nodeType="withEffect">
                                  <p:stCondLst>
                                    <p:cond delay="51300"/>
                                  </p:stCondLst>
                                  <p:childTnLst>
                                    <p:animEffect transition="out" filter="fade">
                                      <p:cBhvr>
                                        <p:cTn id="465" dur="900"/>
                                        <p:tgtEl>
                                          <p:spTgt spid="19"/>
                                        </p:tgtEl>
                                      </p:cBhvr>
                                    </p:animEffect>
                                    <p:set>
                                      <p:cBhvr>
                                        <p:cTn id="466" dur="1" fill="hold">
                                          <p:stCondLst>
                                            <p:cond delay="899"/>
                                          </p:stCondLst>
                                        </p:cTn>
                                        <p:tgtEl>
                                          <p:spTgt spid="19"/>
                                        </p:tgtEl>
                                        <p:attrNameLst>
                                          <p:attrName>style.visibility</p:attrName>
                                        </p:attrNameLst>
                                      </p:cBhvr>
                                      <p:to>
                                        <p:strVal val="hidden"/>
                                      </p:to>
                                    </p:set>
                                  </p:childTnLst>
                                </p:cTn>
                              </p:par>
                            </p:childTnLst>
                          </p:cTn>
                        </p:par>
                        <p:par>
                          <p:cTn id="477" fill="hold">
                            <p:stCondLst>
                              <p:cond delay="0"/>
                            </p:stCondLst>
                            <p:childTnLst>
                              <p:par>
                                <p:cTn id="468" presetID="10" presetClass="entr" fill="hold" grpId="0" nodeType="withEffect">
                                  <p:stCondLst>
                                    <p:cond delay="2700"/>
                                  </p:stCondLst>
                                  <p:childTnLst>
                                    <p:set>
                                      <p:cBhvr>
                                        <p:cTn id="469" dur="1" fill="hold">
                                          <p:stCondLst>
                                            <p:cond delay="0"/>
                                          </p:stCondLst>
                                        </p:cTn>
                                        <p:tgtEl>
                                          <p:spTgt spid="20"/>
                                        </p:tgtEl>
                                        <p:attrNameLst>
                                          <p:attrName>style.visibility</p:attrName>
                                        </p:attrNameLst>
                                      </p:cBhvr>
                                      <p:to>
                                        <p:strVal val="visible"/>
                                      </p:to>
                                    </p:set>
                                    <p:animEffect transition="in" filter="fade">
                                      <p:cBhvr>
                                        <p:cTn id="470" dur="500"/>
                                        <p:tgtEl>
                                          <p:spTgt spid="20"/>
                                        </p:tgtEl>
                                      </p:cBhvr>
                                    </p:animEffect>
                                  </p:childTnLst>
                                </p:cTn>
                              </p:par>
                              <p:par>
                                <p:cTn id="471" presetID="0" presetClass="path" fill="hold" grpId="1" nodeType="withEffect">
                                  <p:stCondLst>
                                    <p:cond delay="2700"/>
                                  </p:stCondLst>
                                  <p:childTnLst>
                                    <p:animMotion origin="layout" path="M 0 0 L -0.01632 -0.17567 E" pathEditMode="relative" ptsTypes="AA">
                                      <p:cBhvr additive="base">
                                        <p:cTn id="472" dur="3600" fill="hold"/>
                                        <p:tgtEl>
                                          <p:spTgt spid="20"/>
                                        </p:tgtEl>
                                        <p:attrNameLst>
                                          <p:attrName>ppt_x</p:attrName>
                                          <p:attrName>ppt_y</p:attrName>
                                        </p:attrNameLst>
                                      </p:cBhvr>
                                      <p:rCtr x="0" y="0"/>
                                    </p:animMotion>
                                    <p:animScale>
                                      <p:cBhvr>
                                        <p:cTn id="473" dur="3600" fill="hold"/>
                                        <p:tgtEl>
                                          <p:spTgt spid="20"/>
                                        </p:tgtEl>
                                      </p:cBhvr>
                                      <p:from x="100000" y="100000"/>
                                      <p:to x="320000" y="320000"/>
                                    </p:animScale>
                                  </p:childTnLst>
                                </p:cTn>
                              </p:par>
                              <p:par>
                                <p:cTn id="474" presetID="10" presetClass="exit" fill="hold" grpId="2" nodeType="withEffect">
                                  <p:stCondLst>
                                    <p:cond delay="5400"/>
                                  </p:stCondLst>
                                  <p:childTnLst>
                                    <p:animEffect transition="out" filter="fade">
                                      <p:cBhvr>
                                        <p:cTn id="475" dur="900"/>
                                        <p:tgtEl>
                                          <p:spTgt spid="20"/>
                                        </p:tgtEl>
                                      </p:cBhvr>
                                    </p:animEffect>
                                    <p:set>
                                      <p:cBhvr>
                                        <p:cTn id="476" dur="1" fill="hold">
                                          <p:stCondLst>
                                            <p:cond delay="899"/>
                                          </p:stCondLst>
                                        </p:cTn>
                                        <p:tgtEl>
                                          <p:spTgt spid="20"/>
                                        </p:tgtEl>
                                        <p:attrNameLst>
                                          <p:attrName>style.visibility</p:attrName>
                                        </p:attrNameLst>
                                      </p:cBhvr>
                                      <p:to>
                                        <p:strVal val="hidden"/>
                                      </p:to>
                                    </p:set>
                                  </p:childTnLst>
                                </p:cTn>
                              </p:par>
                            </p:childTnLst>
                          </p:cTn>
                        </p:par>
                        <p:par>
                          <p:cTn id="487" fill="hold">
                            <p:stCondLst>
                              <p:cond delay="0"/>
                            </p:stCondLst>
                            <p:childTnLst>
                              <p:par>
                                <p:cTn id="478" presetID="10" presetClass="entr" fill="hold" grpId="3" nodeType="withEffect">
                                  <p:stCondLst>
                                    <p:cond delay="6300"/>
                                  </p:stCondLst>
                                  <p:childTnLst>
                                    <p:set>
                                      <p:cBhvr>
                                        <p:cTn id="479" dur="1" fill="hold">
                                          <p:stCondLst>
                                            <p:cond delay="0"/>
                                          </p:stCondLst>
                                        </p:cTn>
                                        <p:tgtEl>
                                          <p:spTgt spid="20"/>
                                        </p:tgtEl>
                                        <p:attrNameLst>
                                          <p:attrName>style.visibility</p:attrName>
                                        </p:attrNameLst>
                                      </p:cBhvr>
                                      <p:to>
                                        <p:strVal val="visible"/>
                                      </p:to>
                                    </p:set>
                                    <p:animEffect transition="in" filter="fade">
                                      <p:cBhvr>
                                        <p:cTn id="480" dur="500"/>
                                        <p:tgtEl>
                                          <p:spTgt spid="20"/>
                                        </p:tgtEl>
                                      </p:cBhvr>
                                    </p:animEffect>
                                  </p:childTnLst>
                                </p:cTn>
                              </p:par>
                              <p:par>
                                <p:cTn id="481" presetID="0" presetClass="path" fill="hold" grpId="4" nodeType="withEffect">
                                  <p:stCondLst>
                                    <p:cond delay="6300"/>
                                  </p:stCondLst>
                                  <p:childTnLst>
                                    <p:animMotion origin="layout" path="M 0 0 L -0.01632 -0.17567 E" pathEditMode="relative" ptsTypes="AA">
                                      <p:cBhvr additive="base">
                                        <p:cTn id="482" dur="3600" fill="hold"/>
                                        <p:tgtEl>
                                          <p:spTgt spid="20"/>
                                        </p:tgtEl>
                                        <p:attrNameLst>
                                          <p:attrName>ppt_x</p:attrName>
                                          <p:attrName>ppt_y</p:attrName>
                                        </p:attrNameLst>
                                      </p:cBhvr>
                                      <p:rCtr x="0" y="0"/>
                                    </p:animMotion>
                                    <p:animScale>
                                      <p:cBhvr>
                                        <p:cTn id="483" dur="3600" fill="hold"/>
                                        <p:tgtEl>
                                          <p:spTgt spid="20"/>
                                        </p:tgtEl>
                                      </p:cBhvr>
                                      <p:from x="100000" y="100000"/>
                                      <p:to x="320000" y="320000"/>
                                    </p:animScale>
                                  </p:childTnLst>
                                </p:cTn>
                              </p:par>
                              <p:par>
                                <p:cTn id="484" presetID="10" presetClass="exit" fill="hold" grpId="5" nodeType="withEffect">
                                  <p:stCondLst>
                                    <p:cond delay="9000"/>
                                  </p:stCondLst>
                                  <p:childTnLst>
                                    <p:animEffect transition="out" filter="fade">
                                      <p:cBhvr>
                                        <p:cTn id="485" dur="900"/>
                                        <p:tgtEl>
                                          <p:spTgt spid="20"/>
                                        </p:tgtEl>
                                      </p:cBhvr>
                                    </p:animEffect>
                                    <p:set>
                                      <p:cBhvr>
                                        <p:cTn id="486" dur="1" fill="hold">
                                          <p:stCondLst>
                                            <p:cond delay="899"/>
                                          </p:stCondLst>
                                        </p:cTn>
                                        <p:tgtEl>
                                          <p:spTgt spid="20"/>
                                        </p:tgtEl>
                                        <p:attrNameLst>
                                          <p:attrName>style.visibility</p:attrName>
                                        </p:attrNameLst>
                                      </p:cBhvr>
                                      <p:to>
                                        <p:strVal val="hidden"/>
                                      </p:to>
                                    </p:set>
                                  </p:childTnLst>
                                </p:cTn>
                              </p:par>
                            </p:childTnLst>
                          </p:cTn>
                        </p:par>
                        <p:par>
                          <p:cTn id="497" fill="hold">
                            <p:stCondLst>
                              <p:cond delay="0"/>
                            </p:stCondLst>
                            <p:childTnLst>
                              <p:par>
                                <p:cTn id="488" presetID="10" presetClass="entr" fill="hold" grpId="6" nodeType="withEffect">
                                  <p:stCondLst>
                                    <p:cond delay="9900"/>
                                  </p:stCondLst>
                                  <p:childTnLst>
                                    <p:set>
                                      <p:cBhvr>
                                        <p:cTn id="489" dur="1" fill="hold">
                                          <p:stCondLst>
                                            <p:cond delay="0"/>
                                          </p:stCondLst>
                                        </p:cTn>
                                        <p:tgtEl>
                                          <p:spTgt spid="20"/>
                                        </p:tgtEl>
                                        <p:attrNameLst>
                                          <p:attrName>style.visibility</p:attrName>
                                        </p:attrNameLst>
                                      </p:cBhvr>
                                      <p:to>
                                        <p:strVal val="visible"/>
                                      </p:to>
                                    </p:set>
                                    <p:animEffect transition="in" filter="fade">
                                      <p:cBhvr>
                                        <p:cTn id="490" dur="500"/>
                                        <p:tgtEl>
                                          <p:spTgt spid="20"/>
                                        </p:tgtEl>
                                      </p:cBhvr>
                                    </p:animEffect>
                                  </p:childTnLst>
                                </p:cTn>
                              </p:par>
                              <p:par>
                                <p:cTn id="491" presetID="0" presetClass="path" fill="hold" grpId="7" nodeType="withEffect">
                                  <p:stCondLst>
                                    <p:cond delay="9900"/>
                                  </p:stCondLst>
                                  <p:childTnLst>
                                    <p:animMotion origin="layout" path="M 0 0 L -0.01632 -0.17567 E" pathEditMode="relative" ptsTypes="AA">
                                      <p:cBhvr additive="base">
                                        <p:cTn id="492" dur="3600" fill="hold"/>
                                        <p:tgtEl>
                                          <p:spTgt spid="20"/>
                                        </p:tgtEl>
                                        <p:attrNameLst>
                                          <p:attrName>ppt_x</p:attrName>
                                          <p:attrName>ppt_y</p:attrName>
                                        </p:attrNameLst>
                                      </p:cBhvr>
                                      <p:rCtr x="0" y="0"/>
                                    </p:animMotion>
                                    <p:animScale>
                                      <p:cBhvr>
                                        <p:cTn id="493" dur="3600" fill="hold"/>
                                        <p:tgtEl>
                                          <p:spTgt spid="20"/>
                                        </p:tgtEl>
                                      </p:cBhvr>
                                      <p:from x="100000" y="100000"/>
                                      <p:to x="320000" y="320000"/>
                                    </p:animScale>
                                  </p:childTnLst>
                                </p:cTn>
                              </p:par>
                              <p:par>
                                <p:cTn id="494" presetID="10" presetClass="exit" fill="hold" grpId="8" nodeType="withEffect">
                                  <p:stCondLst>
                                    <p:cond delay="12600"/>
                                  </p:stCondLst>
                                  <p:childTnLst>
                                    <p:animEffect transition="out" filter="fade">
                                      <p:cBhvr>
                                        <p:cTn id="495" dur="900"/>
                                        <p:tgtEl>
                                          <p:spTgt spid="20"/>
                                        </p:tgtEl>
                                      </p:cBhvr>
                                    </p:animEffect>
                                    <p:set>
                                      <p:cBhvr>
                                        <p:cTn id="496" dur="1" fill="hold">
                                          <p:stCondLst>
                                            <p:cond delay="899"/>
                                          </p:stCondLst>
                                        </p:cTn>
                                        <p:tgtEl>
                                          <p:spTgt spid="20"/>
                                        </p:tgtEl>
                                        <p:attrNameLst>
                                          <p:attrName>style.visibility</p:attrName>
                                        </p:attrNameLst>
                                      </p:cBhvr>
                                      <p:to>
                                        <p:strVal val="hidden"/>
                                      </p:to>
                                    </p:set>
                                  </p:childTnLst>
                                </p:cTn>
                              </p:par>
                            </p:childTnLst>
                          </p:cTn>
                        </p:par>
                        <p:par>
                          <p:cTn id="507" fill="hold">
                            <p:stCondLst>
                              <p:cond delay="0"/>
                            </p:stCondLst>
                            <p:childTnLst>
                              <p:par>
                                <p:cTn id="498" presetID="10" presetClass="entr" fill="hold" grpId="9" nodeType="withEffect">
                                  <p:stCondLst>
                                    <p:cond delay="13500"/>
                                  </p:stCondLst>
                                  <p:childTnLst>
                                    <p:set>
                                      <p:cBhvr>
                                        <p:cTn id="499" dur="1" fill="hold">
                                          <p:stCondLst>
                                            <p:cond delay="0"/>
                                          </p:stCondLst>
                                        </p:cTn>
                                        <p:tgtEl>
                                          <p:spTgt spid="20"/>
                                        </p:tgtEl>
                                        <p:attrNameLst>
                                          <p:attrName>style.visibility</p:attrName>
                                        </p:attrNameLst>
                                      </p:cBhvr>
                                      <p:to>
                                        <p:strVal val="visible"/>
                                      </p:to>
                                    </p:set>
                                    <p:animEffect transition="in" filter="fade">
                                      <p:cBhvr>
                                        <p:cTn id="500" dur="500"/>
                                        <p:tgtEl>
                                          <p:spTgt spid="20"/>
                                        </p:tgtEl>
                                      </p:cBhvr>
                                    </p:animEffect>
                                  </p:childTnLst>
                                </p:cTn>
                              </p:par>
                              <p:par>
                                <p:cTn id="501" presetID="0" presetClass="path" fill="hold" grpId="10" nodeType="withEffect">
                                  <p:stCondLst>
                                    <p:cond delay="13500"/>
                                  </p:stCondLst>
                                  <p:childTnLst>
                                    <p:animMotion origin="layout" path="M 0 0 L -0.01632 -0.17567 E" pathEditMode="relative" ptsTypes="AA">
                                      <p:cBhvr additive="base">
                                        <p:cTn id="502" dur="3600" fill="hold"/>
                                        <p:tgtEl>
                                          <p:spTgt spid="20"/>
                                        </p:tgtEl>
                                        <p:attrNameLst>
                                          <p:attrName>ppt_x</p:attrName>
                                          <p:attrName>ppt_y</p:attrName>
                                        </p:attrNameLst>
                                      </p:cBhvr>
                                      <p:rCtr x="0" y="0"/>
                                    </p:animMotion>
                                    <p:animScale>
                                      <p:cBhvr>
                                        <p:cTn id="503" dur="3600" fill="hold"/>
                                        <p:tgtEl>
                                          <p:spTgt spid="20"/>
                                        </p:tgtEl>
                                      </p:cBhvr>
                                      <p:from x="100000" y="100000"/>
                                      <p:to x="320000" y="320000"/>
                                    </p:animScale>
                                  </p:childTnLst>
                                </p:cTn>
                              </p:par>
                              <p:par>
                                <p:cTn id="504" presetID="10" presetClass="exit" fill="hold" grpId="11" nodeType="withEffect">
                                  <p:stCondLst>
                                    <p:cond delay="16200"/>
                                  </p:stCondLst>
                                  <p:childTnLst>
                                    <p:animEffect transition="out" filter="fade">
                                      <p:cBhvr>
                                        <p:cTn id="505" dur="900"/>
                                        <p:tgtEl>
                                          <p:spTgt spid="20"/>
                                        </p:tgtEl>
                                      </p:cBhvr>
                                    </p:animEffect>
                                    <p:set>
                                      <p:cBhvr>
                                        <p:cTn id="506" dur="1" fill="hold">
                                          <p:stCondLst>
                                            <p:cond delay="899"/>
                                          </p:stCondLst>
                                        </p:cTn>
                                        <p:tgtEl>
                                          <p:spTgt spid="20"/>
                                        </p:tgtEl>
                                        <p:attrNameLst>
                                          <p:attrName>style.visibility</p:attrName>
                                        </p:attrNameLst>
                                      </p:cBhvr>
                                      <p:to>
                                        <p:strVal val="hidden"/>
                                      </p:to>
                                    </p:set>
                                  </p:childTnLst>
                                </p:cTn>
                              </p:par>
                            </p:childTnLst>
                          </p:cTn>
                        </p:par>
                        <p:par>
                          <p:cTn id="517" fill="hold">
                            <p:stCondLst>
                              <p:cond delay="0"/>
                            </p:stCondLst>
                            <p:childTnLst>
                              <p:par>
                                <p:cTn id="508" presetID="10" presetClass="entr" fill="hold" grpId="12" nodeType="withEffect">
                                  <p:stCondLst>
                                    <p:cond delay="17100"/>
                                  </p:stCondLst>
                                  <p:childTnLst>
                                    <p:set>
                                      <p:cBhvr>
                                        <p:cTn id="509" dur="1" fill="hold">
                                          <p:stCondLst>
                                            <p:cond delay="0"/>
                                          </p:stCondLst>
                                        </p:cTn>
                                        <p:tgtEl>
                                          <p:spTgt spid="20"/>
                                        </p:tgtEl>
                                        <p:attrNameLst>
                                          <p:attrName>style.visibility</p:attrName>
                                        </p:attrNameLst>
                                      </p:cBhvr>
                                      <p:to>
                                        <p:strVal val="visible"/>
                                      </p:to>
                                    </p:set>
                                    <p:animEffect transition="in" filter="fade">
                                      <p:cBhvr>
                                        <p:cTn id="510" dur="500"/>
                                        <p:tgtEl>
                                          <p:spTgt spid="20"/>
                                        </p:tgtEl>
                                      </p:cBhvr>
                                    </p:animEffect>
                                  </p:childTnLst>
                                </p:cTn>
                              </p:par>
                              <p:par>
                                <p:cTn id="511" presetID="0" presetClass="path" fill="hold" grpId="13" nodeType="withEffect">
                                  <p:stCondLst>
                                    <p:cond delay="17100"/>
                                  </p:stCondLst>
                                  <p:childTnLst>
                                    <p:animMotion origin="layout" path="M 0 0 L -0.01632 -0.17567 E" pathEditMode="relative" ptsTypes="AA">
                                      <p:cBhvr additive="base">
                                        <p:cTn id="512" dur="3600" fill="hold"/>
                                        <p:tgtEl>
                                          <p:spTgt spid="20"/>
                                        </p:tgtEl>
                                        <p:attrNameLst>
                                          <p:attrName>ppt_x</p:attrName>
                                          <p:attrName>ppt_y</p:attrName>
                                        </p:attrNameLst>
                                      </p:cBhvr>
                                      <p:rCtr x="0" y="0"/>
                                    </p:animMotion>
                                    <p:animScale>
                                      <p:cBhvr>
                                        <p:cTn id="513" dur="3600" fill="hold"/>
                                        <p:tgtEl>
                                          <p:spTgt spid="20"/>
                                        </p:tgtEl>
                                      </p:cBhvr>
                                      <p:from x="100000" y="100000"/>
                                      <p:to x="320000" y="320000"/>
                                    </p:animScale>
                                  </p:childTnLst>
                                </p:cTn>
                              </p:par>
                              <p:par>
                                <p:cTn id="514" presetID="10" presetClass="exit" fill="hold" grpId="14" nodeType="withEffect">
                                  <p:stCondLst>
                                    <p:cond delay="19800"/>
                                  </p:stCondLst>
                                  <p:childTnLst>
                                    <p:animEffect transition="out" filter="fade">
                                      <p:cBhvr>
                                        <p:cTn id="515" dur="900"/>
                                        <p:tgtEl>
                                          <p:spTgt spid="20"/>
                                        </p:tgtEl>
                                      </p:cBhvr>
                                    </p:animEffect>
                                    <p:set>
                                      <p:cBhvr>
                                        <p:cTn id="516" dur="1" fill="hold">
                                          <p:stCondLst>
                                            <p:cond delay="899"/>
                                          </p:stCondLst>
                                        </p:cTn>
                                        <p:tgtEl>
                                          <p:spTgt spid="20"/>
                                        </p:tgtEl>
                                        <p:attrNameLst>
                                          <p:attrName>style.visibility</p:attrName>
                                        </p:attrNameLst>
                                      </p:cBhvr>
                                      <p:to>
                                        <p:strVal val="hidden"/>
                                      </p:to>
                                    </p:set>
                                  </p:childTnLst>
                                </p:cTn>
                              </p:par>
                            </p:childTnLst>
                          </p:cTn>
                        </p:par>
                        <p:par>
                          <p:cTn id="527" fill="hold">
                            <p:stCondLst>
                              <p:cond delay="0"/>
                            </p:stCondLst>
                            <p:childTnLst>
                              <p:par>
                                <p:cTn id="518" presetID="10" presetClass="entr" fill="hold" grpId="15" nodeType="withEffect">
                                  <p:stCondLst>
                                    <p:cond delay="20700"/>
                                  </p:stCondLst>
                                  <p:childTnLst>
                                    <p:set>
                                      <p:cBhvr>
                                        <p:cTn id="519" dur="1" fill="hold">
                                          <p:stCondLst>
                                            <p:cond delay="0"/>
                                          </p:stCondLst>
                                        </p:cTn>
                                        <p:tgtEl>
                                          <p:spTgt spid="20"/>
                                        </p:tgtEl>
                                        <p:attrNameLst>
                                          <p:attrName>style.visibility</p:attrName>
                                        </p:attrNameLst>
                                      </p:cBhvr>
                                      <p:to>
                                        <p:strVal val="visible"/>
                                      </p:to>
                                    </p:set>
                                    <p:animEffect transition="in" filter="fade">
                                      <p:cBhvr>
                                        <p:cTn id="520" dur="500"/>
                                        <p:tgtEl>
                                          <p:spTgt spid="20"/>
                                        </p:tgtEl>
                                      </p:cBhvr>
                                    </p:animEffect>
                                  </p:childTnLst>
                                </p:cTn>
                              </p:par>
                              <p:par>
                                <p:cTn id="521" presetID="0" presetClass="path" fill="hold" grpId="16" nodeType="withEffect">
                                  <p:stCondLst>
                                    <p:cond delay="20700"/>
                                  </p:stCondLst>
                                  <p:childTnLst>
                                    <p:animMotion origin="layout" path="M 0 0 L -0.01632 -0.17567 E" pathEditMode="relative" ptsTypes="AA">
                                      <p:cBhvr additive="base">
                                        <p:cTn id="522" dur="3600" fill="hold"/>
                                        <p:tgtEl>
                                          <p:spTgt spid="20"/>
                                        </p:tgtEl>
                                        <p:attrNameLst>
                                          <p:attrName>ppt_x</p:attrName>
                                          <p:attrName>ppt_y</p:attrName>
                                        </p:attrNameLst>
                                      </p:cBhvr>
                                      <p:rCtr x="0" y="0"/>
                                    </p:animMotion>
                                    <p:animScale>
                                      <p:cBhvr>
                                        <p:cTn id="523" dur="3600" fill="hold"/>
                                        <p:tgtEl>
                                          <p:spTgt spid="20"/>
                                        </p:tgtEl>
                                      </p:cBhvr>
                                      <p:from x="100000" y="100000"/>
                                      <p:to x="320000" y="320000"/>
                                    </p:animScale>
                                  </p:childTnLst>
                                </p:cTn>
                              </p:par>
                              <p:par>
                                <p:cTn id="524" presetID="10" presetClass="exit" fill="hold" grpId="17" nodeType="withEffect">
                                  <p:stCondLst>
                                    <p:cond delay="23400"/>
                                  </p:stCondLst>
                                  <p:childTnLst>
                                    <p:animEffect transition="out" filter="fade">
                                      <p:cBhvr>
                                        <p:cTn id="525" dur="900"/>
                                        <p:tgtEl>
                                          <p:spTgt spid="20"/>
                                        </p:tgtEl>
                                      </p:cBhvr>
                                    </p:animEffect>
                                    <p:set>
                                      <p:cBhvr>
                                        <p:cTn id="526" dur="1" fill="hold">
                                          <p:stCondLst>
                                            <p:cond delay="899"/>
                                          </p:stCondLst>
                                        </p:cTn>
                                        <p:tgtEl>
                                          <p:spTgt spid="20"/>
                                        </p:tgtEl>
                                        <p:attrNameLst>
                                          <p:attrName>style.visibility</p:attrName>
                                        </p:attrNameLst>
                                      </p:cBhvr>
                                      <p:to>
                                        <p:strVal val="hidden"/>
                                      </p:to>
                                    </p:set>
                                  </p:childTnLst>
                                </p:cTn>
                              </p:par>
                            </p:childTnLst>
                          </p:cTn>
                        </p:par>
                        <p:par>
                          <p:cTn id="537" fill="hold">
                            <p:stCondLst>
                              <p:cond delay="0"/>
                            </p:stCondLst>
                            <p:childTnLst>
                              <p:par>
                                <p:cTn id="528" presetID="10" presetClass="entr" fill="hold" grpId="18" nodeType="withEffect">
                                  <p:stCondLst>
                                    <p:cond delay="24300"/>
                                  </p:stCondLst>
                                  <p:childTnLst>
                                    <p:set>
                                      <p:cBhvr>
                                        <p:cTn id="529" dur="1" fill="hold">
                                          <p:stCondLst>
                                            <p:cond delay="0"/>
                                          </p:stCondLst>
                                        </p:cTn>
                                        <p:tgtEl>
                                          <p:spTgt spid="20"/>
                                        </p:tgtEl>
                                        <p:attrNameLst>
                                          <p:attrName>style.visibility</p:attrName>
                                        </p:attrNameLst>
                                      </p:cBhvr>
                                      <p:to>
                                        <p:strVal val="visible"/>
                                      </p:to>
                                    </p:set>
                                    <p:animEffect transition="in" filter="fade">
                                      <p:cBhvr>
                                        <p:cTn id="530" dur="500"/>
                                        <p:tgtEl>
                                          <p:spTgt spid="20"/>
                                        </p:tgtEl>
                                      </p:cBhvr>
                                    </p:animEffect>
                                  </p:childTnLst>
                                </p:cTn>
                              </p:par>
                              <p:par>
                                <p:cTn id="531" presetID="0" presetClass="path" fill="hold" grpId="19" nodeType="withEffect">
                                  <p:stCondLst>
                                    <p:cond delay="24300"/>
                                  </p:stCondLst>
                                  <p:childTnLst>
                                    <p:animMotion origin="layout" path="M 0 0 L -0.01632 -0.17567 E" pathEditMode="relative" ptsTypes="AA">
                                      <p:cBhvr additive="base">
                                        <p:cTn id="532" dur="3600" fill="hold"/>
                                        <p:tgtEl>
                                          <p:spTgt spid="20"/>
                                        </p:tgtEl>
                                        <p:attrNameLst>
                                          <p:attrName>ppt_x</p:attrName>
                                          <p:attrName>ppt_y</p:attrName>
                                        </p:attrNameLst>
                                      </p:cBhvr>
                                      <p:rCtr x="0" y="0"/>
                                    </p:animMotion>
                                    <p:animScale>
                                      <p:cBhvr>
                                        <p:cTn id="533" dur="3600" fill="hold"/>
                                        <p:tgtEl>
                                          <p:spTgt spid="20"/>
                                        </p:tgtEl>
                                      </p:cBhvr>
                                      <p:from x="100000" y="100000"/>
                                      <p:to x="320000" y="320000"/>
                                    </p:animScale>
                                  </p:childTnLst>
                                </p:cTn>
                              </p:par>
                              <p:par>
                                <p:cTn id="534" presetID="10" presetClass="exit" fill="hold" grpId="20" nodeType="withEffect">
                                  <p:stCondLst>
                                    <p:cond delay="27000"/>
                                  </p:stCondLst>
                                  <p:childTnLst>
                                    <p:animEffect transition="out" filter="fade">
                                      <p:cBhvr>
                                        <p:cTn id="535" dur="900"/>
                                        <p:tgtEl>
                                          <p:spTgt spid="20"/>
                                        </p:tgtEl>
                                      </p:cBhvr>
                                    </p:animEffect>
                                    <p:set>
                                      <p:cBhvr>
                                        <p:cTn id="536" dur="1" fill="hold">
                                          <p:stCondLst>
                                            <p:cond delay="899"/>
                                          </p:stCondLst>
                                        </p:cTn>
                                        <p:tgtEl>
                                          <p:spTgt spid="20"/>
                                        </p:tgtEl>
                                        <p:attrNameLst>
                                          <p:attrName>style.visibility</p:attrName>
                                        </p:attrNameLst>
                                      </p:cBhvr>
                                      <p:to>
                                        <p:strVal val="hidden"/>
                                      </p:to>
                                    </p:set>
                                  </p:childTnLst>
                                </p:cTn>
                              </p:par>
                            </p:childTnLst>
                          </p:cTn>
                        </p:par>
                        <p:par>
                          <p:cTn id="547" fill="hold">
                            <p:stCondLst>
                              <p:cond delay="0"/>
                            </p:stCondLst>
                            <p:childTnLst>
                              <p:par>
                                <p:cTn id="538" presetID="10" presetClass="entr" fill="hold" grpId="21" nodeType="withEffect">
                                  <p:stCondLst>
                                    <p:cond delay="27900"/>
                                  </p:stCondLst>
                                  <p:childTnLst>
                                    <p:set>
                                      <p:cBhvr>
                                        <p:cTn id="539" dur="1" fill="hold">
                                          <p:stCondLst>
                                            <p:cond delay="0"/>
                                          </p:stCondLst>
                                        </p:cTn>
                                        <p:tgtEl>
                                          <p:spTgt spid="20"/>
                                        </p:tgtEl>
                                        <p:attrNameLst>
                                          <p:attrName>style.visibility</p:attrName>
                                        </p:attrNameLst>
                                      </p:cBhvr>
                                      <p:to>
                                        <p:strVal val="visible"/>
                                      </p:to>
                                    </p:set>
                                    <p:animEffect transition="in" filter="fade">
                                      <p:cBhvr>
                                        <p:cTn id="540" dur="500"/>
                                        <p:tgtEl>
                                          <p:spTgt spid="20"/>
                                        </p:tgtEl>
                                      </p:cBhvr>
                                    </p:animEffect>
                                  </p:childTnLst>
                                </p:cTn>
                              </p:par>
                              <p:par>
                                <p:cTn id="541" presetID="0" presetClass="path" fill="hold" grpId="22" nodeType="withEffect">
                                  <p:stCondLst>
                                    <p:cond delay="27900"/>
                                  </p:stCondLst>
                                  <p:childTnLst>
                                    <p:animMotion origin="layout" path="M 0 0 L -0.01632 -0.17567 E" pathEditMode="relative" ptsTypes="AA">
                                      <p:cBhvr additive="base">
                                        <p:cTn id="542" dur="3600" fill="hold"/>
                                        <p:tgtEl>
                                          <p:spTgt spid="20"/>
                                        </p:tgtEl>
                                        <p:attrNameLst>
                                          <p:attrName>ppt_x</p:attrName>
                                          <p:attrName>ppt_y</p:attrName>
                                        </p:attrNameLst>
                                      </p:cBhvr>
                                      <p:rCtr x="0" y="0"/>
                                    </p:animMotion>
                                    <p:animScale>
                                      <p:cBhvr>
                                        <p:cTn id="543" dur="3600" fill="hold"/>
                                        <p:tgtEl>
                                          <p:spTgt spid="20"/>
                                        </p:tgtEl>
                                      </p:cBhvr>
                                      <p:from x="100000" y="100000"/>
                                      <p:to x="320000" y="320000"/>
                                    </p:animScale>
                                  </p:childTnLst>
                                </p:cTn>
                              </p:par>
                              <p:par>
                                <p:cTn id="544" presetID="10" presetClass="exit" fill="hold" grpId="23" nodeType="withEffect">
                                  <p:stCondLst>
                                    <p:cond delay="30600"/>
                                  </p:stCondLst>
                                  <p:childTnLst>
                                    <p:animEffect transition="out" filter="fade">
                                      <p:cBhvr>
                                        <p:cTn id="545" dur="900"/>
                                        <p:tgtEl>
                                          <p:spTgt spid="20"/>
                                        </p:tgtEl>
                                      </p:cBhvr>
                                    </p:animEffect>
                                    <p:set>
                                      <p:cBhvr>
                                        <p:cTn id="546" dur="1" fill="hold">
                                          <p:stCondLst>
                                            <p:cond delay="899"/>
                                          </p:stCondLst>
                                        </p:cTn>
                                        <p:tgtEl>
                                          <p:spTgt spid="20"/>
                                        </p:tgtEl>
                                        <p:attrNameLst>
                                          <p:attrName>style.visibility</p:attrName>
                                        </p:attrNameLst>
                                      </p:cBhvr>
                                      <p:to>
                                        <p:strVal val="hidden"/>
                                      </p:to>
                                    </p:set>
                                  </p:childTnLst>
                                </p:cTn>
                              </p:par>
                            </p:childTnLst>
                          </p:cTn>
                        </p:par>
                        <p:par>
                          <p:cTn id="557" fill="hold">
                            <p:stCondLst>
                              <p:cond delay="0"/>
                            </p:stCondLst>
                            <p:childTnLst>
                              <p:par>
                                <p:cTn id="548" presetID="10" presetClass="entr" fill="hold" grpId="24" nodeType="withEffect">
                                  <p:stCondLst>
                                    <p:cond delay="31500"/>
                                  </p:stCondLst>
                                  <p:childTnLst>
                                    <p:set>
                                      <p:cBhvr>
                                        <p:cTn id="549" dur="1" fill="hold">
                                          <p:stCondLst>
                                            <p:cond delay="0"/>
                                          </p:stCondLst>
                                        </p:cTn>
                                        <p:tgtEl>
                                          <p:spTgt spid="20"/>
                                        </p:tgtEl>
                                        <p:attrNameLst>
                                          <p:attrName>style.visibility</p:attrName>
                                        </p:attrNameLst>
                                      </p:cBhvr>
                                      <p:to>
                                        <p:strVal val="visible"/>
                                      </p:to>
                                    </p:set>
                                    <p:animEffect transition="in" filter="fade">
                                      <p:cBhvr>
                                        <p:cTn id="550" dur="500"/>
                                        <p:tgtEl>
                                          <p:spTgt spid="20"/>
                                        </p:tgtEl>
                                      </p:cBhvr>
                                    </p:animEffect>
                                  </p:childTnLst>
                                </p:cTn>
                              </p:par>
                              <p:par>
                                <p:cTn id="551" presetID="0" presetClass="path" fill="hold" grpId="25" nodeType="withEffect">
                                  <p:stCondLst>
                                    <p:cond delay="31500"/>
                                  </p:stCondLst>
                                  <p:childTnLst>
                                    <p:animMotion origin="layout" path="M 0 0 L -0.01632 -0.17567 E" pathEditMode="relative" ptsTypes="AA">
                                      <p:cBhvr additive="base">
                                        <p:cTn id="552" dur="3600" fill="hold"/>
                                        <p:tgtEl>
                                          <p:spTgt spid="20"/>
                                        </p:tgtEl>
                                        <p:attrNameLst>
                                          <p:attrName>ppt_x</p:attrName>
                                          <p:attrName>ppt_y</p:attrName>
                                        </p:attrNameLst>
                                      </p:cBhvr>
                                      <p:rCtr x="0" y="0"/>
                                    </p:animMotion>
                                    <p:animScale>
                                      <p:cBhvr>
                                        <p:cTn id="553" dur="3600" fill="hold"/>
                                        <p:tgtEl>
                                          <p:spTgt spid="20"/>
                                        </p:tgtEl>
                                      </p:cBhvr>
                                      <p:from x="100000" y="100000"/>
                                      <p:to x="320000" y="320000"/>
                                    </p:animScale>
                                  </p:childTnLst>
                                </p:cTn>
                              </p:par>
                              <p:par>
                                <p:cTn id="554" presetID="10" presetClass="exit" fill="hold" grpId="26" nodeType="withEffect">
                                  <p:stCondLst>
                                    <p:cond delay="34200"/>
                                  </p:stCondLst>
                                  <p:childTnLst>
                                    <p:animEffect transition="out" filter="fade">
                                      <p:cBhvr>
                                        <p:cTn id="555" dur="900"/>
                                        <p:tgtEl>
                                          <p:spTgt spid="20"/>
                                        </p:tgtEl>
                                      </p:cBhvr>
                                    </p:animEffect>
                                    <p:set>
                                      <p:cBhvr>
                                        <p:cTn id="556" dur="1" fill="hold">
                                          <p:stCondLst>
                                            <p:cond delay="899"/>
                                          </p:stCondLst>
                                        </p:cTn>
                                        <p:tgtEl>
                                          <p:spTgt spid="20"/>
                                        </p:tgtEl>
                                        <p:attrNameLst>
                                          <p:attrName>style.visibility</p:attrName>
                                        </p:attrNameLst>
                                      </p:cBhvr>
                                      <p:to>
                                        <p:strVal val="hidden"/>
                                      </p:to>
                                    </p:set>
                                  </p:childTnLst>
                                </p:cTn>
                              </p:par>
                            </p:childTnLst>
                          </p:cTn>
                        </p:par>
                        <p:par>
                          <p:cTn id="567" fill="hold">
                            <p:stCondLst>
                              <p:cond delay="0"/>
                            </p:stCondLst>
                            <p:childTnLst>
                              <p:par>
                                <p:cTn id="558" presetID="10" presetClass="entr" fill="hold" grpId="27" nodeType="withEffect">
                                  <p:stCondLst>
                                    <p:cond delay="35100"/>
                                  </p:stCondLst>
                                  <p:childTnLst>
                                    <p:set>
                                      <p:cBhvr>
                                        <p:cTn id="559" dur="1" fill="hold">
                                          <p:stCondLst>
                                            <p:cond delay="0"/>
                                          </p:stCondLst>
                                        </p:cTn>
                                        <p:tgtEl>
                                          <p:spTgt spid="20"/>
                                        </p:tgtEl>
                                        <p:attrNameLst>
                                          <p:attrName>style.visibility</p:attrName>
                                        </p:attrNameLst>
                                      </p:cBhvr>
                                      <p:to>
                                        <p:strVal val="visible"/>
                                      </p:to>
                                    </p:set>
                                    <p:animEffect transition="in" filter="fade">
                                      <p:cBhvr>
                                        <p:cTn id="560" dur="500"/>
                                        <p:tgtEl>
                                          <p:spTgt spid="20"/>
                                        </p:tgtEl>
                                      </p:cBhvr>
                                    </p:animEffect>
                                  </p:childTnLst>
                                </p:cTn>
                              </p:par>
                              <p:par>
                                <p:cTn id="561" presetID="0" presetClass="path" fill="hold" grpId="28" nodeType="withEffect">
                                  <p:stCondLst>
                                    <p:cond delay="35100"/>
                                  </p:stCondLst>
                                  <p:childTnLst>
                                    <p:animMotion origin="layout" path="M 0 0 L -0.01632 -0.17567 E" pathEditMode="relative" ptsTypes="AA">
                                      <p:cBhvr additive="base">
                                        <p:cTn id="562" dur="3600" fill="hold"/>
                                        <p:tgtEl>
                                          <p:spTgt spid="20"/>
                                        </p:tgtEl>
                                        <p:attrNameLst>
                                          <p:attrName>ppt_x</p:attrName>
                                          <p:attrName>ppt_y</p:attrName>
                                        </p:attrNameLst>
                                      </p:cBhvr>
                                      <p:rCtr x="0" y="0"/>
                                    </p:animMotion>
                                    <p:animScale>
                                      <p:cBhvr>
                                        <p:cTn id="563" dur="3600" fill="hold"/>
                                        <p:tgtEl>
                                          <p:spTgt spid="20"/>
                                        </p:tgtEl>
                                      </p:cBhvr>
                                      <p:from x="100000" y="100000"/>
                                      <p:to x="320000" y="320000"/>
                                    </p:animScale>
                                  </p:childTnLst>
                                </p:cTn>
                              </p:par>
                              <p:par>
                                <p:cTn id="564" presetID="10" presetClass="exit" fill="hold" grpId="29" nodeType="withEffect">
                                  <p:stCondLst>
                                    <p:cond delay="37800"/>
                                  </p:stCondLst>
                                  <p:childTnLst>
                                    <p:animEffect transition="out" filter="fade">
                                      <p:cBhvr>
                                        <p:cTn id="565" dur="900"/>
                                        <p:tgtEl>
                                          <p:spTgt spid="20"/>
                                        </p:tgtEl>
                                      </p:cBhvr>
                                    </p:animEffect>
                                    <p:set>
                                      <p:cBhvr>
                                        <p:cTn id="566" dur="1" fill="hold">
                                          <p:stCondLst>
                                            <p:cond delay="899"/>
                                          </p:stCondLst>
                                        </p:cTn>
                                        <p:tgtEl>
                                          <p:spTgt spid="20"/>
                                        </p:tgtEl>
                                        <p:attrNameLst>
                                          <p:attrName>style.visibility</p:attrName>
                                        </p:attrNameLst>
                                      </p:cBhvr>
                                      <p:to>
                                        <p:strVal val="hidden"/>
                                      </p:to>
                                    </p:set>
                                  </p:childTnLst>
                                </p:cTn>
                              </p:par>
                            </p:childTnLst>
                          </p:cTn>
                        </p:par>
                        <p:par>
                          <p:cTn id="577" fill="hold">
                            <p:stCondLst>
                              <p:cond delay="0"/>
                            </p:stCondLst>
                            <p:childTnLst>
                              <p:par>
                                <p:cTn id="568" presetID="10" presetClass="entr" fill="hold" grpId="30" nodeType="withEffect">
                                  <p:stCondLst>
                                    <p:cond delay="38700"/>
                                  </p:stCondLst>
                                  <p:childTnLst>
                                    <p:set>
                                      <p:cBhvr>
                                        <p:cTn id="569" dur="1" fill="hold">
                                          <p:stCondLst>
                                            <p:cond delay="0"/>
                                          </p:stCondLst>
                                        </p:cTn>
                                        <p:tgtEl>
                                          <p:spTgt spid="20"/>
                                        </p:tgtEl>
                                        <p:attrNameLst>
                                          <p:attrName>style.visibility</p:attrName>
                                        </p:attrNameLst>
                                      </p:cBhvr>
                                      <p:to>
                                        <p:strVal val="visible"/>
                                      </p:to>
                                    </p:set>
                                    <p:animEffect transition="in" filter="fade">
                                      <p:cBhvr>
                                        <p:cTn id="570" dur="500"/>
                                        <p:tgtEl>
                                          <p:spTgt spid="20"/>
                                        </p:tgtEl>
                                      </p:cBhvr>
                                    </p:animEffect>
                                  </p:childTnLst>
                                </p:cTn>
                              </p:par>
                              <p:par>
                                <p:cTn id="571" presetID="0" presetClass="path" fill="hold" grpId="31" nodeType="withEffect">
                                  <p:stCondLst>
                                    <p:cond delay="38700"/>
                                  </p:stCondLst>
                                  <p:childTnLst>
                                    <p:animMotion origin="layout" path="M 0 0 L -0.01632 -0.17567 E" pathEditMode="relative" ptsTypes="AA">
                                      <p:cBhvr additive="base">
                                        <p:cTn id="572" dur="3600" fill="hold"/>
                                        <p:tgtEl>
                                          <p:spTgt spid="20"/>
                                        </p:tgtEl>
                                        <p:attrNameLst>
                                          <p:attrName>ppt_x</p:attrName>
                                          <p:attrName>ppt_y</p:attrName>
                                        </p:attrNameLst>
                                      </p:cBhvr>
                                      <p:rCtr x="0" y="0"/>
                                    </p:animMotion>
                                    <p:animScale>
                                      <p:cBhvr>
                                        <p:cTn id="573" dur="3600" fill="hold"/>
                                        <p:tgtEl>
                                          <p:spTgt spid="20"/>
                                        </p:tgtEl>
                                      </p:cBhvr>
                                      <p:from x="100000" y="100000"/>
                                      <p:to x="320000" y="320000"/>
                                    </p:animScale>
                                  </p:childTnLst>
                                </p:cTn>
                              </p:par>
                              <p:par>
                                <p:cTn id="574" presetID="10" presetClass="exit" fill="hold" grpId="32" nodeType="withEffect">
                                  <p:stCondLst>
                                    <p:cond delay="41400"/>
                                  </p:stCondLst>
                                  <p:childTnLst>
                                    <p:animEffect transition="out" filter="fade">
                                      <p:cBhvr>
                                        <p:cTn id="575" dur="900"/>
                                        <p:tgtEl>
                                          <p:spTgt spid="20"/>
                                        </p:tgtEl>
                                      </p:cBhvr>
                                    </p:animEffect>
                                    <p:set>
                                      <p:cBhvr>
                                        <p:cTn id="576" dur="1" fill="hold">
                                          <p:stCondLst>
                                            <p:cond delay="899"/>
                                          </p:stCondLst>
                                        </p:cTn>
                                        <p:tgtEl>
                                          <p:spTgt spid="20"/>
                                        </p:tgtEl>
                                        <p:attrNameLst>
                                          <p:attrName>style.visibility</p:attrName>
                                        </p:attrNameLst>
                                      </p:cBhvr>
                                      <p:to>
                                        <p:strVal val="hidden"/>
                                      </p:to>
                                    </p:set>
                                  </p:childTnLst>
                                </p:cTn>
                              </p:par>
                            </p:childTnLst>
                          </p:cTn>
                        </p:par>
                        <p:par>
                          <p:cTn id="587" fill="hold">
                            <p:stCondLst>
                              <p:cond delay="0"/>
                            </p:stCondLst>
                            <p:childTnLst>
                              <p:par>
                                <p:cTn id="578" presetID="10" presetClass="entr" fill="hold" grpId="33" nodeType="withEffect">
                                  <p:stCondLst>
                                    <p:cond delay="42300"/>
                                  </p:stCondLst>
                                  <p:childTnLst>
                                    <p:set>
                                      <p:cBhvr>
                                        <p:cTn id="579" dur="1" fill="hold">
                                          <p:stCondLst>
                                            <p:cond delay="0"/>
                                          </p:stCondLst>
                                        </p:cTn>
                                        <p:tgtEl>
                                          <p:spTgt spid="20"/>
                                        </p:tgtEl>
                                        <p:attrNameLst>
                                          <p:attrName>style.visibility</p:attrName>
                                        </p:attrNameLst>
                                      </p:cBhvr>
                                      <p:to>
                                        <p:strVal val="visible"/>
                                      </p:to>
                                    </p:set>
                                    <p:animEffect transition="in" filter="fade">
                                      <p:cBhvr>
                                        <p:cTn id="580" dur="500"/>
                                        <p:tgtEl>
                                          <p:spTgt spid="20"/>
                                        </p:tgtEl>
                                      </p:cBhvr>
                                    </p:animEffect>
                                  </p:childTnLst>
                                </p:cTn>
                              </p:par>
                              <p:par>
                                <p:cTn id="581" presetID="0" presetClass="path" fill="hold" grpId="34" nodeType="withEffect">
                                  <p:stCondLst>
                                    <p:cond delay="42300"/>
                                  </p:stCondLst>
                                  <p:childTnLst>
                                    <p:animMotion origin="layout" path="M 0 0 L -0.01632 -0.17567 E" pathEditMode="relative" ptsTypes="AA">
                                      <p:cBhvr additive="base">
                                        <p:cTn id="582" dur="3600" fill="hold"/>
                                        <p:tgtEl>
                                          <p:spTgt spid="20"/>
                                        </p:tgtEl>
                                        <p:attrNameLst>
                                          <p:attrName>ppt_x</p:attrName>
                                          <p:attrName>ppt_y</p:attrName>
                                        </p:attrNameLst>
                                      </p:cBhvr>
                                      <p:rCtr x="0" y="0"/>
                                    </p:animMotion>
                                    <p:animScale>
                                      <p:cBhvr>
                                        <p:cTn id="583" dur="3600" fill="hold"/>
                                        <p:tgtEl>
                                          <p:spTgt spid="20"/>
                                        </p:tgtEl>
                                      </p:cBhvr>
                                      <p:from x="100000" y="100000"/>
                                      <p:to x="320000" y="320000"/>
                                    </p:animScale>
                                  </p:childTnLst>
                                </p:cTn>
                              </p:par>
                              <p:par>
                                <p:cTn id="584" presetID="10" presetClass="exit" fill="hold" grpId="35" nodeType="withEffect">
                                  <p:stCondLst>
                                    <p:cond delay="45000"/>
                                  </p:stCondLst>
                                  <p:childTnLst>
                                    <p:animEffect transition="out" filter="fade">
                                      <p:cBhvr>
                                        <p:cTn id="585" dur="900"/>
                                        <p:tgtEl>
                                          <p:spTgt spid="20"/>
                                        </p:tgtEl>
                                      </p:cBhvr>
                                    </p:animEffect>
                                    <p:set>
                                      <p:cBhvr>
                                        <p:cTn id="586" dur="1" fill="hold">
                                          <p:stCondLst>
                                            <p:cond delay="899"/>
                                          </p:stCondLst>
                                        </p:cTn>
                                        <p:tgtEl>
                                          <p:spTgt spid="20"/>
                                        </p:tgtEl>
                                        <p:attrNameLst>
                                          <p:attrName>style.visibility</p:attrName>
                                        </p:attrNameLst>
                                      </p:cBhvr>
                                      <p:to>
                                        <p:strVal val="hidden"/>
                                      </p:to>
                                    </p:set>
                                  </p:childTnLst>
                                </p:cTn>
                              </p:par>
                            </p:childTnLst>
                          </p:cTn>
                        </p:par>
                        <p:par>
                          <p:cTn id="597" fill="hold">
                            <p:stCondLst>
                              <p:cond delay="0"/>
                            </p:stCondLst>
                            <p:childTnLst>
                              <p:par>
                                <p:cTn id="588" presetID="10" presetClass="entr" fill="hold" grpId="36" nodeType="withEffect">
                                  <p:stCondLst>
                                    <p:cond delay="45900"/>
                                  </p:stCondLst>
                                  <p:childTnLst>
                                    <p:set>
                                      <p:cBhvr>
                                        <p:cTn id="589" dur="1" fill="hold">
                                          <p:stCondLst>
                                            <p:cond delay="0"/>
                                          </p:stCondLst>
                                        </p:cTn>
                                        <p:tgtEl>
                                          <p:spTgt spid="20"/>
                                        </p:tgtEl>
                                        <p:attrNameLst>
                                          <p:attrName>style.visibility</p:attrName>
                                        </p:attrNameLst>
                                      </p:cBhvr>
                                      <p:to>
                                        <p:strVal val="visible"/>
                                      </p:to>
                                    </p:set>
                                    <p:animEffect transition="in" filter="fade">
                                      <p:cBhvr>
                                        <p:cTn id="590" dur="500"/>
                                        <p:tgtEl>
                                          <p:spTgt spid="20"/>
                                        </p:tgtEl>
                                      </p:cBhvr>
                                    </p:animEffect>
                                  </p:childTnLst>
                                </p:cTn>
                              </p:par>
                              <p:par>
                                <p:cTn id="591" presetID="0" presetClass="path" fill="hold" grpId="37" nodeType="withEffect">
                                  <p:stCondLst>
                                    <p:cond delay="45900"/>
                                  </p:stCondLst>
                                  <p:childTnLst>
                                    <p:animMotion origin="layout" path="M 0 0 L -0.01632 -0.17567 E" pathEditMode="relative" ptsTypes="AA">
                                      <p:cBhvr additive="base">
                                        <p:cTn id="592" dur="3600" fill="hold"/>
                                        <p:tgtEl>
                                          <p:spTgt spid="20"/>
                                        </p:tgtEl>
                                        <p:attrNameLst>
                                          <p:attrName>ppt_x</p:attrName>
                                          <p:attrName>ppt_y</p:attrName>
                                        </p:attrNameLst>
                                      </p:cBhvr>
                                      <p:rCtr x="0" y="0"/>
                                    </p:animMotion>
                                    <p:animScale>
                                      <p:cBhvr>
                                        <p:cTn id="593" dur="3600" fill="hold"/>
                                        <p:tgtEl>
                                          <p:spTgt spid="20"/>
                                        </p:tgtEl>
                                      </p:cBhvr>
                                      <p:from x="100000" y="100000"/>
                                      <p:to x="320000" y="320000"/>
                                    </p:animScale>
                                  </p:childTnLst>
                                </p:cTn>
                              </p:par>
                              <p:par>
                                <p:cTn id="594" presetID="10" presetClass="exit" fill="hold" grpId="38" nodeType="withEffect">
                                  <p:stCondLst>
                                    <p:cond delay="48600"/>
                                  </p:stCondLst>
                                  <p:childTnLst>
                                    <p:animEffect transition="out" filter="fade">
                                      <p:cBhvr>
                                        <p:cTn id="595" dur="900"/>
                                        <p:tgtEl>
                                          <p:spTgt spid="20"/>
                                        </p:tgtEl>
                                      </p:cBhvr>
                                    </p:animEffect>
                                    <p:set>
                                      <p:cBhvr>
                                        <p:cTn id="596" dur="1" fill="hold">
                                          <p:stCondLst>
                                            <p:cond delay="899"/>
                                          </p:stCondLst>
                                        </p:cTn>
                                        <p:tgtEl>
                                          <p:spTgt spid="20"/>
                                        </p:tgtEl>
                                        <p:attrNameLst>
                                          <p:attrName>style.visibility</p:attrName>
                                        </p:attrNameLst>
                                      </p:cBhvr>
                                      <p:to>
                                        <p:strVal val="hidden"/>
                                      </p:to>
                                    </p:set>
                                  </p:childTnLst>
                                </p:cTn>
                              </p:par>
                            </p:childTnLst>
                          </p:cTn>
                        </p:par>
                        <p:par>
                          <p:cTn id="607" fill="hold">
                            <p:stCondLst>
                              <p:cond delay="0"/>
                            </p:stCondLst>
                            <p:childTnLst>
                              <p:par>
                                <p:cTn id="598" presetID="10" presetClass="entr" fill="hold" grpId="39" nodeType="withEffect">
                                  <p:stCondLst>
                                    <p:cond delay="49500"/>
                                  </p:stCondLst>
                                  <p:childTnLst>
                                    <p:set>
                                      <p:cBhvr>
                                        <p:cTn id="599" dur="1" fill="hold">
                                          <p:stCondLst>
                                            <p:cond delay="0"/>
                                          </p:stCondLst>
                                        </p:cTn>
                                        <p:tgtEl>
                                          <p:spTgt spid="20"/>
                                        </p:tgtEl>
                                        <p:attrNameLst>
                                          <p:attrName>style.visibility</p:attrName>
                                        </p:attrNameLst>
                                      </p:cBhvr>
                                      <p:to>
                                        <p:strVal val="visible"/>
                                      </p:to>
                                    </p:set>
                                    <p:animEffect transition="in" filter="fade">
                                      <p:cBhvr>
                                        <p:cTn id="600" dur="500"/>
                                        <p:tgtEl>
                                          <p:spTgt spid="20"/>
                                        </p:tgtEl>
                                      </p:cBhvr>
                                    </p:animEffect>
                                  </p:childTnLst>
                                </p:cTn>
                              </p:par>
                              <p:par>
                                <p:cTn id="601" presetID="0" presetClass="path" fill="hold" grpId="40" nodeType="withEffect">
                                  <p:stCondLst>
                                    <p:cond delay="49500"/>
                                  </p:stCondLst>
                                  <p:childTnLst>
                                    <p:animMotion origin="layout" path="M 0 0 L -0.01632 -0.17567 E" pathEditMode="relative" ptsTypes="AA">
                                      <p:cBhvr additive="base">
                                        <p:cTn id="602" dur="3600" fill="hold"/>
                                        <p:tgtEl>
                                          <p:spTgt spid="20"/>
                                        </p:tgtEl>
                                        <p:attrNameLst>
                                          <p:attrName>ppt_x</p:attrName>
                                          <p:attrName>ppt_y</p:attrName>
                                        </p:attrNameLst>
                                      </p:cBhvr>
                                      <p:rCtr x="0" y="0"/>
                                    </p:animMotion>
                                    <p:animScale>
                                      <p:cBhvr>
                                        <p:cTn id="603" dur="3600" fill="hold"/>
                                        <p:tgtEl>
                                          <p:spTgt spid="20"/>
                                        </p:tgtEl>
                                      </p:cBhvr>
                                      <p:from x="100000" y="100000"/>
                                      <p:to x="320000" y="320000"/>
                                    </p:animScale>
                                  </p:childTnLst>
                                </p:cTn>
                              </p:par>
                              <p:par>
                                <p:cTn id="604" presetID="10" presetClass="exit" fill="hold" grpId="41" nodeType="withEffect">
                                  <p:stCondLst>
                                    <p:cond delay="52200"/>
                                  </p:stCondLst>
                                  <p:childTnLst>
                                    <p:animEffect transition="out" filter="fade">
                                      <p:cBhvr>
                                        <p:cTn id="605" dur="900"/>
                                        <p:tgtEl>
                                          <p:spTgt spid="20"/>
                                        </p:tgtEl>
                                      </p:cBhvr>
                                    </p:animEffect>
                                    <p:set>
                                      <p:cBhvr>
                                        <p:cTn id="606" dur="1" fill="hold">
                                          <p:stCondLst>
                                            <p:cond delay="899"/>
                                          </p:stCondLst>
                                        </p:cTn>
                                        <p:tgtEl>
                                          <p:spTgt spid="20"/>
                                        </p:tgtEl>
                                        <p:attrNameLst>
                                          <p:attrName>style.visibility</p:attrName>
                                        </p:attrNameLst>
                                      </p:cBhvr>
                                      <p:to>
                                        <p:strVal val="hidden"/>
                                      </p:to>
                                    </p:set>
                                  </p:childTnLst>
                                </p:cTn>
                              </p:par>
                            </p:childTnLst>
                          </p:cTn>
                        </p:par>
                        <p:par>
                          <p:cTn id="617" fill="hold">
                            <p:stCondLst>
                              <p:cond delay="0"/>
                            </p:stCondLst>
                            <p:childTnLst>
                              <p:par>
                                <p:cTn id="608" presetID="10" presetClass="entr" fill="hold" grpId="0" nodeType="withEffect">
                                  <p:stCondLst>
                                    <p:cond delay="0"/>
                                  </p:stCondLst>
                                  <p:childTnLst>
                                    <p:set>
                                      <p:cBhvr>
                                        <p:cTn id="609" dur="1" fill="hold">
                                          <p:stCondLst>
                                            <p:cond delay="0"/>
                                          </p:stCondLst>
                                        </p:cTn>
                                        <p:tgtEl>
                                          <p:spTgt spid="21"/>
                                        </p:tgtEl>
                                        <p:attrNameLst>
                                          <p:attrName>style.visibility</p:attrName>
                                        </p:attrNameLst>
                                      </p:cBhvr>
                                      <p:to>
                                        <p:strVal val="visible"/>
                                      </p:to>
                                    </p:set>
                                    <p:animEffect transition="in" filter="fade">
                                      <p:cBhvr>
                                        <p:cTn id="610" dur="500"/>
                                        <p:tgtEl>
                                          <p:spTgt spid="21"/>
                                        </p:tgtEl>
                                      </p:cBhvr>
                                    </p:animEffect>
                                  </p:childTnLst>
                                </p:cTn>
                              </p:par>
                              <p:par>
                                <p:cTn id="611" presetID="0" presetClass="path" fill="hold" grpId="1" nodeType="withEffect">
                                  <p:stCondLst>
                                    <p:cond delay="0"/>
                                  </p:stCondLst>
                                  <p:childTnLst>
                                    <p:animMotion origin="layout" path="M 0 0 L -0.021 -0.17333 E" pathEditMode="relative" ptsTypes="AA">
                                      <p:cBhvr additive="base">
                                        <p:cTn id="612" dur="4000" fill="hold"/>
                                        <p:tgtEl>
                                          <p:spTgt spid="21"/>
                                        </p:tgtEl>
                                        <p:attrNameLst>
                                          <p:attrName>ppt_x</p:attrName>
                                          <p:attrName>ppt_y</p:attrName>
                                        </p:attrNameLst>
                                      </p:cBhvr>
                                      <p:rCtr x="0" y="0"/>
                                    </p:animMotion>
                                    <p:animScale>
                                      <p:cBhvr>
                                        <p:cTn id="613" dur="4000" fill="hold"/>
                                        <p:tgtEl>
                                          <p:spTgt spid="21"/>
                                        </p:tgtEl>
                                      </p:cBhvr>
                                      <p:from x="100000" y="100000"/>
                                      <p:to x="320000" y="320000"/>
                                    </p:animScale>
                                  </p:childTnLst>
                                </p:cTn>
                              </p:par>
                              <p:par>
                                <p:cTn id="614" presetID="10" presetClass="exit" fill="hold" grpId="2" nodeType="withEffect">
                                  <p:stCondLst>
                                    <p:cond delay="3100"/>
                                  </p:stCondLst>
                                  <p:childTnLst>
                                    <p:animEffect transition="out" filter="fade">
                                      <p:cBhvr>
                                        <p:cTn id="615" dur="900"/>
                                        <p:tgtEl>
                                          <p:spTgt spid="21"/>
                                        </p:tgtEl>
                                      </p:cBhvr>
                                    </p:animEffect>
                                    <p:set>
                                      <p:cBhvr>
                                        <p:cTn id="616" dur="1" fill="hold">
                                          <p:stCondLst>
                                            <p:cond delay="899"/>
                                          </p:stCondLst>
                                        </p:cTn>
                                        <p:tgtEl>
                                          <p:spTgt spid="21"/>
                                        </p:tgtEl>
                                        <p:attrNameLst>
                                          <p:attrName>style.visibility</p:attrName>
                                        </p:attrNameLst>
                                      </p:cBhvr>
                                      <p:to>
                                        <p:strVal val="hidden"/>
                                      </p:to>
                                    </p:set>
                                  </p:childTnLst>
                                </p:cTn>
                              </p:par>
                            </p:childTnLst>
                          </p:cTn>
                        </p:par>
                        <p:par>
                          <p:cTn id="627" fill="hold">
                            <p:stCondLst>
                              <p:cond delay="0"/>
                            </p:stCondLst>
                            <p:childTnLst>
                              <p:par>
                                <p:cTn id="618" presetID="10" presetClass="entr" fill="hold" grpId="3" nodeType="withEffect">
                                  <p:stCondLst>
                                    <p:cond delay="4000"/>
                                  </p:stCondLst>
                                  <p:childTnLst>
                                    <p:set>
                                      <p:cBhvr>
                                        <p:cTn id="619" dur="1" fill="hold">
                                          <p:stCondLst>
                                            <p:cond delay="0"/>
                                          </p:stCondLst>
                                        </p:cTn>
                                        <p:tgtEl>
                                          <p:spTgt spid="21"/>
                                        </p:tgtEl>
                                        <p:attrNameLst>
                                          <p:attrName>style.visibility</p:attrName>
                                        </p:attrNameLst>
                                      </p:cBhvr>
                                      <p:to>
                                        <p:strVal val="visible"/>
                                      </p:to>
                                    </p:set>
                                    <p:animEffect transition="in" filter="fade">
                                      <p:cBhvr>
                                        <p:cTn id="620" dur="500"/>
                                        <p:tgtEl>
                                          <p:spTgt spid="21"/>
                                        </p:tgtEl>
                                      </p:cBhvr>
                                    </p:animEffect>
                                  </p:childTnLst>
                                </p:cTn>
                              </p:par>
                              <p:par>
                                <p:cTn id="621" presetID="0" presetClass="path" fill="hold" grpId="4" nodeType="withEffect">
                                  <p:stCondLst>
                                    <p:cond delay="4000"/>
                                  </p:stCondLst>
                                  <p:childTnLst>
                                    <p:animMotion origin="layout" path="M 0 0 L -0.021 -0.17333 E" pathEditMode="relative" ptsTypes="AA">
                                      <p:cBhvr additive="base">
                                        <p:cTn id="622" dur="4000" fill="hold"/>
                                        <p:tgtEl>
                                          <p:spTgt spid="21"/>
                                        </p:tgtEl>
                                        <p:attrNameLst>
                                          <p:attrName>ppt_x</p:attrName>
                                          <p:attrName>ppt_y</p:attrName>
                                        </p:attrNameLst>
                                      </p:cBhvr>
                                      <p:rCtr x="0" y="0"/>
                                    </p:animMotion>
                                    <p:animScale>
                                      <p:cBhvr>
                                        <p:cTn id="623" dur="4000" fill="hold"/>
                                        <p:tgtEl>
                                          <p:spTgt spid="21"/>
                                        </p:tgtEl>
                                      </p:cBhvr>
                                      <p:from x="100000" y="100000"/>
                                      <p:to x="320000" y="320000"/>
                                    </p:animScale>
                                  </p:childTnLst>
                                </p:cTn>
                              </p:par>
                              <p:par>
                                <p:cTn id="624" presetID="10" presetClass="exit" fill="hold" grpId="5" nodeType="withEffect">
                                  <p:stCondLst>
                                    <p:cond delay="7100"/>
                                  </p:stCondLst>
                                  <p:childTnLst>
                                    <p:animEffect transition="out" filter="fade">
                                      <p:cBhvr>
                                        <p:cTn id="625" dur="900"/>
                                        <p:tgtEl>
                                          <p:spTgt spid="21"/>
                                        </p:tgtEl>
                                      </p:cBhvr>
                                    </p:animEffect>
                                    <p:set>
                                      <p:cBhvr>
                                        <p:cTn id="626" dur="1" fill="hold">
                                          <p:stCondLst>
                                            <p:cond delay="899"/>
                                          </p:stCondLst>
                                        </p:cTn>
                                        <p:tgtEl>
                                          <p:spTgt spid="21"/>
                                        </p:tgtEl>
                                        <p:attrNameLst>
                                          <p:attrName>style.visibility</p:attrName>
                                        </p:attrNameLst>
                                      </p:cBhvr>
                                      <p:to>
                                        <p:strVal val="hidden"/>
                                      </p:to>
                                    </p:set>
                                  </p:childTnLst>
                                </p:cTn>
                              </p:par>
                            </p:childTnLst>
                          </p:cTn>
                        </p:par>
                        <p:par>
                          <p:cTn id="637" fill="hold">
                            <p:stCondLst>
                              <p:cond delay="0"/>
                            </p:stCondLst>
                            <p:childTnLst>
                              <p:par>
                                <p:cTn id="628" presetID="10" presetClass="entr" fill="hold" grpId="6" nodeType="withEffect">
                                  <p:stCondLst>
                                    <p:cond delay="8000"/>
                                  </p:stCondLst>
                                  <p:childTnLst>
                                    <p:set>
                                      <p:cBhvr>
                                        <p:cTn id="629" dur="1" fill="hold">
                                          <p:stCondLst>
                                            <p:cond delay="0"/>
                                          </p:stCondLst>
                                        </p:cTn>
                                        <p:tgtEl>
                                          <p:spTgt spid="21"/>
                                        </p:tgtEl>
                                        <p:attrNameLst>
                                          <p:attrName>style.visibility</p:attrName>
                                        </p:attrNameLst>
                                      </p:cBhvr>
                                      <p:to>
                                        <p:strVal val="visible"/>
                                      </p:to>
                                    </p:set>
                                    <p:animEffect transition="in" filter="fade">
                                      <p:cBhvr>
                                        <p:cTn id="630" dur="500"/>
                                        <p:tgtEl>
                                          <p:spTgt spid="21"/>
                                        </p:tgtEl>
                                      </p:cBhvr>
                                    </p:animEffect>
                                  </p:childTnLst>
                                </p:cTn>
                              </p:par>
                              <p:par>
                                <p:cTn id="631" presetID="0" presetClass="path" fill="hold" grpId="7" nodeType="withEffect">
                                  <p:stCondLst>
                                    <p:cond delay="8000"/>
                                  </p:stCondLst>
                                  <p:childTnLst>
                                    <p:animMotion origin="layout" path="M 0 0 L -0.021 -0.17333 E" pathEditMode="relative" ptsTypes="AA">
                                      <p:cBhvr additive="base">
                                        <p:cTn id="632" dur="4000" fill="hold"/>
                                        <p:tgtEl>
                                          <p:spTgt spid="21"/>
                                        </p:tgtEl>
                                        <p:attrNameLst>
                                          <p:attrName>ppt_x</p:attrName>
                                          <p:attrName>ppt_y</p:attrName>
                                        </p:attrNameLst>
                                      </p:cBhvr>
                                      <p:rCtr x="0" y="0"/>
                                    </p:animMotion>
                                    <p:animScale>
                                      <p:cBhvr>
                                        <p:cTn id="633" dur="4000" fill="hold"/>
                                        <p:tgtEl>
                                          <p:spTgt spid="21"/>
                                        </p:tgtEl>
                                      </p:cBhvr>
                                      <p:from x="100000" y="100000"/>
                                      <p:to x="320000" y="320000"/>
                                    </p:animScale>
                                  </p:childTnLst>
                                </p:cTn>
                              </p:par>
                              <p:par>
                                <p:cTn id="634" presetID="10" presetClass="exit" fill="hold" grpId="8" nodeType="withEffect">
                                  <p:stCondLst>
                                    <p:cond delay="11100"/>
                                  </p:stCondLst>
                                  <p:childTnLst>
                                    <p:animEffect transition="out" filter="fade">
                                      <p:cBhvr>
                                        <p:cTn id="635" dur="900"/>
                                        <p:tgtEl>
                                          <p:spTgt spid="21"/>
                                        </p:tgtEl>
                                      </p:cBhvr>
                                    </p:animEffect>
                                    <p:set>
                                      <p:cBhvr>
                                        <p:cTn id="636" dur="1" fill="hold">
                                          <p:stCondLst>
                                            <p:cond delay="899"/>
                                          </p:stCondLst>
                                        </p:cTn>
                                        <p:tgtEl>
                                          <p:spTgt spid="21"/>
                                        </p:tgtEl>
                                        <p:attrNameLst>
                                          <p:attrName>style.visibility</p:attrName>
                                        </p:attrNameLst>
                                      </p:cBhvr>
                                      <p:to>
                                        <p:strVal val="hidden"/>
                                      </p:to>
                                    </p:set>
                                  </p:childTnLst>
                                </p:cTn>
                              </p:par>
                            </p:childTnLst>
                          </p:cTn>
                        </p:par>
                        <p:par>
                          <p:cTn id="647" fill="hold">
                            <p:stCondLst>
                              <p:cond delay="0"/>
                            </p:stCondLst>
                            <p:childTnLst>
                              <p:par>
                                <p:cTn id="638" presetID="10" presetClass="entr" fill="hold" grpId="9" nodeType="withEffect">
                                  <p:stCondLst>
                                    <p:cond delay="12000"/>
                                  </p:stCondLst>
                                  <p:childTnLst>
                                    <p:set>
                                      <p:cBhvr>
                                        <p:cTn id="639" dur="1" fill="hold">
                                          <p:stCondLst>
                                            <p:cond delay="0"/>
                                          </p:stCondLst>
                                        </p:cTn>
                                        <p:tgtEl>
                                          <p:spTgt spid="21"/>
                                        </p:tgtEl>
                                        <p:attrNameLst>
                                          <p:attrName>style.visibility</p:attrName>
                                        </p:attrNameLst>
                                      </p:cBhvr>
                                      <p:to>
                                        <p:strVal val="visible"/>
                                      </p:to>
                                    </p:set>
                                    <p:animEffect transition="in" filter="fade">
                                      <p:cBhvr>
                                        <p:cTn id="640" dur="500"/>
                                        <p:tgtEl>
                                          <p:spTgt spid="21"/>
                                        </p:tgtEl>
                                      </p:cBhvr>
                                    </p:animEffect>
                                  </p:childTnLst>
                                </p:cTn>
                              </p:par>
                              <p:par>
                                <p:cTn id="641" presetID="0" presetClass="path" fill="hold" grpId="10" nodeType="withEffect">
                                  <p:stCondLst>
                                    <p:cond delay="12000"/>
                                  </p:stCondLst>
                                  <p:childTnLst>
                                    <p:animMotion origin="layout" path="M 0 0 L -0.021 -0.17333 E" pathEditMode="relative" ptsTypes="AA">
                                      <p:cBhvr additive="base">
                                        <p:cTn id="642" dur="4000" fill="hold"/>
                                        <p:tgtEl>
                                          <p:spTgt spid="21"/>
                                        </p:tgtEl>
                                        <p:attrNameLst>
                                          <p:attrName>ppt_x</p:attrName>
                                          <p:attrName>ppt_y</p:attrName>
                                        </p:attrNameLst>
                                      </p:cBhvr>
                                      <p:rCtr x="0" y="0"/>
                                    </p:animMotion>
                                    <p:animScale>
                                      <p:cBhvr>
                                        <p:cTn id="643" dur="4000" fill="hold"/>
                                        <p:tgtEl>
                                          <p:spTgt spid="21"/>
                                        </p:tgtEl>
                                      </p:cBhvr>
                                      <p:from x="100000" y="100000"/>
                                      <p:to x="320000" y="320000"/>
                                    </p:animScale>
                                  </p:childTnLst>
                                </p:cTn>
                              </p:par>
                              <p:par>
                                <p:cTn id="644" presetID="10" presetClass="exit" fill="hold" grpId="11" nodeType="withEffect">
                                  <p:stCondLst>
                                    <p:cond delay="15100"/>
                                  </p:stCondLst>
                                  <p:childTnLst>
                                    <p:animEffect transition="out" filter="fade">
                                      <p:cBhvr>
                                        <p:cTn id="645" dur="900"/>
                                        <p:tgtEl>
                                          <p:spTgt spid="21"/>
                                        </p:tgtEl>
                                      </p:cBhvr>
                                    </p:animEffect>
                                    <p:set>
                                      <p:cBhvr>
                                        <p:cTn id="646" dur="1" fill="hold">
                                          <p:stCondLst>
                                            <p:cond delay="899"/>
                                          </p:stCondLst>
                                        </p:cTn>
                                        <p:tgtEl>
                                          <p:spTgt spid="21"/>
                                        </p:tgtEl>
                                        <p:attrNameLst>
                                          <p:attrName>style.visibility</p:attrName>
                                        </p:attrNameLst>
                                      </p:cBhvr>
                                      <p:to>
                                        <p:strVal val="hidden"/>
                                      </p:to>
                                    </p:set>
                                  </p:childTnLst>
                                </p:cTn>
                              </p:par>
                            </p:childTnLst>
                          </p:cTn>
                        </p:par>
                        <p:par>
                          <p:cTn id="657" fill="hold">
                            <p:stCondLst>
                              <p:cond delay="0"/>
                            </p:stCondLst>
                            <p:childTnLst>
                              <p:par>
                                <p:cTn id="648" presetID="10" presetClass="entr" fill="hold" grpId="12" nodeType="withEffect">
                                  <p:stCondLst>
                                    <p:cond delay="16000"/>
                                  </p:stCondLst>
                                  <p:childTnLst>
                                    <p:set>
                                      <p:cBhvr>
                                        <p:cTn id="649" dur="1" fill="hold">
                                          <p:stCondLst>
                                            <p:cond delay="0"/>
                                          </p:stCondLst>
                                        </p:cTn>
                                        <p:tgtEl>
                                          <p:spTgt spid="21"/>
                                        </p:tgtEl>
                                        <p:attrNameLst>
                                          <p:attrName>style.visibility</p:attrName>
                                        </p:attrNameLst>
                                      </p:cBhvr>
                                      <p:to>
                                        <p:strVal val="visible"/>
                                      </p:to>
                                    </p:set>
                                    <p:animEffect transition="in" filter="fade">
                                      <p:cBhvr>
                                        <p:cTn id="650" dur="500"/>
                                        <p:tgtEl>
                                          <p:spTgt spid="21"/>
                                        </p:tgtEl>
                                      </p:cBhvr>
                                    </p:animEffect>
                                  </p:childTnLst>
                                </p:cTn>
                              </p:par>
                              <p:par>
                                <p:cTn id="651" presetID="0" presetClass="path" fill="hold" grpId="13" nodeType="withEffect">
                                  <p:stCondLst>
                                    <p:cond delay="16000"/>
                                  </p:stCondLst>
                                  <p:childTnLst>
                                    <p:animMotion origin="layout" path="M 0 0 L -0.021 -0.17333 E" pathEditMode="relative" ptsTypes="AA">
                                      <p:cBhvr additive="base">
                                        <p:cTn id="652" dur="4000" fill="hold"/>
                                        <p:tgtEl>
                                          <p:spTgt spid="21"/>
                                        </p:tgtEl>
                                        <p:attrNameLst>
                                          <p:attrName>ppt_x</p:attrName>
                                          <p:attrName>ppt_y</p:attrName>
                                        </p:attrNameLst>
                                      </p:cBhvr>
                                      <p:rCtr x="0" y="0"/>
                                    </p:animMotion>
                                    <p:animScale>
                                      <p:cBhvr>
                                        <p:cTn id="653" dur="4000" fill="hold"/>
                                        <p:tgtEl>
                                          <p:spTgt spid="21"/>
                                        </p:tgtEl>
                                      </p:cBhvr>
                                      <p:from x="100000" y="100000"/>
                                      <p:to x="320000" y="320000"/>
                                    </p:animScale>
                                  </p:childTnLst>
                                </p:cTn>
                              </p:par>
                              <p:par>
                                <p:cTn id="654" presetID="10" presetClass="exit" fill="hold" grpId="14" nodeType="withEffect">
                                  <p:stCondLst>
                                    <p:cond delay="19100"/>
                                  </p:stCondLst>
                                  <p:childTnLst>
                                    <p:animEffect transition="out" filter="fade">
                                      <p:cBhvr>
                                        <p:cTn id="655" dur="900"/>
                                        <p:tgtEl>
                                          <p:spTgt spid="21"/>
                                        </p:tgtEl>
                                      </p:cBhvr>
                                    </p:animEffect>
                                    <p:set>
                                      <p:cBhvr>
                                        <p:cTn id="656" dur="1" fill="hold">
                                          <p:stCondLst>
                                            <p:cond delay="899"/>
                                          </p:stCondLst>
                                        </p:cTn>
                                        <p:tgtEl>
                                          <p:spTgt spid="21"/>
                                        </p:tgtEl>
                                        <p:attrNameLst>
                                          <p:attrName>style.visibility</p:attrName>
                                        </p:attrNameLst>
                                      </p:cBhvr>
                                      <p:to>
                                        <p:strVal val="hidden"/>
                                      </p:to>
                                    </p:set>
                                  </p:childTnLst>
                                </p:cTn>
                              </p:par>
                            </p:childTnLst>
                          </p:cTn>
                        </p:par>
                        <p:par>
                          <p:cTn id="667" fill="hold">
                            <p:stCondLst>
                              <p:cond delay="0"/>
                            </p:stCondLst>
                            <p:childTnLst>
                              <p:par>
                                <p:cTn id="658" presetID="10" presetClass="entr" fill="hold" grpId="15" nodeType="withEffect">
                                  <p:stCondLst>
                                    <p:cond delay="20000"/>
                                  </p:stCondLst>
                                  <p:childTnLst>
                                    <p:set>
                                      <p:cBhvr>
                                        <p:cTn id="659" dur="1" fill="hold">
                                          <p:stCondLst>
                                            <p:cond delay="0"/>
                                          </p:stCondLst>
                                        </p:cTn>
                                        <p:tgtEl>
                                          <p:spTgt spid="21"/>
                                        </p:tgtEl>
                                        <p:attrNameLst>
                                          <p:attrName>style.visibility</p:attrName>
                                        </p:attrNameLst>
                                      </p:cBhvr>
                                      <p:to>
                                        <p:strVal val="visible"/>
                                      </p:to>
                                    </p:set>
                                    <p:animEffect transition="in" filter="fade">
                                      <p:cBhvr>
                                        <p:cTn id="660" dur="500"/>
                                        <p:tgtEl>
                                          <p:spTgt spid="21"/>
                                        </p:tgtEl>
                                      </p:cBhvr>
                                    </p:animEffect>
                                  </p:childTnLst>
                                </p:cTn>
                              </p:par>
                              <p:par>
                                <p:cTn id="661" presetID="0" presetClass="path" fill="hold" grpId="16" nodeType="withEffect">
                                  <p:stCondLst>
                                    <p:cond delay="20000"/>
                                  </p:stCondLst>
                                  <p:childTnLst>
                                    <p:animMotion origin="layout" path="M 0 0 L -0.021 -0.17333 E" pathEditMode="relative" ptsTypes="AA">
                                      <p:cBhvr additive="base">
                                        <p:cTn id="662" dur="4000" fill="hold"/>
                                        <p:tgtEl>
                                          <p:spTgt spid="21"/>
                                        </p:tgtEl>
                                        <p:attrNameLst>
                                          <p:attrName>ppt_x</p:attrName>
                                          <p:attrName>ppt_y</p:attrName>
                                        </p:attrNameLst>
                                      </p:cBhvr>
                                      <p:rCtr x="0" y="0"/>
                                    </p:animMotion>
                                    <p:animScale>
                                      <p:cBhvr>
                                        <p:cTn id="663" dur="4000" fill="hold"/>
                                        <p:tgtEl>
                                          <p:spTgt spid="21"/>
                                        </p:tgtEl>
                                      </p:cBhvr>
                                      <p:from x="100000" y="100000"/>
                                      <p:to x="320000" y="320000"/>
                                    </p:animScale>
                                  </p:childTnLst>
                                </p:cTn>
                              </p:par>
                              <p:par>
                                <p:cTn id="664" presetID="10" presetClass="exit" fill="hold" grpId="17" nodeType="withEffect">
                                  <p:stCondLst>
                                    <p:cond delay="23100"/>
                                  </p:stCondLst>
                                  <p:childTnLst>
                                    <p:animEffect transition="out" filter="fade">
                                      <p:cBhvr>
                                        <p:cTn id="665" dur="900"/>
                                        <p:tgtEl>
                                          <p:spTgt spid="21"/>
                                        </p:tgtEl>
                                      </p:cBhvr>
                                    </p:animEffect>
                                    <p:set>
                                      <p:cBhvr>
                                        <p:cTn id="666" dur="1" fill="hold">
                                          <p:stCondLst>
                                            <p:cond delay="899"/>
                                          </p:stCondLst>
                                        </p:cTn>
                                        <p:tgtEl>
                                          <p:spTgt spid="21"/>
                                        </p:tgtEl>
                                        <p:attrNameLst>
                                          <p:attrName>style.visibility</p:attrName>
                                        </p:attrNameLst>
                                      </p:cBhvr>
                                      <p:to>
                                        <p:strVal val="hidden"/>
                                      </p:to>
                                    </p:set>
                                  </p:childTnLst>
                                </p:cTn>
                              </p:par>
                            </p:childTnLst>
                          </p:cTn>
                        </p:par>
                        <p:par>
                          <p:cTn id="677" fill="hold">
                            <p:stCondLst>
                              <p:cond delay="0"/>
                            </p:stCondLst>
                            <p:childTnLst>
                              <p:par>
                                <p:cTn id="668" presetID="10" presetClass="entr" fill="hold" grpId="18" nodeType="withEffect">
                                  <p:stCondLst>
                                    <p:cond delay="24000"/>
                                  </p:stCondLst>
                                  <p:childTnLst>
                                    <p:set>
                                      <p:cBhvr>
                                        <p:cTn id="669" dur="1" fill="hold">
                                          <p:stCondLst>
                                            <p:cond delay="0"/>
                                          </p:stCondLst>
                                        </p:cTn>
                                        <p:tgtEl>
                                          <p:spTgt spid="21"/>
                                        </p:tgtEl>
                                        <p:attrNameLst>
                                          <p:attrName>style.visibility</p:attrName>
                                        </p:attrNameLst>
                                      </p:cBhvr>
                                      <p:to>
                                        <p:strVal val="visible"/>
                                      </p:to>
                                    </p:set>
                                    <p:animEffect transition="in" filter="fade">
                                      <p:cBhvr>
                                        <p:cTn id="670" dur="500"/>
                                        <p:tgtEl>
                                          <p:spTgt spid="21"/>
                                        </p:tgtEl>
                                      </p:cBhvr>
                                    </p:animEffect>
                                  </p:childTnLst>
                                </p:cTn>
                              </p:par>
                              <p:par>
                                <p:cTn id="671" presetID="0" presetClass="path" fill="hold" grpId="19" nodeType="withEffect">
                                  <p:stCondLst>
                                    <p:cond delay="24000"/>
                                  </p:stCondLst>
                                  <p:childTnLst>
                                    <p:animMotion origin="layout" path="M 0 0 L -0.021 -0.17333 E" pathEditMode="relative" ptsTypes="AA">
                                      <p:cBhvr additive="base">
                                        <p:cTn id="672" dur="4000" fill="hold"/>
                                        <p:tgtEl>
                                          <p:spTgt spid="21"/>
                                        </p:tgtEl>
                                        <p:attrNameLst>
                                          <p:attrName>ppt_x</p:attrName>
                                          <p:attrName>ppt_y</p:attrName>
                                        </p:attrNameLst>
                                      </p:cBhvr>
                                      <p:rCtr x="0" y="0"/>
                                    </p:animMotion>
                                    <p:animScale>
                                      <p:cBhvr>
                                        <p:cTn id="673" dur="4000" fill="hold"/>
                                        <p:tgtEl>
                                          <p:spTgt spid="21"/>
                                        </p:tgtEl>
                                      </p:cBhvr>
                                      <p:from x="100000" y="100000"/>
                                      <p:to x="320000" y="320000"/>
                                    </p:animScale>
                                  </p:childTnLst>
                                </p:cTn>
                              </p:par>
                              <p:par>
                                <p:cTn id="674" presetID="10" presetClass="exit" fill="hold" grpId="20" nodeType="withEffect">
                                  <p:stCondLst>
                                    <p:cond delay="27100"/>
                                  </p:stCondLst>
                                  <p:childTnLst>
                                    <p:animEffect transition="out" filter="fade">
                                      <p:cBhvr>
                                        <p:cTn id="675" dur="900"/>
                                        <p:tgtEl>
                                          <p:spTgt spid="21"/>
                                        </p:tgtEl>
                                      </p:cBhvr>
                                    </p:animEffect>
                                    <p:set>
                                      <p:cBhvr>
                                        <p:cTn id="676" dur="1" fill="hold">
                                          <p:stCondLst>
                                            <p:cond delay="899"/>
                                          </p:stCondLst>
                                        </p:cTn>
                                        <p:tgtEl>
                                          <p:spTgt spid="21"/>
                                        </p:tgtEl>
                                        <p:attrNameLst>
                                          <p:attrName>style.visibility</p:attrName>
                                        </p:attrNameLst>
                                      </p:cBhvr>
                                      <p:to>
                                        <p:strVal val="hidden"/>
                                      </p:to>
                                    </p:set>
                                  </p:childTnLst>
                                </p:cTn>
                              </p:par>
                            </p:childTnLst>
                          </p:cTn>
                        </p:par>
                        <p:par>
                          <p:cTn id="687" fill="hold">
                            <p:stCondLst>
                              <p:cond delay="0"/>
                            </p:stCondLst>
                            <p:childTnLst>
                              <p:par>
                                <p:cTn id="678" presetID="10" presetClass="entr" fill="hold" grpId="21" nodeType="withEffect">
                                  <p:stCondLst>
                                    <p:cond delay="28000"/>
                                  </p:stCondLst>
                                  <p:childTnLst>
                                    <p:set>
                                      <p:cBhvr>
                                        <p:cTn id="679" dur="1" fill="hold">
                                          <p:stCondLst>
                                            <p:cond delay="0"/>
                                          </p:stCondLst>
                                        </p:cTn>
                                        <p:tgtEl>
                                          <p:spTgt spid="21"/>
                                        </p:tgtEl>
                                        <p:attrNameLst>
                                          <p:attrName>style.visibility</p:attrName>
                                        </p:attrNameLst>
                                      </p:cBhvr>
                                      <p:to>
                                        <p:strVal val="visible"/>
                                      </p:to>
                                    </p:set>
                                    <p:animEffect transition="in" filter="fade">
                                      <p:cBhvr>
                                        <p:cTn id="680" dur="500"/>
                                        <p:tgtEl>
                                          <p:spTgt spid="21"/>
                                        </p:tgtEl>
                                      </p:cBhvr>
                                    </p:animEffect>
                                  </p:childTnLst>
                                </p:cTn>
                              </p:par>
                              <p:par>
                                <p:cTn id="681" presetID="0" presetClass="path" fill="hold" grpId="22" nodeType="withEffect">
                                  <p:stCondLst>
                                    <p:cond delay="28000"/>
                                  </p:stCondLst>
                                  <p:childTnLst>
                                    <p:animMotion origin="layout" path="M 0 0 L -0.021 -0.17333 E" pathEditMode="relative" ptsTypes="AA">
                                      <p:cBhvr additive="base">
                                        <p:cTn id="682" dur="4000" fill="hold"/>
                                        <p:tgtEl>
                                          <p:spTgt spid="21"/>
                                        </p:tgtEl>
                                        <p:attrNameLst>
                                          <p:attrName>ppt_x</p:attrName>
                                          <p:attrName>ppt_y</p:attrName>
                                        </p:attrNameLst>
                                      </p:cBhvr>
                                      <p:rCtr x="0" y="0"/>
                                    </p:animMotion>
                                    <p:animScale>
                                      <p:cBhvr>
                                        <p:cTn id="683" dur="4000" fill="hold"/>
                                        <p:tgtEl>
                                          <p:spTgt spid="21"/>
                                        </p:tgtEl>
                                      </p:cBhvr>
                                      <p:from x="100000" y="100000"/>
                                      <p:to x="320000" y="320000"/>
                                    </p:animScale>
                                  </p:childTnLst>
                                </p:cTn>
                              </p:par>
                              <p:par>
                                <p:cTn id="684" presetID="10" presetClass="exit" fill="hold" grpId="23" nodeType="withEffect">
                                  <p:stCondLst>
                                    <p:cond delay="31100"/>
                                  </p:stCondLst>
                                  <p:childTnLst>
                                    <p:animEffect transition="out" filter="fade">
                                      <p:cBhvr>
                                        <p:cTn id="685" dur="900"/>
                                        <p:tgtEl>
                                          <p:spTgt spid="21"/>
                                        </p:tgtEl>
                                      </p:cBhvr>
                                    </p:animEffect>
                                    <p:set>
                                      <p:cBhvr>
                                        <p:cTn id="686" dur="1" fill="hold">
                                          <p:stCondLst>
                                            <p:cond delay="899"/>
                                          </p:stCondLst>
                                        </p:cTn>
                                        <p:tgtEl>
                                          <p:spTgt spid="21"/>
                                        </p:tgtEl>
                                        <p:attrNameLst>
                                          <p:attrName>style.visibility</p:attrName>
                                        </p:attrNameLst>
                                      </p:cBhvr>
                                      <p:to>
                                        <p:strVal val="hidden"/>
                                      </p:to>
                                    </p:set>
                                  </p:childTnLst>
                                </p:cTn>
                              </p:par>
                            </p:childTnLst>
                          </p:cTn>
                        </p:par>
                        <p:par>
                          <p:cTn id="697" fill="hold">
                            <p:stCondLst>
                              <p:cond delay="0"/>
                            </p:stCondLst>
                            <p:childTnLst>
                              <p:par>
                                <p:cTn id="688" presetID="10" presetClass="entr" fill="hold" grpId="24" nodeType="withEffect">
                                  <p:stCondLst>
                                    <p:cond delay="32000"/>
                                  </p:stCondLst>
                                  <p:childTnLst>
                                    <p:set>
                                      <p:cBhvr>
                                        <p:cTn id="689" dur="1" fill="hold">
                                          <p:stCondLst>
                                            <p:cond delay="0"/>
                                          </p:stCondLst>
                                        </p:cTn>
                                        <p:tgtEl>
                                          <p:spTgt spid="21"/>
                                        </p:tgtEl>
                                        <p:attrNameLst>
                                          <p:attrName>style.visibility</p:attrName>
                                        </p:attrNameLst>
                                      </p:cBhvr>
                                      <p:to>
                                        <p:strVal val="visible"/>
                                      </p:to>
                                    </p:set>
                                    <p:animEffect transition="in" filter="fade">
                                      <p:cBhvr>
                                        <p:cTn id="690" dur="500"/>
                                        <p:tgtEl>
                                          <p:spTgt spid="21"/>
                                        </p:tgtEl>
                                      </p:cBhvr>
                                    </p:animEffect>
                                  </p:childTnLst>
                                </p:cTn>
                              </p:par>
                              <p:par>
                                <p:cTn id="691" presetID="0" presetClass="path" fill="hold" grpId="25" nodeType="withEffect">
                                  <p:stCondLst>
                                    <p:cond delay="32000"/>
                                  </p:stCondLst>
                                  <p:childTnLst>
                                    <p:animMotion origin="layout" path="M 0 0 L -0.021 -0.17333 E" pathEditMode="relative" ptsTypes="AA">
                                      <p:cBhvr additive="base">
                                        <p:cTn id="692" dur="4000" fill="hold"/>
                                        <p:tgtEl>
                                          <p:spTgt spid="21"/>
                                        </p:tgtEl>
                                        <p:attrNameLst>
                                          <p:attrName>ppt_x</p:attrName>
                                          <p:attrName>ppt_y</p:attrName>
                                        </p:attrNameLst>
                                      </p:cBhvr>
                                      <p:rCtr x="0" y="0"/>
                                    </p:animMotion>
                                    <p:animScale>
                                      <p:cBhvr>
                                        <p:cTn id="693" dur="4000" fill="hold"/>
                                        <p:tgtEl>
                                          <p:spTgt spid="21"/>
                                        </p:tgtEl>
                                      </p:cBhvr>
                                      <p:from x="100000" y="100000"/>
                                      <p:to x="320000" y="320000"/>
                                    </p:animScale>
                                  </p:childTnLst>
                                </p:cTn>
                              </p:par>
                              <p:par>
                                <p:cTn id="694" presetID="10" presetClass="exit" fill="hold" grpId="26" nodeType="withEffect">
                                  <p:stCondLst>
                                    <p:cond delay="35100"/>
                                  </p:stCondLst>
                                  <p:childTnLst>
                                    <p:animEffect transition="out" filter="fade">
                                      <p:cBhvr>
                                        <p:cTn id="695" dur="900"/>
                                        <p:tgtEl>
                                          <p:spTgt spid="21"/>
                                        </p:tgtEl>
                                      </p:cBhvr>
                                    </p:animEffect>
                                    <p:set>
                                      <p:cBhvr>
                                        <p:cTn id="696" dur="1" fill="hold">
                                          <p:stCondLst>
                                            <p:cond delay="899"/>
                                          </p:stCondLst>
                                        </p:cTn>
                                        <p:tgtEl>
                                          <p:spTgt spid="21"/>
                                        </p:tgtEl>
                                        <p:attrNameLst>
                                          <p:attrName>style.visibility</p:attrName>
                                        </p:attrNameLst>
                                      </p:cBhvr>
                                      <p:to>
                                        <p:strVal val="hidden"/>
                                      </p:to>
                                    </p:set>
                                  </p:childTnLst>
                                </p:cTn>
                              </p:par>
                            </p:childTnLst>
                          </p:cTn>
                        </p:par>
                        <p:par>
                          <p:cTn id="707" fill="hold">
                            <p:stCondLst>
                              <p:cond delay="0"/>
                            </p:stCondLst>
                            <p:childTnLst>
                              <p:par>
                                <p:cTn id="698" presetID="10" presetClass="entr" fill="hold" grpId="27" nodeType="withEffect">
                                  <p:stCondLst>
                                    <p:cond delay="36000"/>
                                  </p:stCondLst>
                                  <p:childTnLst>
                                    <p:set>
                                      <p:cBhvr>
                                        <p:cTn id="699" dur="1" fill="hold">
                                          <p:stCondLst>
                                            <p:cond delay="0"/>
                                          </p:stCondLst>
                                        </p:cTn>
                                        <p:tgtEl>
                                          <p:spTgt spid="21"/>
                                        </p:tgtEl>
                                        <p:attrNameLst>
                                          <p:attrName>style.visibility</p:attrName>
                                        </p:attrNameLst>
                                      </p:cBhvr>
                                      <p:to>
                                        <p:strVal val="visible"/>
                                      </p:to>
                                    </p:set>
                                    <p:animEffect transition="in" filter="fade">
                                      <p:cBhvr>
                                        <p:cTn id="700" dur="500"/>
                                        <p:tgtEl>
                                          <p:spTgt spid="21"/>
                                        </p:tgtEl>
                                      </p:cBhvr>
                                    </p:animEffect>
                                  </p:childTnLst>
                                </p:cTn>
                              </p:par>
                              <p:par>
                                <p:cTn id="701" presetID="0" presetClass="path" fill="hold" grpId="28" nodeType="withEffect">
                                  <p:stCondLst>
                                    <p:cond delay="36000"/>
                                  </p:stCondLst>
                                  <p:childTnLst>
                                    <p:animMotion origin="layout" path="M 0 0 L -0.021 -0.17333 E" pathEditMode="relative" ptsTypes="AA">
                                      <p:cBhvr additive="base">
                                        <p:cTn id="702" dur="4000" fill="hold"/>
                                        <p:tgtEl>
                                          <p:spTgt spid="21"/>
                                        </p:tgtEl>
                                        <p:attrNameLst>
                                          <p:attrName>ppt_x</p:attrName>
                                          <p:attrName>ppt_y</p:attrName>
                                        </p:attrNameLst>
                                      </p:cBhvr>
                                      <p:rCtr x="0" y="0"/>
                                    </p:animMotion>
                                    <p:animScale>
                                      <p:cBhvr>
                                        <p:cTn id="703" dur="4000" fill="hold"/>
                                        <p:tgtEl>
                                          <p:spTgt spid="21"/>
                                        </p:tgtEl>
                                      </p:cBhvr>
                                      <p:from x="100000" y="100000"/>
                                      <p:to x="320000" y="320000"/>
                                    </p:animScale>
                                  </p:childTnLst>
                                </p:cTn>
                              </p:par>
                              <p:par>
                                <p:cTn id="704" presetID="10" presetClass="exit" fill="hold" grpId="29" nodeType="withEffect">
                                  <p:stCondLst>
                                    <p:cond delay="39100"/>
                                  </p:stCondLst>
                                  <p:childTnLst>
                                    <p:animEffect transition="out" filter="fade">
                                      <p:cBhvr>
                                        <p:cTn id="705" dur="900"/>
                                        <p:tgtEl>
                                          <p:spTgt spid="21"/>
                                        </p:tgtEl>
                                      </p:cBhvr>
                                    </p:animEffect>
                                    <p:set>
                                      <p:cBhvr>
                                        <p:cTn id="706" dur="1" fill="hold">
                                          <p:stCondLst>
                                            <p:cond delay="899"/>
                                          </p:stCondLst>
                                        </p:cTn>
                                        <p:tgtEl>
                                          <p:spTgt spid="21"/>
                                        </p:tgtEl>
                                        <p:attrNameLst>
                                          <p:attrName>style.visibility</p:attrName>
                                        </p:attrNameLst>
                                      </p:cBhvr>
                                      <p:to>
                                        <p:strVal val="hidden"/>
                                      </p:to>
                                    </p:set>
                                  </p:childTnLst>
                                </p:cTn>
                              </p:par>
                            </p:childTnLst>
                          </p:cTn>
                        </p:par>
                        <p:par>
                          <p:cTn id="717" fill="hold">
                            <p:stCondLst>
                              <p:cond delay="0"/>
                            </p:stCondLst>
                            <p:childTnLst>
                              <p:par>
                                <p:cTn id="708" presetID="10" presetClass="entr" fill="hold" grpId="30" nodeType="withEffect">
                                  <p:stCondLst>
                                    <p:cond delay="40000"/>
                                  </p:stCondLst>
                                  <p:childTnLst>
                                    <p:set>
                                      <p:cBhvr>
                                        <p:cTn id="709" dur="1" fill="hold">
                                          <p:stCondLst>
                                            <p:cond delay="0"/>
                                          </p:stCondLst>
                                        </p:cTn>
                                        <p:tgtEl>
                                          <p:spTgt spid="21"/>
                                        </p:tgtEl>
                                        <p:attrNameLst>
                                          <p:attrName>style.visibility</p:attrName>
                                        </p:attrNameLst>
                                      </p:cBhvr>
                                      <p:to>
                                        <p:strVal val="visible"/>
                                      </p:to>
                                    </p:set>
                                    <p:animEffect transition="in" filter="fade">
                                      <p:cBhvr>
                                        <p:cTn id="710" dur="500"/>
                                        <p:tgtEl>
                                          <p:spTgt spid="21"/>
                                        </p:tgtEl>
                                      </p:cBhvr>
                                    </p:animEffect>
                                  </p:childTnLst>
                                </p:cTn>
                              </p:par>
                              <p:par>
                                <p:cTn id="711" presetID="0" presetClass="path" fill="hold" grpId="31" nodeType="withEffect">
                                  <p:stCondLst>
                                    <p:cond delay="40000"/>
                                  </p:stCondLst>
                                  <p:childTnLst>
                                    <p:animMotion origin="layout" path="M 0 0 L -0.021 -0.17333 E" pathEditMode="relative" ptsTypes="AA">
                                      <p:cBhvr additive="base">
                                        <p:cTn id="712" dur="4000" fill="hold"/>
                                        <p:tgtEl>
                                          <p:spTgt spid="21"/>
                                        </p:tgtEl>
                                        <p:attrNameLst>
                                          <p:attrName>ppt_x</p:attrName>
                                          <p:attrName>ppt_y</p:attrName>
                                        </p:attrNameLst>
                                      </p:cBhvr>
                                      <p:rCtr x="0" y="0"/>
                                    </p:animMotion>
                                    <p:animScale>
                                      <p:cBhvr>
                                        <p:cTn id="713" dur="4000" fill="hold"/>
                                        <p:tgtEl>
                                          <p:spTgt spid="21"/>
                                        </p:tgtEl>
                                      </p:cBhvr>
                                      <p:from x="100000" y="100000"/>
                                      <p:to x="320000" y="320000"/>
                                    </p:animScale>
                                  </p:childTnLst>
                                </p:cTn>
                              </p:par>
                              <p:par>
                                <p:cTn id="714" presetID="10" presetClass="exit" fill="hold" grpId="32" nodeType="withEffect">
                                  <p:stCondLst>
                                    <p:cond delay="43100"/>
                                  </p:stCondLst>
                                  <p:childTnLst>
                                    <p:animEffect transition="out" filter="fade">
                                      <p:cBhvr>
                                        <p:cTn id="715" dur="900"/>
                                        <p:tgtEl>
                                          <p:spTgt spid="21"/>
                                        </p:tgtEl>
                                      </p:cBhvr>
                                    </p:animEffect>
                                    <p:set>
                                      <p:cBhvr>
                                        <p:cTn id="716" dur="1" fill="hold">
                                          <p:stCondLst>
                                            <p:cond delay="899"/>
                                          </p:stCondLst>
                                        </p:cTn>
                                        <p:tgtEl>
                                          <p:spTgt spid="21"/>
                                        </p:tgtEl>
                                        <p:attrNameLst>
                                          <p:attrName>style.visibility</p:attrName>
                                        </p:attrNameLst>
                                      </p:cBhvr>
                                      <p:to>
                                        <p:strVal val="hidden"/>
                                      </p:to>
                                    </p:set>
                                  </p:childTnLst>
                                </p:cTn>
                              </p:par>
                            </p:childTnLst>
                          </p:cTn>
                        </p:par>
                        <p:par>
                          <p:cTn id="727" fill="hold">
                            <p:stCondLst>
                              <p:cond delay="0"/>
                            </p:stCondLst>
                            <p:childTnLst>
                              <p:par>
                                <p:cTn id="718" presetID="10" presetClass="entr" fill="hold" grpId="33" nodeType="withEffect">
                                  <p:stCondLst>
                                    <p:cond delay="44000"/>
                                  </p:stCondLst>
                                  <p:childTnLst>
                                    <p:set>
                                      <p:cBhvr>
                                        <p:cTn id="719" dur="1" fill="hold">
                                          <p:stCondLst>
                                            <p:cond delay="0"/>
                                          </p:stCondLst>
                                        </p:cTn>
                                        <p:tgtEl>
                                          <p:spTgt spid="21"/>
                                        </p:tgtEl>
                                        <p:attrNameLst>
                                          <p:attrName>style.visibility</p:attrName>
                                        </p:attrNameLst>
                                      </p:cBhvr>
                                      <p:to>
                                        <p:strVal val="visible"/>
                                      </p:to>
                                    </p:set>
                                    <p:animEffect transition="in" filter="fade">
                                      <p:cBhvr>
                                        <p:cTn id="720" dur="500"/>
                                        <p:tgtEl>
                                          <p:spTgt spid="21"/>
                                        </p:tgtEl>
                                      </p:cBhvr>
                                    </p:animEffect>
                                  </p:childTnLst>
                                </p:cTn>
                              </p:par>
                              <p:par>
                                <p:cTn id="721" presetID="0" presetClass="path" fill="hold" grpId="34" nodeType="withEffect">
                                  <p:stCondLst>
                                    <p:cond delay="44000"/>
                                  </p:stCondLst>
                                  <p:childTnLst>
                                    <p:animMotion origin="layout" path="M 0 0 L -0.021 -0.17333 E" pathEditMode="relative" ptsTypes="AA">
                                      <p:cBhvr additive="base">
                                        <p:cTn id="722" dur="4000" fill="hold"/>
                                        <p:tgtEl>
                                          <p:spTgt spid="21"/>
                                        </p:tgtEl>
                                        <p:attrNameLst>
                                          <p:attrName>ppt_x</p:attrName>
                                          <p:attrName>ppt_y</p:attrName>
                                        </p:attrNameLst>
                                      </p:cBhvr>
                                      <p:rCtr x="0" y="0"/>
                                    </p:animMotion>
                                    <p:animScale>
                                      <p:cBhvr>
                                        <p:cTn id="723" dur="4000" fill="hold"/>
                                        <p:tgtEl>
                                          <p:spTgt spid="21"/>
                                        </p:tgtEl>
                                      </p:cBhvr>
                                      <p:from x="100000" y="100000"/>
                                      <p:to x="320000" y="320000"/>
                                    </p:animScale>
                                  </p:childTnLst>
                                </p:cTn>
                              </p:par>
                              <p:par>
                                <p:cTn id="724" presetID="10" presetClass="exit" fill="hold" grpId="35" nodeType="withEffect">
                                  <p:stCondLst>
                                    <p:cond delay="47100"/>
                                  </p:stCondLst>
                                  <p:childTnLst>
                                    <p:animEffect transition="out" filter="fade">
                                      <p:cBhvr>
                                        <p:cTn id="725" dur="900"/>
                                        <p:tgtEl>
                                          <p:spTgt spid="21"/>
                                        </p:tgtEl>
                                      </p:cBhvr>
                                    </p:animEffect>
                                    <p:set>
                                      <p:cBhvr>
                                        <p:cTn id="726" dur="1" fill="hold">
                                          <p:stCondLst>
                                            <p:cond delay="899"/>
                                          </p:stCondLst>
                                        </p:cTn>
                                        <p:tgtEl>
                                          <p:spTgt spid="21"/>
                                        </p:tgtEl>
                                        <p:attrNameLst>
                                          <p:attrName>style.visibility</p:attrName>
                                        </p:attrNameLst>
                                      </p:cBhvr>
                                      <p:to>
                                        <p:strVal val="hidden"/>
                                      </p:to>
                                    </p:set>
                                  </p:childTnLst>
                                </p:cTn>
                              </p:par>
                            </p:childTnLst>
                          </p:cTn>
                        </p:par>
                        <p:par>
                          <p:cTn id="737" fill="hold">
                            <p:stCondLst>
                              <p:cond delay="0"/>
                            </p:stCondLst>
                            <p:childTnLst>
                              <p:par>
                                <p:cTn id="728" presetID="10" presetClass="entr" fill="hold" grpId="36" nodeType="withEffect">
                                  <p:stCondLst>
                                    <p:cond delay="48000"/>
                                  </p:stCondLst>
                                  <p:childTnLst>
                                    <p:set>
                                      <p:cBhvr>
                                        <p:cTn id="729" dur="1" fill="hold">
                                          <p:stCondLst>
                                            <p:cond delay="0"/>
                                          </p:stCondLst>
                                        </p:cTn>
                                        <p:tgtEl>
                                          <p:spTgt spid="21"/>
                                        </p:tgtEl>
                                        <p:attrNameLst>
                                          <p:attrName>style.visibility</p:attrName>
                                        </p:attrNameLst>
                                      </p:cBhvr>
                                      <p:to>
                                        <p:strVal val="visible"/>
                                      </p:to>
                                    </p:set>
                                    <p:animEffect transition="in" filter="fade">
                                      <p:cBhvr>
                                        <p:cTn id="730" dur="500"/>
                                        <p:tgtEl>
                                          <p:spTgt spid="21"/>
                                        </p:tgtEl>
                                      </p:cBhvr>
                                    </p:animEffect>
                                  </p:childTnLst>
                                </p:cTn>
                              </p:par>
                              <p:par>
                                <p:cTn id="731" presetID="0" presetClass="path" fill="hold" grpId="37" nodeType="withEffect">
                                  <p:stCondLst>
                                    <p:cond delay="48000"/>
                                  </p:stCondLst>
                                  <p:childTnLst>
                                    <p:animMotion origin="layout" path="M 0 0 L -0.021 -0.17333 E" pathEditMode="relative" ptsTypes="AA">
                                      <p:cBhvr additive="base">
                                        <p:cTn id="732" dur="4000" fill="hold"/>
                                        <p:tgtEl>
                                          <p:spTgt spid="21"/>
                                        </p:tgtEl>
                                        <p:attrNameLst>
                                          <p:attrName>ppt_x</p:attrName>
                                          <p:attrName>ppt_y</p:attrName>
                                        </p:attrNameLst>
                                      </p:cBhvr>
                                      <p:rCtr x="0" y="0"/>
                                    </p:animMotion>
                                    <p:animScale>
                                      <p:cBhvr>
                                        <p:cTn id="733" dur="4000" fill="hold"/>
                                        <p:tgtEl>
                                          <p:spTgt spid="21"/>
                                        </p:tgtEl>
                                      </p:cBhvr>
                                      <p:from x="100000" y="100000"/>
                                      <p:to x="320000" y="320000"/>
                                    </p:animScale>
                                  </p:childTnLst>
                                </p:cTn>
                              </p:par>
                              <p:par>
                                <p:cTn id="734" presetID="10" presetClass="exit" fill="hold" grpId="38" nodeType="withEffect">
                                  <p:stCondLst>
                                    <p:cond delay="51100"/>
                                  </p:stCondLst>
                                  <p:childTnLst>
                                    <p:animEffect transition="out" filter="fade">
                                      <p:cBhvr>
                                        <p:cTn id="735" dur="900"/>
                                        <p:tgtEl>
                                          <p:spTgt spid="21"/>
                                        </p:tgtEl>
                                      </p:cBhvr>
                                    </p:animEffect>
                                    <p:set>
                                      <p:cBhvr>
                                        <p:cTn id="736" dur="1" fill="hold">
                                          <p:stCondLst>
                                            <p:cond delay="899"/>
                                          </p:stCondLst>
                                        </p:cTn>
                                        <p:tgtEl>
                                          <p:spTgt spid="21"/>
                                        </p:tgtEl>
                                        <p:attrNameLst>
                                          <p:attrName>style.visibility</p:attrName>
                                        </p:attrNameLst>
                                      </p:cBhvr>
                                      <p:to>
                                        <p:strVal val="hidden"/>
                                      </p:to>
                                    </p:set>
                                  </p:childTnLst>
                                </p:cTn>
                              </p:par>
                            </p:childTnLst>
                          </p:cTn>
                        </p:par>
                        <p:par>
                          <p:cTn id="747" fill="hold">
                            <p:stCondLst>
                              <p:cond delay="0"/>
                            </p:stCondLst>
                            <p:childTnLst>
                              <p:par>
                                <p:cTn id="738" presetID="10" presetClass="entr" fill="hold" grpId="39" nodeType="withEffect">
                                  <p:stCondLst>
                                    <p:cond delay="52000"/>
                                  </p:stCondLst>
                                  <p:childTnLst>
                                    <p:set>
                                      <p:cBhvr>
                                        <p:cTn id="739" dur="1" fill="hold">
                                          <p:stCondLst>
                                            <p:cond delay="0"/>
                                          </p:stCondLst>
                                        </p:cTn>
                                        <p:tgtEl>
                                          <p:spTgt spid="21"/>
                                        </p:tgtEl>
                                        <p:attrNameLst>
                                          <p:attrName>style.visibility</p:attrName>
                                        </p:attrNameLst>
                                      </p:cBhvr>
                                      <p:to>
                                        <p:strVal val="visible"/>
                                      </p:to>
                                    </p:set>
                                    <p:animEffect transition="in" filter="fade">
                                      <p:cBhvr>
                                        <p:cTn id="740" dur="500"/>
                                        <p:tgtEl>
                                          <p:spTgt spid="21"/>
                                        </p:tgtEl>
                                      </p:cBhvr>
                                    </p:animEffect>
                                  </p:childTnLst>
                                </p:cTn>
                              </p:par>
                              <p:par>
                                <p:cTn id="741" presetID="0" presetClass="path" fill="hold" grpId="40" nodeType="withEffect">
                                  <p:stCondLst>
                                    <p:cond delay="52000"/>
                                  </p:stCondLst>
                                  <p:childTnLst>
                                    <p:animMotion origin="layout" path="M 0 0 L -0.021 -0.17333 E" pathEditMode="relative" ptsTypes="AA">
                                      <p:cBhvr additive="base">
                                        <p:cTn id="742" dur="4000" fill="hold"/>
                                        <p:tgtEl>
                                          <p:spTgt spid="21"/>
                                        </p:tgtEl>
                                        <p:attrNameLst>
                                          <p:attrName>ppt_x</p:attrName>
                                          <p:attrName>ppt_y</p:attrName>
                                        </p:attrNameLst>
                                      </p:cBhvr>
                                      <p:rCtr x="0" y="0"/>
                                    </p:animMotion>
                                    <p:animScale>
                                      <p:cBhvr>
                                        <p:cTn id="743" dur="4000" fill="hold"/>
                                        <p:tgtEl>
                                          <p:spTgt spid="21"/>
                                        </p:tgtEl>
                                      </p:cBhvr>
                                      <p:from x="100000" y="100000"/>
                                      <p:to x="320000" y="320000"/>
                                    </p:animScale>
                                  </p:childTnLst>
                                </p:cTn>
                              </p:par>
                              <p:par>
                                <p:cTn id="744" presetID="10" presetClass="exit" fill="hold" grpId="41" nodeType="withEffect">
                                  <p:stCondLst>
                                    <p:cond delay="55100"/>
                                  </p:stCondLst>
                                  <p:childTnLst>
                                    <p:animEffect transition="out" filter="fade">
                                      <p:cBhvr>
                                        <p:cTn id="745" dur="900"/>
                                        <p:tgtEl>
                                          <p:spTgt spid="21"/>
                                        </p:tgtEl>
                                      </p:cBhvr>
                                    </p:animEffect>
                                    <p:set>
                                      <p:cBhvr>
                                        <p:cTn id="746" dur="1" fill="hold">
                                          <p:stCondLst>
                                            <p:cond delay="899"/>
                                          </p:stCondLst>
                                        </p:cTn>
                                        <p:tgtEl>
                                          <p:spTgt spid="21"/>
                                        </p:tgtEl>
                                        <p:attrNameLst>
                                          <p:attrName>style.visibility</p:attrName>
                                        </p:attrNameLst>
                                      </p:cBhvr>
                                      <p:to>
                                        <p:strVal val="hidden"/>
                                      </p:to>
                                    </p:set>
                                  </p:childTnLst>
                                </p:cTn>
                              </p:par>
                            </p:childTnLst>
                          </p:cTn>
                        </p:par>
                        <p:par>
                          <p:cTn id="757" fill="hold">
                            <p:stCondLst>
                              <p:cond delay="0"/>
                            </p:stCondLst>
                            <p:childTnLst>
                              <p:par>
                                <p:cTn id="748" presetID="10" presetClass="entr" fill="hold" grpId="0" nodeType="withEffect">
                                  <p:stCondLst>
                                    <p:cond delay="1000"/>
                                  </p:stCondLst>
                                  <p:childTnLst>
                                    <p:set>
                                      <p:cBhvr>
                                        <p:cTn id="749" dur="1" fill="hold">
                                          <p:stCondLst>
                                            <p:cond delay="0"/>
                                          </p:stCondLst>
                                        </p:cTn>
                                        <p:tgtEl>
                                          <p:spTgt spid="22"/>
                                        </p:tgtEl>
                                        <p:attrNameLst>
                                          <p:attrName>style.visibility</p:attrName>
                                        </p:attrNameLst>
                                      </p:cBhvr>
                                      <p:to>
                                        <p:strVal val="visible"/>
                                      </p:to>
                                    </p:set>
                                    <p:animEffect transition="in" filter="fade">
                                      <p:cBhvr>
                                        <p:cTn id="750" dur="500"/>
                                        <p:tgtEl>
                                          <p:spTgt spid="22"/>
                                        </p:tgtEl>
                                      </p:cBhvr>
                                    </p:animEffect>
                                  </p:childTnLst>
                                </p:cTn>
                              </p:par>
                              <p:par>
                                <p:cTn id="751" presetID="0" presetClass="path" fill="hold" grpId="1" nodeType="withEffect">
                                  <p:stCondLst>
                                    <p:cond delay="1000"/>
                                  </p:stCondLst>
                                  <p:childTnLst>
                                    <p:animMotion origin="layout" path="M 0 0 L -0.01848 -0.16467 E" pathEditMode="relative" ptsTypes="AA">
                                      <p:cBhvr additive="base">
                                        <p:cTn id="752" dur="4000" fill="hold"/>
                                        <p:tgtEl>
                                          <p:spTgt spid="22"/>
                                        </p:tgtEl>
                                        <p:attrNameLst>
                                          <p:attrName>ppt_x</p:attrName>
                                          <p:attrName>ppt_y</p:attrName>
                                        </p:attrNameLst>
                                      </p:cBhvr>
                                      <p:rCtr x="0" y="0"/>
                                    </p:animMotion>
                                    <p:animScale>
                                      <p:cBhvr>
                                        <p:cTn id="753" dur="4000" fill="hold"/>
                                        <p:tgtEl>
                                          <p:spTgt spid="22"/>
                                        </p:tgtEl>
                                      </p:cBhvr>
                                      <p:from x="100000" y="100000"/>
                                      <p:to x="320000" y="320000"/>
                                    </p:animScale>
                                  </p:childTnLst>
                                </p:cTn>
                              </p:par>
                              <p:par>
                                <p:cTn id="754" presetID="10" presetClass="exit" fill="hold" grpId="2" nodeType="withEffect">
                                  <p:stCondLst>
                                    <p:cond delay="4100"/>
                                  </p:stCondLst>
                                  <p:childTnLst>
                                    <p:animEffect transition="out" filter="fade">
                                      <p:cBhvr>
                                        <p:cTn id="755" dur="900"/>
                                        <p:tgtEl>
                                          <p:spTgt spid="22"/>
                                        </p:tgtEl>
                                      </p:cBhvr>
                                    </p:animEffect>
                                    <p:set>
                                      <p:cBhvr>
                                        <p:cTn id="756" dur="1" fill="hold">
                                          <p:stCondLst>
                                            <p:cond delay="899"/>
                                          </p:stCondLst>
                                        </p:cTn>
                                        <p:tgtEl>
                                          <p:spTgt spid="22"/>
                                        </p:tgtEl>
                                        <p:attrNameLst>
                                          <p:attrName>style.visibility</p:attrName>
                                        </p:attrNameLst>
                                      </p:cBhvr>
                                      <p:to>
                                        <p:strVal val="hidden"/>
                                      </p:to>
                                    </p:set>
                                  </p:childTnLst>
                                </p:cTn>
                              </p:par>
                            </p:childTnLst>
                          </p:cTn>
                        </p:par>
                        <p:par>
                          <p:cTn id="767" fill="hold">
                            <p:stCondLst>
                              <p:cond delay="0"/>
                            </p:stCondLst>
                            <p:childTnLst>
                              <p:par>
                                <p:cTn id="758" presetID="10" presetClass="entr" fill="hold" grpId="3" nodeType="withEffect">
                                  <p:stCondLst>
                                    <p:cond delay="5000"/>
                                  </p:stCondLst>
                                  <p:childTnLst>
                                    <p:set>
                                      <p:cBhvr>
                                        <p:cTn id="759" dur="1" fill="hold">
                                          <p:stCondLst>
                                            <p:cond delay="0"/>
                                          </p:stCondLst>
                                        </p:cTn>
                                        <p:tgtEl>
                                          <p:spTgt spid="22"/>
                                        </p:tgtEl>
                                        <p:attrNameLst>
                                          <p:attrName>style.visibility</p:attrName>
                                        </p:attrNameLst>
                                      </p:cBhvr>
                                      <p:to>
                                        <p:strVal val="visible"/>
                                      </p:to>
                                    </p:set>
                                    <p:animEffect transition="in" filter="fade">
                                      <p:cBhvr>
                                        <p:cTn id="760" dur="500"/>
                                        <p:tgtEl>
                                          <p:spTgt spid="22"/>
                                        </p:tgtEl>
                                      </p:cBhvr>
                                    </p:animEffect>
                                  </p:childTnLst>
                                </p:cTn>
                              </p:par>
                              <p:par>
                                <p:cTn id="761" presetID="0" presetClass="path" fill="hold" grpId="4" nodeType="withEffect">
                                  <p:stCondLst>
                                    <p:cond delay="5000"/>
                                  </p:stCondLst>
                                  <p:childTnLst>
                                    <p:animMotion origin="layout" path="M 0 0 L -0.01848 -0.16467 E" pathEditMode="relative" ptsTypes="AA">
                                      <p:cBhvr additive="base">
                                        <p:cTn id="762" dur="4000" fill="hold"/>
                                        <p:tgtEl>
                                          <p:spTgt spid="22"/>
                                        </p:tgtEl>
                                        <p:attrNameLst>
                                          <p:attrName>ppt_x</p:attrName>
                                          <p:attrName>ppt_y</p:attrName>
                                        </p:attrNameLst>
                                      </p:cBhvr>
                                      <p:rCtr x="0" y="0"/>
                                    </p:animMotion>
                                    <p:animScale>
                                      <p:cBhvr>
                                        <p:cTn id="763" dur="4000" fill="hold"/>
                                        <p:tgtEl>
                                          <p:spTgt spid="22"/>
                                        </p:tgtEl>
                                      </p:cBhvr>
                                      <p:from x="100000" y="100000"/>
                                      <p:to x="320000" y="320000"/>
                                    </p:animScale>
                                  </p:childTnLst>
                                </p:cTn>
                              </p:par>
                              <p:par>
                                <p:cTn id="764" presetID="10" presetClass="exit" fill="hold" grpId="5" nodeType="withEffect">
                                  <p:stCondLst>
                                    <p:cond delay="8100"/>
                                  </p:stCondLst>
                                  <p:childTnLst>
                                    <p:animEffect transition="out" filter="fade">
                                      <p:cBhvr>
                                        <p:cTn id="765" dur="900"/>
                                        <p:tgtEl>
                                          <p:spTgt spid="22"/>
                                        </p:tgtEl>
                                      </p:cBhvr>
                                    </p:animEffect>
                                    <p:set>
                                      <p:cBhvr>
                                        <p:cTn id="766" dur="1" fill="hold">
                                          <p:stCondLst>
                                            <p:cond delay="899"/>
                                          </p:stCondLst>
                                        </p:cTn>
                                        <p:tgtEl>
                                          <p:spTgt spid="22"/>
                                        </p:tgtEl>
                                        <p:attrNameLst>
                                          <p:attrName>style.visibility</p:attrName>
                                        </p:attrNameLst>
                                      </p:cBhvr>
                                      <p:to>
                                        <p:strVal val="hidden"/>
                                      </p:to>
                                    </p:set>
                                  </p:childTnLst>
                                </p:cTn>
                              </p:par>
                            </p:childTnLst>
                          </p:cTn>
                        </p:par>
                        <p:par>
                          <p:cTn id="777" fill="hold">
                            <p:stCondLst>
                              <p:cond delay="0"/>
                            </p:stCondLst>
                            <p:childTnLst>
                              <p:par>
                                <p:cTn id="768" presetID="10" presetClass="entr" fill="hold" grpId="6" nodeType="withEffect">
                                  <p:stCondLst>
                                    <p:cond delay="9000"/>
                                  </p:stCondLst>
                                  <p:childTnLst>
                                    <p:set>
                                      <p:cBhvr>
                                        <p:cTn id="769" dur="1" fill="hold">
                                          <p:stCondLst>
                                            <p:cond delay="0"/>
                                          </p:stCondLst>
                                        </p:cTn>
                                        <p:tgtEl>
                                          <p:spTgt spid="22"/>
                                        </p:tgtEl>
                                        <p:attrNameLst>
                                          <p:attrName>style.visibility</p:attrName>
                                        </p:attrNameLst>
                                      </p:cBhvr>
                                      <p:to>
                                        <p:strVal val="visible"/>
                                      </p:to>
                                    </p:set>
                                    <p:animEffect transition="in" filter="fade">
                                      <p:cBhvr>
                                        <p:cTn id="770" dur="500"/>
                                        <p:tgtEl>
                                          <p:spTgt spid="22"/>
                                        </p:tgtEl>
                                      </p:cBhvr>
                                    </p:animEffect>
                                  </p:childTnLst>
                                </p:cTn>
                              </p:par>
                              <p:par>
                                <p:cTn id="771" presetID="0" presetClass="path" fill="hold" grpId="7" nodeType="withEffect">
                                  <p:stCondLst>
                                    <p:cond delay="9000"/>
                                  </p:stCondLst>
                                  <p:childTnLst>
                                    <p:animMotion origin="layout" path="M 0 0 L -0.01848 -0.16467 E" pathEditMode="relative" ptsTypes="AA">
                                      <p:cBhvr additive="base">
                                        <p:cTn id="772" dur="4000" fill="hold"/>
                                        <p:tgtEl>
                                          <p:spTgt spid="22"/>
                                        </p:tgtEl>
                                        <p:attrNameLst>
                                          <p:attrName>ppt_x</p:attrName>
                                          <p:attrName>ppt_y</p:attrName>
                                        </p:attrNameLst>
                                      </p:cBhvr>
                                      <p:rCtr x="0" y="0"/>
                                    </p:animMotion>
                                    <p:animScale>
                                      <p:cBhvr>
                                        <p:cTn id="773" dur="4000" fill="hold"/>
                                        <p:tgtEl>
                                          <p:spTgt spid="22"/>
                                        </p:tgtEl>
                                      </p:cBhvr>
                                      <p:from x="100000" y="100000"/>
                                      <p:to x="320000" y="320000"/>
                                    </p:animScale>
                                  </p:childTnLst>
                                </p:cTn>
                              </p:par>
                              <p:par>
                                <p:cTn id="774" presetID="10" presetClass="exit" fill="hold" grpId="8" nodeType="withEffect">
                                  <p:stCondLst>
                                    <p:cond delay="12100"/>
                                  </p:stCondLst>
                                  <p:childTnLst>
                                    <p:animEffect transition="out" filter="fade">
                                      <p:cBhvr>
                                        <p:cTn id="775" dur="900"/>
                                        <p:tgtEl>
                                          <p:spTgt spid="22"/>
                                        </p:tgtEl>
                                      </p:cBhvr>
                                    </p:animEffect>
                                    <p:set>
                                      <p:cBhvr>
                                        <p:cTn id="776" dur="1" fill="hold">
                                          <p:stCondLst>
                                            <p:cond delay="899"/>
                                          </p:stCondLst>
                                        </p:cTn>
                                        <p:tgtEl>
                                          <p:spTgt spid="22"/>
                                        </p:tgtEl>
                                        <p:attrNameLst>
                                          <p:attrName>style.visibility</p:attrName>
                                        </p:attrNameLst>
                                      </p:cBhvr>
                                      <p:to>
                                        <p:strVal val="hidden"/>
                                      </p:to>
                                    </p:set>
                                  </p:childTnLst>
                                </p:cTn>
                              </p:par>
                            </p:childTnLst>
                          </p:cTn>
                        </p:par>
                        <p:par>
                          <p:cTn id="787" fill="hold">
                            <p:stCondLst>
                              <p:cond delay="0"/>
                            </p:stCondLst>
                            <p:childTnLst>
                              <p:par>
                                <p:cTn id="778" presetID="10" presetClass="entr" fill="hold" grpId="9" nodeType="withEffect">
                                  <p:stCondLst>
                                    <p:cond delay="13000"/>
                                  </p:stCondLst>
                                  <p:childTnLst>
                                    <p:set>
                                      <p:cBhvr>
                                        <p:cTn id="779" dur="1" fill="hold">
                                          <p:stCondLst>
                                            <p:cond delay="0"/>
                                          </p:stCondLst>
                                        </p:cTn>
                                        <p:tgtEl>
                                          <p:spTgt spid="22"/>
                                        </p:tgtEl>
                                        <p:attrNameLst>
                                          <p:attrName>style.visibility</p:attrName>
                                        </p:attrNameLst>
                                      </p:cBhvr>
                                      <p:to>
                                        <p:strVal val="visible"/>
                                      </p:to>
                                    </p:set>
                                    <p:animEffect transition="in" filter="fade">
                                      <p:cBhvr>
                                        <p:cTn id="780" dur="500"/>
                                        <p:tgtEl>
                                          <p:spTgt spid="22"/>
                                        </p:tgtEl>
                                      </p:cBhvr>
                                    </p:animEffect>
                                  </p:childTnLst>
                                </p:cTn>
                              </p:par>
                              <p:par>
                                <p:cTn id="781" presetID="0" presetClass="path" fill="hold" grpId="10" nodeType="withEffect">
                                  <p:stCondLst>
                                    <p:cond delay="13000"/>
                                  </p:stCondLst>
                                  <p:childTnLst>
                                    <p:animMotion origin="layout" path="M 0 0 L -0.01848 -0.16467 E" pathEditMode="relative" ptsTypes="AA">
                                      <p:cBhvr additive="base">
                                        <p:cTn id="782" dur="4000" fill="hold"/>
                                        <p:tgtEl>
                                          <p:spTgt spid="22"/>
                                        </p:tgtEl>
                                        <p:attrNameLst>
                                          <p:attrName>ppt_x</p:attrName>
                                          <p:attrName>ppt_y</p:attrName>
                                        </p:attrNameLst>
                                      </p:cBhvr>
                                      <p:rCtr x="0" y="0"/>
                                    </p:animMotion>
                                    <p:animScale>
                                      <p:cBhvr>
                                        <p:cTn id="783" dur="4000" fill="hold"/>
                                        <p:tgtEl>
                                          <p:spTgt spid="22"/>
                                        </p:tgtEl>
                                      </p:cBhvr>
                                      <p:from x="100000" y="100000"/>
                                      <p:to x="320000" y="320000"/>
                                    </p:animScale>
                                  </p:childTnLst>
                                </p:cTn>
                              </p:par>
                              <p:par>
                                <p:cTn id="784" presetID="10" presetClass="exit" fill="hold" grpId="11" nodeType="withEffect">
                                  <p:stCondLst>
                                    <p:cond delay="16100"/>
                                  </p:stCondLst>
                                  <p:childTnLst>
                                    <p:animEffect transition="out" filter="fade">
                                      <p:cBhvr>
                                        <p:cTn id="785" dur="900"/>
                                        <p:tgtEl>
                                          <p:spTgt spid="22"/>
                                        </p:tgtEl>
                                      </p:cBhvr>
                                    </p:animEffect>
                                    <p:set>
                                      <p:cBhvr>
                                        <p:cTn id="786" dur="1" fill="hold">
                                          <p:stCondLst>
                                            <p:cond delay="899"/>
                                          </p:stCondLst>
                                        </p:cTn>
                                        <p:tgtEl>
                                          <p:spTgt spid="22"/>
                                        </p:tgtEl>
                                        <p:attrNameLst>
                                          <p:attrName>style.visibility</p:attrName>
                                        </p:attrNameLst>
                                      </p:cBhvr>
                                      <p:to>
                                        <p:strVal val="hidden"/>
                                      </p:to>
                                    </p:set>
                                  </p:childTnLst>
                                </p:cTn>
                              </p:par>
                            </p:childTnLst>
                          </p:cTn>
                        </p:par>
                        <p:par>
                          <p:cTn id="797" fill="hold">
                            <p:stCondLst>
                              <p:cond delay="0"/>
                            </p:stCondLst>
                            <p:childTnLst>
                              <p:par>
                                <p:cTn id="788" presetID="10" presetClass="entr" fill="hold" grpId="12" nodeType="withEffect">
                                  <p:stCondLst>
                                    <p:cond delay="17000"/>
                                  </p:stCondLst>
                                  <p:childTnLst>
                                    <p:set>
                                      <p:cBhvr>
                                        <p:cTn id="789" dur="1" fill="hold">
                                          <p:stCondLst>
                                            <p:cond delay="0"/>
                                          </p:stCondLst>
                                        </p:cTn>
                                        <p:tgtEl>
                                          <p:spTgt spid="22"/>
                                        </p:tgtEl>
                                        <p:attrNameLst>
                                          <p:attrName>style.visibility</p:attrName>
                                        </p:attrNameLst>
                                      </p:cBhvr>
                                      <p:to>
                                        <p:strVal val="visible"/>
                                      </p:to>
                                    </p:set>
                                    <p:animEffect transition="in" filter="fade">
                                      <p:cBhvr>
                                        <p:cTn id="790" dur="500"/>
                                        <p:tgtEl>
                                          <p:spTgt spid="22"/>
                                        </p:tgtEl>
                                      </p:cBhvr>
                                    </p:animEffect>
                                  </p:childTnLst>
                                </p:cTn>
                              </p:par>
                              <p:par>
                                <p:cTn id="791" presetID="0" presetClass="path" fill="hold" grpId="13" nodeType="withEffect">
                                  <p:stCondLst>
                                    <p:cond delay="17000"/>
                                  </p:stCondLst>
                                  <p:childTnLst>
                                    <p:animMotion origin="layout" path="M 0 0 L -0.01848 -0.16467 E" pathEditMode="relative" ptsTypes="AA">
                                      <p:cBhvr additive="base">
                                        <p:cTn id="792" dur="4000" fill="hold"/>
                                        <p:tgtEl>
                                          <p:spTgt spid="22"/>
                                        </p:tgtEl>
                                        <p:attrNameLst>
                                          <p:attrName>ppt_x</p:attrName>
                                          <p:attrName>ppt_y</p:attrName>
                                        </p:attrNameLst>
                                      </p:cBhvr>
                                      <p:rCtr x="0" y="0"/>
                                    </p:animMotion>
                                    <p:animScale>
                                      <p:cBhvr>
                                        <p:cTn id="793" dur="4000" fill="hold"/>
                                        <p:tgtEl>
                                          <p:spTgt spid="22"/>
                                        </p:tgtEl>
                                      </p:cBhvr>
                                      <p:from x="100000" y="100000"/>
                                      <p:to x="320000" y="320000"/>
                                    </p:animScale>
                                  </p:childTnLst>
                                </p:cTn>
                              </p:par>
                              <p:par>
                                <p:cTn id="794" presetID="10" presetClass="exit" fill="hold" grpId="14" nodeType="withEffect">
                                  <p:stCondLst>
                                    <p:cond delay="20100"/>
                                  </p:stCondLst>
                                  <p:childTnLst>
                                    <p:animEffect transition="out" filter="fade">
                                      <p:cBhvr>
                                        <p:cTn id="795" dur="900"/>
                                        <p:tgtEl>
                                          <p:spTgt spid="22"/>
                                        </p:tgtEl>
                                      </p:cBhvr>
                                    </p:animEffect>
                                    <p:set>
                                      <p:cBhvr>
                                        <p:cTn id="796" dur="1" fill="hold">
                                          <p:stCondLst>
                                            <p:cond delay="899"/>
                                          </p:stCondLst>
                                        </p:cTn>
                                        <p:tgtEl>
                                          <p:spTgt spid="22"/>
                                        </p:tgtEl>
                                        <p:attrNameLst>
                                          <p:attrName>style.visibility</p:attrName>
                                        </p:attrNameLst>
                                      </p:cBhvr>
                                      <p:to>
                                        <p:strVal val="hidden"/>
                                      </p:to>
                                    </p:set>
                                  </p:childTnLst>
                                </p:cTn>
                              </p:par>
                            </p:childTnLst>
                          </p:cTn>
                        </p:par>
                        <p:par>
                          <p:cTn id="807" fill="hold">
                            <p:stCondLst>
                              <p:cond delay="0"/>
                            </p:stCondLst>
                            <p:childTnLst>
                              <p:par>
                                <p:cTn id="798" presetID="10" presetClass="entr" fill="hold" grpId="15" nodeType="withEffect">
                                  <p:stCondLst>
                                    <p:cond delay="21000"/>
                                  </p:stCondLst>
                                  <p:childTnLst>
                                    <p:set>
                                      <p:cBhvr>
                                        <p:cTn id="799" dur="1" fill="hold">
                                          <p:stCondLst>
                                            <p:cond delay="0"/>
                                          </p:stCondLst>
                                        </p:cTn>
                                        <p:tgtEl>
                                          <p:spTgt spid="22"/>
                                        </p:tgtEl>
                                        <p:attrNameLst>
                                          <p:attrName>style.visibility</p:attrName>
                                        </p:attrNameLst>
                                      </p:cBhvr>
                                      <p:to>
                                        <p:strVal val="visible"/>
                                      </p:to>
                                    </p:set>
                                    <p:animEffect transition="in" filter="fade">
                                      <p:cBhvr>
                                        <p:cTn id="800" dur="500"/>
                                        <p:tgtEl>
                                          <p:spTgt spid="22"/>
                                        </p:tgtEl>
                                      </p:cBhvr>
                                    </p:animEffect>
                                  </p:childTnLst>
                                </p:cTn>
                              </p:par>
                              <p:par>
                                <p:cTn id="801" presetID="0" presetClass="path" fill="hold" grpId="16" nodeType="withEffect">
                                  <p:stCondLst>
                                    <p:cond delay="21000"/>
                                  </p:stCondLst>
                                  <p:childTnLst>
                                    <p:animMotion origin="layout" path="M 0 0 L -0.01848 -0.16467 E" pathEditMode="relative" ptsTypes="AA">
                                      <p:cBhvr additive="base">
                                        <p:cTn id="802" dur="4000" fill="hold"/>
                                        <p:tgtEl>
                                          <p:spTgt spid="22"/>
                                        </p:tgtEl>
                                        <p:attrNameLst>
                                          <p:attrName>ppt_x</p:attrName>
                                          <p:attrName>ppt_y</p:attrName>
                                        </p:attrNameLst>
                                      </p:cBhvr>
                                      <p:rCtr x="0" y="0"/>
                                    </p:animMotion>
                                    <p:animScale>
                                      <p:cBhvr>
                                        <p:cTn id="803" dur="4000" fill="hold"/>
                                        <p:tgtEl>
                                          <p:spTgt spid="22"/>
                                        </p:tgtEl>
                                      </p:cBhvr>
                                      <p:from x="100000" y="100000"/>
                                      <p:to x="320000" y="320000"/>
                                    </p:animScale>
                                  </p:childTnLst>
                                </p:cTn>
                              </p:par>
                              <p:par>
                                <p:cTn id="804" presetID="10" presetClass="exit" fill="hold" grpId="17" nodeType="withEffect">
                                  <p:stCondLst>
                                    <p:cond delay="24100"/>
                                  </p:stCondLst>
                                  <p:childTnLst>
                                    <p:animEffect transition="out" filter="fade">
                                      <p:cBhvr>
                                        <p:cTn id="805" dur="900"/>
                                        <p:tgtEl>
                                          <p:spTgt spid="22"/>
                                        </p:tgtEl>
                                      </p:cBhvr>
                                    </p:animEffect>
                                    <p:set>
                                      <p:cBhvr>
                                        <p:cTn id="806" dur="1" fill="hold">
                                          <p:stCondLst>
                                            <p:cond delay="899"/>
                                          </p:stCondLst>
                                        </p:cTn>
                                        <p:tgtEl>
                                          <p:spTgt spid="22"/>
                                        </p:tgtEl>
                                        <p:attrNameLst>
                                          <p:attrName>style.visibility</p:attrName>
                                        </p:attrNameLst>
                                      </p:cBhvr>
                                      <p:to>
                                        <p:strVal val="hidden"/>
                                      </p:to>
                                    </p:set>
                                  </p:childTnLst>
                                </p:cTn>
                              </p:par>
                            </p:childTnLst>
                          </p:cTn>
                        </p:par>
                        <p:par>
                          <p:cTn id="817" fill="hold">
                            <p:stCondLst>
                              <p:cond delay="0"/>
                            </p:stCondLst>
                            <p:childTnLst>
                              <p:par>
                                <p:cTn id="808" presetID="10" presetClass="entr" fill="hold" grpId="18" nodeType="withEffect">
                                  <p:stCondLst>
                                    <p:cond delay="25000"/>
                                  </p:stCondLst>
                                  <p:childTnLst>
                                    <p:set>
                                      <p:cBhvr>
                                        <p:cTn id="809" dur="1" fill="hold">
                                          <p:stCondLst>
                                            <p:cond delay="0"/>
                                          </p:stCondLst>
                                        </p:cTn>
                                        <p:tgtEl>
                                          <p:spTgt spid="22"/>
                                        </p:tgtEl>
                                        <p:attrNameLst>
                                          <p:attrName>style.visibility</p:attrName>
                                        </p:attrNameLst>
                                      </p:cBhvr>
                                      <p:to>
                                        <p:strVal val="visible"/>
                                      </p:to>
                                    </p:set>
                                    <p:animEffect transition="in" filter="fade">
                                      <p:cBhvr>
                                        <p:cTn id="810" dur="500"/>
                                        <p:tgtEl>
                                          <p:spTgt spid="22"/>
                                        </p:tgtEl>
                                      </p:cBhvr>
                                    </p:animEffect>
                                  </p:childTnLst>
                                </p:cTn>
                              </p:par>
                              <p:par>
                                <p:cTn id="811" presetID="0" presetClass="path" fill="hold" grpId="19" nodeType="withEffect">
                                  <p:stCondLst>
                                    <p:cond delay="25000"/>
                                  </p:stCondLst>
                                  <p:childTnLst>
                                    <p:animMotion origin="layout" path="M 0 0 L -0.01848 -0.16467 E" pathEditMode="relative" ptsTypes="AA">
                                      <p:cBhvr additive="base">
                                        <p:cTn id="812" dur="4000" fill="hold"/>
                                        <p:tgtEl>
                                          <p:spTgt spid="22"/>
                                        </p:tgtEl>
                                        <p:attrNameLst>
                                          <p:attrName>ppt_x</p:attrName>
                                          <p:attrName>ppt_y</p:attrName>
                                        </p:attrNameLst>
                                      </p:cBhvr>
                                      <p:rCtr x="0" y="0"/>
                                    </p:animMotion>
                                    <p:animScale>
                                      <p:cBhvr>
                                        <p:cTn id="813" dur="4000" fill="hold"/>
                                        <p:tgtEl>
                                          <p:spTgt spid="22"/>
                                        </p:tgtEl>
                                      </p:cBhvr>
                                      <p:from x="100000" y="100000"/>
                                      <p:to x="320000" y="320000"/>
                                    </p:animScale>
                                  </p:childTnLst>
                                </p:cTn>
                              </p:par>
                              <p:par>
                                <p:cTn id="814" presetID="10" presetClass="exit" fill="hold" grpId="20" nodeType="withEffect">
                                  <p:stCondLst>
                                    <p:cond delay="28100"/>
                                  </p:stCondLst>
                                  <p:childTnLst>
                                    <p:animEffect transition="out" filter="fade">
                                      <p:cBhvr>
                                        <p:cTn id="815" dur="900"/>
                                        <p:tgtEl>
                                          <p:spTgt spid="22"/>
                                        </p:tgtEl>
                                      </p:cBhvr>
                                    </p:animEffect>
                                    <p:set>
                                      <p:cBhvr>
                                        <p:cTn id="816" dur="1" fill="hold">
                                          <p:stCondLst>
                                            <p:cond delay="899"/>
                                          </p:stCondLst>
                                        </p:cTn>
                                        <p:tgtEl>
                                          <p:spTgt spid="22"/>
                                        </p:tgtEl>
                                        <p:attrNameLst>
                                          <p:attrName>style.visibility</p:attrName>
                                        </p:attrNameLst>
                                      </p:cBhvr>
                                      <p:to>
                                        <p:strVal val="hidden"/>
                                      </p:to>
                                    </p:set>
                                  </p:childTnLst>
                                </p:cTn>
                              </p:par>
                            </p:childTnLst>
                          </p:cTn>
                        </p:par>
                        <p:par>
                          <p:cTn id="827" fill="hold">
                            <p:stCondLst>
                              <p:cond delay="0"/>
                            </p:stCondLst>
                            <p:childTnLst>
                              <p:par>
                                <p:cTn id="818" presetID="10" presetClass="entr" fill="hold" grpId="21" nodeType="withEffect">
                                  <p:stCondLst>
                                    <p:cond delay="29000"/>
                                  </p:stCondLst>
                                  <p:childTnLst>
                                    <p:set>
                                      <p:cBhvr>
                                        <p:cTn id="819" dur="1" fill="hold">
                                          <p:stCondLst>
                                            <p:cond delay="0"/>
                                          </p:stCondLst>
                                        </p:cTn>
                                        <p:tgtEl>
                                          <p:spTgt spid="22"/>
                                        </p:tgtEl>
                                        <p:attrNameLst>
                                          <p:attrName>style.visibility</p:attrName>
                                        </p:attrNameLst>
                                      </p:cBhvr>
                                      <p:to>
                                        <p:strVal val="visible"/>
                                      </p:to>
                                    </p:set>
                                    <p:animEffect transition="in" filter="fade">
                                      <p:cBhvr>
                                        <p:cTn id="820" dur="500"/>
                                        <p:tgtEl>
                                          <p:spTgt spid="22"/>
                                        </p:tgtEl>
                                      </p:cBhvr>
                                    </p:animEffect>
                                  </p:childTnLst>
                                </p:cTn>
                              </p:par>
                              <p:par>
                                <p:cTn id="821" presetID="0" presetClass="path" fill="hold" grpId="22" nodeType="withEffect">
                                  <p:stCondLst>
                                    <p:cond delay="29000"/>
                                  </p:stCondLst>
                                  <p:childTnLst>
                                    <p:animMotion origin="layout" path="M 0 0 L -0.01848 -0.16467 E" pathEditMode="relative" ptsTypes="AA">
                                      <p:cBhvr additive="base">
                                        <p:cTn id="822" dur="4000" fill="hold"/>
                                        <p:tgtEl>
                                          <p:spTgt spid="22"/>
                                        </p:tgtEl>
                                        <p:attrNameLst>
                                          <p:attrName>ppt_x</p:attrName>
                                          <p:attrName>ppt_y</p:attrName>
                                        </p:attrNameLst>
                                      </p:cBhvr>
                                      <p:rCtr x="0" y="0"/>
                                    </p:animMotion>
                                    <p:animScale>
                                      <p:cBhvr>
                                        <p:cTn id="823" dur="4000" fill="hold"/>
                                        <p:tgtEl>
                                          <p:spTgt spid="22"/>
                                        </p:tgtEl>
                                      </p:cBhvr>
                                      <p:from x="100000" y="100000"/>
                                      <p:to x="320000" y="320000"/>
                                    </p:animScale>
                                  </p:childTnLst>
                                </p:cTn>
                              </p:par>
                              <p:par>
                                <p:cTn id="824" presetID="10" presetClass="exit" fill="hold" grpId="23" nodeType="withEffect">
                                  <p:stCondLst>
                                    <p:cond delay="32100"/>
                                  </p:stCondLst>
                                  <p:childTnLst>
                                    <p:animEffect transition="out" filter="fade">
                                      <p:cBhvr>
                                        <p:cTn id="825" dur="900"/>
                                        <p:tgtEl>
                                          <p:spTgt spid="22"/>
                                        </p:tgtEl>
                                      </p:cBhvr>
                                    </p:animEffect>
                                    <p:set>
                                      <p:cBhvr>
                                        <p:cTn id="826" dur="1" fill="hold">
                                          <p:stCondLst>
                                            <p:cond delay="899"/>
                                          </p:stCondLst>
                                        </p:cTn>
                                        <p:tgtEl>
                                          <p:spTgt spid="22"/>
                                        </p:tgtEl>
                                        <p:attrNameLst>
                                          <p:attrName>style.visibility</p:attrName>
                                        </p:attrNameLst>
                                      </p:cBhvr>
                                      <p:to>
                                        <p:strVal val="hidden"/>
                                      </p:to>
                                    </p:set>
                                  </p:childTnLst>
                                </p:cTn>
                              </p:par>
                            </p:childTnLst>
                          </p:cTn>
                        </p:par>
                        <p:par>
                          <p:cTn id="837" fill="hold">
                            <p:stCondLst>
                              <p:cond delay="0"/>
                            </p:stCondLst>
                            <p:childTnLst>
                              <p:par>
                                <p:cTn id="828" presetID="10" presetClass="entr" fill="hold" grpId="24" nodeType="withEffect">
                                  <p:stCondLst>
                                    <p:cond delay="33000"/>
                                  </p:stCondLst>
                                  <p:childTnLst>
                                    <p:set>
                                      <p:cBhvr>
                                        <p:cTn id="829" dur="1" fill="hold">
                                          <p:stCondLst>
                                            <p:cond delay="0"/>
                                          </p:stCondLst>
                                        </p:cTn>
                                        <p:tgtEl>
                                          <p:spTgt spid="22"/>
                                        </p:tgtEl>
                                        <p:attrNameLst>
                                          <p:attrName>style.visibility</p:attrName>
                                        </p:attrNameLst>
                                      </p:cBhvr>
                                      <p:to>
                                        <p:strVal val="visible"/>
                                      </p:to>
                                    </p:set>
                                    <p:animEffect transition="in" filter="fade">
                                      <p:cBhvr>
                                        <p:cTn id="830" dur="500"/>
                                        <p:tgtEl>
                                          <p:spTgt spid="22"/>
                                        </p:tgtEl>
                                      </p:cBhvr>
                                    </p:animEffect>
                                  </p:childTnLst>
                                </p:cTn>
                              </p:par>
                              <p:par>
                                <p:cTn id="831" presetID="0" presetClass="path" fill="hold" grpId="25" nodeType="withEffect">
                                  <p:stCondLst>
                                    <p:cond delay="33000"/>
                                  </p:stCondLst>
                                  <p:childTnLst>
                                    <p:animMotion origin="layout" path="M 0 0 L -0.01848 -0.16467 E" pathEditMode="relative" ptsTypes="AA">
                                      <p:cBhvr additive="base">
                                        <p:cTn id="832" dur="4000" fill="hold"/>
                                        <p:tgtEl>
                                          <p:spTgt spid="22"/>
                                        </p:tgtEl>
                                        <p:attrNameLst>
                                          <p:attrName>ppt_x</p:attrName>
                                          <p:attrName>ppt_y</p:attrName>
                                        </p:attrNameLst>
                                      </p:cBhvr>
                                      <p:rCtr x="0" y="0"/>
                                    </p:animMotion>
                                    <p:animScale>
                                      <p:cBhvr>
                                        <p:cTn id="833" dur="4000" fill="hold"/>
                                        <p:tgtEl>
                                          <p:spTgt spid="22"/>
                                        </p:tgtEl>
                                      </p:cBhvr>
                                      <p:from x="100000" y="100000"/>
                                      <p:to x="320000" y="320000"/>
                                    </p:animScale>
                                  </p:childTnLst>
                                </p:cTn>
                              </p:par>
                              <p:par>
                                <p:cTn id="834" presetID="10" presetClass="exit" fill="hold" grpId="26" nodeType="withEffect">
                                  <p:stCondLst>
                                    <p:cond delay="36100"/>
                                  </p:stCondLst>
                                  <p:childTnLst>
                                    <p:animEffect transition="out" filter="fade">
                                      <p:cBhvr>
                                        <p:cTn id="835" dur="900"/>
                                        <p:tgtEl>
                                          <p:spTgt spid="22"/>
                                        </p:tgtEl>
                                      </p:cBhvr>
                                    </p:animEffect>
                                    <p:set>
                                      <p:cBhvr>
                                        <p:cTn id="836" dur="1" fill="hold">
                                          <p:stCondLst>
                                            <p:cond delay="899"/>
                                          </p:stCondLst>
                                        </p:cTn>
                                        <p:tgtEl>
                                          <p:spTgt spid="22"/>
                                        </p:tgtEl>
                                        <p:attrNameLst>
                                          <p:attrName>style.visibility</p:attrName>
                                        </p:attrNameLst>
                                      </p:cBhvr>
                                      <p:to>
                                        <p:strVal val="hidden"/>
                                      </p:to>
                                    </p:set>
                                  </p:childTnLst>
                                </p:cTn>
                              </p:par>
                            </p:childTnLst>
                          </p:cTn>
                        </p:par>
                        <p:par>
                          <p:cTn id="847" fill="hold">
                            <p:stCondLst>
                              <p:cond delay="0"/>
                            </p:stCondLst>
                            <p:childTnLst>
                              <p:par>
                                <p:cTn id="838" presetID="10" presetClass="entr" fill="hold" grpId="27" nodeType="withEffect">
                                  <p:stCondLst>
                                    <p:cond delay="37000"/>
                                  </p:stCondLst>
                                  <p:childTnLst>
                                    <p:set>
                                      <p:cBhvr>
                                        <p:cTn id="839" dur="1" fill="hold">
                                          <p:stCondLst>
                                            <p:cond delay="0"/>
                                          </p:stCondLst>
                                        </p:cTn>
                                        <p:tgtEl>
                                          <p:spTgt spid="22"/>
                                        </p:tgtEl>
                                        <p:attrNameLst>
                                          <p:attrName>style.visibility</p:attrName>
                                        </p:attrNameLst>
                                      </p:cBhvr>
                                      <p:to>
                                        <p:strVal val="visible"/>
                                      </p:to>
                                    </p:set>
                                    <p:animEffect transition="in" filter="fade">
                                      <p:cBhvr>
                                        <p:cTn id="840" dur="500"/>
                                        <p:tgtEl>
                                          <p:spTgt spid="22"/>
                                        </p:tgtEl>
                                      </p:cBhvr>
                                    </p:animEffect>
                                  </p:childTnLst>
                                </p:cTn>
                              </p:par>
                              <p:par>
                                <p:cTn id="841" presetID="0" presetClass="path" fill="hold" grpId="28" nodeType="withEffect">
                                  <p:stCondLst>
                                    <p:cond delay="37000"/>
                                  </p:stCondLst>
                                  <p:childTnLst>
                                    <p:animMotion origin="layout" path="M 0 0 L -0.01848 -0.16467 E" pathEditMode="relative" ptsTypes="AA">
                                      <p:cBhvr additive="base">
                                        <p:cTn id="842" dur="4000" fill="hold"/>
                                        <p:tgtEl>
                                          <p:spTgt spid="22"/>
                                        </p:tgtEl>
                                        <p:attrNameLst>
                                          <p:attrName>ppt_x</p:attrName>
                                          <p:attrName>ppt_y</p:attrName>
                                        </p:attrNameLst>
                                      </p:cBhvr>
                                      <p:rCtr x="0" y="0"/>
                                    </p:animMotion>
                                    <p:animScale>
                                      <p:cBhvr>
                                        <p:cTn id="843" dur="4000" fill="hold"/>
                                        <p:tgtEl>
                                          <p:spTgt spid="22"/>
                                        </p:tgtEl>
                                      </p:cBhvr>
                                      <p:from x="100000" y="100000"/>
                                      <p:to x="320000" y="320000"/>
                                    </p:animScale>
                                  </p:childTnLst>
                                </p:cTn>
                              </p:par>
                              <p:par>
                                <p:cTn id="844" presetID="10" presetClass="exit" fill="hold" grpId="29" nodeType="withEffect">
                                  <p:stCondLst>
                                    <p:cond delay="40100"/>
                                  </p:stCondLst>
                                  <p:childTnLst>
                                    <p:animEffect transition="out" filter="fade">
                                      <p:cBhvr>
                                        <p:cTn id="845" dur="900"/>
                                        <p:tgtEl>
                                          <p:spTgt spid="22"/>
                                        </p:tgtEl>
                                      </p:cBhvr>
                                    </p:animEffect>
                                    <p:set>
                                      <p:cBhvr>
                                        <p:cTn id="846" dur="1" fill="hold">
                                          <p:stCondLst>
                                            <p:cond delay="899"/>
                                          </p:stCondLst>
                                        </p:cTn>
                                        <p:tgtEl>
                                          <p:spTgt spid="22"/>
                                        </p:tgtEl>
                                        <p:attrNameLst>
                                          <p:attrName>style.visibility</p:attrName>
                                        </p:attrNameLst>
                                      </p:cBhvr>
                                      <p:to>
                                        <p:strVal val="hidden"/>
                                      </p:to>
                                    </p:set>
                                  </p:childTnLst>
                                </p:cTn>
                              </p:par>
                            </p:childTnLst>
                          </p:cTn>
                        </p:par>
                        <p:par>
                          <p:cTn id="857" fill="hold">
                            <p:stCondLst>
                              <p:cond delay="0"/>
                            </p:stCondLst>
                            <p:childTnLst>
                              <p:par>
                                <p:cTn id="848" presetID="10" presetClass="entr" fill="hold" grpId="30" nodeType="withEffect">
                                  <p:stCondLst>
                                    <p:cond delay="41000"/>
                                  </p:stCondLst>
                                  <p:childTnLst>
                                    <p:set>
                                      <p:cBhvr>
                                        <p:cTn id="849" dur="1" fill="hold">
                                          <p:stCondLst>
                                            <p:cond delay="0"/>
                                          </p:stCondLst>
                                        </p:cTn>
                                        <p:tgtEl>
                                          <p:spTgt spid="22"/>
                                        </p:tgtEl>
                                        <p:attrNameLst>
                                          <p:attrName>style.visibility</p:attrName>
                                        </p:attrNameLst>
                                      </p:cBhvr>
                                      <p:to>
                                        <p:strVal val="visible"/>
                                      </p:to>
                                    </p:set>
                                    <p:animEffect transition="in" filter="fade">
                                      <p:cBhvr>
                                        <p:cTn id="850" dur="500"/>
                                        <p:tgtEl>
                                          <p:spTgt spid="22"/>
                                        </p:tgtEl>
                                      </p:cBhvr>
                                    </p:animEffect>
                                  </p:childTnLst>
                                </p:cTn>
                              </p:par>
                              <p:par>
                                <p:cTn id="851" presetID="0" presetClass="path" fill="hold" grpId="31" nodeType="withEffect">
                                  <p:stCondLst>
                                    <p:cond delay="41000"/>
                                  </p:stCondLst>
                                  <p:childTnLst>
                                    <p:animMotion origin="layout" path="M 0 0 L -0.01848 -0.16467 E" pathEditMode="relative" ptsTypes="AA">
                                      <p:cBhvr additive="base">
                                        <p:cTn id="852" dur="4000" fill="hold"/>
                                        <p:tgtEl>
                                          <p:spTgt spid="22"/>
                                        </p:tgtEl>
                                        <p:attrNameLst>
                                          <p:attrName>ppt_x</p:attrName>
                                          <p:attrName>ppt_y</p:attrName>
                                        </p:attrNameLst>
                                      </p:cBhvr>
                                      <p:rCtr x="0" y="0"/>
                                    </p:animMotion>
                                    <p:animScale>
                                      <p:cBhvr>
                                        <p:cTn id="853" dur="4000" fill="hold"/>
                                        <p:tgtEl>
                                          <p:spTgt spid="22"/>
                                        </p:tgtEl>
                                      </p:cBhvr>
                                      <p:from x="100000" y="100000"/>
                                      <p:to x="320000" y="320000"/>
                                    </p:animScale>
                                  </p:childTnLst>
                                </p:cTn>
                              </p:par>
                              <p:par>
                                <p:cTn id="854" presetID="10" presetClass="exit" fill="hold" grpId="32" nodeType="withEffect">
                                  <p:stCondLst>
                                    <p:cond delay="44100"/>
                                  </p:stCondLst>
                                  <p:childTnLst>
                                    <p:animEffect transition="out" filter="fade">
                                      <p:cBhvr>
                                        <p:cTn id="855" dur="900"/>
                                        <p:tgtEl>
                                          <p:spTgt spid="22"/>
                                        </p:tgtEl>
                                      </p:cBhvr>
                                    </p:animEffect>
                                    <p:set>
                                      <p:cBhvr>
                                        <p:cTn id="856" dur="1" fill="hold">
                                          <p:stCondLst>
                                            <p:cond delay="899"/>
                                          </p:stCondLst>
                                        </p:cTn>
                                        <p:tgtEl>
                                          <p:spTgt spid="22"/>
                                        </p:tgtEl>
                                        <p:attrNameLst>
                                          <p:attrName>style.visibility</p:attrName>
                                        </p:attrNameLst>
                                      </p:cBhvr>
                                      <p:to>
                                        <p:strVal val="hidden"/>
                                      </p:to>
                                    </p:set>
                                  </p:childTnLst>
                                </p:cTn>
                              </p:par>
                            </p:childTnLst>
                          </p:cTn>
                        </p:par>
                        <p:par>
                          <p:cTn id="867" fill="hold">
                            <p:stCondLst>
                              <p:cond delay="0"/>
                            </p:stCondLst>
                            <p:childTnLst>
                              <p:par>
                                <p:cTn id="858" presetID="10" presetClass="entr" fill="hold" grpId="33" nodeType="withEffect">
                                  <p:stCondLst>
                                    <p:cond delay="45000"/>
                                  </p:stCondLst>
                                  <p:childTnLst>
                                    <p:set>
                                      <p:cBhvr>
                                        <p:cTn id="859" dur="1" fill="hold">
                                          <p:stCondLst>
                                            <p:cond delay="0"/>
                                          </p:stCondLst>
                                        </p:cTn>
                                        <p:tgtEl>
                                          <p:spTgt spid="22"/>
                                        </p:tgtEl>
                                        <p:attrNameLst>
                                          <p:attrName>style.visibility</p:attrName>
                                        </p:attrNameLst>
                                      </p:cBhvr>
                                      <p:to>
                                        <p:strVal val="visible"/>
                                      </p:to>
                                    </p:set>
                                    <p:animEffect transition="in" filter="fade">
                                      <p:cBhvr>
                                        <p:cTn id="860" dur="500"/>
                                        <p:tgtEl>
                                          <p:spTgt spid="22"/>
                                        </p:tgtEl>
                                      </p:cBhvr>
                                    </p:animEffect>
                                  </p:childTnLst>
                                </p:cTn>
                              </p:par>
                              <p:par>
                                <p:cTn id="861" presetID="0" presetClass="path" fill="hold" grpId="34" nodeType="withEffect">
                                  <p:stCondLst>
                                    <p:cond delay="45000"/>
                                  </p:stCondLst>
                                  <p:childTnLst>
                                    <p:animMotion origin="layout" path="M 0 0 L -0.01848 -0.16467 E" pathEditMode="relative" ptsTypes="AA">
                                      <p:cBhvr additive="base">
                                        <p:cTn id="862" dur="4000" fill="hold"/>
                                        <p:tgtEl>
                                          <p:spTgt spid="22"/>
                                        </p:tgtEl>
                                        <p:attrNameLst>
                                          <p:attrName>ppt_x</p:attrName>
                                          <p:attrName>ppt_y</p:attrName>
                                        </p:attrNameLst>
                                      </p:cBhvr>
                                      <p:rCtr x="0" y="0"/>
                                    </p:animMotion>
                                    <p:animScale>
                                      <p:cBhvr>
                                        <p:cTn id="863" dur="4000" fill="hold"/>
                                        <p:tgtEl>
                                          <p:spTgt spid="22"/>
                                        </p:tgtEl>
                                      </p:cBhvr>
                                      <p:from x="100000" y="100000"/>
                                      <p:to x="320000" y="320000"/>
                                    </p:animScale>
                                  </p:childTnLst>
                                </p:cTn>
                              </p:par>
                              <p:par>
                                <p:cTn id="864" presetID="10" presetClass="exit" fill="hold" grpId="35" nodeType="withEffect">
                                  <p:stCondLst>
                                    <p:cond delay="48100"/>
                                  </p:stCondLst>
                                  <p:childTnLst>
                                    <p:animEffect transition="out" filter="fade">
                                      <p:cBhvr>
                                        <p:cTn id="865" dur="900"/>
                                        <p:tgtEl>
                                          <p:spTgt spid="22"/>
                                        </p:tgtEl>
                                      </p:cBhvr>
                                    </p:animEffect>
                                    <p:set>
                                      <p:cBhvr>
                                        <p:cTn id="866" dur="1" fill="hold">
                                          <p:stCondLst>
                                            <p:cond delay="899"/>
                                          </p:stCondLst>
                                        </p:cTn>
                                        <p:tgtEl>
                                          <p:spTgt spid="22"/>
                                        </p:tgtEl>
                                        <p:attrNameLst>
                                          <p:attrName>style.visibility</p:attrName>
                                        </p:attrNameLst>
                                      </p:cBhvr>
                                      <p:to>
                                        <p:strVal val="hidden"/>
                                      </p:to>
                                    </p:set>
                                  </p:childTnLst>
                                </p:cTn>
                              </p:par>
                            </p:childTnLst>
                          </p:cTn>
                        </p:par>
                        <p:par>
                          <p:cTn id="877" fill="hold">
                            <p:stCondLst>
                              <p:cond delay="0"/>
                            </p:stCondLst>
                            <p:childTnLst>
                              <p:par>
                                <p:cTn id="868" presetID="10" presetClass="entr" fill="hold" grpId="36" nodeType="withEffect">
                                  <p:stCondLst>
                                    <p:cond delay="49000"/>
                                  </p:stCondLst>
                                  <p:childTnLst>
                                    <p:set>
                                      <p:cBhvr>
                                        <p:cTn id="869" dur="1" fill="hold">
                                          <p:stCondLst>
                                            <p:cond delay="0"/>
                                          </p:stCondLst>
                                        </p:cTn>
                                        <p:tgtEl>
                                          <p:spTgt spid="22"/>
                                        </p:tgtEl>
                                        <p:attrNameLst>
                                          <p:attrName>style.visibility</p:attrName>
                                        </p:attrNameLst>
                                      </p:cBhvr>
                                      <p:to>
                                        <p:strVal val="visible"/>
                                      </p:to>
                                    </p:set>
                                    <p:animEffect transition="in" filter="fade">
                                      <p:cBhvr>
                                        <p:cTn id="870" dur="500"/>
                                        <p:tgtEl>
                                          <p:spTgt spid="22"/>
                                        </p:tgtEl>
                                      </p:cBhvr>
                                    </p:animEffect>
                                  </p:childTnLst>
                                </p:cTn>
                              </p:par>
                              <p:par>
                                <p:cTn id="871" presetID="0" presetClass="path" fill="hold" grpId="37" nodeType="withEffect">
                                  <p:stCondLst>
                                    <p:cond delay="49000"/>
                                  </p:stCondLst>
                                  <p:childTnLst>
                                    <p:animMotion origin="layout" path="M 0 0 L -0.01848 -0.16467 E" pathEditMode="relative" ptsTypes="AA">
                                      <p:cBhvr additive="base">
                                        <p:cTn id="872" dur="4000" fill="hold"/>
                                        <p:tgtEl>
                                          <p:spTgt spid="22"/>
                                        </p:tgtEl>
                                        <p:attrNameLst>
                                          <p:attrName>ppt_x</p:attrName>
                                          <p:attrName>ppt_y</p:attrName>
                                        </p:attrNameLst>
                                      </p:cBhvr>
                                      <p:rCtr x="0" y="0"/>
                                    </p:animMotion>
                                    <p:animScale>
                                      <p:cBhvr>
                                        <p:cTn id="873" dur="4000" fill="hold"/>
                                        <p:tgtEl>
                                          <p:spTgt spid="22"/>
                                        </p:tgtEl>
                                      </p:cBhvr>
                                      <p:from x="100000" y="100000"/>
                                      <p:to x="320000" y="320000"/>
                                    </p:animScale>
                                  </p:childTnLst>
                                </p:cTn>
                              </p:par>
                              <p:par>
                                <p:cTn id="874" presetID="10" presetClass="exit" fill="hold" grpId="38" nodeType="withEffect">
                                  <p:stCondLst>
                                    <p:cond delay="52100"/>
                                  </p:stCondLst>
                                  <p:childTnLst>
                                    <p:animEffect transition="out" filter="fade">
                                      <p:cBhvr>
                                        <p:cTn id="875" dur="900"/>
                                        <p:tgtEl>
                                          <p:spTgt spid="22"/>
                                        </p:tgtEl>
                                      </p:cBhvr>
                                    </p:animEffect>
                                    <p:set>
                                      <p:cBhvr>
                                        <p:cTn id="876" dur="1" fill="hold">
                                          <p:stCondLst>
                                            <p:cond delay="899"/>
                                          </p:stCondLst>
                                        </p:cTn>
                                        <p:tgtEl>
                                          <p:spTgt spid="22"/>
                                        </p:tgtEl>
                                        <p:attrNameLst>
                                          <p:attrName>style.visibility</p:attrName>
                                        </p:attrNameLst>
                                      </p:cBhvr>
                                      <p:to>
                                        <p:strVal val="hidden"/>
                                      </p:to>
                                    </p:set>
                                  </p:childTnLst>
                                </p:cTn>
                              </p:par>
                            </p:childTnLst>
                          </p:cTn>
                        </p:par>
                        <p:par>
                          <p:cTn id="887" fill="hold">
                            <p:stCondLst>
                              <p:cond delay="0"/>
                            </p:stCondLst>
                            <p:childTnLst>
                              <p:par>
                                <p:cTn id="878" presetID="10" presetClass="entr" fill="hold" grpId="39" nodeType="withEffect">
                                  <p:stCondLst>
                                    <p:cond delay="53000"/>
                                  </p:stCondLst>
                                  <p:childTnLst>
                                    <p:set>
                                      <p:cBhvr>
                                        <p:cTn id="879" dur="1" fill="hold">
                                          <p:stCondLst>
                                            <p:cond delay="0"/>
                                          </p:stCondLst>
                                        </p:cTn>
                                        <p:tgtEl>
                                          <p:spTgt spid="22"/>
                                        </p:tgtEl>
                                        <p:attrNameLst>
                                          <p:attrName>style.visibility</p:attrName>
                                        </p:attrNameLst>
                                      </p:cBhvr>
                                      <p:to>
                                        <p:strVal val="visible"/>
                                      </p:to>
                                    </p:set>
                                    <p:animEffect transition="in" filter="fade">
                                      <p:cBhvr>
                                        <p:cTn id="880" dur="500"/>
                                        <p:tgtEl>
                                          <p:spTgt spid="22"/>
                                        </p:tgtEl>
                                      </p:cBhvr>
                                    </p:animEffect>
                                  </p:childTnLst>
                                </p:cTn>
                              </p:par>
                              <p:par>
                                <p:cTn id="881" presetID="0" presetClass="path" fill="hold" grpId="40" nodeType="withEffect">
                                  <p:stCondLst>
                                    <p:cond delay="53000"/>
                                  </p:stCondLst>
                                  <p:childTnLst>
                                    <p:animMotion origin="layout" path="M 0 0 L -0.01848 -0.16467 E" pathEditMode="relative" ptsTypes="AA">
                                      <p:cBhvr additive="base">
                                        <p:cTn id="882" dur="4000" fill="hold"/>
                                        <p:tgtEl>
                                          <p:spTgt spid="22"/>
                                        </p:tgtEl>
                                        <p:attrNameLst>
                                          <p:attrName>ppt_x</p:attrName>
                                          <p:attrName>ppt_y</p:attrName>
                                        </p:attrNameLst>
                                      </p:cBhvr>
                                      <p:rCtr x="0" y="0"/>
                                    </p:animMotion>
                                    <p:animScale>
                                      <p:cBhvr>
                                        <p:cTn id="883" dur="4000" fill="hold"/>
                                        <p:tgtEl>
                                          <p:spTgt spid="22"/>
                                        </p:tgtEl>
                                      </p:cBhvr>
                                      <p:from x="100000" y="100000"/>
                                      <p:to x="320000" y="320000"/>
                                    </p:animScale>
                                  </p:childTnLst>
                                </p:cTn>
                              </p:par>
                              <p:par>
                                <p:cTn id="884" presetID="10" presetClass="exit" fill="hold" grpId="41" nodeType="withEffect">
                                  <p:stCondLst>
                                    <p:cond delay="56100"/>
                                  </p:stCondLst>
                                  <p:childTnLst>
                                    <p:animEffect transition="out" filter="fade">
                                      <p:cBhvr>
                                        <p:cTn id="885" dur="900"/>
                                        <p:tgtEl>
                                          <p:spTgt spid="22"/>
                                        </p:tgtEl>
                                      </p:cBhvr>
                                    </p:animEffect>
                                    <p:set>
                                      <p:cBhvr>
                                        <p:cTn id="886" dur="1" fill="hold">
                                          <p:stCondLst>
                                            <p:cond delay="899"/>
                                          </p:stCondLst>
                                        </p:cTn>
                                        <p:tgtEl>
                                          <p:spTgt spid="22"/>
                                        </p:tgtEl>
                                        <p:attrNameLst>
                                          <p:attrName>style.visibility</p:attrName>
                                        </p:attrNameLst>
                                      </p:cBhvr>
                                      <p:to>
                                        <p:strVal val="hidden"/>
                                      </p:to>
                                    </p:set>
                                  </p:childTnLst>
                                </p:cTn>
                              </p:par>
                            </p:childTnLst>
                          </p:cTn>
                        </p:par>
                        <p:par>
                          <p:cTn id="897" fill="hold">
                            <p:stCondLst>
                              <p:cond delay="0"/>
                            </p:stCondLst>
                            <p:childTnLst>
                              <p:par>
                                <p:cTn id="888" presetID="10" presetClass="entr" fill="hold" grpId="0" nodeType="withEffect">
                                  <p:stCondLst>
                                    <p:cond delay="2000"/>
                                  </p:stCondLst>
                                  <p:childTnLst>
                                    <p:set>
                                      <p:cBhvr>
                                        <p:cTn id="889" dur="1" fill="hold">
                                          <p:stCondLst>
                                            <p:cond delay="0"/>
                                          </p:stCondLst>
                                        </p:cTn>
                                        <p:tgtEl>
                                          <p:spTgt spid="23"/>
                                        </p:tgtEl>
                                        <p:attrNameLst>
                                          <p:attrName>style.visibility</p:attrName>
                                        </p:attrNameLst>
                                      </p:cBhvr>
                                      <p:to>
                                        <p:strVal val="visible"/>
                                      </p:to>
                                    </p:set>
                                    <p:animEffect transition="in" filter="fade">
                                      <p:cBhvr>
                                        <p:cTn id="890" dur="500"/>
                                        <p:tgtEl>
                                          <p:spTgt spid="23"/>
                                        </p:tgtEl>
                                      </p:cBhvr>
                                    </p:animEffect>
                                  </p:childTnLst>
                                </p:cTn>
                              </p:par>
                              <p:par>
                                <p:cTn id="891" presetID="0" presetClass="path" fill="hold" grpId="1" nodeType="withEffect">
                                  <p:stCondLst>
                                    <p:cond delay="2000"/>
                                  </p:stCondLst>
                                  <p:childTnLst>
                                    <p:animMotion origin="layout" path="M 0 0 L -0.01596 -0.156 E" pathEditMode="relative" ptsTypes="AA">
                                      <p:cBhvr additive="base">
                                        <p:cTn id="892" dur="4000" fill="hold"/>
                                        <p:tgtEl>
                                          <p:spTgt spid="23"/>
                                        </p:tgtEl>
                                        <p:attrNameLst>
                                          <p:attrName>ppt_x</p:attrName>
                                          <p:attrName>ppt_y</p:attrName>
                                        </p:attrNameLst>
                                      </p:cBhvr>
                                      <p:rCtr x="0" y="0"/>
                                    </p:animMotion>
                                    <p:animScale>
                                      <p:cBhvr>
                                        <p:cTn id="893" dur="4000" fill="hold"/>
                                        <p:tgtEl>
                                          <p:spTgt spid="23"/>
                                        </p:tgtEl>
                                      </p:cBhvr>
                                      <p:from x="100000" y="100000"/>
                                      <p:to x="320000" y="320000"/>
                                    </p:animScale>
                                  </p:childTnLst>
                                </p:cTn>
                              </p:par>
                              <p:par>
                                <p:cTn id="894" presetID="10" presetClass="exit" fill="hold" grpId="2" nodeType="withEffect">
                                  <p:stCondLst>
                                    <p:cond delay="5100"/>
                                  </p:stCondLst>
                                  <p:childTnLst>
                                    <p:animEffect transition="out" filter="fade">
                                      <p:cBhvr>
                                        <p:cTn id="895" dur="900"/>
                                        <p:tgtEl>
                                          <p:spTgt spid="23"/>
                                        </p:tgtEl>
                                      </p:cBhvr>
                                    </p:animEffect>
                                    <p:set>
                                      <p:cBhvr>
                                        <p:cTn id="896" dur="1" fill="hold">
                                          <p:stCondLst>
                                            <p:cond delay="899"/>
                                          </p:stCondLst>
                                        </p:cTn>
                                        <p:tgtEl>
                                          <p:spTgt spid="23"/>
                                        </p:tgtEl>
                                        <p:attrNameLst>
                                          <p:attrName>style.visibility</p:attrName>
                                        </p:attrNameLst>
                                      </p:cBhvr>
                                      <p:to>
                                        <p:strVal val="hidden"/>
                                      </p:to>
                                    </p:set>
                                  </p:childTnLst>
                                </p:cTn>
                              </p:par>
                            </p:childTnLst>
                          </p:cTn>
                        </p:par>
                        <p:par>
                          <p:cTn id="907" fill="hold">
                            <p:stCondLst>
                              <p:cond delay="0"/>
                            </p:stCondLst>
                            <p:childTnLst>
                              <p:par>
                                <p:cTn id="898" presetID="10" presetClass="entr" fill="hold" grpId="3" nodeType="withEffect">
                                  <p:stCondLst>
                                    <p:cond delay="6000"/>
                                  </p:stCondLst>
                                  <p:childTnLst>
                                    <p:set>
                                      <p:cBhvr>
                                        <p:cTn id="899" dur="1" fill="hold">
                                          <p:stCondLst>
                                            <p:cond delay="0"/>
                                          </p:stCondLst>
                                        </p:cTn>
                                        <p:tgtEl>
                                          <p:spTgt spid="23"/>
                                        </p:tgtEl>
                                        <p:attrNameLst>
                                          <p:attrName>style.visibility</p:attrName>
                                        </p:attrNameLst>
                                      </p:cBhvr>
                                      <p:to>
                                        <p:strVal val="visible"/>
                                      </p:to>
                                    </p:set>
                                    <p:animEffect transition="in" filter="fade">
                                      <p:cBhvr>
                                        <p:cTn id="900" dur="500"/>
                                        <p:tgtEl>
                                          <p:spTgt spid="23"/>
                                        </p:tgtEl>
                                      </p:cBhvr>
                                    </p:animEffect>
                                  </p:childTnLst>
                                </p:cTn>
                              </p:par>
                              <p:par>
                                <p:cTn id="901" presetID="0" presetClass="path" fill="hold" grpId="4" nodeType="withEffect">
                                  <p:stCondLst>
                                    <p:cond delay="6000"/>
                                  </p:stCondLst>
                                  <p:childTnLst>
                                    <p:animMotion origin="layout" path="M 0 0 L -0.01596 -0.156 E" pathEditMode="relative" ptsTypes="AA">
                                      <p:cBhvr additive="base">
                                        <p:cTn id="902" dur="4000" fill="hold"/>
                                        <p:tgtEl>
                                          <p:spTgt spid="23"/>
                                        </p:tgtEl>
                                        <p:attrNameLst>
                                          <p:attrName>ppt_x</p:attrName>
                                          <p:attrName>ppt_y</p:attrName>
                                        </p:attrNameLst>
                                      </p:cBhvr>
                                      <p:rCtr x="0" y="0"/>
                                    </p:animMotion>
                                    <p:animScale>
                                      <p:cBhvr>
                                        <p:cTn id="903" dur="4000" fill="hold"/>
                                        <p:tgtEl>
                                          <p:spTgt spid="23"/>
                                        </p:tgtEl>
                                      </p:cBhvr>
                                      <p:from x="100000" y="100000"/>
                                      <p:to x="320000" y="320000"/>
                                    </p:animScale>
                                  </p:childTnLst>
                                </p:cTn>
                              </p:par>
                              <p:par>
                                <p:cTn id="904" presetID="10" presetClass="exit" fill="hold" grpId="5" nodeType="withEffect">
                                  <p:stCondLst>
                                    <p:cond delay="9100"/>
                                  </p:stCondLst>
                                  <p:childTnLst>
                                    <p:animEffect transition="out" filter="fade">
                                      <p:cBhvr>
                                        <p:cTn id="905" dur="900"/>
                                        <p:tgtEl>
                                          <p:spTgt spid="23"/>
                                        </p:tgtEl>
                                      </p:cBhvr>
                                    </p:animEffect>
                                    <p:set>
                                      <p:cBhvr>
                                        <p:cTn id="906" dur="1" fill="hold">
                                          <p:stCondLst>
                                            <p:cond delay="899"/>
                                          </p:stCondLst>
                                        </p:cTn>
                                        <p:tgtEl>
                                          <p:spTgt spid="23"/>
                                        </p:tgtEl>
                                        <p:attrNameLst>
                                          <p:attrName>style.visibility</p:attrName>
                                        </p:attrNameLst>
                                      </p:cBhvr>
                                      <p:to>
                                        <p:strVal val="hidden"/>
                                      </p:to>
                                    </p:set>
                                  </p:childTnLst>
                                </p:cTn>
                              </p:par>
                            </p:childTnLst>
                          </p:cTn>
                        </p:par>
                        <p:par>
                          <p:cTn id="917" fill="hold">
                            <p:stCondLst>
                              <p:cond delay="0"/>
                            </p:stCondLst>
                            <p:childTnLst>
                              <p:par>
                                <p:cTn id="908" presetID="10" presetClass="entr" fill="hold" grpId="6" nodeType="withEffect">
                                  <p:stCondLst>
                                    <p:cond delay="10000"/>
                                  </p:stCondLst>
                                  <p:childTnLst>
                                    <p:set>
                                      <p:cBhvr>
                                        <p:cTn id="909" dur="1" fill="hold">
                                          <p:stCondLst>
                                            <p:cond delay="0"/>
                                          </p:stCondLst>
                                        </p:cTn>
                                        <p:tgtEl>
                                          <p:spTgt spid="23"/>
                                        </p:tgtEl>
                                        <p:attrNameLst>
                                          <p:attrName>style.visibility</p:attrName>
                                        </p:attrNameLst>
                                      </p:cBhvr>
                                      <p:to>
                                        <p:strVal val="visible"/>
                                      </p:to>
                                    </p:set>
                                    <p:animEffect transition="in" filter="fade">
                                      <p:cBhvr>
                                        <p:cTn id="910" dur="500"/>
                                        <p:tgtEl>
                                          <p:spTgt spid="23"/>
                                        </p:tgtEl>
                                      </p:cBhvr>
                                    </p:animEffect>
                                  </p:childTnLst>
                                </p:cTn>
                              </p:par>
                              <p:par>
                                <p:cTn id="911" presetID="0" presetClass="path" fill="hold" grpId="7" nodeType="withEffect">
                                  <p:stCondLst>
                                    <p:cond delay="10000"/>
                                  </p:stCondLst>
                                  <p:childTnLst>
                                    <p:animMotion origin="layout" path="M 0 0 L -0.01596 -0.156 E" pathEditMode="relative" ptsTypes="AA">
                                      <p:cBhvr additive="base">
                                        <p:cTn id="912" dur="4000" fill="hold"/>
                                        <p:tgtEl>
                                          <p:spTgt spid="23"/>
                                        </p:tgtEl>
                                        <p:attrNameLst>
                                          <p:attrName>ppt_x</p:attrName>
                                          <p:attrName>ppt_y</p:attrName>
                                        </p:attrNameLst>
                                      </p:cBhvr>
                                      <p:rCtr x="0" y="0"/>
                                    </p:animMotion>
                                    <p:animScale>
                                      <p:cBhvr>
                                        <p:cTn id="913" dur="4000" fill="hold"/>
                                        <p:tgtEl>
                                          <p:spTgt spid="23"/>
                                        </p:tgtEl>
                                      </p:cBhvr>
                                      <p:from x="100000" y="100000"/>
                                      <p:to x="320000" y="320000"/>
                                    </p:animScale>
                                  </p:childTnLst>
                                </p:cTn>
                              </p:par>
                              <p:par>
                                <p:cTn id="914" presetID="10" presetClass="exit" fill="hold" grpId="8" nodeType="withEffect">
                                  <p:stCondLst>
                                    <p:cond delay="13100"/>
                                  </p:stCondLst>
                                  <p:childTnLst>
                                    <p:animEffect transition="out" filter="fade">
                                      <p:cBhvr>
                                        <p:cTn id="915" dur="900"/>
                                        <p:tgtEl>
                                          <p:spTgt spid="23"/>
                                        </p:tgtEl>
                                      </p:cBhvr>
                                    </p:animEffect>
                                    <p:set>
                                      <p:cBhvr>
                                        <p:cTn id="916" dur="1" fill="hold">
                                          <p:stCondLst>
                                            <p:cond delay="899"/>
                                          </p:stCondLst>
                                        </p:cTn>
                                        <p:tgtEl>
                                          <p:spTgt spid="23"/>
                                        </p:tgtEl>
                                        <p:attrNameLst>
                                          <p:attrName>style.visibility</p:attrName>
                                        </p:attrNameLst>
                                      </p:cBhvr>
                                      <p:to>
                                        <p:strVal val="hidden"/>
                                      </p:to>
                                    </p:set>
                                  </p:childTnLst>
                                </p:cTn>
                              </p:par>
                            </p:childTnLst>
                          </p:cTn>
                        </p:par>
                        <p:par>
                          <p:cTn id="927" fill="hold">
                            <p:stCondLst>
                              <p:cond delay="0"/>
                            </p:stCondLst>
                            <p:childTnLst>
                              <p:par>
                                <p:cTn id="918" presetID="10" presetClass="entr" fill="hold" grpId="9" nodeType="withEffect">
                                  <p:stCondLst>
                                    <p:cond delay="14000"/>
                                  </p:stCondLst>
                                  <p:childTnLst>
                                    <p:set>
                                      <p:cBhvr>
                                        <p:cTn id="919" dur="1" fill="hold">
                                          <p:stCondLst>
                                            <p:cond delay="0"/>
                                          </p:stCondLst>
                                        </p:cTn>
                                        <p:tgtEl>
                                          <p:spTgt spid="23"/>
                                        </p:tgtEl>
                                        <p:attrNameLst>
                                          <p:attrName>style.visibility</p:attrName>
                                        </p:attrNameLst>
                                      </p:cBhvr>
                                      <p:to>
                                        <p:strVal val="visible"/>
                                      </p:to>
                                    </p:set>
                                    <p:animEffect transition="in" filter="fade">
                                      <p:cBhvr>
                                        <p:cTn id="920" dur="500"/>
                                        <p:tgtEl>
                                          <p:spTgt spid="23"/>
                                        </p:tgtEl>
                                      </p:cBhvr>
                                    </p:animEffect>
                                  </p:childTnLst>
                                </p:cTn>
                              </p:par>
                              <p:par>
                                <p:cTn id="921" presetID="0" presetClass="path" fill="hold" grpId="10" nodeType="withEffect">
                                  <p:stCondLst>
                                    <p:cond delay="14000"/>
                                  </p:stCondLst>
                                  <p:childTnLst>
                                    <p:animMotion origin="layout" path="M 0 0 L -0.01596 -0.156 E" pathEditMode="relative" ptsTypes="AA">
                                      <p:cBhvr additive="base">
                                        <p:cTn id="922" dur="4000" fill="hold"/>
                                        <p:tgtEl>
                                          <p:spTgt spid="23"/>
                                        </p:tgtEl>
                                        <p:attrNameLst>
                                          <p:attrName>ppt_x</p:attrName>
                                          <p:attrName>ppt_y</p:attrName>
                                        </p:attrNameLst>
                                      </p:cBhvr>
                                      <p:rCtr x="0" y="0"/>
                                    </p:animMotion>
                                    <p:animScale>
                                      <p:cBhvr>
                                        <p:cTn id="923" dur="4000" fill="hold"/>
                                        <p:tgtEl>
                                          <p:spTgt spid="23"/>
                                        </p:tgtEl>
                                      </p:cBhvr>
                                      <p:from x="100000" y="100000"/>
                                      <p:to x="320000" y="320000"/>
                                    </p:animScale>
                                  </p:childTnLst>
                                </p:cTn>
                              </p:par>
                              <p:par>
                                <p:cTn id="924" presetID="10" presetClass="exit" fill="hold" grpId="11" nodeType="withEffect">
                                  <p:stCondLst>
                                    <p:cond delay="17100"/>
                                  </p:stCondLst>
                                  <p:childTnLst>
                                    <p:animEffect transition="out" filter="fade">
                                      <p:cBhvr>
                                        <p:cTn id="925" dur="900"/>
                                        <p:tgtEl>
                                          <p:spTgt spid="23"/>
                                        </p:tgtEl>
                                      </p:cBhvr>
                                    </p:animEffect>
                                    <p:set>
                                      <p:cBhvr>
                                        <p:cTn id="926" dur="1" fill="hold">
                                          <p:stCondLst>
                                            <p:cond delay="899"/>
                                          </p:stCondLst>
                                        </p:cTn>
                                        <p:tgtEl>
                                          <p:spTgt spid="23"/>
                                        </p:tgtEl>
                                        <p:attrNameLst>
                                          <p:attrName>style.visibility</p:attrName>
                                        </p:attrNameLst>
                                      </p:cBhvr>
                                      <p:to>
                                        <p:strVal val="hidden"/>
                                      </p:to>
                                    </p:set>
                                  </p:childTnLst>
                                </p:cTn>
                              </p:par>
                            </p:childTnLst>
                          </p:cTn>
                        </p:par>
                        <p:par>
                          <p:cTn id="937" fill="hold">
                            <p:stCondLst>
                              <p:cond delay="0"/>
                            </p:stCondLst>
                            <p:childTnLst>
                              <p:par>
                                <p:cTn id="928" presetID="10" presetClass="entr" fill="hold" grpId="12" nodeType="withEffect">
                                  <p:stCondLst>
                                    <p:cond delay="18000"/>
                                  </p:stCondLst>
                                  <p:childTnLst>
                                    <p:set>
                                      <p:cBhvr>
                                        <p:cTn id="929" dur="1" fill="hold">
                                          <p:stCondLst>
                                            <p:cond delay="0"/>
                                          </p:stCondLst>
                                        </p:cTn>
                                        <p:tgtEl>
                                          <p:spTgt spid="23"/>
                                        </p:tgtEl>
                                        <p:attrNameLst>
                                          <p:attrName>style.visibility</p:attrName>
                                        </p:attrNameLst>
                                      </p:cBhvr>
                                      <p:to>
                                        <p:strVal val="visible"/>
                                      </p:to>
                                    </p:set>
                                    <p:animEffect transition="in" filter="fade">
                                      <p:cBhvr>
                                        <p:cTn id="930" dur="500"/>
                                        <p:tgtEl>
                                          <p:spTgt spid="23"/>
                                        </p:tgtEl>
                                      </p:cBhvr>
                                    </p:animEffect>
                                  </p:childTnLst>
                                </p:cTn>
                              </p:par>
                              <p:par>
                                <p:cTn id="931" presetID="0" presetClass="path" fill="hold" grpId="13" nodeType="withEffect">
                                  <p:stCondLst>
                                    <p:cond delay="18000"/>
                                  </p:stCondLst>
                                  <p:childTnLst>
                                    <p:animMotion origin="layout" path="M 0 0 L -0.01596 -0.156 E" pathEditMode="relative" ptsTypes="AA">
                                      <p:cBhvr additive="base">
                                        <p:cTn id="932" dur="4000" fill="hold"/>
                                        <p:tgtEl>
                                          <p:spTgt spid="23"/>
                                        </p:tgtEl>
                                        <p:attrNameLst>
                                          <p:attrName>ppt_x</p:attrName>
                                          <p:attrName>ppt_y</p:attrName>
                                        </p:attrNameLst>
                                      </p:cBhvr>
                                      <p:rCtr x="0" y="0"/>
                                    </p:animMotion>
                                    <p:animScale>
                                      <p:cBhvr>
                                        <p:cTn id="933" dur="4000" fill="hold"/>
                                        <p:tgtEl>
                                          <p:spTgt spid="23"/>
                                        </p:tgtEl>
                                      </p:cBhvr>
                                      <p:from x="100000" y="100000"/>
                                      <p:to x="320000" y="320000"/>
                                    </p:animScale>
                                  </p:childTnLst>
                                </p:cTn>
                              </p:par>
                              <p:par>
                                <p:cTn id="934" presetID="10" presetClass="exit" fill="hold" grpId="14" nodeType="withEffect">
                                  <p:stCondLst>
                                    <p:cond delay="21100"/>
                                  </p:stCondLst>
                                  <p:childTnLst>
                                    <p:animEffect transition="out" filter="fade">
                                      <p:cBhvr>
                                        <p:cTn id="935" dur="900"/>
                                        <p:tgtEl>
                                          <p:spTgt spid="23"/>
                                        </p:tgtEl>
                                      </p:cBhvr>
                                    </p:animEffect>
                                    <p:set>
                                      <p:cBhvr>
                                        <p:cTn id="936" dur="1" fill="hold">
                                          <p:stCondLst>
                                            <p:cond delay="899"/>
                                          </p:stCondLst>
                                        </p:cTn>
                                        <p:tgtEl>
                                          <p:spTgt spid="23"/>
                                        </p:tgtEl>
                                        <p:attrNameLst>
                                          <p:attrName>style.visibility</p:attrName>
                                        </p:attrNameLst>
                                      </p:cBhvr>
                                      <p:to>
                                        <p:strVal val="hidden"/>
                                      </p:to>
                                    </p:set>
                                  </p:childTnLst>
                                </p:cTn>
                              </p:par>
                            </p:childTnLst>
                          </p:cTn>
                        </p:par>
                        <p:par>
                          <p:cTn id="947" fill="hold">
                            <p:stCondLst>
                              <p:cond delay="0"/>
                            </p:stCondLst>
                            <p:childTnLst>
                              <p:par>
                                <p:cTn id="938" presetID="10" presetClass="entr" fill="hold" grpId="15" nodeType="withEffect">
                                  <p:stCondLst>
                                    <p:cond delay="22000"/>
                                  </p:stCondLst>
                                  <p:childTnLst>
                                    <p:set>
                                      <p:cBhvr>
                                        <p:cTn id="939" dur="1" fill="hold">
                                          <p:stCondLst>
                                            <p:cond delay="0"/>
                                          </p:stCondLst>
                                        </p:cTn>
                                        <p:tgtEl>
                                          <p:spTgt spid="23"/>
                                        </p:tgtEl>
                                        <p:attrNameLst>
                                          <p:attrName>style.visibility</p:attrName>
                                        </p:attrNameLst>
                                      </p:cBhvr>
                                      <p:to>
                                        <p:strVal val="visible"/>
                                      </p:to>
                                    </p:set>
                                    <p:animEffect transition="in" filter="fade">
                                      <p:cBhvr>
                                        <p:cTn id="940" dur="500"/>
                                        <p:tgtEl>
                                          <p:spTgt spid="23"/>
                                        </p:tgtEl>
                                      </p:cBhvr>
                                    </p:animEffect>
                                  </p:childTnLst>
                                </p:cTn>
                              </p:par>
                              <p:par>
                                <p:cTn id="941" presetID="0" presetClass="path" fill="hold" grpId="16" nodeType="withEffect">
                                  <p:stCondLst>
                                    <p:cond delay="22000"/>
                                  </p:stCondLst>
                                  <p:childTnLst>
                                    <p:animMotion origin="layout" path="M 0 0 L -0.01596 -0.156 E" pathEditMode="relative" ptsTypes="AA">
                                      <p:cBhvr additive="base">
                                        <p:cTn id="942" dur="4000" fill="hold"/>
                                        <p:tgtEl>
                                          <p:spTgt spid="23"/>
                                        </p:tgtEl>
                                        <p:attrNameLst>
                                          <p:attrName>ppt_x</p:attrName>
                                          <p:attrName>ppt_y</p:attrName>
                                        </p:attrNameLst>
                                      </p:cBhvr>
                                      <p:rCtr x="0" y="0"/>
                                    </p:animMotion>
                                    <p:animScale>
                                      <p:cBhvr>
                                        <p:cTn id="943" dur="4000" fill="hold"/>
                                        <p:tgtEl>
                                          <p:spTgt spid="23"/>
                                        </p:tgtEl>
                                      </p:cBhvr>
                                      <p:from x="100000" y="100000"/>
                                      <p:to x="320000" y="320000"/>
                                    </p:animScale>
                                  </p:childTnLst>
                                </p:cTn>
                              </p:par>
                              <p:par>
                                <p:cTn id="944" presetID="10" presetClass="exit" fill="hold" grpId="17" nodeType="withEffect">
                                  <p:stCondLst>
                                    <p:cond delay="25100"/>
                                  </p:stCondLst>
                                  <p:childTnLst>
                                    <p:animEffect transition="out" filter="fade">
                                      <p:cBhvr>
                                        <p:cTn id="945" dur="900"/>
                                        <p:tgtEl>
                                          <p:spTgt spid="23"/>
                                        </p:tgtEl>
                                      </p:cBhvr>
                                    </p:animEffect>
                                    <p:set>
                                      <p:cBhvr>
                                        <p:cTn id="946" dur="1" fill="hold">
                                          <p:stCondLst>
                                            <p:cond delay="899"/>
                                          </p:stCondLst>
                                        </p:cTn>
                                        <p:tgtEl>
                                          <p:spTgt spid="23"/>
                                        </p:tgtEl>
                                        <p:attrNameLst>
                                          <p:attrName>style.visibility</p:attrName>
                                        </p:attrNameLst>
                                      </p:cBhvr>
                                      <p:to>
                                        <p:strVal val="hidden"/>
                                      </p:to>
                                    </p:set>
                                  </p:childTnLst>
                                </p:cTn>
                              </p:par>
                            </p:childTnLst>
                          </p:cTn>
                        </p:par>
                        <p:par>
                          <p:cTn id="957" fill="hold">
                            <p:stCondLst>
                              <p:cond delay="0"/>
                            </p:stCondLst>
                            <p:childTnLst>
                              <p:par>
                                <p:cTn id="948" presetID="10" presetClass="entr" fill="hold" grpId="18" nodeType="withEffect">
                                  <p:stCondLst>
                                    <p:cond delay="26000"/>
                                  </p:stCondLst>
                                  <p:childTnLst>
                                    <p:set>
                                      <p:cBhvr>
                                        <p:cTn id="949" dur="1" fill="hold">
                                          <p:stCondLst>
                                            <p:cond delay="0"/>
                                          </p:stCondLst>
                                        </p:cTn>
                                        <p:tgtEl>
                                          <p:spTgt spid="23"/>
                                        </p:tgtEl>
                                        <p:attrNameLst>
                                          <p:attrName>style.visibility</p:attrName>
                                        </p:attrNameLst>
                                      </p:cBhvr>
                                      <p:to>
                                        <p:strVal val="visible"/>
                                      </p:to>
                                    </p:set>
                                    <p:animEffect transition="in" filter="fade">
                                      <p:cBhvr>
                                        <p:cTn id="950" dur="500"/>
                                        <p:tgtEl>
                                          <p:spTgt spid="23"/>
                                        </p:tgtEl>
                                      </p:cBhvr>
                                    </p:animEffect>
                                  </p:childTnLst>
                                </p:cTn>
                              </p:par>
                              <p:par>
                                <p:cTn id="951" presetID="0" presetClass="path" fill="hold" grpId="19" nodeType="withEffect">
                                  <p:stCondLst>
                                    <p:cond delay="26000"/>
                                  </p:stCondLst>
                                  <p:childTnLst>
                                    <p:animMotion origin="layout" path="M 0 0 L -0.01596 -0.156 E" pathEditMode="relative" ptsTypes="AA">
                                      <p:cBhvr additive="base">
                                        <p:cTn id="952" dur="4000" fill="hold"/>
                                        <p:tgtEl>
                                          <p:spTgt spid="23"/>
                                        </p:tgtEl>
                                        <p:attrNameLst>
                                          <p:attrName>ppt_x</p:attrName>
                                          <p:attrName>ppt_y</p:attrName>
                                        </p:attrNameLst>
                                      </p:cBhvr>
                                      <p:rCtr x="0" y="0"/>
                                    </p:animMotion>
                                    <p:animScale>
                                      <p:cBhvr>
                                        <p:cTn id="953" dur="4000" fill="hold"/>
                                        <p:tgtEl>
                                          <p:spTgt spid="23"/>
                                        </p:tgtEl>
                                      </p:cBhvr>
                                      <p:from x="100000" y="100000"/>
                                      <p:to x="320000" y="320000"/>
                                    </p:animScale>
                                  </p:childTnLst>
                                </p:cTn>
                              </p:par>
                              <p:par>
                                <p:cTn id="954" presetID="10" presetClass="exit" fill="hold" grpId="20" nodeType="withEffect">
                                  <p:stCondLst>
                                    <p:cond delay="29100"/>
                                  </p:stCondLst>
                                  <p:childTnLst>
                                    <p:animEffect transition="out" filter="fade">
                                      <p:cBhvr>
                                        <p:cTn id="955" dur="900"/>
                                        <p:tgtEl>
                                          <p:spTgt spid="23"/>
                                        </p:tgtEl>
                                      </p:cBhvr>
                                    </p:animEffect>
                                    <p:set>
                                      <p:cBhvr>
                                        <p:cTn id="956" dur="1" fill="hold">
                                          <p:stCondLst>
                                            <p:cond delay="899"/>
                                          </p:stCondLst>
                                        </p:cTn>
                                        <p:tgtEl>
                                          <p:spTgt spid="23"/>
                                        </p:tgtEl>
                                        <p:attrNameLst>
                                          <p:attrName>style.visibility</p:attrName>
                                        </p:attrNameLst>
                                      </p:cBhvr>
                                      <p:to>
                                        <p:strVal val="hidden"/>
                                      </p:to>
                                    </p:set>
                                  </p:childTnLst>
                                </p:cTn>
                              </p:par>
                            </p:childTnLst>
                          </p:cTn>
                        </p:par>
                        <p:par>
                          <p:cTn id="967" fill="hold">
                            <p:stCondLst>
                              <p:cond delay="0"/>
                            </p:stCondLst>
                            <p:childTnLst>
                              <p:par>
                                <p:cTn id="958" presetID="10" presetClass="entr" fill="hold" grpId="21" nodeType="withEffect">
                                  <p:stCondLst>
                                    <p:cond delay="30000"/>
                                  </p:stCondLst>
                                  <p:childTnLst>
                                    <p:set>
                                      <p:cBhvr>
                                        <p:cTn id="959" dur="1" fill="hold">
                                          <p:stCondLst>
                                            <p:cond delay="0"/>
                                          </p:stCondLst>
                                        </p:cTn>
                                        <p:tgtEl>
                                          <p:spTgt spid="23"/>
                                        </p:tgtEl>
                                        <p:attrNameLst>
                                          <p:attrName>style.visibility</p:attrName>
                                        </p:attrNameLst>
                                      </p:cBhvr>
                                      <p:to>
                                        <p:strVal val="visible"/>
                                      </p:to>
                                    </p:set>
                                    <p:animEffect transition="in" filter="fade">
                                      <p:cBhvr>
                                        <p:cTn id="960" dur="500"/>
                                        <p:tgtEl>
                                          <p:spTgt spid="23"/>
                                        </p:tgtEl>
                                      </p:cBhvr>
                                    </p:animEffect>
                                  </p:childTnLst>
                                </p:cTn>
                              </p:par>
                              <p:par>
                                <p:cTn id="961" presetID="0" presetClass="path" fill="hold" grpId="22" nodeType="withEffect">
                                  <p:stCondLst>
                                    <p:cond delay="30000"/>
                                  </p:stCondLst>
                                  <p:childTnLst>
                                    <p:animMotion origin="layout" path="M 0 0 L -0.01596 -0.156 E" pathEditMode="relative" ptsTypes="AA">
                                      <p:cBhvr additive="base">
                                        <p:cTn id="962" dur="4000" fill="hold"/>
                                        <p:tgtEl>
                                          <p:spTgt spid="23"/>
                                        </p:tgtEl>
                                        <p:attrNameLst>
                                          <p:attrName>ppt_x</p:attrName>
                                          <p:attrName>ppt_y</p:attrName>
                                        </p:attrNameLst>
                                      </p:cBhvr>
                                      <p:rCtr x="0" y="0"/>
                                    </p:animMotion>
                                    <p:animScale>
                                      <p:cBhvr>
                                        <p:cTn id="963" dur="4000" fill="hold"/>
                                        <p:tgtEl>
                                          <p:spTgt spid="23"/>
                                        </p:tgtEl>
                                      </p:cBhvr>
                                      <p:from x="100000" y="100000"/>
                                      <p:to x="320000" y="320000"/>
                                    </p:animScale>
                                  </p:childTnLst>
                                </p:cTn>
                              </p:par>
                              <p:par>
                                <p:cTn id="964" presetID="10" presetClass="exit" fill="hold" grpId="23" nodeType="withEffect">
                                  <p:stCondLst>
                                    <p:cond delay="33100"/>
                                  </p:stCondLst>
                                  <p:childTnLst>
                                    <p:animEffect transition="out" filter="fade">
                                      <p:cBhvr>
                                        <p:cTn id="965" dur="900"/>
                                        <p:tgtEl>
                                          <p:spTgt spid="23"/>
                                        </p:tgtEl>
                                      </p:cBhvr>
                                    </p:animEffect>
                                    <p:set>
                                      <p:cBhvr>
                                        <p:cTn id="966" dur="1" fill="hold">
                                          <p:stCondLst>
                                            <p:cond delay="899"/>
                                          </p:stCondLst>
                                        </p:cTn>
                                        <p:tgtEl>
                                          <p:spTgt spid="23"/>
                                        </p:tgtEl>
                                        <p:attrNameLst>
                                          <p:attrName>style.visibility</p:attrName>
                                        </p:attrNameLst>
                                      </p:cBhvr>
                                      <p:to>
                                        <p:strVal val="hidden"/>
                                      </p:to>
                                    </p:set>
                                  </p:childTnLst>
                                </p:cTn>
                              </p:par>
                            </p:childTnLst>
                          </p:cTn>
                        </p:par>
                        <p:par>
                          <p:cTn id="977" fill="hold">
                            <p:stCondLst>
                              <p:cond delay="0"/>
                            </p:stCondLst>
                            <p:childTnLst>
                              <p:par>
                                <p:cTn id="968" presetID="10" presetClass="entr" fill="hold" grpId="24" nodeType="withEffect">
                                  <p:stCondLst>
                                    <p:cond delay="34000"/>
                                  </p:stCondLst>
                                  <p:childTnLst>
                                    <p:set>
                                      <p:cBhvr>
                                        <p:cTn id="969" dur="1" fill="hold">
                                          <p:stCondLst>
                                            <p:cond delay="0"/>
                                          </p:stCondLst>
                                        </p:cTn>
                                        <p:tgtEl>
                                          <p:spTgt spid="23"/>
                                        </p:tgtEl>
                                        <p:attrNameLst>
                                          <p:attrName>style.visibility</p:attrName>
                                        </p:attrNameLst>
                                      </p:cBhvr>
                                      <p:to>
                                        <p:strVal val="visible"/>
                                      </p:to>
                                    </p:set>
                                    <p:animEffect transition="in" filter="fade">
                                      <p:cBhvr>
                                        <p:cTn id="970" dur="500"/>
                                        <p:tgtEl>
                                          <p:spTgt spid="23"/>
                                        </p:tgtEl>
                                      </p:cBhvr>
                                    </p:animEffect>
                                  </p:childTnLst>
                                </p:cTn>
                              </p:par>
                              <p:par>
                                <p:cTn id="971" presetID="0" presetClass="path" fill="hold" grpId="25" nodeType="withEffect">
                                  <p:stCondLst>
                                    <p:cond delay="34000"/>
                                  </p:stCondLst>
                                  <p:childTnLst>
                                    <p:animMotion origin="layout" path="M 0 0 L -0.01596 -0.156 E" pathEditMode="relative" ptsTypes="AA">
                                      <p:cBhvr additive="base">
                                        <p:cTn id="972" dur="4000" fill="hold"/>
                                        <p:tgtEl>
                                          <p:spTgt spid="23"/>
                                        </p:tgtEl>
                                        <p:attrNameLst>
                                          <p:attrName>ppt_x</p:attrName>
                                          <p:attrName>ppt_y</p:attrName>
                                        </p:attrNameLst>
                                      </p:cBhvr>
                                      <p:rCtr x="0" y="0"/>
                                    </p:animMotion>
                                    <p:animScale>
                                      <p:cBhvr>
                                        <p:cTn id="973" dur="4000" fill="hold"/>
                                        <p:tgtEl>
                                          <p:spTgt spid="23"/>
                                        </p:tgtEl>
                                      </p:cBhvr>
                                      <p:from x="100000" y="100000"/>
                                      <p:to x="320000" y="320000"/>
                                    </p:animScale>
                                  </p:childTnLst>
                                </p:cTn>
                              </p:par>
                              <p:par>
                                <p:cTn id="974" presetID="10" presetClass="exit" fill="hold" grpId="26" nodeType="withEffect">
                                  <p:stCondLst>
                                    <p:cond delay="37100"/>
                                  </p:stCondLst>
                                  <p:childTnLst>
                                    <p:animEffect transition="out" filter="fade">
                                      <p:cBhvr>
                                        <p:cTn id="975" dur="900"/>
                                        <p:tgtEl>
                                          <p:spTgt spid="23"/>
                                        </p:tgtEl>
                                      </p:cBhvr>
                                    </p:animEffect>
                                    <p:set>
                                      <p:cBhvr>
                                        <p:cTn id="976" dur="1" fill="hold">
                                          <p:stCondLst>
                                            <p:cond delay="899"/>
                                          </p:stCondLst>
                                        </p:cTn>
                                        <p:tgtEl>
                                          <p:spTgt spid="23"/>
                                        </p:tgtEl>
                                        <p:attrNameLst>
                                          <p:attrName>style.visibility</p:attrName>
                                        </p:attrNameLst>
                                      </p:cBhvr>
                                      <p:to>
                                        <p:strVal val="hidden"/>
                                      </p:to>
                                    </p:set>
                                  </p:childTnLst>
                                </p:cTn>
                              </p:par>
                            </p:childTnLst>
                          </p:cTn>
                        </p:par>
                        <p:par>
                          <p:cTn id="987" fill="hold">
                            <p:stCondLst>
                              <p:cond delay="0"/>
                            </p:stCondLst>
                            <p:childTnLst>
                              <p:par>
                                <p:cTn id="978" presetID="10" presetClass="entr" fill="hold" grpId="27" nodeType="withEffect">
                                  <p:stCondLst>
                                    <p:cond delay="38000"/>
                                  </p:stCondLst>
                                  <p:childTnLst>
                                    <p:set>
                                      <p:cBhvr>
                                        <p:cTn id="979" dur="1" fill="hold">
                                          <p:stCondLst>
                                            <p:cond delay="0"/>
                                          </p:stCondLst>
                                        </p:cTn>
                                        <p:tgtEl>
                                          <p:spTgt spid="23"/>
                                        </p:tgtEl>
                                        <p:attrNameLst>
                                          <p:attrName>style.visibility</p:attrName>
                                        </p:attrNameLst>
                                      </p:cBhvr>
                                      <p:to>
                                        <p:strVal val="visible"/>
                                      </p:to>
                                    </p:set>
                                    <p:animEffect transition="in" filter="fade">
                                      <p:cBhvr>
                                        <p:cTn id="980" dur="500"/>
                                        <p:tgtEl>
                                          <p:spTgt spid="23"/>
                                        </p:tgtEl>
                                      </p:cBhvr>
                                    </p:animEffect>
                                  </p:childTnLst>
                                </p:cTn>
                              </p:par>
                              <p:par>
                                <p:cTn id="981" presetID="0" presetClass="path" fill="hold" grpId="28" nodeType="withEffect">
                                  <p:stCondLst>
                                    <p:cond delay="38000"/>
                                  </p:stCondLst>
                                  <p:childTnLst>
                                    <p:animMotion origin="layout" path="M 0 0 L -0.01596 -0.156 E" pathEditMode="relative" ptsTypes="AA">
                                      <p:cBhvr additive="base">
                                        <p:cTn id="982" dur="4000" fill="hold"/>
                                        <p:tgtEl>
                                          <p:spTgt spid="23"/>
                                        </p:tgtEl>
                                        <p:attrNameLst>
                                          <p:attrName>ppt_x</p:attrName>
                                          <p:attrName>ppt_y</p:attrName>
                                        </p:attrNameLst>
                                      </p:cBhvr>
                                      <p:rCtr x="0" y="0"/>
                                    </p:animMotion>
                                    <p:animScale>
                                      <p:cBhvr>
                                        <p:cTn id="983" dur="4000" fill="hold"/>
                                        <p:tgtEl>
                                          <p:spTgt spid="23"/>
                                        </p:tgtEl>
                                      </p:cBhvr>
                                      <p:from x="100000" y="100000"/>
                                      <p:to x="320000" y="320000"/>
                                    </p:animScale>
                                  </p:childTnLst>
                                </p:cTn>
                              </p:par>
                              <p:par>
                                <p:cTn id="984" presetID="10" presetClass="exit" fill="hold" grpId="29" nodeType="withEffect">
                                  <p:stCondLst>
                                    <p:cond delay="41100"/>
                                  </p:stCondLst>
                                  <p:childTnLst>
                                    <p:animEffect transition="out" filter="fade">
                                      <p:cBhvr>
                                        <p:cTn id="985" dur="900"/>
                                        <p:tgtEl>
                                          <p:spTgt spid="23"/>
                                        </p:tgtEl>
                                      </p:cBhvr>
                                    </p:animEffect>
                                    <p:set>
                                      <p:cBhvr>
                                        <p:cTn id="986" dur="1" fill="hold">
                                          <p:stCondLst>
                                            <p:cond delay="899"/>
                                          </p:stCondLst>
                                        </p:cTn>
                                        <p:tgtEl>
                                          <p:spTgt spid="23"/>
                                        </p:tgtEl>
                                        <p:attrNameLst>
                                          <p:attrName>style.visibility</p:attrName>
                                        </p:attrNameLst>
                                      </p:cBhvr>
                                      <p:to>
                                        <p:strVal val="hidden"/>
                                      </p:to>
                                    </p:set>
                                  </p:childTnLst>
                                </p:cTn>
                              </p:par>
                            </p:childTnLst>
                          </p:cTn>
                        </p:par>
                        <p:par>
                          <p:cTn id="997" fill="hold">
                            <p:stCondLst>
                              <p:cond delay="0"/>
                            </p:stCondLst>
                            <p:childTnLst>
                              <p:par>
                                <p:cTn id="988" presetID="10" presetClass="entr" fill="hold" grpId="30" nodeType="withEffect">
                                  <p:stCondLst>
                                    <p:cond delay="42000"/>
                                  </p:stCondLst>
                                  <p:childTnLst>
                                    <p:set>
                                      <p:cBhvr>
                                        <p:cTn id="989" dur="1" fill="hold">
                                          <p:stCondLst>
                                            <p:cond delay="0"/>
                                          </p:stCondLst>
                                        </p:cTn>
                                        <p:tgtEl>
                                          <p:spTgt spid="23"/>
                                        </p:tgtEl>
                                        <p:attrNameLst>
                                          <p:attrName>style.visibility</p:attrName>
                                        </p:attrNameLst>
                                      </p:cBhvr>
                                      <p:to>
                                        <p:strVal val="visible"/>
                                      </p:to>
                                    </p:set>
                                    <p:animEffect transition="in" filter="fade">
                                      <p:cBhvr>
                                        <p:cTn id="990" dur="500"/>
                                        <p:tgtEl>
                                          <p:spTgt spid="23"/>
                                        </p:tgtEl>
                                      </p:cBhvr>
                                    </p:animEffect>
                                  </p:childTnLst>
                                </p:cTn>
                              </p:par>
                              <p:par>
                                <p:cTn id="991" presetID="0" presetClass="path" fill="hold" grpId="31" nodeType="withEffect">
                                  <p:stCondLst>
                                    <p:cond delay="42000"/>
                                  </p:stCondLst>
                                  <p:childTnLst>
                                    <p:animMotion origin="layout" path="M 0 0 L -0.01596 -0.156 E" pathEditMode="relative" ptsTypes="AA">
                                      <p:cBhvr additive="base">
                                        <p:cTn id="992" dur="4000" fill="hold"/>
                                        <p:tgtEl>
                                          <p:spTgt spid="23"/>
                                        </p:tgtEl>
                                        <p:attrNameLst>
                                          <p:attrName>ppt_x</p:attrName>
                                          <p:attrName>ppt_y</p:attrName>
                                        </p:attrNameLst>
                                      </p:cBhvr>
                                      <p:rCtr x="0" y="0"/>
                                    </p:animMotion>
                                    <p:animScale>
                                      <p:cBhvr>
                                        <p:cTn id="993" dur="4000" fill="hold"/>
                                        <p:tgtEl>
                                          <p:spTgt spid="23"/>
                                        </p:tgtEl>
                                      </p:cBhvr>
                                      <p:from x="100000" y="100000"/>
                                      <p:to x="320000" y="320000"/>
                                    </p:animScale>
                                  </p:childTnLst>
                                </p:cTn>
                              </p:par>
                              <p:par>
                                <p:cTn id="994" presetID="10" presetClass="exit" fill="hold" grpId="32" nodeType="withEffect">
                                  <p:stCondLst>
                                    <p:cond delay="45100"/>
                                  </p:stCondLst>
                                  <p:childTnLst>
                                    <p:animEffect transition="out" filter="fade">
                                      <p:cBhvr>
                                        <p:cTn id="995" dur="900"/>
                                        <p:tgtEl>
                                          <p:spTgt spid="23"/>
                                        </p:tgtEl>
                                      </p:cBhvr>
                                    </p:animEffect>
                                    <p:set>
                                      <p:cBhvr>
                                        <p:cTn id="996" dur="1" fill="hold">
                                          <p:stCondLst>
                                            <p:cond delay="899"/>
                                          </p:stCondLst>
                                        </p:cTn>
                                        <p:tgtEl>
                                          <p:spTgt spid="23"/>
                                        </p:tgtEl>
                                        <p:attrNameLst>
                                          <p:attrName>style.visibility</p:attrName>
                                        </p:attrNameLst>
                                      </p:cBhvr>
                                      <p:to>
                                        <p:strVal val="hidden"/>
                                      </p:to>
                                    </p:set>
                                  </p:childTnLst>
                                </p:cTn>
                              </p:par>
                            </p:childTnLst>
                          </p:cTn>
                        </p:par>
                        <p:par>
                          <p:cTn id="1007" fill="hold">
                            <p:stCondLst>
                              <p:cond delay="0"/>
                            </p:stCondLst>
                            <p:childTnLst>
                              <p:par>
                                <p:cTn id="998" presetID="10" presetClass="entr" fill="hold" grpId="33" nodeType="withEffect">
                                  <p:stCondLst>
                                    <p:cond delay="46000"/>
                                  </p:stCondLst>
                                  <p:childTnLst>
                                    <p:set>
                                      <p:cBhvr>
                                        <p:cTn id="999" dur="1" fill="hold">
                                          <p:stCondLst>
                                            <p:cond delay="0"/>
                                          </p:stCondLst>
                                        </p:cTn>
                                        <p:tgtEl>
                                          <p:spTgt spid="23"/>
                                        </p:tgtEl>
                                        <p:attrNameLst>
                                          <p:attrName>style.visibility</p:attrName>
                                        </p:attrNameLst>
                                      </p:cBhvr>
                                      <p:to>
                                        <p:strVal val="visible"/>
                                      </p:to>
                                    </p:set>
                                    <p:animEffect transition="in" filter="fade">
                                      <p:cBhvr>
                                        <p:cTn id="1000" dur="500"/>
                                        <p:tgtEl>
                                          <p:spTgt spid="23"/>
                                        </p:tgtEl>
                                      </p:cBhvr>
                                    </p:animEffect>
                                  </p:childTnLst>
                                </p:cTn>
                              </p:par>
                              <p:par>
                                <p:cTn id="1001" presetID="0" presetClass="path" fill="hold" grpId="34" nodeType="withEffect">
                                  <p:stCondLst>
                                    <p:cond delay="46000"/>
                                  </p:stCondLst>
                                  <p:childTnLst>
                                    <p:animMotion origin="layout" path="M 0 0 L -0.01596 -0.156 E" pathEditMode="relative" ptsTypes="AA">
                                      <p:cBhvr additive="base">
                                        <p:cTn id="1002" dur="4000" fill="hold"/>
                                        <p:tgtEl>
                                          <p:spTgt spid="23"/>
                                        </p:tgtEl>
                                        <p:attrNameLst>
                                          <p:attrName>ppt_x</p:attrName>
                                          <p:attrName>ppt_y</p:attrName>
                                        </p:attrNameLst>
                                      </p:cBhvr>
                                      <p:rCtr x="0" y="0"/>
                                    </p:animMotion>
                                    <p:animScale>
                                      <p:cBhvr>
                                        <p:cTn id="1003" dur="4000" fill="hold"/>
                                        <p:tgtEl>
                                          <p:spTgt spid="23"/>
                                        </p:tgtEl>
                                      </p:cBhvr>
                                      <p:from x="100000" y="100000"/>
                                      <p:to x="320000" y="320000"/>
                                    </p:animScale>
                                  </p:childTnLst>
                                </p:cTn>
                              </p:par>
                              <p:par>
                                <p:cTn id="1004" presetID="10" presetClass="exit" fill="hold" grpId="35" nodeType="withEffect">
                                  <p:stCondLst>
                                    <p:cond delay="49100"/>
                                  </p:stCondLst>
                                  <p:childTnLst>
                                    <p:animEffect transition="out" filter="fade">
                                      <p:cBhvr>
                                        <p:cTn id="1005" dur="900"/>
                                        <p:tgtEl>
                                          <p:spTgt spid="23"/>
                                        </p:tgtEl>
                                      </p:cBhvr>
                                    </p:animEffect>
                                    <p:set>
                                      <p:cBhvr>
                                        <p:cTn id="1006" dur="1" fill="hold">
                                          <p:stCondLst>
                                            <p:cond delay="899"/>
                                          </p:stCondLst>
                                        </p:cTn>
                                        <p:tgtEl>
                                          <p:spTgt spid="23"/>
                                        </p:tgtEl>
                                        <p:attrNameLst>
                                          <p:attrName>style.visibility</p:attrName>
                                        </p:attrNameLst>
                                      </p:cBhvr>
                                      <p:to>
                                        <p:strVal val="hidden"/>
                                      </p:to>
                                    </p:set>
                                  </p:childTnLst>
                                </p:cTn>
                              </p:par>
                            </p:childTnLst>
                          </p:cTn>
                        </p:par>
                        <p:par>
                          <p:cTn id="1017" fill="hold">
                            <p:stCondLst>
                              <p:cond delay="0"/>
                            </p:stCondLst>
                            <p:childTnLst>
                              <p:par>
                                <p:cTn id="1008" presetID="10" presetClass="entr" fill="hold" grpId="36" nodeType="withEffect">
                                  <p:stCondLst>
                                    <p:cond delay="50000"/>
                                  </p:stCondLst>
                                  <p:childTnLst>
                                    <p:set>
                                      <p:cBhvr>
                                        <p:cTn id="1009" dur="1" fill="hold">
                                          <p:stCondLst>
                                            <p:cond delay="0"/>
                                          </p:stCondLst>
                                        </p:cTn>
                                        <p:tgtEl>
                                          <p:spTgt spid="23"/>
                                        </p:tgtEl>
                                        <p:attrNameLst>
                                          <p:attrName>style.visibility</p:attrName>
                                        </p:attrNameLst>
                                      </p:cBhvr>
                                      <p:to>
                                        <p:strVal val="visible"/>
                                      </p:to>
                                    </p:set>
                                    <p:animEffect transition="in" filter="fade">
                                      <p:cBhvr>
                                        <p:cTn id="1010" dur="500"/>
                                        <p:tgtEl>
                                          <p:spTgt spid="23"/>
                                        </p:tgtEl>
                                      </p:cBhvr>
                                    </p:animEffect>
                                  </p:childTnLst>
                                </p:cTn>
                              </p:par>
                              <p:par>
                                <p:cTn id="1011" presetID="0" presetClass="path" fill="hold" grpId="37" nodeType="withEffect">
                                  <p:stCondLst>
                                    <p:cond delay="50000"/>
                                  </p:stCondLst>
                                  <p:childTnLst>
                                    <p:animMotion origin="layout" path="M 0 0 L -0.01596 -0.156 E" pathEditMode="relative" ptsTypes="AA">
                                      <p:cBhvr additive="base">
                                        <p:cTn id="1012" dur="4000" fill="hold"/>
                                        <p:tgtEl>
                                          <p:spTgt spid="23"/>
                                        </p:tgtEl>
                                        <p:attrNameLst>
                                          <p:attrName>ppt_x</p:attrName>
                                          <p:attrName>ppt_y</p:attrName>
                                        </p:attrNameLst>
                                      </p:cBhvr>
                                      <p:rCtr x="0" y="0"/>
                                    </p:animMotion>
                                    <p:animScale>
                                      <p:cBhvr>
                                        <p:cTn id="1013" dur="4000" fill="hold"/>
                                        <p:tgtEl>
                                          <p:spTgt spid="23"/>
                                        </p:tgtEl>
                                      </p:cBhvr>
                                      <p:from x="100000" y="100000"/>
                                      <p:to x="320000" y="320000"/>
                                    </p:animScale>
                                  </p:childTnLst>
                                </p:cTn>
                              </p:par>
                              <p:par>
                                <p:cTn id="1014" presetID="10" presetClass="exit" fill="hold" grpId="38" nodeType="withEffect">
                                  <p:stCondLst>
                                    <p:cond delay="53100"/>
                                  </p:stCondLst>
                                  <p:childTnLst>
                                    <p:animEffect transition="out" filter="fade">
                                      <p:cBhvr>
                                        <p:cTn id="1015" dur="900"/>
                                        <p:tgtEl>
                                          <p:spTgt spid="23"/>
                                        </p:tgtEl>
                                      </p:cBhvr>
                                    </p:animEffect>
                                    <p:set>
                                      <p:cBhvr>
                                        <p:cTn id="1016" dur="1" fill="hold">
                                          <p:stCondLst>
                                            <p:cond delay="899"/>
                                          </p:stCondLst>
                                        </p:cTn>
                                        <p:tgtEl>
                                          <p:spTgt spid="23"/>
                                        </p:tgtEl>
                                        <p:attrNameLst>
                                          <p:attrName>style.visibility</p:attrName>
                                        </p:attrNameLst>
                                      </p:cBhvr>
                                      <p:to>
                                        <p:strVal val="hidden"/>
                                      </p:to>
                                    </p:set>
                                  </p:childTnLst>
                                </p:cTn>
                              </p:par>
                            </p:childTnLst>
                          </p:cTn>
                        </p:par>
                        <p:par>
                          <p:cTn id="1027" fill="hold">
                            <p:stCondLst>
                              <p:cond delay="0"/>
                            </p:stCondLst>
                            <p:childTnLst>
                              <p:par>
                                <p:cTn id="1018" presetID="10" presetClass="entr" fill="hold" grpId="39" nodeType="withEffect">
                                  <p:stCondLst>
                                    <p:cond delay="54000"/>
                                  </p:stCondLst>
                                  <p:childTnLst>
                                    <p:set>
                                      <p:cBhvr>
                                        <p:cTn id="1019" dur="1" fill="hold">
                                          <p:stCondLst>
                                            <p:cond delay="0"/>
                                          </p:stCondLst>
                                        </p:cTn>
                                        <p:tgtEl>
                                          <p:spTgt spid="23"/>
                                        </p:tgtEl>
                                        <p:attrNameLst>
                                          <p:attrName>style.visibility</p:attrName>
                                        </p:attrNameLst>
                                      </p:cBhvr>
                                      <p:to>
                                        <p:strVal val="visible"/>
                                      </p:to>
                                    </p:set>
                                    <p:animEffect transition="in" filter="fade">
                                      <p:cBhvr>
                                        <p:cTn id="1020" dur="500"/>
                                        <p:tgtEl>
                                          <p:spTgt spid="23"/>
                                        </p:tgtEl>
                                      </p:cBhvr>
                                    </p:animEffect>
                                  </p:childTnLst>
                                </p:cTn>
                              </p:par>
                              <p:par>
                                <p:cTn id="1021" presetID="0" presetClass="path" fill="hold" grpId="40" nodeType="withEffect">
                                  <p:stCondLst>
                                    <p:cond delay="54000"/>
                                  </p:stCondLst>
                                  <p:childTnLst>
                                    <p:animMotion origin="layout" path="M 0 0 L -0.01596 -0.156 E" pathEditMode="relative" ptsTypes="AA">
                                      <p:cBhvr additive="base">
                                        <p:cTn id="1022" dur="4000" fill="hold"/>
                                        <p:tgtEl>
                                          <p:spTgt spid="23"/>
                                        </p:tgtEl>
                                        <p:attrNameLst>
                                          <p:attrName>ppt_x</p:attrName>
                                          <p:attrName>ppt_y</p:attrName>
                                        </p:attrNameLst>
                                      </p:cBhvr>
                                      <p:rCtr x="0" y="0"/>
                                    </p:animMotion>
                                    <p:animScale>
                                      <p:cBhvr>
                                        <p:cTn id="1023" dur="4000" fill="hold"/>
                                        <p:tgtEl>
                                          <p:spTgt spid="23"/>
                                        </p:tgtEl>
                                      </p:cBhvr>
                                      <p:from x="100000" y="100000"/>
                                      <p:to x="320000" y="320000"/>
                                    </p:animScale>
                                  </p:childTnLst>
                                </p:cTn>
                              </p:par>
                              <p:par>
                                <p:cTn id="1024" presetID="10" presetClass="exit" fill="hold" grpId="41" nodeType="withEffect">
                                  <p:stCondLst>
                                    <p:cond delay="57100"/>
                                  </p:stCondLst>
                                  <p:childTnLst>
                                    <p:animEffect transition="out" filter="fade">
                                      <p:cBhvr>
                                        <p:cTn id="1025" dur="900"/>
                                        <p:tgtEl>
                                          <p:spTgt spid="23"/>
                                        </p:tgtEl>
                                      </p:cBhvr>
                                    </p:animEffect>
                                    <p:set>
                                      <p:cBhvr>
                                        <p:cTn id="1026" dur="1" fill="hold">
                                          <p:stCondLst>
                                            <p:cond delay="899"/>
                                          </p:stCondLst>
                                        </p:cTn>
                                        <p:tgtEl>
                                          <p:spTgt spid="23"/>
                                        </p:tgtEl>
                                        <p:attrNameLst>
                                          <p:attrName>style.visibility</p:attrName>
                                        </p:attrNameLst>
                                      </p:cBhvr>
                                      <p:to>
                                        <p:strVal val="hidden"/>
                                      </p:to>
                                    </p:set>
                                  </p:childTnLst>
                                </p:cTn>
                              </p:par>
                            </p:childTnLst>
                          </p:cTn>
                        </p:par>
                        <p:par>
                          <p:cTn id="1037" fill="hold">
                            <p:stCondLst>
                              <p:cond delay="0"/>
                            </p:stCondLst>
                            <p:childTnLst>
                              <p:par>
                                <p:cTn id="1028" presetID="10" presetClass="entr" fill="hold" grpId="0" nodeType="withEffect">
                                  <p:stCondLst>
                                    <p:cond delay="3000"/>
                                  </p:stCondLst>
                                  <p:childTnLst>
                                    <p:set>
                                      <p:cBhvr>
                                        <p:cTn id="1029" dur="1" fill="hold">
                                          <p:stCondLst>
                                            <p:cond delay="0"/>
                                          </p:stCondLst>
                                        </p:cTn>
                                        <p:tgtEl>
                                          <p:spTgt spid="24"/>
                                        </p:tgtEl>
                                        <p:attrNameLst>
                                          <p:attrName>style.visibility</p:attrName>
                                        </p:attrNameLst>
                                      </p:cBhvr>
                                      <p:to>
                                        <p:strVal val="visible"/>
                                      </p:to>
                                    </p:set>
                                    <p:animEffect transition="in" filter="fade">
                                      <p:cBhvr>
                                        <p:cTn id="1030" dur="500"/>
                                        <p:tgtEl>
                                          <p:spTgt spid="24"/>
                                        </p:tgtEl>
                                      </p:cBhvr>
                                    </p:animEffect>
                                  </p:childTnLst>
                                </p:cTn>
                              </p:par>
                              <p:par>
                                <p:cTn id="1031" presetID="0" presetClass="path" fill="hold" grpId="1" nodeType="withEffect">
                                  <p:stCondLst>
                                    <p:cond delay="3000"/>
                                  </p:stCondLst>
                                  <p:childTnLst>
                                    <p:animMotion origin="layout" path="M 0 0 L -0.01344 -0.14733 E" pathEditMode="relative" ptsTypes="AA">
                                      <p:cBhvr additive="base">
                                        <p:cTn id="1032" dur="4000" fill="hold"/>
                                        <p:tgtEl>
                                          <p:spTgt spid="24"/>
                                        </p:tgtEl>
                                        <p:attrNameLst>
                                          <p:attrName>ppt_x</p:attrName>
                                          <p:attrName>ppt_y</p:attrName>
                                        </p:attrNameLst>
                                      </p:cBhvr>
                                      <p:rCtr x="0" y="0"/>
                                    </p:animMotion>
                                    <p:animScale>
                                      <p:cBhvr>
                                        <p:cTn id="1033" dur="4000" fill="hold"/>
                                        <p:tgtEl>
                                          <p:spTgt spid="24"/>
                                        </p:tgtEl>
                                      </p:cBhvr>
                                      <p:from x="100000" y="100000"/>
                                      <p:to x="320000" y="320000"/>
                                    </p:animScale>
                                  </p:childTnLst>
                                </p:cTn>
                              </p:par>
                              <p:par>
                                <p:cTn id="1034" presetID="10" presetClass="exit" fill="hold" grpId="2" nodeType="withEffect">
                                  <p:stCondLst>
                                    <p:cond delay="6100"/>
                                  </p:stCondLst>
                                  <p:childTnLst>
                                    <p:animEffect transition="out" filter="fade">
                                      <p:cBhvr>
                                        <p:cTn id="1035" dur="900"/>
                                        <p:tgtEl>
                                          <p:spTgt spid="24"/>
                                        </p:tgtEl>
                                      </p:cBhvr>
                                    </p:animEffect>
                                    <p:set>
                                      <p:cBhvr>
                                        <p:cTn id="1036" dur="1" fill="hold">
                                          <p:stCondLst>
                                            <p:cond delay="899"/>
                                          </p:stCondLst>
                                        </p:cTn>
                                        <p:tgtEl>
                                          <p:spTgt spid="24"/>
                                        </p:tgtEl>
                                        <p:attrNameLst>
                                          <p:attrName>style.visibility</p:attrName>
                                        </p:attrNameLst>
                                      </p:cBhvr>
                                      <p:to>
                                        <p:strVal val="hidden"/>
                                      </p:to>
                                    </p:set>
                                  </p:childTnLst>
                                </p:cTn>
                              </p:par>
                            </p:childTnLst>
                          </p:cTn>
                        </p:par>
                        <p:par>
                          <p:cTn id="1047" fill="hold">
                            <p:stCondLst>
                              <p:cond delay="0"/>
                            </p:stCondLst>
                            <p:childTnLst>
                              <p:par>
                                <p:cTn id="1038" presetID="10" presetClass="entr" fill="hold" grpId="3" nodeType="withEffect">
                                  <p:stCondLst>
                                    <p:cond delay="7000"/>
                                  </p:stCondLst>
                                  <p:childTnLst>
                                    <p:set>
                                      <p:cBhvr>
                                        <p:cTn id="1039" dur="1" fill="hold">
                                          <p:stCondLst>
                                            <p:cond delay="0"/>
                                          </p:stCondLst>
                                        </p:cTn>
                                        <p:tgtEl>
                                          <p:spTgt spid="24"/>
                                        </p:tgtEl>
                                        <p:attrNameLst>
                                          <p:attrName>style.visibility</p:attrName>
                                        </p:attrNameLst>
                                      </p:cBhvr>
                                      <p:to>
                                        <p:strVal val="visible"/>
                                      </p:to>
                                    </p:set>
                                    <p:animEffect transition="in" filter="fade">
                                      <p:cBhvr>
                                        <p:cTn id="1040" dur="500"/>
                                        <p:tgtEl>
                                          <p:spTgt spid="24"/>
                                        </p:tgtEl>
                                      </p:cBhvr>
                                    </p:animEffect>
                                  </p:childTnLst>
                                </p:cTn>
                              </p:par>
                              <p:par>
                                <p:cTn id="1041" presetID="0" presetClass="path" fill="hold" grpId="4" nodeType="withEffect">
                                  <p:stCondLst>
                                    <p:cond delay="7000"/>
                                  </p:stCondLst>
                                  <p:childTnLst>
                                    <p:animMotion origin="layout" path="M 0 0 L -0.01344 -0.14733 E" pathEditMode="relative" ptsTypes="AA">
                                      <p:cBhvr additive="base">
                                        <p:cTn id="1042" dur="4000" fill="hold"/>
                                        <p:tgtEl>
                                          <p:spTgt spid="24"/>
                                        </p:tgtEl>
                                        <p:attrNameLst>
                                          <p:attrName>ppt_x</p:attrName>
                                          <p:attrName>ppt_y</p:attrName>
                                        </p:attrNameLst>
                                      </p:cBhvr>
                                      <p:rCtr x="0" y="0"/>
                                    </p:animMotion>
                                    <p:animScale>
                                      <p:cBhvr>
                                        <p:cTn id="1043" dur="4000" fill="hold"/>
                                        <p:tgtEl>
                                          <p:spTgt spid="24"/>
                                        </p:tgtEl>
                                      </p:cBhvr>
                                      <p:from x="100000" y="100000"/>
                                      <p:to x="320000" y="320000"/>
                                    </p:animScale>
                                  </p:childTnLst>
                                </p:cTn>
                              </p:par>
                              <p:par>
                                <p:cTn id="1044" presetID="10" presetClass="exit" fill="hold" grpId="5" nodeType="withEffect">
                                  <p:stCondLst>
                                    <p:cond delay="10100"/>
                                  </p:stCondLst>
                                  <p:childTnLst>
                                    <p:animEffect transition="out" filter="fade">
                                      <p:cBhvr>
                                        <p:cTn id="1045" dur="900"/>
                                        <p:tgtEl>
                                          <p:spTgt spid="24"/>
                                        </p:tgtEl>
                                      </p:cBhvr>
                                    </p:animEffect>
                                    <p:set>
                                      <p:cBhvr>
                                        <p:cTn id="1046" dur="1" fill="hold">
                                          <p:stCondLst>
                                            <p:cond delay="899"/>
                                          </p:stCondLst>
                                        </p:cTn>
                                        <p:tgtEl>
                                          <p:spTgt spid="24"/>
                                        </p:tgtEl>
                                        <p:attrNameLst>
                                          <p:attrName>style.visibility</p:attrName>
                                        </p:attrNameLst>
                                      </p:cBhvr>
                                      <p:to>
                                        <p:strVal val="hidden"/>
                                      </p:to>
                                    </p:set>
                                  </p:childTnLst>
                                </p:cTn>
                              </p:par>
                            </p:childTnLst>
                          </p:cTn>
                        </p:par>
                        <p:par>
                          <p:cTn id="1057" fill="hold">
                            <p:stCondLst>
                              <p:cond delay="0"/>
                            </p:stCondLst>
                            <p:childTnLst>
                              <p:par>
                                <p:cTn id="1048" presetID="10" presetClass="entr" fill="hold" grpId="6" nodeType="withEffect">
                                  <p:stCondLst>
                                    <p:cond delay="11000"/>
                                  </p:stCondLst>
                                  <p:childTnLst>
                                    <p:set>
                                      <p:cBhvr>
                                        <p:cTn id="1049" dur="1" fill="hold">
                                          <p:stCondLst>
                                            <p:cond delay="0"/>
                                          </p:stCondLst>
                                        </p:cTn>
                                        <p:tgtEl>
                                          <p:spTgt spid="24"/>
                                        </p:tgtEl>
                                        <p:attrNameLst>
                                          <p:attrName>style.visibility</p:attrName>
                                        </p:attrNameLst>
                                      </p:cBhvr>
                                      <p:to>
                                        <p:strVal val="visible"/>
                                      </p:to>
                                    </p:set>
                                    <p:animEffect transition="in" filter="fade">
                                      <p:cBhvr>
                                        <p:cTn id="1050" dur="500"/>
                                        <p:tgtEl>
                                          <p:spTgt spid="24"/>
                                        </p:tgtEl>
                                      </p:cBhvr>
                                    </p:animEffect>
                                  </p:childTnLst>
                                </p:cTn>
                              </p:par>
                              <p:par>
                                <p:cTn id="1051" presetID="0" presetClass="path" fill="hold" grpId="7" nodeType="withEffect">
                                  <p:stCondLst>
                                    <p:cond delay="11000"/>
                                  </p:stCondLst>
                                  <p:childTnLst>
                                    <p:animMotion origin="layout" path="M 0 0 L -0.01344 -0.14733 E" pathEditMode="relative" ptsTypes="AA">
                                      <p:cBhvr additive="base">
                                        <p:cTn id="1052" dur="4000" fill="hold"/>
                                        <p:tgtEl>
                                          <p:spTgt spid="24"/>
                                        </p:tgtEl>
                                        <p:attrNameLst>
                                          <p:attrName>ppt_x</p:attrName>
                                          <p:attrName>ppt_y</p:attrName>
                                        </p:attrNameLst>
                                      </p:cBhvr>
                                      <p:rCtr x="0" y="0"/>
                                    </p:animMotion>
                                    <p:animScale>
                                      <p:cBhvr>
                                        <p:cTn id="1053" dur="4000" fill="hold"/>
                                        <p:tgtEl>
                                          <p:spTgt spid="24"/>
                                        </p:tgtEl>
                                      </p:cBhvr>
                                      <p:from x="100000" y="100000"/>
                                      <p:to x="320000" y="320000"/>
                                    </p:animScale>
                                  </p:childTnLst>
                                </p:cTn>
                              </p:par>
                              <p:par>
                                <p:cTn id="1054" presetID="10" presetClass="exit" fill="hold" grpId="8" nodeType="withEffect">
                                  <p:stCondLst>
                                    <p:cond delay="14100"/>
                                  </p:stCondLst>
                                  <p:childTnLst>
                                    <p:animEffect transition="out" filter="fade">
                                      <p:cBhvr>
                                        <p:cTn id="1055" dur="900"/>
                                        <p:tgtEl>
                                          <p:spTgt spid="24"/>
                                        </p:tgtEl>
                                      </p:cBhvr>
                                    </p:animEffect>
                                    <p:set>
                                      <p:cBhvr>
                                        <p:cTn id="1056" dur="1" fill="hold">
                                          <p:stCondLst>
                                            <p:cond delay="899"/>
                                          </p:stCondLst>
                                        </p:cTn>
                                        <p:tgtEl>
                                          <p:spTgt spid="24"/>
                                        </p:tgtEl>
                                        <p:attrNameLst>
                                          <p:attrName>style.visibility</p:attrName>
                                        </p:attrNameLst>
                                      </p:cBhvr>
                                      <p:to>
                                        <p:strVal val="hidden"/>
                                      </p:to>
                                    </p:set>
                                  </p:childTnLst>
                                </p:cTn>
                              </p:par>
                            </p:childTnLst>
                          </p:cTn>
                        </p:par>
                        <p:par>
                          <p:cTn id="1067" fill="hold">
                            <p:stCondLst>
                              <p:cond delay="0"/>
                            </p:stCondLst>
                            <p:childTnLst>
                              <p:par>
                                <p:cTn id="1058" presetID="10" presetClass="entr" fill="hold" grpId="9" nodeType="withEffect">
                                  <p:stCondLst>
                                    <p:cond delay="15000"/>
                                  </p:stCondLst>
                                  <p:childTnLst>
                                    <p:set>
                                      <p:cBhvr>
                                        <p:cTn id="1059" dur="1" fill="hold">
                                          <p:stCondLst>
                                            <p:cond delay="0"/>
                                          </p:stCondLst>
                                        </p:cTn>
                                        <p:tgtEl>
                                          <p:spTgt spid="24"/>
                                        </p:tgtEl>
                                        <p:attrNameLst>
                                          <p:attrName>style.visibility</p:attrName>
                                        </p:attrNameLst>
                                      </p:cBhvr>
                                      <p:to>
                                        <p:strVal val="visible"/>
                                      </p:to>
                                    </p:set>
                                    <p:animEffect transition="in" filter="fade">
                                      <p:cBhvr>
                                        <p:cTn id="1060" dur="500"/>
                                        <p:tgtEl>
                                          <p:spTgt spid="24"/>
                                        </p:tgtEl>
                                      </p:cBhvr>
                                    </p:animEffect>
                                  </p:childTnLst>
                                </p:cTn>
                              </p:par>
                              <p:par>
                                <p:cTn id="1061" presetID="0" presetClass="path" fill="hold" grpId="10" nodeType="withEffect">
                                  <p:stCondLst>
                                    <p:cond delay="15000"/>
                                  </p:stCondLst>
                                  <p:childTnLst>
                                    <p:animMotion origin="layout" path="M 0 0 L -0.01344 -0.14733 E" pathEditMode="relative" ptsTypes="AA">
                                      <p:cBhvr additive="base">
                                        <p:cTn id="1062" dur="4000" fill="hold"/>
                                        <p:tgtEl>
                                          <p:spTgt spid="24"/>
                                        </p:tgtEl>
                                        <p:attrNameLst>
                                          <p:attrName>ppt_x</p:attrName>
                                          <p:attrName>ppt_y</p:attrName>
                                        </p:attrNameLst>
                                      </p:cBhvr>
                                      <p:rCtr x="0" y="0"/>
                                    </p:animMotion>
                                    <p:animScale>
                                      <p:cBhvr>
                                        <p:cTn id="1063" dur="4000" fill="hold"/>
                                        <p:tgtEl>
                                          <p:spTgt spid="24"/>
                                        </p:tgtEl>
                                      </p:cBhvr>
                                      <p:from x="100000" y="100000"/>
                                      <p:to x="320000" y="320000"/>
                                    </p:animScale>
                                  </p:childTnLst>
                                </p:cTn>
                              </p:par>
                              <p:par>
                                <p:cTn id="1064" presetID="10" presetClass="exit" fill="hold" grpId="11" nodeType="withEffect">
                                  <p:stCondLst>
                                    <p:cond delay="18100"/>
                                  </p:stCondLst>
                                  <p:childTnLst>
                                    <p:animEffect transition="out" filter="fade">
                                      <p:cBhvr>
                                        <p:cTn id="1065" dur="900"/>
                                        <p:tgtEl>
                                          <p:spTgt spid="24"/>
                                        </p:tgtEl>
                                      </p:cBhvr>
                                    </p:animEffect>
                                    <p:set>
                                      <p:cBhvr>
                                        <p:cTn id="1066" dur="1" fill="hold">
                                          <p:stCondLst>
                                            <p:cond delay="899"/>
                                          </p:stCondLst>
                                        </p:cTn>
                                        <p:tgtEl>
                                          <p:spTgt spid="24"/>
                                        </p:tgtEl>
                                        <p:attrNameLst>
                                          <p:attrName>style.visibility</p:attrName>
                                        </p:attrNameLst>
                                      </p:cBhvr>
                                      <p:to>
                                        <p:strVal val="hidden"/>
                                      </p:to>
                                    </p:set>
                                  </p:childTnLst>
                                </p:cTn>
                              </p:par>
                            </p:childTnLst>
                          </p:cTn>
                        </p:par>
                        <p:par>
                          <p:cTn id="1077" fill="hold">
                            <p:stCondLst>
                              <p:cond delay="0"/>
                            </p:stCondLst>
                            <p:childTnLst>
                              <p:par>
                                <p:cTn id="1068" presetID="10" presetClass="entr" fill="hold" grpId="12" nodeType="withEffect">
                                  <p:stCondLst>
                                    <p:cond delay="19000"/>
                                  </p:stCondLst>
                                  <p:childTnLst>
                                    <p:set>
                                      <p:cBhvr>
                                        <p:cTn id="1069" dur="1" fill="hold">
                                          <p:stCondLst>
                                            <p:cond delay="0"/>
                                          </p:stCondLst>
                                        </p:cTn>
                                        <p:tgtEl>
                                          <p:spTgt spid="24"/>
                                        </p:tgtEl>
                                        <p:attrNameLst>
                                          <p:attrName>style.visibility</p:attrName>
                                        </p:attrNameLst>
                                      </p:cBhvr>
                                      <p:to>
                                        <p:strVal val="visible"/>
                                      </p:to>
                                    </p:set>
                                    <p:animEffect transition="in" filter="fade">
                                      <p:cBhvr>
                                        <p:cTn id="1070" dur="500"/>
                                        <p:tgtEl>
                                          <p:spTgt spid="24"/>
                                        </p:tgtEl>
                                      </p:cBhvr>
                                    </p:animEffect>
                                  </p:childTnLst>
                                </p:cTn>
                              </p:par>
                              <p:par>
                                <p:cTn id="1071" presetID="0" presetClass="path" fill="hold" grpId="13" nodeType="withEffect">
                                  <p:stCondLst>
                                    <p:cond delay="19000"/>
                                  </p:stCondLst>
                                  <p:childTnLst>
                                    <p:animMotion origin="layout" path="M 0 0 L -0.01344 -0.14733 E" pathEditMode="relative" ptsTypes="AA">
                                      <p:cBhvr additive="base">
                                        <p:cTn id="1072" dur="4000" fill="hold"/>
                                        <p:tgtEl>
                                          <p:spTgt spid="24"/>
                                        </p:tgtEl>
                                        <p:attrNameLst>
                                          <p:attrName>ppt_x</p:attrName>
                                          <p:attrName>ppt_y</p:attrName>
                                        </p:attrNameLst>
                                      </p:cBhvr>
                                      <p:rCtr x="0" y="0"/>
                                    </p:animMotion>
                                    <p:animScale>
                                      <p:cBhvr>
                                        <p:cTn id="1073" dur="4000" fill="hold"/>
                                        <p:tgtEl>
                                          <p:spTgt spid="24"/>
                                        </p:tgtEl>
                                      </p:cBhvr>
                                      <p:from x="100000" y="100000"/>
                                      <p:to x="320000" y="320000"/>
                                    </p:animScale>
                                  </p:childTnLst>
                                </p:cTn>
                              </p:par>
                              <p:par>
                                <p:cTn id="1074" presetID="10" presetClass="exit" fill="hold" grpId="14" nodeType="withEffect">
                                  <p:stCondLst>
                                    <p:cond delay="22100"/>
                                  </p:stCondLst>
                                  <p:childTnLst>
                                    <p:animEffect transition="out" filter="fade">
                                      <p:cBhvr>
                                        <p:cTn id="1075" dur="900"/>
                                        <p:tgtEl>
                                          <p:spTgt spid="24"/>
                                        </p:tgtEl>
                                      </p:cBhvr>
                                    </p:animEffect>
                                    <p:set>
                                      <p:cBhvr>
                                        <p:cTn id="1076" dur="1" fill="hold">
                                          <p:stCondLst>
                                            <p:cond delay="899"/>
                                          </p:stCondLst>
                                        </p:cTn>
                                        <p:tgtEl>
                                          <p:spTgt spid="24"/>
                                        </p:tgtEl>
                                        <p:attrNameLst>
                                          <p:attrName>style.visibility</p:attrName>
                                        </p:attrNameLst>
                                      </p:cBhvr>
                                      <p:to>
                                        <p:strVal val="hidden"/>
                                      </p:to>
                                    </p:set>
                                  </p:childTnLst>
                                </p:cTn>
                              </p:par>
                            </p:childTnLst>
                          </p:cTn>
                        </p:par>
                        <p:par>
                          <p:cTn id="1087" fill="hold">
                            <p:stCondLst>
                              <p:cond delay="0"/>
                            </p:stCondLst>
                            <p:childTnLst>
                              <p:par>
                                <p:cTn id="1078" presetID="10" presetClass="entr" fill="hold" grpId="15" nodeType="withEffect">
                                  <p:stCondLst>
                                    <p:cond delay="23000"/>
                                  </p:stCondLst>
                                  <p:childTnLst>
                                    <p:set>
                                      <p:cBhvr>
                                        <p:cTn id="1079" dur="1" fill="hold">
                                          <p:stCondLst>
                                            <p:cond delay="0"/>
                                          </p:stCondLst>
                                        </p:cTn>
                                        <p:tgtEl>
                                          <p:spTgt spid="24"/>
                                        </p:tgtEl>
                                        <p:attrNameLst>
                                          <p:attrName>style.visibility</p:attrName>
                                        </p:attrNameLst>
                                      </p:cBhvr>
                                      <p:to>
                                        <p:strVal val="visible"/>
                                      </p:to>
                                    </p:set>
                                    <p:animEffect transition="in" filter="fade">
                                      <p:cBhvr>
                                        <p:cTn id="1080" dur="500"/>
                                        <p:tgtEl>
                                          <p:spTgt spid="24"/>
                                        </p:tgtEl>
                                      </p:cBhvr>
                                    </p:animEffect>
                                  </p:childTnLst>
                                </p:cTn>
                              </p:par>
                              <p:par>
                                <p:cTn id="1081" presetID="0" presetClass="path" fill="hold" grpId="16" nodeType="withEffect">
                                  <p:stCondLst>
                                    <p:cond delay="23000"/>
                                  </p:stCondLst>
                                  <p:childTnLst>
                                    <p:animMotion origin="layout" path="M 0 0 L -0.01344 -0.14733 E" pathEditMode="relative" ptsTypes="AA">
                                      <p:cBhvr additive="base">
                                        <p:cTn id="1082" dur="4000" fill="hold"/>
                                        <p:tgtEl>
                                          <p:spTgt spid="24"/>
                                        </p:tgtEl>
                                        <p:attrNameLst>
                                          <p:attrName>ppt_x</p:attrName>
                                          <p:attrName>ppt_y</p:attrName>
                                        </p:attrNameLst>
                                      </p:cBhvr>
                                      <p:rCtr x="0" y="0"/>
                                    </p:animMotion>
                                    <p:animScale>
                                      <p:cBhvr>
                                        <p:cTn id="1083" dur="4000" fill="hold"/>
                                        <p:tgtEl>
                                          <p:spTgt spid="24"/>
                                        </p:tgtEl>
                                      </p:cBhvr>
                                      <p:from x="100000" y="100000"/>
                                      <p:to x="320000" y="320000"/>
                                    </p:animScale>
                                  </p:childTnLst>
                                </p:cTn>
                              </p:par>
                              <p:par>
                                <p:cTn id="1084" presetID="10" presetClass="exit" fill="hold" grpId="17" nodeType="withEffect">
                                  <p:stCondLst>
                                    <p:cond delay="26100"/>
                                  </p:stCondLst>
                                  <p:childTnLst>
                                    <p:animEffect transition="out" filter="fade">
                                      <p:cBhvr>
                                        <p:cTn id="1085" dur="900"/>
                                        <p:tgtEl>
                                          <p:spTgt spid="24"/>
                                        </p:tgtEl>
                                      </p:cBhvr>
                                    </p:animEffect>
                                    <p:set>
                                      <p:cBhvr>
                                        <p:cTn id="1086" dur="1" fill="hold">
                                          <p:stCondLst>
                                            <p:cond delay="899"/>
                                          </p:stCondLst>
                                        </p:cTn>
                                        <p:tgtEl>
                                          <p:spTgt spid="24"/>
                                        </p:tgtEl>
                                        <p:attrNameLst>
                                          <p:attrName>style.visibility</p:attrName>
                                        </p:attrNameLst>
                                      </p:cBhvr>
                                      <p:to>
                                        <p:strVal val="hidden"/>
                                      </p:to>
                                    </p:set>
                                  </p:childTnLst>
                                </p:cTn>
                              </p:par>
                            </p:childTnLst>
                          </p:cTn>
                        </p:par>
                        <p:par>
                          <p:cTn id="1097" fill="hold">
                            <p:stCondLst>
                              <p:cond delay="0"/>
                            </p:stCondLst>
                            <p:childTnLst>
                              <p:par>
                                <p:cTn id="1088" presetID="10" presetClass="entr" fill="hold" grpId="18" nodeType="withEffect">
                                  <p:stCondLst>
                                    <p:cond delay="27000"/>
                                  </p:stCondLst>
                                  <p:childTnLst>
                                    <p:set>
                                      <p:cBhvr>
                                        <p:cTn id="1089" dur="1" fill="hold">
                                          <p:stCondLst>
                                            <p:cond delay="0"/>
                                          </p:stCondLst>
                                        </p:cTn>
                                        <p:tgtEl>
                                          <p:spTgt spid="24"/>
                                        </p:tgtEl>
                                        <p:attrNameLst>
                                          <p:attrName>style.visibility</p:attrName>
                                        </p:attrNameLst>
                                      </p:cBhvr>
                                      <p:to>
                                        <p:strVal val="visible"/>
                                      </p:to>
                                    </p:set>
                                    <p:animEffect transition="in" filter="fade">
                                      <p:cBhvr>
                                        <p:cTn id="1090" dur="500"/>
                                        <p:tgtEl>
                                          <p:spTgt spid="24"/>
                                        </p:tgtEl>
                                      </p:cBhvr>
                                    </p:animEffect>
                                  </p:childTnLst>
                                </p:cTn>
                              </p:par>
                              <p:par>
                                <p:cTn id="1091" presetID="0" presetClass="path" fill="hold" grpId="19" nodeType="withEffect">
                                  <p:stCondLst>
                                    <p:cond delay="27000"/>
                                  </p:stCondLst>
                                  <p:childTnLst>
                                    <p:animMotion origin="layout" path="M 0 0 L -0.01344 -0.14733 E" pathEditMode="relative" ptsTypes="AA">
                                      <p:cBhvr additive="base">
                                        <p:cTn id="1092" dur="4000" fill="hold"/>
                                        <p:tgtEl>
                                          <p:spTgt spid="24"/>
                                        </p:tgtEl>
                                        <p:attrNameLst>
                                          <p:attrName>ppt_x</p:attrName>
                                          <p:attrName>ppt_y</p:attrName>
                                        </p:attrNameLst>
                                      </p:cBhvr>
                                      <p:rCtr x="0" y="0"/>
                                    </p:animMotion>
                                    <p:animScale>
                                      <p:cBhvr>
                                        <p:cTn id="1093" dur="4000" fill="hold"/>
                                        <p:tgtEl>
                                          <p:spTgt spid="24"/>
                                        </p:tgtEl>
                                      </p:cBhvr>
                                      <p:from x="100000" y="100000"/>
                                      <p:to x="320000" y="320000"/>
                                    </p:animScale>
                                  </p:childTnLst>
                                </p:cTn>
                              </p:par>
                              <p:par>
                                <p:cTn id="1094" presetID="10" presetClass="exit" fill="hold" grpId="20" nodeType="withEffect">
                                  <p:stCondLst>
                                    <p:cond delay="30100"/>
                                  </p:stCondLst>
                                  <p:childTnLst>
                                    <p:animEffect transition="out" filter="fade">
                                      <p:cBhvr>
                                        <p:cTn id="1095" dur="900"/>
                                        <p:tgtEl>
                                          <p:spTgt spid="24"/>
                                        </p:tgtEl>
                                      </p:cBhvr>
                                    </p:animEffect>
                                    <p:set>
                                      <p:cBhvr>
                                        <p:cTn id="1096" dur="1" fill="hold">
                                          <p:stCondLst>
                                            <p:cond delay="899"/>
                                          </p:stCondLst>
                                        </p:cTn>
                                        <p:tgtEl>
                                          <p:spTgt spid="24"/>
                                        </p:tgtEl>
                                        <p:attrNameLst>
                                          <p:attrName>style.visibility</p:attrName>
                                        </p:attrNameLst>
                                      </p:cBhvr>
                                      <p:to>
                                        <p:strVal val="hidden"/>
                                      </p:to>
                                    </p:set>
                                  </p:childTnLst>
                                </p:cTn>
                              </p:par>
                            </p:childTnLst>
                          </p:cTn>
                        </p:par>
                        <p:par>
                          <p:cTn id="1107" fill="hold">
                            <p:stCondLst>
                              <p:cond delay="0"/>
                            </p:stCondLst>
                            <p:childTnLst>
                              <p:par>
                                <p:cTn id="1098" presetID="10" presetClass="entr" fill="hold" grpId="21" nodeType="withEffect">
                                  <p:stCondLst>
                                    <p:cond delay="31000"/>
                                  </p:stCondLst>
                                  <p:childTnLst>
                                    <p:set>
                                      <p:cBhvr>
                                        <p:cTn id="1099" dur="1" fill="hold">
                                          <p:stCondLst>
                                            <p:cond delay="0"/>
                                          </p:stCondLst>
                                        </p:cTn>
                                        <p:tgtEl>
                                          <p:spTgt spid="24"/>
                                        </p:tgtEl>
                                        <p:attrNameLst>
                                          <p:attrName>style.visibility</p:attrName>
                                        </p:attrNameLst>
                                      </p:cBhvr>
                                      <p:to>
                                        <p:strVal val="visible"/>
                                      </p:to>
                                    </p:set>
                                    <p:animEffect transition="in" filter="fade">
                                      <p:cBhvr>
                                        <p:cTn id="1100" dur="500"/>
                                        <p:tgtEl>
                                          <p:spTgt spid="24"/>
                                        </p:tgtEl>
                                      </p:cBhvr>
                                    </p:animEffect>
                                  </p:childTnLst>
                                </p:cTn>
                              </p:par>
                              <p:par>
                                <p:cTn id="1101" presetID="0" presetClass="path" fill="hold" grpId="22" nodeType="withEffect">
                                  <p:stCondLst>
                                    <p:cond delay="31000"/>
                                  </p:stCondLst>
                                  <p:childTnLst>
                                    <p:animMotion origin="layout" path="M 0 0 L -0.01344 -0.14733 E" pathEditMode="relative" ptsTypes="AA">
                                      <p:cBhvr additive="base">
                                        <p:cTn id="1102" dur="4000" fill="hold"/>
                                        <p:tgtEl>
                                          <p:spTgt spid="24"/>
                                        </p:tgtEl>
                                        <p:attrNameLst>
                                          <p:attrName>ppt_x</p:attrName>
                                          <p:attrName>ppt_y</p:attrName>
                                        </p:attrNameLst>
                                      </p:cBhvr>
                                      <p:rCtr x="0" y="0"/>
                                    </p:animMotion>
                                    <p:animScale>
                                      <p:cBhvr>
                                        <p:cTn id="1103" dur="4000" fill="hold"/>
                                        <p:tgtEl>
                                          <p:spTgt spid="24"/>
                                        </p:tgtEl>
                                      </p:cBhvr>
                                      <p:from x="100000" y="100000"/>
                                      <p:to x="320000" y="320000"/>
                                    </p:animScale>
                                  </p:childTnLst>
                                </p:cTn>
                              </p:par>
                              <p:par>
                                <p:cTn id="1104" presetID="10" presetClass="exit" fill="hold" grpId="23" nodeType="withEffect">
                                  <p:stCondLst>
                                    <p:cond delay="34100"/>
                                  </p:stCondLst>
                                  <p:childTnLst>
                                    <p:animEffect transition="out" filter="fade">
                                      <p:cBhvr>
                                        <p:cTn id="1105" dur="900"/>
                                        <p:tgtEl>
                                          <p:spTgt spid="24"/>
                                        </p:tgtEl>
                                      </p:cBhvr>
                                    </p:animEffect>
                                    <p:set>
                                      <p:cBhvr>
                                        <p:cTn id="1106" dur="1" fill="hold">
                                          <p:stCondLst>
                                            <p:cond delay="899"/>
                                          </p:stCondLst>
                                        </p:cTn>
                                        <p:tgtEl>
                                          <p:spTgt spid="24"/>
                                        </p:tgtEl>
                                        <p:attrNameLst>
                                          <p:attrName>style.visibility</p:attrName>
                                        </p:attrNameLst>
                                      </p:cBhvr>
                                      <p:to>
                                        <p:strVal val="hidden"/>
                                      </p:to>
                                    </p:set>
                                  </p:childTnLst>
                                </p:cTn>
                              </p:par>
                            </p:childTnLst>
                          </p:cTn>
                        </p:par>
                        <p:par>
                          <p:cTn id="1117" fill="hold">
                            <p:stCondLst>
                              <p:cond delay="0"/>
                            </p:stCondLst>
                            <p:childTnLst>
                              <p:par>
                                <p:cTn id="1108" presetID="10" presetClass="entr" fill="hold" grpId="24" nodeType="withEffect">
                                  <p:stCondLst>
                                    <p:cond delay="35000"/>
                                  </p:stCondLst>
                                  <p:childTnLst>
                                    <p:set>
                                      <p:cBhvr>
                                        <p:cTn id="1109" dur="1" fill="hold">
                                          <p:stCondLst>
                                            <p:cond delay="0"/>
                                          </p:stCondLst>
                                        </p:cTn>
                                        <p:tgtEl>
                                          <p:spTgt spid="24"/>
                                        </p:tgtEl>
                                        <p:attrNameLst>
                                          <p:attrName>style.visibility</p:attrName>
                                        </p:attrNameLst>
                                      </p:cBhvr>
                                      <p:to>
                                        <p:strVal val="visible"/>
                                      </p:to>
                                    </p:set>
                                    <p:animEffect transition="in" filter="fade">
                                      <p:cBhvr>
                                        <p:cTn id="1110" dur="500"/>
                                        <p:tgtEl>
                                          <p:spTgt spid="24"/>
                                        </p:tgtEl>
                                      </p:cBhvr>
                                    </p:animEffect>
                                  </p:childTnLst>
                                </p:cTn>
                              </p:par>
                              <p:par>
                                <p:cTn id="1111" presetID="0" presetClass="path" fill="hold" grpId="25" nodeType="withEffect">
                                  <p:stCondLst>
                                    <p:cond delay="35000"/>
                                  </p:stCondLst>
                                  <p:childTnLst>
                                    <p:animMotion origin="layout" path="M 0 0 L -0.01344 -0.14733 E" pathEditMode="relative" ptsTypes="AA">
                                      <p:cBhvr additive="base">
                                        <p:cTn id="1112" dur="4000" fill="hold"/>
                                        <p:tgtEl>
                                          <p:spTgt spid="24"/>
                                        </p:tgtEl>
                                        <p:attrNameLst>
                                          <p:attrName>ppt_x</p:attrName>
                                          <p:attrName>ppt_y</p:attrName>
                                        </p:attrNameLst>
                                      </p:cBhvr>
                                      <p:rCtr x="0" y="0"/>
                                    </p:animMotion>
                                    <p:animScale>
                                      <p:cBhvr>
                                        <p:cTn id="1113" dur="4000" fill="hold"/>
                                        <p:tgtEl>
                                          <p:spTgt spid="24"/>
                                        </p:tgtEl>
                                      </p:cBhvr>
                                      <p:from x="100000" y="100000"/>
                                      <p:to x="320000" y="320000"/>
                                    </p:animScale>
                                  </p:childTnLst>
                                </p:cTn>
                              </p:par>
                              <p:par>
                                <p:cTn id="1114" presetID="10" presetClass="exit" fill="hold" grpId="26" nodeType="withEffect">
                                  <p:stCondLst>
                                    <p:cond delay="38100"/>
                                  </p:stCondLst>
                                  <p:childTnLst>
                                    <p:animEffect transition="out" filter="fade">
                                      <p:cBhvr>
                                        <p:cTn id="1115" dur="900"/>
                                        <p:tgtEl>
                                          <p:spTgt spid="24"/>
                                        </p:tgtEl>
                                      </p:cBhvr>
                                    </p:animEffect>
                                    <p:set>
                                      <p:cBhvr>
                                        <p:cTn id="1116" dur="1" fill="hold">
                                          <p:stCondLst>
                                            <p:cond delay="899"/>
                                          </p:stCondLst>
                                        </p:cTn>
                                        <p:tgtEl>
                                          <p:spTgt spid="24"/>
                                        </p:tgtEl>
                                        <p:attrNameLst>
                                          <p:attrName>style.visibility</p:attrName>
                                        </p:attrNameLst>
                                      </p:cBhvr>
                                      <p:to>
                                        <p:strVal val="hidden"/>
                                      </p:to>
                                    </p:set>
                                  </p:childTnLst>
                                </p:cTn>
                              </p:par>
                            </p:childTnLst>
                          </p:cTn>
                        </p:par>
                        <p:par>
                          <p:cTn id="1127" fill="hold">
                            <p:stCondLst>
                              <p:cond delay="0"/>
                            </p:stCondLst>
                            <p:childTnLst>
                              <p:par>
                                <p:cTn id="1118" presetID="10" presetClass="entr" fill="hold" grpId="27" nodeType="withEffect">
                                  <p:stCondLst>
                                    <p:cond delay="39000"/>
                                  </p:stCondLst>
                                  <p:childTnLst>
                                    <p:set>
                                      <p:cBhvr>
                                        <p:cTn id="1119" dur="1" fill="hold">
                                          <p:stCondLst>
                                            <p:cond delay="0"/>
                                          </p:stCondLst>
                                        </p:cTn>
                                        <p:tgtEl>
                                          <p:spTgt spid="24"/>
                                        </p:tgtEl>
                                        <p:attrNameLst>
                                          <p:attrName>style.visibility</p:attrName>
                                        </p:attrNameLst>
                                      </p:cBhvr>
                                      <p:to>
                                        <p:strVal val="visible"/>
                                      </p:to>
                                    </p:set>
                                    <p:animEffect transition="in" filter="fade">
                                      <p:cBhvr>
                                        <p:cTn id="1120" dur="500"/>
                                        <p:tgtEl>
                                          <p:spTgt spid="24"/>
                                        </p:tgtEl>
                                      </p:cBhvr>
                                    </p:animEffect>
                                  </p:childTnLst>
                                </p:cTn>
                              </p:par>
                              <p:par>
                                <p:cTn id="1121" presetID="0" presetClass="path" fill="hold" grpId="28" nodeType="withEffect">
                                  <p:stCondLst>
                                    <p:cond delay="39000"/>
                                  </p:stCondLst>
                                  <p:childTnLst>
                                    <p:animMotion origin="layout" path="M 0 0 L -0.01344 -0.14733 E" pathEditMode="relative" ptsTypes="AA">
                                      <p:cBhvr additive="base">
                                        <p:cTn id="1122" dur="4000" fill="hold"/>
                                        <p:tgtEl>
                                          <p:spTgt spid="24"/>
                                        </p:tgtEl>
                                        <p:attrNameLst>
                                          <p:attrName>ppt_x</p:attrName>
                                          <p:attrName>ppt_y</p:attrName>
                                        </p:attrNameLst>
                                      </p:cBhvr>
                                      <p:rCtr x="0" y="0"/>
                                    </p:animMotion>
                                    <p:animScale>
                                      <p:cBhvr>
                                        <p:cTn id="1123" dur="4000" fill="hold"/>
                                        <p:tgtEl>
                                          <p:spTgt spid="24"/>
                                        </p:tgtEl>
                                      </p:cBhvr>
                                      <p:from x="100000" y="100000"/>
                                      <p:to x="320000" y="320000"/>
                                    </p:animScale>
                                  </p:childTnLst>
                                </p:cTn>
                              </p:par>
                              <p:par>
                                <p:cTn id="1124" presetID="10" presetClass="exit" fill="hold" grpId="29" nodeType="withEffect">
                                  <p:stCondLst>
                                    <p:cond delay="42100"/>
                                  </p:stCondLst>
                                  <p:childTnLst>
                                    <p:animEffect transition="out" filter="fade">
                                      <p:cBhvr>
                                        <p:cTn id="1125" dur="900"/>
                                        <p:tgtEl>
                                          <p:spTgt spid="24"/>
                                        </p:tgtEl>
                                      </p:cBhvr>
                                    </p:animEffect>
                                    <p:set>
                                      <p:cBhvr>
                                        <p:cTn id="1126" dur="1" fill="hold">
                                          <p:stCondLst>
                                            <p:cond delay="899"/>
                                          </p:stCondLst>
                                        </p:cTn>
                                        <p:tgtEl>
                                          <p:spTgt spid="24"/>
                                        </p:tgtEl>
                                        <p:attrNameLst>
                                          <p:attrName>style.visibility</p:attrName>
                                        </p:attrNameLst>
                                      </p:cBhvr>
                                      <p:to>
                                        <p:strVal val="hidden"/>
                                      </p:to>
                                    </p:set>
                                  </p:childTnLst>
                                </p:cTn>
                              </p:par>
                            </p:childTnLst>
                          </p:cTn>
                        </p:par>
                        <p:par>
                          <p:cTn id="1137" fill="hold">
                            <p:stCondLst>
                              <p:cond delay="0"/>
                            </p:stCondLst>
                            <p:childTnLst>
                              <p:par>
                                <p:cTn id="1128" presetID="10" presetClass="entr" fill="hold" grpId="30" nodeType="withEffect">
                                  <p:stCondLst>
                                    <p:cond delay="43000"/>
                                  </p:stCondLst>
                                  <p:childTnLst>
                                    <p:set>
                                      <p:cBhvr>
                                        <p:cTn id="1129" dur="1" fill="hold">
                                          <p:stCondLst>
                                            <p:cond delay="0"/>
                                          </p:stCondLst>
                                        </p:cTn>
                                        <p:tgtEl>
                                          <p:spTgt spid="24"/>
                                        </p:tgtEl>
                                        <p:attrNameLst>
                                          <p:attrName>style.visibility</p:attrName>
                                        </p:attrNameLst>
                                      </p:cBhvr>
                                      <p:to>
                                        <p:strVal val="visible"/>
                                      </p:to>
                                    </p:set>
                                    <p:animEffect transition="in" filter="fade">
                                      <p:cBhvr>
                                        <p:cTn id="1130" dur="500"/>
                                        <p:tgtEl>
                                          <p:spTgt spid="24"/>
                                        </p:tgtEl>
                                      </p:cBhvr>
                                    </p:animEffect>
                                  </p:childTnLst>
                                </p:cTn>
                              </p:par>
                              <p:par>
                                <p:cTn id="1131" presetID="0" presetClass="path" fill="hold" grpId="31" nodeType="withEffect">
                                  <p:stCondLst>
                                    <p:cond delay="43000"/>
                                  </p:stCondLst>
                                  <p:childTnLst>
                                    <p:animMotion origin="layout" path="M 0 0 L -0.01344 -0.14733 E" pathEditMode="relative" ptsTypes="AA">
                                      <p:cBhvr additive="base">
                                        <p:cTn id="1132" dur="4000" fill="hold"/>
                                        <p:tgtEl>
                                          <p:spTgt spid="24"/>
                                        </p:tgtEl>
                                        <p:attrNameLst>
                                          <p:attrName>ppt_x</p:attrName>
                                          <p:attrName>ppt_y</p:attrName>
                                        </p:attrNameLst>
                                      </p:cBhvr>
                                      <p:rCtr x="0" y="0"/>
                                    </p:animMotion>
                                    <p:animScale>
                                      <p:cBhvr>
                                        <p:cTn id="1133" dur="4000" fill="hold"/>
                                        <p:tgtEl>
                                          <p:spTgt spid="24"/>
                                        </p:tgtEl>
                                      </p:cBhvr>
                                      <p:from x="100000" y="100000"/>
                                      <p:to x="320000" y="320000"/>
                                    </p:animScale>
                                  </p:childTnLst>
                                </p:cTn>
                              </p:par>
                              <p:par>
                                <p:cTn id="1134" presetID="10" presetClass="exit" fill="hold" grpId="32" nodeType="withEffect">
                                  <p:stCondLst>
                                    <p:cond delay="46100"/>
                                  </p:stCondLst>
                                  <p:childTnLst>
                                    <p:animEffect transition="out" filter="fade">
                                      <p:cBhvr>
                                        <p:cTn id="1135" dur="900"/>
                                        <p:tgtEl>
                                          <p:spTgt spid="24"/>
                                        </p:tgtEl>
                                      </p:cBhvr>
                                    </p:animEffect>
                                    <p:set>
                                      <p:cBhvr>
                                        <p:cTn id="1136" dur="1" fill="hold">
                                          <p:stCondLst>
                                            <p:cond delay="899"/>
                                          </p:stCondLst>
                                        </p:cTn>
                                        <p:tgtEl>
                                          <p:spTgt spid="24"/>
                                        </p:tgtEl>
                                        <p:attrNameLst>
                                          <p:attrName>style.visibility</p:attrName>
                                        </p:attrNameLst>
                                      </p:cBhvr>
                                      <p:to>
                                        <p:strVal val="hidden"/>
                                      </p:to>
                                    </p:set>
                                  </p:childTnLst>
                                </p:cTn>
                              </p:par>
                            </p:childTnLst>
                          </p:cTn>
                        </p:par>
                        <p:par>
                          <p:cTn id="1147" fill="hold">
                            <p:stCondLst>
                              <p:cond delay="0"/>
                            </p:stCondLst>
                            <p:childTnLst>
                              <p:par>
                                <p:cTn id="1138" presetID="10" presetClass="entr" fill="hold" grpId="33" nodeType="withEffect">
                                  <p:stCondLst>
                                    <p:cond delay="47000"/>
                                  </p:stCondLst>
                                  <p:childTnLst>
                                    <p:set>
                                      <p:cBhvr>
                                        <p:cTn id="1139" dur="1" fill="hold">
                                          <p:stCondLst>
                                            <p:cond delay="0"/>
                                          </p:stCondLst>
                                        </p:cTn>
                                        <p:tgtEl>
                                          <p:spTgt spid="24"/>
                                        </p:tgtEl>
                                        <p:attrNameLst>
                                          <p:attrName>style.visibility</p:attrName>
                                        </p:attrNameLst>
                                      </p:cBhvr>
                                      <p:to>
                                        <p:strVal val="visible"/>
                                      </p:to>
                                    </p:set>
                                    <p:animEffect transition="in" filter="fade">
                                      <p:cBhvr>
                                        <p:cTn id="1140" dur="500"/>
                                        <p:tgtEl>
                                          <p:spTgt spid="24"/>
                                        </p:tgtEl>
                                      </p:cBhvr>
                                    </p:animEffect>
                                  </p:childTnLst>
                                </p:cTn>
                              </p:par>
                              <p:par>
                                <p:cTn id="1141" presetID="0" presetClass="path" fill="hold" grpId="34" nodeType="withEffect">
                                  <p:stCondLst>
                                    <p:cond delay="47000"/>
                                  </p:stCondLst>
                                  <p:childTnLst>
                                    <p:animMotion origin="layout" path="M 0 0 L -0.01344 -0.14733 E" pathEditMode="relative" ptsTypes="AA">
                                      <p:cBhvr additive="base">
                                        <p:cTn id="1142" dur="4000" fill="hold"/>
                                        <p:tgtEl>
                                          <p:spTgt spid="24"/>
                                        </p:tgtEl>
                                        <p:attrNameLst>
                                          <p:attrName>ppt_x</p:attrName>
                                          <p:attrName>ppt_y</p:attrName>
                                        </p:attrNameLst>
                                      </p:cBhvr>
                                      <p:rCtr x="0" y="0"/>
                                    </p:animMotion>
                                    <p:animScale>
                                      <p:cBhvr>
                                        <p:cTn id="1143" dur="4000" fill="hold"/>
                                        <p:tgtEl>
                                          <p:spTgt spid="24"/>
                                        </p:tgtEl>
                                      </p:cBhvr>
                                      <p:from x="100000" y="100000"/>
                                      <p:to x="320000" y="320000"/>
                                    </p:animScale>
                                  </p:childTnLst>
                                </p:cTn>
                              </p:par>
                              <p:par>
                                <p:cTn id="1144" presetID="10" presetClass="exit" fill="hold" grpId="35" nodeType="withEffect">
                                  <p:stCondLst>
                                    <p:cond delay="50100"/>
                                  </p:stCondLst>
                                  <p:childTnLst>
                                    <p:animEffect transition="out" filter="fade">
                                      <p:cBhvr>
                                        <p:cTn id="1145" dur="900"/>
                                        <p:tgtEl>
                                          <p:spTgt spid="24"/>
                                        </p:tgtEl>
                                      </p:cBhvr>
                                    </p:animEffect>
                                    <p:set>
                                      <p:cBhvr>
                                        <p:cTn id="1146" dur="1" fill="hold">
                                          <p:stCondLst>
                                            <p:cond delay="899"/>
                                          </p:stCondLst>
                                        </p:cTn>
                                        <p:tgtEl>
                                          <p:spTgt spid="24"/>
                                        </p:tgtEl>
                                        <p:attrNameLst>
                                          <p:attrName>style.visibility</p:attrName>
                                        </p:attrNameLst>
                                      </p:cBhvr>
                                      <p:to>
                                        <p:strVal val="hidden"/>
                                      </p:to>
                                    </p:set>
                                  </p:childTnLst>
                                </p:cTn>
                              </p:par>
                            </p:childTnLst>
                          </p:cTn>
                        </p:par>
                        <p:par>
                          <p:cTn id="1157" fill="hold">
                            <p:stCondLst>
                              <p:cond delay="0"/>
                            </p:stCondLst>
                            <p:childTnLst>
                              <p:par>
                                <p:cTn id="1148" presetID="10" presetClass="entr" fill="hold" grpId="36" nodeType="withEffect">
                                  <p:stCondLst>
                                    <p:cond delay="51000"/>
                                  </p:stCondLst>
                                  <p:childTnLst>
                                    <p:set>
                                      <p:cBhvr>
                                        <p:cTn id="1149" dur="1" fill="hold">
                                          <p:stCondLst>
                                            <p:cond delay="0"/>
                                          </p:stCondLst>
                                        </p:cTn>
                                        <p:tgtEl>
                                          <p:spTgt spid="24"/>
                                        </p:tgtEl>
                                        <p:attrNameLst>
                                          <p:attrName>style.visibility</p:attrName>
                                        </p:attrNameLst>
                                      </p:cBhvr>
                                      <p:to>
                                        <p:strVal val="visible"/>
                                      </p:to>
                                    </p:set>
                                    <p:animEffect transition="in" filter="fade">
                                      <p:cBhvr>
                                        <p:cTn id="1150" dur="500"/>
                                        <p:tgtEl>
                                          <p:spTgt spid="24"/>
                                        </p:tgtEl>
                                      </p:cBhvr>
                                    </p:animEffect>
                                  </p:childTnLst>
                                </p:cTn>
                              </p:par>
                              <p:par>
                                <p:cTn id="1151" presetID="0" presetClass="path" fill="hold" grpId="37" nodeType="withEffect">
                                  <p:stCondLst>
                                    <p:cond delay="51000"/>
                                  </p:stCondLst>
                                  <p:childTnLst>
                                    <p:animMotion origin="layout" path="M 0 0 L -0.01344 -0.14733 E" pathEditMode="relative" ptsTypes="AA">
                                      <p:cBhvr additive="base">
                                        <p:cTn id="1152" dur="4000" fill="hold"/>
                                        <p:tgtEl>
                                          <p:spTgt spid="24"/>
                                        </p:tgtEl>
                                        <p:attrNameLst>
                                          <p:attrName>ppt_x</p:attrName>
                                          <p:attrName>ppt_y</p:attrName>
                                        </p:attrNameLst>
                                      </p:cBhvr>
                                      <p:rCtr x="0" y="0"/>
                                    </p:animMotion>
                                    <p:animScale>
                                      <p:cBhvr>
                                        <p:cTn id="1153" dur="4000" fill="hold"/>
                                        <p:tgtEl>
                                          <p:spTgt spid="24"/>
                                        </p:tgtEl>
                                      </p:cBhvr>
                                      <p:from x="100000" y="100000"/>
                                      <p:to x="320000" y="320000"/>
                                    </p:animScale>
                                  </p:childTnLst>
                                </p:cTn>
                              </p:par>
                              <p:par>
                                <p:cTn id="1154" presetID="10" presetClass="exit" fill="hold" grpId="38" nodeType="withEffect">
                                  <p:stCondLst>
                                    <p:cond delay="54100"/>
                                  </p:stCondLst>
                                  <p:childTnLst>
                                    <p:animEffect transition="out" filter="fade">
                                      <p:cBhvr>
                                        <p:cTn id="1155" dur="900"/>
                                        <p:tgtEl>
                                          <p:spTgt spid="24"/>
                                        </p:tgtEl>
                                      </p:cBhvr>
                                    </p:animEffect>
                                    <p:set>
                                      <p:cBhvr>
                                        <p:cTn id="1156" dur="1" fill="hold">
                                          <p:stCondLst>
                                            <p:cond delay="899"/>
                                          </p:stCondLst>
                                        </p:cTn>
                                        <p:tgtEl>
                                          <p:spTgt spid="24"/>
                                        </p:tgtEl>
                                        <p:attrNameLst>
                                          <p:attrName>style.visibility</p:attrName>
                                        </p:attrNameLst>
                                      </p:cBhvr>
                                      <p:to>
                                        <p:strVal val="hidden"/>
                                      </p:to>
                                    </p:set>
                                  </p:childTnLst>
                                </p:cTn>
                              </p:par>
                            </p:childTnLst>
                          </p:cTn>
                        </p:par>
                        <p:par>
                          <p:cTn id="1167" fill="hold">
                            <p:stCondLst>
                              <p:cond delay="0"/>
                            </p:stCondLst>
                            <p:childTnLst>
                              <p:par>
                                <p:cTn id="1158" presetID="10" presetClass="entr" fill="hold" grpId="39" nodeType="withEffect">
                                  <p:stCondLst>
                                    <p:cond delay="55000"/>
                                  </p:stCondLst>
                                  <p:childTnLst>
                                    <p:set>
                                      <p:cBhvr>
                                        <p:cTn id="1159" dur="1" fill="hold">
                                          <p:stCondLst>
                                            <p:cond delay="0"/>
                                          </p:stCondLst>
                                        </p:cTn>
                                        <p:tgtEl>
                                          <p:spTgt spid="24"/>
                                        </p:tgtEl>
                                        <p:attrNameLst>
                                          <p:attrName>style.visibility</p:attrName>
                                        </p:attrNameLst>
                                      </p:cBhvr>
                                      <p:to>
                                        <p:strVal val="visible"/>
                                      </p:to>
                                    </p:set>
                                    <p:animEffect transition="in" filter="fade">
                                      <p:cBhvr>
                                        <p:cTn id="1160" dur="500"/>
                                        <p:tgtEl>
                                          <p:spTgt spid="24"/>
                                        </p:tgtEl>
                                      </p:cBhvr>
                                    </p:animEffect>
                                  </p:childTnLst>
                                </p:cTn>
                              </p:par>
                              <p:par>
                                <p:cTn id="1161" presetID="0" presetClass="path" fill="hold" grpId="40" nodeType="withEffect">
                                  <p:stCondLst>
                                    <p:cond delay="55000"/>
                                  </p:stCondLst>
                                  <p:childTnLst>
                                    <p:animMotion origin="layout" path="M 0 0 L -0.01344 -0.14733 E" pathEditMode="relative" ptsTypes="AA">
                                      <p:cBhvr additive="base">
                                        <p:cTn id="1162" dur="4000" fill="hold"/>
                                        <p:tgtEl>
                                          <p:spTgt spid="24"/>
                                        </p:tgtEl>
                                        <p:attrNameLst>
                                          <p:attrName>ppt_x</p:attrName>
                                          <p:attrName>ppt_y</p:attrName>
                                        </p:attrNameLst>
                                      </p:cBhvr>
                                      <p:rCtr x="0" y="0"/>
                                    </p:animMotion>
                                    <p:animScale>
                                      <p:cBhvr>
                                        <p:cTn id="1163" dur="4000" fill="hold"/>
                                        <p:tgtEl>
                                          <p:spTgt spid="24"/>
                                        </p:tgtEl>
                                      </p:cBhvr>
                                      <p:from x="100000" y="100000"/>
                                      <p:to x="320000" y="320000"/>
                                    </p:animScale>
                                  </p:childTnLst>
                                </p:cTn>
                              </p:par>
                              <p:par>
                                <p:cTn id="1164" presetID="10" presetClass="exit" fill="hold" grpId="41" nodeType="withEffect">
                                  <p:stCondLst>
                                    <p:cond delay="58100"/>
                                  </p:stCondLst>
                                  <p:childTnLst>
                                    <p:animEffect transition="out" filter="fade">
                                      <p:cBhvr>
                                        <p:cTn id="1165" dur="900"/>
                                        <p:tgtEl>
                                          <p:spTgt spid="24"/>
                                        </p:tgtEl>
                                      </p:cBhvr>
                                    </p:animEffect>
                                    <p:set>
                                      <p:cBhvr>
                                        <p:cTn id="1166" dur="1" fill="hold">
                                          <p:stCondLst>
                                            <p:cond delay="899"/>
                                          </p:stCondLst>
                                        </p:cTn>
                                        <p:tgtEl>
                                          <p:spTgt spid="24"/>
                                        </p:tgtEl>
                                        <p:attrNameLst>
                                          <p:attrName>style.visibility</p:attrName>
                                        </p:attrNameLst>
                                      </p:cBhvr>
                                      <p:to>
                                        <p:strVal val="hidden"/>
                                      </p:to>
                                    </p:set>
                                  </p:childTnLst>
                                </p:cTn>
                              </p:par>
                            </p:childTnLst>
                          </p:cTn>
                        </p:par>
                        <p:par>
                          <p:cTn id="1177" fill="hold">
                            <p:stCondLst>
                              <p:cond delay="0"/>
                            </p:stCondLst>
                            <p:childTnLst>
                              <p:par>
                                <p:cTn id="1168" presetID="10" presetClass="entr" fill="hold" grpId="0" nodeType="withEffect">
                                  <p:stCondLst>
                                    <p:cond delay="0"/>
                                  </p:stCondLst>
                                  <p:childTnLst>
                                    <p:set>
                                      <p:cBhvr>
                                        <p:cTn id="1169" dur="1" fill="hold">
                                          <p:stCondLst>
                                            <p:cond delay="0"/>
                                          </p:stCondLst>
                                        </p:cTn>
                                        <p:tgtEl>
                                          <p:spTgt spid="25"/>
                                        </p:tgtEl>
                                        <p:attrNameLst>
                                          <p:attrName>style.visibility</p:attrName>
                                        </p:attrNameLst>
                                      </p:cBhvr>
                                      <p:to>
                                        <p:strVal val="visible"/>
                                      </p:to>
                                    </p:set>
                                    <p:animEffect transition="in" filter="fade">
                                      <p:cBhvr>
                                        <p:cTn id="1170" dur="500"/>
                                        <p:tgtEl>
                                          <p:spTgt spid="25"/>
                                        </p:tgtEl>
                                      </p:cBhvr>
                                    </p:animEffect>
                                  </p:childTnLst>
                                </p:cTn>
                              </p:par>
                              <p:par>
                                <p:cTn id="1171" presetID="0" presetClass="path" fill="hold" grpId="1" nodeType="withEffect">
                                  <p:stCondLst>
                                    <p:cond delay="0"/>
                                  </p:stCondLst>
                                  <p:childTnLst>
                                    <p:animMotion origin="layout" path="M 0 0 L -0.0165 -0.14 E" pathEditMode="relative" ptsTypes="AA">
                                      <p:cBhvr additive="base">
                                        <p:cTn id="1172" dur="4400" fill="hold"/>
                                        <p:tgtEl>
                                          <p:spTgt spid="25"/>
                                        </p:tgtEl>
                                        <p:attrNameLst>
                                          <p:attrName>ppt_x</p:attrName>
                                          <p:attrName>ppt_y</p:attrName>
                                        </p:attrNameLst>
                                      </p:cBhvr>
                                      <p:rCtr x="0" y="0"/>
                                    </p:animMotion>
                                    <p:animScale>
                                      <p:cBhvr>
                                        <p:cTn id="1173" dur="4400" fill="hold"/>
                                        <p:tgtEl>
                                          <p:spTgt spid="25"/>
                                        </p:tgtEl>
                                      </p:cBhvr>
                                      <p:from x="100000" y="100000"/>
                                      <p:to x="320000" y="320000"/>
                                    </p:animScale>
                                  </p:childTnLst>
                                </p:cTn>
                              </p:par>
                              <p:par>
                                <p:cTn id="1174" presetID="10" presetClass="exit" fill="hold" grpId="2" nodeType="withEffect">
                                  <p:stCondLst>
                                    <p:cond delay="3500"/>
                                  </p:stCondLst>
                                  <p:childTnLst>
                                    <p:animEffect transition="out" filter="fade">
                                      <p:cBhvr>
                                        <p:cTn id="1175" dur="900"/>
                                        <p:tgtEl>
                                          <p:spTgt spid="25"/>
                                        </p:tgtEl>
                                      </p:cBhvr>
                                    </p:animEffect>
                                    <p:set>
                                      <p:cBhvr>
                                        <p:cTn id="1176" dur="1" fill="hold">
                                          <p:stCondLst>
                                            <p:cond delay="899"/>
                                          </p:stCondLst>
                                        </p:cTn>
                                        <p:tgtEl>
                                          <p:spTgt spid="25"/>
                                        </p:tgtEl>
                                        <p:attrNameLst>
                                          <p:attrName>style.visibility</p:attrName>
                                        </p:attrNameLst>
                                      </p:cBhvr>
                                      <p:to>
                                        <p:strVal val="hidden"/>
                                      </p:to>
                                    </p:set>
                                  </p:childTnLst>
                                </p:cTn>
                              </p:par>
                            </p:childTnLst>
                          </p:cTn>
                        </p:par>
                        <p:par>
                          <p:cTn id="1187" fill="hold">
                            <p:stCondLst>
                              <p:cond delay="0"/>
                            </p:stCondLst>
                            <p:childTnLst>
                              <p:par>
                                <p:cTn id="1178" presetID="10" presetClass="entr" fill="hold" grpId="3" nodeType="withEffect">
                                  <p:stCondLst>
                                    <p:cond delay="4400"/>
                                  </p:stCondLst>
                                  <p:childTnLst>
                                    <p:set>
                                      <p:cBhvr>
                                        <p:cTn id="1179" dur="1" fill="hold">
                                          <p:stCondLst>
                                            <p:cond delay="0"/>
                                          </p:stCondLst>
                                        </p:cTn>
                                        <p:tgtEl>
                                          <p:spTgt spid="25"/>
                                        </p:tgtEl>
                                        <p:attrNameLst>
                                          <p:attrName>style.visibility</p:attrName>
                                        </p:attrNameLst>
                                      </p:cBhvr>
                                      <p:to>
                                        <p:strVal val="visible"/>
                                      </p:to>
                                    </p:set>
                                    <p:animEffect transition="in" filter="fade">
                                      <p:cBhvr>
                                        <p:cTn id="1180" dur="500"/>
                                        <p:tgtEl>
                                          <p:spTgt spid="25"/>
                                        </p:tgtEl>
                                      </p:cBhvr>
                                    </p:animEffect>
                                  </p:childTnLst>
                                </p:cTn>
                              </p:par>
                              <p:par>
                                <p:cTn id="1181" presetID="0" presetClass="path" fill="hold" grpId="4" nodeType="withEffect">
                                  <p:stCondLst>
                                    <p:cond delay="4400"/>
                                  </p:stCondLst>
                                  <p:childTnLst>
                                    <p:animMotion origin="layout" path="M 0 0 L -0.0165 -0.14 E" pathEditMode="relative" ptsTypes="AA">
                                      <p:cBhvr additive="base">
                                        <p:cTn id="1182" dur="4400" fill="hold"/>
                                        <p:tgtEl>
                                          <p:spTgt spid="25"/>
                                        </p:tgtEl>
                                        <p:attrNameLst>
                                          <p:attrName>ppt_x</p:attrName>
                                          <p:attrName>ppt_y</p:attrName>
                                        </p:attrNameLst>
                                      </p:cBhvr>
                                      <p:rCtr x="0" y="0"/>
                                    </p:animMotion>
                                    <p:animScale>
                                      <p:cBhvr>
                                        <p:cTn id="1183" dur="4400" fill="hold"/>
                                        <p:tgtEl>
                                          <p:spTgt spid="25"/>
                                        </p:tgtEl>
                                      </p:cBhvr>
                                      <p:from x="100000" y="100000"/>
                                      <p:to x="320000" y="320000"/>
                                    </p:animScale>
                                  </p:childTnLst>
                                </p:cTn>
                              </p:par>
                              <p:par>
                                <p:cTn id="1184" presetID="10" presetClass="exit" fill="hold" grpId="5" nodeType="withEffect">
                                  <p:stCondLst>
                                    <p:cond delay="7900"/>
                                  </p:stCondLst>
                                  <p:childTnLst>
                                    <p:animEffect transition="out" filter="fade">
                                      <p:cBhvr>
                                        <p:cTn id="1185" dur="900"/>
                                        <p:tgtEl>
                                          <p:spTgt spid="25"/>
                                        </p:tgtEl>
                                      </p:cBhvr>
                                    </p:animEffect>
                                    <p:set>
                                      <p:cBhvr>
                                        <p:cTn id="1186" dur="1" fill="hold">
                                          <p:stCondLst>
                                            <p:cond delay="899"/>
                                          </p:stCondLst>
                                        </p:cTn>
                                        <p:tgtEl>
                                          <p:spTgt spid="25"/>
                                        </p:tgtEl>
                                        <p:attrNameLst>
                                          <p:attrName>style.visibility</p:attrName>
                                        </p:attrNameLst>
                                      </p:cBhvr>
                                      <p:to>
                                        <p:strVal val="hidden"/>
                                      </p:to>
                                    </p:set>
                                  </p:childTnLst>
                                </p:cTn>
                              </p:par>
                            </p:childTnLst>
                          </p:cTn>
                        </p:par>
                        <p:par>
                          <p:cTn id="1197" fill="hold">
                            <p:stCondLst>
                              <p:cond delay="0"/>
                            </p:stCondLst>
                            <p:childTnLst>
                              <p:par>
                                <p:cTn id="1188" presetID="10" presetClass="entr" fill="hold" grpId="6" nodeType="withEffect">
                                  <p:stCondLst>
                                    <p:cond delay="8800"/>
                                  </p:stCondLst>
                                  <p:childTnLst>
                                    <p:set>
                                      <p:cBhvr>
                                        <p:cTn id="1189" dur="1" fill="hold">
                                          <p:stCondLst>
                                            <p:cond delay="0"/>
                                          </p:stCondLst>
                                        </p:cTn>
                                        <p:tgtEl>
                                          <p:spTgt spid="25"/>
                                        </p:tgtEl>
                                        <p:attrNameLst>
                                          <p:attrName>style.visibility</p:attrName>
                                        </p:attrNameLst>
                                      </p:cBhvr>
                                      <p:to>
                                        <p:strVal val="visible"/>
                                      </p:to>
                                    </p:set>
                                    <p:animEffect transition="in" filter="fade">
                                      <p:cBhvr>
                                        <p:cTn id="1190" dur="500"/>
                                        <p:tgtEl>
                                          <p:spTgt spid="25"/>
                                        </p:tgtEl>
                                      </p:cBhvr>
                                    </p:animEffect>
                                  </p:childTnLst>
                                </p:cTn>
                              </p:par>
                              <p:par>
                                <p:cTn id="1191" presetID="0" presetClass="path" fill="hold" grpId="7" nodeType="withEffect">
                                  <p:stCondLst>
                                    <p:cond delay="8800"/>
                                  </p:stCondLst>
                                  <p:childTnLst>
                                    <p:animMotion origin="layout" path="M 0 0 L -0.0165 -0.14 E" pathEditMode="relative" ptsTypes="AA">
                                      <p:cBhvr additive="base">
                                        <p:cTn id="1192" dur="4400" fill="hold"/>
                                        <p:tgtEl>
                                          <p:spTgt spid="25"/>
                                        </p:tgtEl>
                                        <p:attrNameLst>
                                          <p:attrName>ppt_x</p:attrName>
                                          <p:attrName>ppt_y</p:attrName>
                                        </p:attrNameLst>
                                      </p:cBhvr>
                                      <p:rCtr x="0" y="0"/>
                                    </p:animMotion>
                                    <p:animScale>
                                      <p:cBhvr>
                                        <p:cTn id="1193" dur="4400" fill="hold"/>
                                        <p:tgtEl>
                                          <p:spTgt spid="25"/>
                                        </p:tgtEl>
                                      </p:cBhvr>
                                      <p:from x="100000" y="100000"/>
                                      <p:to x="320000" y="320000"/>
                                    </p:animScale>
                                  </p:childTnLst>
                                </p:cTn>
                              </p:par>
                              <p:par>
                                <p:cTn id="1194" presetID="10" presetClass="exit" fill="hold" grpId="8" nodeType="withEffect">
                                  <p:stCondLst>
                                    <p:cond delay="12300"/>
                                  </p:stCondLst>
                                  <p:childTnLst>
                                    <p:animEffect transition="out" filter="fade">
                                      <p:cBhvr>
                                        <p:cTn id="1195" dur="900"/>
                                        <p:tgtEl>
                                          <p:spTgt spid="25"/>
                                        </p:tgtEl>
                                      </p:cBhvr>
                                    </p:animEffect>
                                    <p:set>
                                      <p:cBhvr>
                                        <p:cTn id="1196" dur="1" fill="hold">
                                          <p:stCondLst>
                                            <p:cond delay="899"/>
                                          </p:stCondLst>
                                        </p:cTn>
                                        <p:tgtEl>
                                          <p:spTgt spid="25"/>
                                        </p:tgtEl>
                                        <p:attrNameLst>
                                          <p:attrName>style.visibility</p:attrName>
                                        </p:attrNameLst>
                                      </p:cBhvr>
                                      <p:to>
                                        <p:strVal val="hidden"/>
                                      </p:to>
                                    </p:set>
                                  </p:childTnLst>
                                </p:cTn>
                              </p:par>
                            </p:childTnLst>
                          </p:cTn>
                        </p:par>
                        <p:par>
                          <p:cTn id="1207" fill="hold">
                            <p:stCondLst>
                              <p:cond delay="0"/>
                            </p:stCondLst>
                            <p:childTnLst>
                              <p:par>
                                <p:cTn id="1198" presetID="10" presetClass="entr" fill="hold" grpId="9" nodeType="withEffect">
                                  <p:stCondLst>
                                    <p:cond delay="13200"/>
                                  </p:stCondLst>
                                  <p:childTnLst>
                                    <p:set>
                                      <p:cBhvr>
                                        <p:cTn id="1199" dur="1" fill="hold">
                                          <p:stCondLst>
                                            <p:cond delay="0"/>
                                          </p:stCondLst>
                                        </p:cTn>
                                        <p:tgtEl>
                                          <p:spTgt spid="25"/>
                                        </p:tgtEl>
                                        <p:attrNameLst>
                                          <p:attrName>style.visibility</p:attrName>
                                        </p:attrNameLst>
                                      </p:cBhvr>
                                      <p:to>
                                        <p:strVal val="visible"/>
                                      </p:to>
                                    </p:set>
                                    <p:animEffect transition="in" filter="fade">
                                      <p:cBhvr>
                                        <p:cTn id="1200" dur="500"/>
                                        <p:tgtEl>
                                          <p:spTgt spid="25"/>
                                        </p:tgtEl>
                                      </p:cBhvr>
                                    </p:animEffect>
                                  </p:childTnLst>
                                </p:cTn>
                              </p:par>
                              <p:par>
                                <p:cTn id="1201" presetID="0" presetClass="path" fill="hold" grpId="10" nodeType="withEffect">
                                  <p:stCondLst>
                                    <p:cond delay="13200"/>
                                  </p:stCondLst>
                                  <p:childTnLst>
                                    <p:animMotion origin="layout" path="M 0 0 L -0.0165 -0.14 E" pathEditMode="relative" ptsTypes="AA">
                                      <p:cBhvr additive="base">
                                        <p:cTn id="1202" dur="4400" fill="hold"/>
                                        <p:tgtEl>
                                          <p:spTgt spid="25"/>
                                        </p:tgtEl>
                                        <p:attrNameLst>
                                          <p:attrName>ppt_x</p:attrName>
                                          <p:attrName>ppt_y</p:attrName>
                                        </p:attrNameLst>
                                      </p:cBhvr>
                                      <p:rCtr x="0" y="0"/>
                                    </p:animMotion>
                                    <p:animScale>
                                      <p:cBhvr>
                                        <p:cTn id="1203" dur="4400" fill="hold"/>
                                        <p:tgtEl>
                                          <p:spTgt spid="25"/>
                                        </p:tgtEl>
                                      </p:cBhvr>
                                      <p:from x="100000" y="100000"/>
                                      <p:to x="320000" y="320000"/>
                                    </p:animScale>
                                  </p:childTnLst>
                                </p:cTn>
                              </p:par>
                              <p:par>
                                <p:cTn id="1204" presetID="10" presetClass="exit" fill="hold" grpId="11" nodeType="withEffect">
                                  <p:stCondLst>
                                    <p:cond delay="16700"/>
                                  </p:stCondLst>
                                  <p:childTnLst>
                                    <p:animEffect transition="out" filter="fade">
                                      <p:cBhvr>
                                        <p:cTn id="1205" dur="900"/>
                                        <p:tgtEl>
                                          <p:spTgt spid="25"/>
                                        </p:tgtEl>
                                      </p:cBhvr>
                                    </p:animEffect>
                                    <p:set>
                                      <p:cBhvr>
                                        <p:cTn id="1206" dur="1" fill="hold">
                                          <p:stCondLst>
                                            <p:cond delay="899"/>
                                          </p:stCondLst>
                                        </p:cTn>
                                        <p:tgtEl>
                                          <p:spTgt spid="25"/>
                                        </p:tgtEl>
                                        <p:attrNameLst>
                                          <p:attrName>style.visibility</p:attrName>
                                        </p:attrNameLst>
                                      </p:cBhvr>
                                      <p:to>
                                        <p:strVal val="hidden"/>
                                      </p:to>
                                    </p:set>
                                  </p:childTnLst>
                                </p:cTn>
                              </p:par>
                            </p:childTnLst>
                          </p:cTn>
                        </p:par>
                        <p:par>
                          <p:cTn id="1217" fill="hold">
                            <p:stCondLst>
                              <p:cond delay="0"/>
                            </p:stCondLst>
                            <p:childTnLst>
                              <p:par>
                                <p:cTn id="1208" presetID="10" presetClass="entr" fill="hold" grpId="12" nodeType="withEffect">
                                  <p:stCondLst>
                                    <p:cond delay="17600"/>
                                  </p:stCondLst>
                                  <p:childTnLst>
                                    <p:set>
                                      <p:cBhvr>
                                        <p:cTn id="1209" dur="1" fill="hold">
                                          <p:stCondLst>
                                            <p:cond delay="0"/>
                                          </p:stCondLst>
                                        </p:cTn>
                                        <p:tgtEl>
                                          <p:spTgt spid="25"/>
                                        </p:tgtEl>
                                        <p:attrNameLst>
                                          <p:attrName>style.visibility</p:attrName>
                                        </p:attrNameLst>
                                      </p:cBhvr>
                                      <p:to>
                                        <p:strVal val="visible"/>
                                      </p:to>
                                    </p:set>
                                    <p:animEffect transition="in" filter="fade">
                                      <p:cBhvr>
                                        <p:cTn id="1210" dur="500"/>
                                        <p:tgtEl>
                                          <p:spTgt spid="25"/>
                                        </p:tgtEl>
                                      </p:cBhvr>
                                    </p:animEffect>
                                  </p:childTnLst>
                                </p:cTn>
                              </p:par>
                              <p:par>
                                <p:cTn id="1211" presetID="0" presetClass="path" fill="hold" grpId="13" nodeType="withEffect">
                                  <p:stCondLst>
                                    <p:cond delay="17600"/>
                                  </p:stCondLst>
                                  <p:childTnLst>
                                    <p:animMotion origin="layout" path="M 0 0 L -0.0165 -0.14 E" pathEditMode="relative" ptsTypes="AA">
                                      <p:cBhvr additive="base">
                                        <p:cTn id="1212" dur="4400" fill="hold"/>
                                        <p:tgtEl>
                                          <p:spTgt spid="25"/>
                                        </p:tgtEl>
                                        <p:attrNameLst>
                                          <p:attrName>ppt_x</p:attrName>
                                          <p:attrName>ppt_y</p:attrName>
                                        </p:attrNameLst>
                                      </p:cBhvr>
                                      <p:rCtr x="0" y="0"/>
                                    </p:animMotion>
                                    <p:animScale>
                                      <p:cBhvr>
                                        <p:cTn id="1213" dur="4400" fill="hold"/>
                                        <p:tgtEl>
                                          <p:spTgt spid="25"/>
                                        </p:tgtEl>
                                      </p:cBhvr>
                                      <p:from x="100000" y="100000"/>
                                      <p:to x="320000" y="320000"/>
                                    </p:animScale>
                                  </p:childTnLst>
                                </p:cTn>
                              </p:par>
                              <p:par>
                                <p:cTn id="1214" presetID="10" presetClass="exit" fill="hold" grpId="14" nodeType="withEffect">
                                  <p:stCondLst>
                                    <p:cond delay="21100"/>
                                  </p:stCondLst>
                                  <p:childTnLst>
                                    <p:animEffect transition="out" filter="fade">
                                      <p:cBhvr>
                                        <p:cTn id="1215" dur="900"/>
                                        <p:tgtEl>
                                          <p:spTgt spid="25"/>
                                        </p:tgtEl>
                                      </p:cBhvr>
                                    </p:animEffect>
                                    <p:set>
                                      <p:cBhvr>
                                        <p:cTn id="1216" dur="1" fill="hold">
                                          <p:stCondLst>
                                            <p:cond delay="899"/>
                                          </p:stCondLst>
                                        </p:cTn>
                                        <p:tgtEl>
                                          <p:spTgt spid="25"/>
                                        </p:tgtEl>
                                        <p:attrNameLst>
                                          <p:attrName>style.visibility</p:attrName>
                                        </p:attrNameLst>
                                      </p:cBhvr>
                                      <p:to>
                                        <p:strVal val="hidden"/>
                                      </p:to>
                                    </p:set>
                                  </p:childTnLst>
                                </p:cTn>
                              </p:par>
                            </p:childTnLst>
                          </p:cTn>
                        </p:par>
                        <p:par>
                          <p:cTn id="1227" fill="hold">
                            <p:stCondLst>
                              <p:cond delay="0"/>
                            </p:stCondLst>
                            <p:childTnLst>
                              <p:par>
                                <p:cTn id="1218" presetID="10" presetClass="entr" fill="hold" grpId="15" nodeType="withEffect">
                                  <p:stCondLst>
                                    <p:cond delay="22000"/>
                                  </p:stCondLst>
                                  <p:childTnLst>
                                    <p:set>
                                      <p:cBhvr>
                                        <p:cTn id="1219" dur="1" fill="hold">
                                          <p:stCondLst>
                                            <p:cond delay="0"/>
                                          </p:stCondLst>
                                        </p:cTn>
                                        <p:tgtEl>
                                          <p:spTgt spid="25"/>
                                        </p:tgtEl>
                                        <p:attrNameLst>
                                          <p:attrName>style.visibility</p:attrName>
                                        </p:attrNameLst>
                                      </p:cBhvr>
                                      <p:to>
                                        <p:strVal val="visible"/>
                                      </p:to>
                                    </p:set>
                                    <p:animEffect transition="in" filter="fade">
                                      <p:cBhvr>
                                        <p:cTn id="1220" dur="500"/>
                                        <p:tgtEl>
                                          <p:spTgt spid="25"/>
                                        </p:tgtEl>
                                      </p:cBhvr>
                                    </p:animEffect>
                                  </p:childTnLst>
                                </p:cTn>
                              </p:par>
                              <p:par>
                                <p:cTn id="1221" presetID="0" presetClass="path" fill="hold" grpId="16" nodeType="withEffect">
                                  <p:stCondLst>
                                    <p:cond delay="22000"/>
                                  </p:stCondLst>
                                  <p:childTnLst>
                                    <p:animMotion origin="layout" path="M 0 0 L -0.0165 -0.14 E" pathEditMode="relative" ptsTypes="AA">
                                      <p:cBhvr additive="base">
                                        <p:cTn id="1222" dur="4400" fill="hold"/>
                                        <p:tgtEl>
                                          <p:spTgt spid="25"/>
                                        </p:tgtEl>
                                        <p:attrNameLst>
                                          <p:attrName>ppt_x</p:attrName>
                                          <p:attrName>ppt_y</p:attrName>
                                        </p:attrNameLst>
                                      </p:cBhvr>
                                      <p:rCtr x="0" y="0"/>
                                    </p:animMotion>
                                    <p:animScale>
                                      <p:cBhvr>
                                        <p:cTn id="1223" dur="4400" fill="hold"/>
                                        <p:tgtEl>
                                          <p:spTgt spid="25"/>
                                        </p:tgtEl>
                                      </p:cBhvr>
                                      <p:from x="100000" y="100000"/>
                                      <p:to x="320000" y="320000"/>
                                    </p:animScale>
                                  </p:childTnLst>
                                </p:cTn>
                              </p:par>
                              <p:par>
                                <p:cTn id="1224" presetID="10" presetClass="exit" fill="hold" grpId="17" nodeType="withEffect">
                                  <p:stCondLst>
                                    <p:cond delay="25500"/>
                                  </p:stCondLst>
                                  <p:childTnLst>
                                    <p:animEffect transition="out" filter="fade">
                                      <p:cBhvr>
                                        <p:cTn id="1225" dur="900"/>
                                        <p:tgtEl>
                                          <p:spTgt spid="25"/>
                                        </p:tgtEl>
                                      </p:cBhvr>
                                    </p:animEffect>
                                    <p:set>
                                      <p:cBhvr>
                                        <p:cTn id="1226" dur="1" fill="hold">
                                          <p:stCondLst>
                                            <p:cond delay="899"/>
                                          </p:stCondLst>
                                        </p:cTn>
                                        <p:tgtEl>
                                          <p:spTgt spid="25"/>
                                        </p:tgtEl>
                                        <p:attrNameLst>
                                          <p:attrName>style.visibility</p:attrName>
                                        </p:attrNameLst>
                                      </p:cBhvr>
                                      <p:to>
                                        <p:strVal val="hidden"/>
                                      </p:to>
                                    </p:set>
                                  </p:childTnLst>
                                </p:cTn>
                              </p:par>
                            </p:childTnLst>
                          </p:cTn>
                        </p:par>
                        <p:par>
                          <p:cTn id="1237" fill="hold">
                            <p:stCondLst>
                              <p:cond delay="0"/>
                            </p:stCondLst>
                            <p:childTnLst>
                              <p:par>
                                <p:cTn id="1228" presetID="10" presetClass="entr" fill="hold" grpId="18" nodeType="withEffect">
                                  <p:stCondLst>
                                    <p:cond delay="26400"/>
                                  </p:stCondLst>
                                  <p:childTnLst>
                                    <p:set>
                                      <p:cBhvr>
                                        <p:cTn id="1229" dur="1" fill="hold">
                                          <p:stCondLst>
                                            <p:cond delay="0"/>
                                          </p:stCondLst>
                                        </p:cTn>
                                        <p:tgtEl>
                                          <p:spTgt spid="25"/>
                                        </p:tgtEl>
                                        <p:attrNameLst>
                                          <p:attrName>style.visibility</p:attrName>
                                        </p:attrNameLst>
                                      </p:cBhvr>
                                      <p:to>
                                        <p:strVal val="visible"/>
                                      </p:to>
                                    </p:set>
                                    <p:animEffect transition="in" filter="fade">
                                      <p:cBhvr>
                                        <p:cTn id="1230" dur="500"/>
                                        <p:tgtEl>
                                          <p:spTgt spid="25"/>
                                        </p:tgtEl>
                                      </p:cBhvr>
                                    </p:animEffect>
                                  </p:childTnLst>
                                </p:cTn>
                              </p:par>
                              <p:par>
                                <p:cTn id="1231" presetID="0" presetClass="path" fill="hold" grpId="19" nodeType="withEffect">
                                  <p:stCondLst>
                                    <p:cond delay="26400"/>
                                  </p:stCondLst>
                                  <p:childTnLst>
                                    <p:animMotion origin="layout" path="M 0 0 L -0.0165 -0.14 E" pathEditMode="relative" ptsTypes="AA">
                                      <p:cBhvr additive="base">
                                        <p:cTn id="1232" dur="4400" fill="hold"/>
                                        <p:tgtEl>
                                          <p:spTgt spid="25"/>
                                        </p:tgtEl>
                                        <p:attrNameLst>
                                          <p:attrName>ppt_x</p:attrName>
                                          <p:attrName>ppt_y</p:attrName>
                                        </p:attrNameLst>
                                      </p:cBhvr>
                                      <p:rCtr x="0" y="0"/>
                                    </p:animMotion>
                                    <p:animScale>
                                      <p:cBhvr>
                                        <p:cTn id="1233" dur="4400" fill="hold"/>
                                        <p:tgtEl>
                                          <p:spTgt spid="25"/>
                                        </p:tgtEl>
                                      </p:cBhvr>
                                      <p:from x="100000" y="100000"/>
                                      <p:to x="320000" y="320000"/>
                                    </p:animScale>
                                  </p:childTnLst>
                                </p:cTn>
                              </p:par>
                              <p:par>
                                <p:cTn id="1234" presetID="10" presetClass="exit" fill="hold" grpId="20" nodeType="withEffect">
                                  <p:stCondLst>
                                    <p:cond delay="29900"/>
                                  </p:stCondLst>
                                  <p:childTnLst>
                                    <p:animEffect transition="out" filter="fade">
                                      <p:cBhvr>
                                        <p:cTn id="1235" dur="900"/>
                                        <p:tgtEl>
                                          <p:spTgt spid="25"/>
                                        </p:tgtEl>
                                      </p:cBhvr>
                                    </p:animEffect>
                                    <p:set>
                                      <p:cBhvr>
                                        <p:cTn id="1236" dur="1" fill="hold">
                                          <p:stCondLst>
                                            <p:cond delay="899"/>
                                          </p:stCondLst>
                                        </p:cTn>
                                        <p:tgtEl>
                                          <p:spTgt spid="25"/>
                                        </p:tgtEl>
                                        <p:attrNameLst>
                                          <p:attrName>style.visibility</p:attrName>
                                        </p:attrNameLst>
                                      </p:cBhvr>
                                      <p:to>
                                        <p:strVal val="hidden"/>
                                      </p:to>
                                    </p:set>
                                  </p:childTnLst>
                                </p:cTn>
                              </p:par>
                            </p:childTnLst>
                          </p:cTn>
                        </p:par>
                        <p:par>
                          <p:cTn id="1247" fill="hold">
                            <p:stCondLst>
                              <p:cond delay="0"/>
                            </p:stCondLst>
                            <p:childTnLst>
                              <p:par>
                                <p:cTn id="1238" presetID="10" presetClass="entr" fill="hold" grpId="21" nodeType="withEffect">
                                  <p:stCondLst>
                                    <p:cond delay="30800"/>
                                  </p:stCondLst>
                                  <p:childTnLst>
                                    <p:set>
                                      <p:cBhvr>
                                        <p:cTn id="1239" dur="1" fill="hold">
                                          <p:stCondLst>
                                            <p:cond delay="0"/>
                                          </p:stCondLst>
                                        </p:cTn>
                                        <p:tgtEl>
                                          <p:spTgt spid="25"/>
                                        </p:tgtEl>
                                        <p:attrNameLst>
                                          <p:attrName>style.visibility</p:attrName>
                                        </p:attrNameLst>
                                      </p:cBhvr>
                                      <p:to>
                                        <p:strVal val="visible"/>
                                      </p:to>
                                    </p:set>
                                    <p:animEffect transition="in" filter="fade">
                                      <p:cBhvr>
                                        <p:cTn id="1240" dur="500"/>
                                        <p:tgtEl>
                                          <p:spTgt spid="25"/>
                                        </p:tgtEl>
                                      </p:cBhvr>
                                    </p:animEffect>
                                  </p:childTnLst>
                                </p:cTn>
                              </p:par>
                              <p:par>
                                <p:cTn id="1241" presetID="0" presetClass="path" fill="hold" grpId="22" nodeType="withEffect">
                                  <p:stCondLst>
                                    <p:cond delay="30800"/>
                                  </p:stCondLst>
                                  <p:childTnLst>
                                    <p:animMotion origin="layout" path="M 0 0 L -0.0165 -0.14 E" pathEditMode="relative" ptsTypes="AA">
                                      <p:cBhvr additive="base">
                                        <p:cTn id="1242" dur="4400" fill="hold"/>
                                        <p:tgtEl>
                                          <p:spTgt spid="25"/>
                                        </p:tgtEl>
                                        <p:attrNameLst>
                                          <p:attrName>ppt_x</p:attrName>
                                          <p:attrName>ppt_y</p:attrName>
                                        </p:attrNameLst>
                                      </p:cBhvr>
                                      <p:rCtr x="0" y="0"/>
                                    </p:animMotion>
                                    <p:animScale>
                                      <p:cBhvr>
                                        <p:cTn id="1243" dur="4400" fill="hold"/>
                                        <p:tgtEl>
                                          <p:spTgt spid="25"/>
                                        </p:tgtEl>
                                      </p:cBhvr>
                                      <p:from x="100000" y="100000"/>
                                      <p:to x="320000" y="320000"/>
                                    </p:animScale>
                                  </p:childTnLst>
                                </p:cTn>
                              </p:par>
                              <p:par>
                                <p:cTn id="1244" presetID="10" presetClass="exit" fill="hold" grpId="23" nodeType="withEffect">
                                  <p:stCondLst>
                                    <p:cond delay="34300"/>
                                  </p:stCondLst>
                                  <p:childTnLst>
                                    <p:animEffect transition="out" filter="fade">
                                      <p:cBhvr>
                                        <p:cTn id="1245" dur="900"/>
                                        <p:tgtEl>
                                          <p:spTgt spid="25"/>
                                        </p:tgtEl>
                                      </p:cBhvr>
                                    </p:animEffect>
                                    <p:set>
                                      <p:cBhvr>
                                        <p:cTn id="1246" dur="1" fill="hold">
                                          <p:stCondLst>
                                            <p:cond delay="899"/>
                                          </p:stCondLst>
                                        </p:cTn>
                                        <p:tgtEl>
                                          <p:spTgt spid="25"/>
                                        </p:tgtEl>
                                        <p:attrNameLst>
                                          <p:attrName>style.visibility</p:attrName>
                                        </p:attrNameLst>
                                      </p:cBhvr>
                                      <p:to>
                                        <p:strVal val="hidden"/>
                                      </p:to>
                                    </p:set>
                                  </p:childTnLst>
                                </p:cTn>
                              </p:par>
                            </p:childTnLst>
                          </p:cTn>
                        </p:par>
                        <p:par>
                          <p:cTn id="1257" fill="hold">
                            <p:stCondLst>
                              <p:cond delay="0"/>
                            </p:stCondLst>
                            <p:childTnLst>
                              <p:par>
                                <p:cTn id="1248" presetID="10" presetClass="entr" fill="hold" grpId="24" nodeType="withEffect">
                                  <p:stCondLst>
                                    <p:cond delay="35200"/>
                                  </p:stCondLst>
                                  <p:childTnLst>
                                    <p:set>
                                      <p:cBhvr>
                                        <p:cTn id="1249" dur="1" fill="hold">
                                          <p:stCondLst>
                                            <p:cond delay="0"/>
                                          </p:stCondLst>
                                        </p:cTn>
                                        <p:tgtEl>
                                          <p:spTgt spid="25"/>
                                        </p:tgtEl>
                                        <p:attrNameLst>
                                          <p:attrName>style.visibility</p:attrName>
                                        </p:attrNameLst>
                                      </p:cBhvr>
                                      <p:to>
                                        <p:strVal val="visible"/>
                                      </p:to>
                                    </p:set>
                                    <p:animEffect transition="in" filter="fade">
                                      <p:cBhvr>
                                        <p:cTn id="1250" dur="500"/>
                                        <p:tgtEl>
                                          <p:spTgt spid="25"/>
                                        </p:tgtEl>
                                      </p:cBhvr>
                                    </p:animEffect>
                                  </p:childTnLst>
                                </p:cTn>
                              </p:par>
                              <p:par>
                                <p:cTn id="1251" presetID="0" presetClass="path" fill="hold" grpId="25" nodeType="withEffect">
                                  <p:stCondLst>
                                    <p:cond delay="35200"/>
                                  </p:stCondLst>
                                  <p:childTnLst>
                                    <p:animMotion origin="layout" path="M 0 0 L -0.0165 -0.14 E" pathEditMode="relative" ptsTypes="AA">
                                      <p:cBhvr additive="base">
                                        <p:cTn id="1252" dur="4400" fill="hold"/>
                                        <p:tgtEl>
                                          <p:spTgt spid="25"/>
                                        </p:tgtEl>
                                        <p:attrNameLst>
                                          <p:attrName>ppt_x</p:attrName>
                                          <p:attrName>ppt_y</p:attrName>
                                        </p:attrNameLst>
                                      </p:cBhvr>
                                      <p:rCtr x="0" y="0"/>
                                    </p:animMotion>
                                    <p:animScale>
                                      <p:cBhvr>
                                        <p:cTn id="1253" dur="4400" fill="hold"/>
                                        <p:tgtEl>
                                          <p:spTgt spid="25"/>
                                        </p:tgtEl>
                                      </p:cBhvr>
                                      <p:from x="100000" y="100000"/>
                                      <p:to x="320000" y="320000"/>
                                    </p:animScale>
                                  </p:childTnLst>
                                </p:cTn>
                              </p:par>
                              <p:par>
                                <p:cTn id="1254" presetID="10" presetClass="exit" fill="hold" grpId="26" nodeType="withEffect">
                                  <p:stCondLst>
                                    <p:cond delay="38700"/>
                                  </p:stCondLst>
                                  <p:childTnLst>
                                    <p:animEffect transition="out" filter="fade">
                                      <p:cBhvr>
                                        <p:cTn id="1255" dur="900"/>
                                        <p:tgtEl>
                                          <p:spTgt spid="25"/>
                                        </p:tgtEl>
                                      </p:cBhvr>
                                    </p:animEffect>
                                    <p:set>
                                      <p:cBhvr>
                                        <p:cTn id="1256" dur="1" fill="hold">
                                          <p:stCondLst>
                                            <p:cond delay="899"/>
                                          </p:stCondLst>
                                        </p:cTn>
                                        <p:tgtEl>
                                          <p:spTgt spid="25"/>
                                        </p:tgtEl>
                                        <p:attrNameLst>
                                          <p:attrName>style.visibility</p:attrName>
                                        </p:attrNameLst>
                                      </p:cBhvr>
                                      <p:to>
                                        <p:strVal val="hidden"/>
                                      </p:to>
                                    </p:set>
                                  </p:childTnLst>
                                </p:cTn>
                              </p:par>
                            </p:childTnLst>
                          </p:cTn>
                        </p:par>
                        <p:par>
                          <p:cTn id="1267" fill="hold">
                            <p:stCondLst>
                              <p:cond delay="0"/>
                            </p:stCondLst>
                            <p:childTnLst>
                              <p:par>
                                <p:cTn id="1258" presetID="10" presetClass="entr" fill="hold" grpId="27" nodeType="withEffect">
                                  <p:stCondLst>
                                    <p:cond delay="39600"/>
                                  </p:stCondLst>
                                  <p:childTnLst>
                                    <p:set>
                                      <p:cBhvr>
                                        <p:cTn id="1259" dur="1" fill="hold">
                                          <p:stCondLst>
                                            <p:cond delay="0"/>
                                          </p:stCondLst>
                                        </p:cTn>
                                        <p:tgtEl>
                                          <p:spTgt spid="25"/>
                                        </p:tgtEl>
                                        <p:attrNameLst>
                                          <p:attrName>style.visibility</p:attrName>
                                        </p:attrNameLst>
                                      </p:cBhvr>
                                      <p:to>
                                        <p:strVal val="visible"/>
                                      </p:to>
                                    </p:set>
                                    <p:animEffect transition="in" filter="fade">
                                      <p:cBhvr>
                                        <p:cTn id="1260" dur="500"/>
                                        <p:tgtEl>
                                          <p:spTgt spid="25"/>
                                        </p:tgtEl>
                                      </p:cBhvr>
                                    </p:animEffect>
                                  </p:childTnLst>
                                </p:cTn>
                              </p:par>
                              <p:par>
                                <p:cTn id="1261" presetID="0" presetClass="path" fill="hold" grpId="28" nodeType="withEffect">
                                  <p:stCondLst>
                                    <p:cond delay="39600"/>
                                  </p:stCondLst>
                                  <p:childTnLst>
                                    <p:animMotion origin="layout" path="M 0 0 L -0.0165 -0.14 E" pathEditMode="relative" ptsTypes="AA">
                                      <p:cBhvr additive="base">
                                        <p:cTn id="1262" dur="4400" fill="hold"/>
                                        <p:tgtEl>
                                          <p:spTgt spid="25"/>
                                        </p:tgtEl>
                                        <p:attrNameLst>
                                          <p:attrName>ppt_x</p:attrName>
                                          <p:attrName>ppt_y</p:attrName>
                                        </p:attrNameLst>
                                      </p:cBhvr>
                                      <p:rCtr x="0" y="0"/>
                                    </p:animMotion>
                                    <p:animScale>
                                      <p:cBhvr>
                                        <p:cTn id="1263" dur="4400" fill="hold"/>
                                        <p:tgtEl>
                                          <p:spTgt spid="25"/>
                                        </p:tgtEl>
                                      </p:cBhvr>
                                      <p:from x="100000" y="100000"/>
                                      <p:to x="320000" y="320000"/>
                                    </p:animScale>
                                  </p:childTnLst>
                                </p:cTn>
                              </p:par>
                              <p:par>
                                <p:cTn id="1264" presetID="10" presetClass="exit" fill="hold" grpId="29" nodeType="withEffect">
                                  <p:stCondLst>
                                    <p:cond delay="43100"/>
                                  </p:stCondLst>
                                  <p:childTnLst>
                                    <p:animEffect transition="out" filter="fade">
                                      <p:cBhvr>
                                        <p:cTn id="1265" dur="900"/>
                                        <p:tgtEl>
                                          <p:spTgt spid="25"/>
                                        </p:tgtEl>
                                      </p:cBhvr>
                                    </p:animEffect>
                                    <p:set>
                                      <p:cBhvr>
                                        <p:cTn id="1266" dur="1" fill="hold">
                                          <p:stCondLst>
                                            <p:cond delay="899"/>
                                          </p:stCondLst>
                                        </p:cTn>
                                        <p:tgtEl>
                                          <p:spTgt spid="25"/>
                                        </p:tgtEl>
                                        <p:attrNameLst>
                                          <p:attrName>style.visibility</p:attrName>
                                        </p:attrNameLst>
                                      </p:cBhvr>
                                      <p:to>
                                        <p:strVal val="hidden"/>
                                      </p:to>
                                    </p:set>
                                  </p:childTnLst>
                                </p:cTn>
                              </p:par>
                            </p:childTnLst>
                          </p:cTn>
                        </p:par>
                        <p:par>
                          <p:cTn id="1277" fill="hold">
                            <p:stCondLst>
                              <p:cond delay="0"/>
                            </p:stCondLst>
                            <p:childTnLst>
                              <p:par>
                                <p:cTn id="1268" presetID="10" presetClass="entr" fill="hold" grpId="30" nodeType="withEffect">
                                  <p:stCondLst>
                                    <p:cond delay="44000"/>
                                  </p:stCondLst>
                                  <p:childTnLst>
                                    <p:set>
                                      <p:cBhvr>
                                        <p:cTn id="1269" dur="1" fill="hold">
                                          <p:stCondLst>
                                            <p:cond delay="0"/>
                                          </p:stCondLst>
                                        </p:cTn>
                                        <p:tgtEl>
                                          <p:spTgt spid="25"/>
                                        </p:tgtEl>
                                        <p:attrNameLst>
                                          <p:attrName>style.visibility</p:attrName>
                                        </p:attrNameLst>
                                      </p:cBhvr>
                                      <p:to>
                                        <p:strVal val="visible"/>
                                      </p:to>
                                    </p:set>
                                    <p:animEffect transition="in" filter="fade">
                                      <p:cBhvr>
                                        <p:cTn id="1270" dur="500"/>
                                        <p:tgtEl>
                                          <p:spTgt spid="25"/>
                                        </p:tgtEl>
                                      </p:cBhvr>
                                    </p:animEffect>
                                  </p:childTnLst>
                                </p:cTn>
                              </p:par>
                              <p:par>
                                <p:cTn id="1271" presetID="0" presetClass="path" fill="hold" grpId="31" nodeType="withEffect">
                                  <p:stCondLst>
                                    <p:cond delay="44000"/>
                                  </p:stCondLst>
                                  <p:childTnLst>
                                    <p:animMotion origin="layout" path="M 0 0 L -0.0165 -0.14 E" pathEditMode="relative" ptsTypes="AA">
                                      <p:cBhvr additive="base">
                                        <p:cTn id="1272" dur="4400" fill="hold"/>
                                        <p:tgtEl>
                                          <p:spTgt spid="25"/>
                                        </p:tgtEl>
                                        <p:attrNameLst>
                                          <p:attrName>ppt_x</p:attrName>
                                          <p:attrName>ppt_y</p:attrName>
                                        </p:attrNameLst>
                                      </p:cBhvr>
                                      <p:rCtr x="0" y="0"/>
                                    </p:animMotion>
                                    <p:animScale>
                                      <p:cBhvr>
                                        <p:cTn id="1273" dur="4400" fill="hold"/>
                                        <p:tgtEl>
                                          <p:spTgt spid="25"/>
                                        </p:tgtEl>
                                      </p:cBhvr>
                                      <p:from x="100000" y="100000"/>
                                      <p:to x="320000" y="320000"/>
                                    </p:animScale>
                                  </p:childTnLst>
                                </p:cTn>
                              </p:par>
                              <p:par>
                                <p:cTn id="1274" presetID="10" presetClass="exit" fill="hold" grpId="32" nodeType="withEffect">
                                  <p:stCondLst>
                                    <p:cond delay="47500"/>
                                  </p:stCondLst>
                                  <p:childTnLst>
                                    <p:animEffect transition="out" filter="fade">
                                      <p:cBhvr>
                                        <p:cTn id="1275" dur="900"/>
                                        <p:tgtEl>
                                          <p:spTgt spid="25"/>
                                        </p:tgtEl>
                                      </p:cBhvr>
                                    </p:animEffect>
                                    <p:set>
                                      <p:cBhvr>
                                        <p:cTn id="1276" dur="1" fill="hold">
                                          <p:stCondLst>
                                            <p:cond delay="899"/>
                                          </p:stCondLst>
                                        </p:cTn>
                                        <p:tgtEl>
                                          <p:spTgt spid="25"/>
                                        </p:tgtEl>
                                        <p:attrNameLst>
                                          <p:attrName>style.visibility</p:attrName>
                                        </p:attrNameLst>
                                      </p:cBhvr>
                                      <p:to>
                                        <p:strVal val="hidden"/>
                                      </p:to>
                                    </p:set>
                                  </p:childTnLst>
                                </p:cTn>
                              </p:par>
                            </p:childTnLst>
                          </p:cTn>
                        </p:par>
                        <p:par>
                          <p:cTn id="1287" fill="hold">
                            <p:stCondLst>
                              <p:cond delay="0"/>
                            </p:stCondLst>
                            <p:childTnLst>
                              <p:par>
                                <p:cTn id="1278" presetID="10" presetClass="entr" fill="hold" grpId="33" nodeType="withEffect">
                                  <p:stCondLst>
                                    <p:cond delay="48400"/>
                                  </p:stCondLst>
                                  <p:childTnLst>
                                    <p:set>
                                      <p:cBhvr>
                                        <p:cTn id="1279" dur="1" fill="hold">
                                          <p:stCondLst>
                                            <p:cond delay="0"/>
                                          </p:stCondLst>
                                        </p:cTn>
                                        <p:tgtEl>
                                          <p:spTgt spid="25"/>
                                        </p:tgtEl>
                                        <p:attrNameLst>
                                          <p:attrName>style.visibility</p:attrName>
                                        </p:attrNameLst>
                                      </p:cBhvr>
                                      <p:to>
                                        <p:strVal val="visible"/>
                                      </p:to>
                                    </p:set>
                                    <p:animEffect transition="in" filter="fade">
                                      <p:cBhvr>
                                        <p:cTn id="1280" dur="500"/>
                                        <p:tgtEl>
                                          <p:spTgt spid="25"/>
                                        </p:tgtEl>
                                      </p:cBhvr>
                                    </p:animEffect>
                                  </p:childTnLst>
                                </p:cTn>
                              </p:par>
                              <p:par>
                                <p:cTn id="1281" presetID="0" presetClass="path" fill="hold" grpId="34" nodeType="withEffect">
                                  <p:stCondLst>
                                    <p:cond delay="48400"/>
                                  </p:stCondLst>
                                  <p:childTnLst>
                                    <p:animMotion origin="layout" path="M 0 0 L -0.0165 -0.14 E" pathEditMode="relative" ptsTypes="AA">
                                      <p:cBhvr additive="base">
                                        <p:cTn id="1282" dur="4400" fill="hold"/>
                                        <p:tgtEl>
                                          <p:spTgt spid="25"/>
                                        </p:tgtEl>
                                        <p:attrNameLst>
                                          <p:attrName>ppt_x</p:attrName>
                                          <p:attrName>ppt_y</p:attrName>
                                        </p:attrNameLst>
                                      </p:cBhvr>
                                      <p:rCtr x="0" y="0"/>
                                    </p:animMotion>
                                    <p:animScale>
                                      <p:cBhvr>
                                        <p:cTn id="1283" dur="4400" fill="hold"/>
                                        <p:tgtEl>
                                          <p:spTgt spid="25"/>
                                        </p:tgtEl>
                                      </p:cBhvr>
                                      <p:from x="100000" y="100000"/>
                                      <p:to x="320000" y="320000"/>
                                    </p:animScale>
                                  </p:childTnLst>
                                </p:cTn>
                              </p:par>
                              <p:par>
                                <p:cTn id="1284" presetID="10" presetClass="exit" fill="hold" grpId="35" nodeType="withEffect">
                                  <p:stCondLst>
                                    <p:cond delay="51900"/>
                                  </p:stCondLst>
                                  <p:childTnLst>
                                    <p:animEffect transition="out" filter="fade">
                                      <p:cBhvr>
                                        <p:cTn id="1285" dur="900"/>
                                        <p:tgtEl>
                                          <p:spTgt spid="25"/>
                                        </p:tgtEl>
                                      </p:cBhvr>
                                    </p:animEffect>
                                    <p:set>
                                      <p:cBhvr>
                                        <p:cTn id="1286" dur="1" fill="hold">
                                          <p:stCondLst>
                                            <p:cond delay="899"/>
                                          </p:stCondLst>
                                        </p:cTn>
                                        <p:tgtEl>
                                          <p:spTgt spid="25"/>
                                        </p:tgtEl>
                                        <p:attrNameLst>
                                          <p:attrName>style.visibility</p:attrName>
                                        </p:attrNameLst>
                                      </p:cBhvr>
                                      <p:to>
                                        <p:strVal val="hidden"/>
                                      </p:to>
                                    </p:set>
                                  </p:childTnLst>
                                </p:cTn>
                              </p:par>
                            </p:childTnLst>
                          </p:cTn>
                        </p:par>
                        <p:par>
                          <p:cTn id="1297" fill="hold">
                            <p:stCondLst>
                              <p:cond delay="0"/>
                            </p:stCondLst>
                            <p:childTnLst>
                              <p:par>
                                <p:cTn id="1288" presetID="10" presetClass="entr" fill="hold" grpId="36" nodeType="withEffect">
                                  <p:stCondLst>
                                    <p:cond delay="52800"/>
                                  </p:stCondLst>
                                  <p:childTnLst>
                                    <p:set>
                                      <p:cBhvr>
                                        <p:cTn id="1289" dur="1" fill="hold">
                                          <p:stCondLst>
                                            <p:cond delay="0"/>
                                          </p:stCondLst>
                                        </p:cTn>
                                        <p:tgtEl>
                                          <p:spTgt spid="25"/>
                                        </p:tgtEl>
                                        <p:attrNameLst>
                                          <p:attrName>style.visibility</p:attrName>
                                        </p:attrNameLst>
                                      </p:cBhvr>
                                      <p:to>
                                        <p:strVal val="visible"/>
                                      </p:to>
                                    </p:set>
                                    <p:animEffect transition="in" filter="fade">
                                      <p:cBhvr>
                                        <p:cTn id="1290" dur="500"/>
                                        <p:tgtEl>
                                          <p:spTgt spid="25"/>
                                        </p:tgtEl>
                                      </p:cBhvr>
                                    </p:animEffect>
                                  </p:childTnLst>
                                </p:cTn>
                              </p:par>
                              <p:par>
                                <p:cTn id="1291" presetID="0" presetClass="path" fill="hold" grpId="37" nodeType="withEffect">
                                  <p:stCondLst>
                                    <p:cond delay="52800"/>
                                  </p:stCondLst>
                                  <p:childTnLst>
                                    <p:animMotion origin="layout" path="M 0 0 L -0.0165 -0.14 E" pathEditMode="relative" ptsTypes="AA">
                                      <p:cBhvr additive="base">
                                        <p:cTn id="1292" dur="4400" fill="hold"/>
                                        <p:tgtEl>
                                          <p:spTgt spid="25"/>
                                        </p:tgtEl>
                                        <p:attrNameLst>
                                          <p:attrName>ppt_x</p:attrName>
                                          <p:attrName>ppt_y</p:attrName>
                                        </p:attrNameLst>
                                      </p:cBhvr>
                                      <p:rCtr x="0" y="0"/>
                                    </p:animMotion>
                                    <p:animScale>
                                      <p:cBhvr>
                                        <p:cTn id="1293" dur="4400" fill="hold"/>
                                        <p:tgtEl>
                                          <p:spTgt spid="25"/>
                                        </p:tgtEl>
                                      </p:cBhvr>
                                      <p:from x="100000" y="100000"/>
                                      <p:to x="320000" y="320000"/>
                                    </p:animScale>
                                  </p:childTnLst>
                                </p:cTn>
                              </p:par>
                              <p:par>
                                <p:cTn id="1294" presetID="10" presetClass="exit" fill="hold" grpId="38" nodeType="withEffect">
                                  <p:stCondLst>
                                    <p:cond delay="56300"/>
                                  </p:stCondLst>
                                  <p:childTnLst>
                                    <p:animEffect transition="out" filter="fade">
                                      <p:cBhvr>
                                        <p:cTn id="1295" dur="900"/>
                                        <p:tgtEl>
                                          <p:spTgt spid="25"/>
                                        </p:tgtEl>
                                      </p:cBhvr>
                                    </p:animEffect>
                                    <p:set>
                                      <p:cBhvr>
                                        <p:cTn id="1296" dur="1" fill="hold">
                                          <p:stCondLst>
                                            <p:cond delay="899"/>
                                          </p:stCondLst>
                                        </p:cTn>
                                        <p:tgtEl>
                                          <p:spTgt spid="25"/>
                                        </p:tgtEl>
                                        <p:attrNameLst>
                                          <p:attrName>style.visibility</p:attrName>
                                        </p:attrNameLst>
                                      </p:cBhvr>
                                      <p:to>
                                        <p:strVal val="hidden"/>
                                      </p:to>
                                    </p:set>
                                  </p:childTnLst>
                                </p:cTn>
                              </p:par>
                            </p:childTnLst>
                          </p:cTn>
                        </p:par>
                        <p:par>
                          <p:cTn id="1307" fill="hold">
                            <p:stCondLst>
                              <p:cond delay="0"/>
                            </p:stCondLst>
                            <p:childTnLst>
                              <p:par>
                                <p:cTn id="1298" presetID="10" presetClass="entr" fill="hold" grpId="39" nodeType="withEffect">
                                  <p:stCondLst>
                                    <p:cond delay="57200"/>
                                  </p:stCondLst>
                                  <p:childTnLst>
                                    <p:set>
                                      <p:cBhvr>
                                        <p:cTn id="1299" dur="1" fill="hold">
                                          <p:stCondLst>
                                            <p:cond delay="0"/>
                                          </p:stCondLst>
                                        </p:cTn>
                                        <p:tgtEl>
                                          <p:spTgt spid="25"/>
                                        </p:tgtEl>
                                        <p:attrNameLst>
                                          <p:attrName>style.visibility</p:attrName>
                                        </p:attrNameLst>
                                      </p:cBhvr>
                                      <p:to>
                                        <p:strVal val="visible"/>
                                      </p:to>
                                    </p:set>
                                    <p:animEffect transition="in" filter="fade">
                                      <p:cBhvr>
                                        <p:cTn id="1300" dur="500"/>
                                        <p:tgtEl>
                                          <p:spTgt spid="25"/>
                                        </p:tgtEl>
                                      </p:cBhvr>
                                    </p:animEffect>
                                  </p:childTnLst>
                                </p:cTn>
                              </p:par>
                              <p:par>
                                <p:cTn id="1301" presetID="0" presetClass="path" fill="hold" grpId="40" nodeType="withEffect">
                                  <p:stCondLst>
                                    <p:cond delay="57200"/>
                                  </p:stCondLst>
                                  <p:childTnLst>
                                    <p:animMotion origin="layout" path="M 0 0 L -0.0165 -0.14 E" pathEditMode="relative" ptsTypes="AA">
                                      <p:cBhvr additive="base">
                                        <p:cTn id="1302" dur="4400" fill="hold"/>
                                        <p:tgtEl>
                                          <p:spTgt spid="25"/>
                                        </p:tgtEl>
                                        <p:attrNameLst>
                                          <p:attrName>ppt_x</p:attrName>
                                          <p:attrName>ppt_y</p:attrName>
                                        </p:attrNameLst>
                                      </p:cBhvr>
                                      <p:rCtr x="0" y="0"/>
                                    </p:animMotion>
                                    <p:animScale>
                                      <p:cBhvr>
                                        <p:cTn id="1303" dur="4400" fill="hold"/>
                                        <p:tgtEl>
                                          <p:spTgt spid="25"/>
                                        </p:tgtEl>
                                      </p:cBhvr>
                                      <p:from x="100000" y="100000"/>
                                      <p:to x="320000" y="320000"/>
                                    </p:animScale>
                                  </p:childTnLst>
                                </p:cTn>
                              </p:par>
                              <p:par>
                                <p:cTn id="1304" presetID="10" presetClass="exit" fill="hold" grpId="41" nodeType="withEffect">
                                  <p:stCondLst>
                                    <p:cond delay="60700"/>
                                  </p:stCondLst>
                                  <p:childTnLst>
                                    <p:animEffect transition="out" filter="fade">
                                      <p:cBhvr>
                                        <p:cTn id="1305" dur="900"/>
                                        <p:tgtEl>
                                          <p:spTgt spid="25"/>
                                        </p:tgtEl>
                                      </p:cBhvr>
                                    </p:animEffect>
                                    <p:set>
                                      <p:cBhvr>
                                        <p:cTn id="1306" dur="1" fill="hold">
                                          <p:stCondLst>
                                            <p:cond delay="899"/>
                                          </p:stCondLst>
                                        </p:cTn>
                                        <p:tgtEl>
                                          <p:spTgt spid="25"/>
                                        </p:tgtEl>
                                        <p:attrNameLst>
                                          <p:attrName>style.visibility</p:attrName>
                                        </p:attrNameLst>
                                      </p:cBhvr>
                                      <p:to>
                                        <p:strVal val="hidden"/>
                                      </p:to>
                                    </p:set>
                                  </p:childTnLst>
                                </p:cTn>
                              </p:par>
                            </p:childTnLst>
                          </p:cTn>
                        </p:par>
                        <p:par>
                          <p:cTn id="1317" fill="hold">
                            <p:stCondLst>
                              <p:cond delay="0"/>
                            </p:stCondLst>
                            <p:childTnLst>
                              <p:par>
                                <p:cTn id="1308" presetID="10" presetClass="entr" fill="hold" grpId="0" nodeType="withEffect">
                                  <p:stCondLst>
                                    <p:cond delay="1100"/>
                                  </p:stCondLst>
                                  <p:childTnLst>
                                    <p:set>
                                      <p:cBhvr>
                                        <p:cTn id="1309" dur="1" fill="hold">
                                          <p:stCondLst>
                                            <p:cond delay="0"/>
                                          </p:stCondLst>
                                        </p:cTn>
                                        <p:tgtEl>
                                          <p:spTgt spid="26"/>
                                        </p:tgtEl>
                                        <p:attrNameLst>
                                          <p:attrName>style.visibility</p:attrName>
                                        </p:attrNameLst>
                                      </p:cBhvr>
                                      <p:to>
                                        <p:strVal val="visible"/>
                                      </p:to>
                                    </p:set>
                                    <p:animEffect transition="in" filter="fade">
                                      <p:cBhvr>
                                        <p:cTn id="1310" dur="500"/>
                                        <p:tgtEl>
                                          <p:spTgt spid="26"/>
                                        </p:tgtEl>
                                      </p:cBhvr>
                                    </p:animEffect>
                                  </p:childTnLst>
                                </p:cTn>
                              </p:par>
                              <p:par>
                                <p:cTn id="1311" presetID="0" presetClass="path" fill="hold" grpId="1" nodeType="withEffect">
                                  <p:stCondLst>
                                    <p:cond delay="1100"/>
                                  </p:stCondLst>
                                  <p:childTnLst>
                                    <p:animMotion origin="layout" path="M 0 0 L -0.01452 -0.133 E" pathEditMode="relative" ptsTypes="AA">
                                      <p:cBhvr additive="base">
                                        <p:cTn id="1312" dur="4400" fill="hold"/>
                                        <p:tgtEl>
                                          <p:spTgt spid="26"/>
                                        </p:tgtEl>
                                        <p:attrNameLst>
                                          <p:attrName>ppt_x</p:attrName>
                                          <p:attrName>ppt_y</p:attrName>
                                        </p:attrNameLst>
                                      </p:cBhvr>
                                      <p:rCtr x="0" y="0"/>
                                    </p:animMotion>
                                    <p:animScale>
                                      <p:cBhvr>
                                        <p:cTn id="1313" dur="4400" fill="hold"/>
                                        <p:tgtEl>
                                          <p:spTgt spid="26"/>
                                        </p:tgtEl>
                                      </p:cBhvr>
                                      <p:from x="100000" y="100000"/>
                                      <p:to x="320000" y="320000"/>
                                    </p:animScale>
                                  </p:childTnLst>
                                </p:cTn>
                              </p:par>
                              <p:par>
                                <p:cTn id="1314" presetID="10" presetClass="exit" fill="hold" grpId="2" nodeType="withEffect">
                                  <p:stCondLst>
                                    <p:cond delay="4600"/>
                                  </p:stCondLst>
                                  <p:childTnLst>
                                    <p:animEffect transition="out" filter="fade">
                                      <p:cBhvr>
                                        <p:cTn id="1315" dur="900"/>
                                        <p:tgtEl>
                                          <p:spTgt spid="26"/>
                                        </p:tgtEl>
                                      </p:cBhvr>
                                    </p:animEffect>
                                    <p:set>
                                      <p:cBhvr>
                                        <p:cTn id="1316" dur="1" fill="hold">
                                          <p:stCondLst>
                                            <p:cond delay="899"/>
                                          </p:stCondLst>
                                        </p:cTn>
                                        <p:tgtEl>
                                          <p:spTgt spid="26"/>
                                        </p:tgtEl>
                                        <p:attrNameLst>
                                          <p:attrName>style.visibility</p:attrName>
                                        </p:attrNameLst>
                                      </p:cBhvr>
                                      <p:to>
                                        <p:strVal val="hidden"/>
                                      </p:to>
                                    </p:set>
                                  </p:childTnLst>
                                </p:cTn>
                              </p:par>
                            </p:childTnLst>
                          </p:cTn>
                        </p:par>
                        <p:par>
                          <p:cTn id="1327" fill="hold">
                            <p:stCondLst>
                              <p:cond delay="0"/>
                            </p:stCondLst>
                            <p:childTnLst>
                              <p:par>
                                <p:cTn id="1318" presetID="10" presetClass="entr" fill="hold" grpId="3" nodeType="withEffect">
                                  <p:stCondLst>
                                    <p:cond delay="5500"/>
                                  </p:stCondLst>
                                  <p:childTnLst>
                                    <p:set>
                                      <p:cBhvr>
                                        <p:cTn id="1319" dur="1" fill="hold">
                                          <p:stCondLst>
                                            <p:cond delay="0"/>
                                          </p:stCondLst>
                                        </p:cTn>
                                        <p:tgtEl>
                                          <p:spTgt spid="26"/>
                                        </p:tgtEl>
                                        <p:attrNameLst>
                                          <p:attrName>style.visibility</p:attrName>
                                        </p:attrNameLst>
                                      </p:cBhvr>
                                      <p:to>
                                        <p:strVal val="visible"/>
                                      </p:to>
                                    </p:set>
                                    <p:animEffect transition="in" filter="fade">
                                      <p:cBhvr>
                                        <p:cTn id="1320" dur="500"/>
                                        <p:tgtEl>
                                          <p:spTgt spid="26"/>
                                        </p:tgtEl>
                                      </p:cBhvr>
                                    </p:animEffect>
                                  </p:childTnLst>
                                </p:cTn>
                              </p:par>
                              <p:par>
                                <p:cTn id="1321" presetID="0" presetClass="path" fill="hold" grpId="4" nodeType="withEffect">
                                  <p:stCondLst>
                                    <p:cond delay="5500"/>
                                  </p:stCondLst>
                                  <p:childTnLst>
                                    <p:animMotion origin="layout" path="M 0 0 L -0.01452 -0.133 E" pathEditMode="relative" ptsTypes="AA">
                                      <p:cBhvr additive="base">
                                        <p:cTn id="1322" dur="4400" fill="hold"/>
                                        <p:tgtEl>
                                          <p:spTgt spid="26"/>
                                        </p:tgtEl>
                                        <p:attrNameLst>
                                          <p:attrName>ppt_x</p:attrName>
                                          <p:attrName>ppt_y</p:attrName>
                                        </p:attrNameLst>
                                      </p:cBhvr>
                                      <p:rCtr x="0" y="0"/>
                                    </p:animMotion>
                                    <p:animScale>
                                      <p:cBhvr>
                                        <p:cTn id="1323" dur="4400" fill="hold"/>
                                        <p:tgtEl>
                                          <p:spTgt spid="26"/>
                                        </p:tgtEl>
                                      </p:cBhvr>
                                      <p:from x="100000" y="100000"/>
                                      <p:to x="320000" y="320000"/>
                                    </p:animScale>
                                  </p:childTnLst>
                                </p:cTn>
                              </p:par>
                              <p:par>
                                <p:cTn id="1324" presetID="10" presetClass="exit" fill="hold" grpId="5" nodeType="withEffect">
                                  <p:stCondLst>
                                    <p:cond delay="9000"/>
                                  </p:stCondLst>
                                  <p:childTnLst>
                                    <p:animEffect transition="out" filter="fade">
                                      <p:cBhvr>
                                        <p:cTn id="1325" dur="900"/>
                                        <p:tgtEl>
                                          <p:spTgt spid="26"/>
                                        </p:tgtEl>
                                      </p:cBhvr>
                                    </p:animEffect>
                                    <p:set>
                                      <p:cBhvr>
                                        <p:cTn id="1326" dur="1" fill="hold">
                                          <p:stCondLst>
                                            <p:cond delay="899"/>
                                          </p:stCondLst>
                                        </p:cTn>
                                        <p:tgtEl>
                                          <p:spTgt spid="26"/>
                                        </p:tgtEl>
                                        <p:attrNameLst>
                                          <p:attrName>style.visibility</p:attrName>
                                        </p:attrNameLst>
                                      </p:cBhvr>
                                      <p:to>
                                        <p:strVal val="hidden"/>
                                      </p:to>
                                    </p:set>
                                  </p:childTnLst>
                                </p:cTn>
                              </p:par>
                            </p:childTnLst>
                          </p:cTn>
                        </p:par>
                        <p:par>
                          <p:cTn id="1337" fill="hold">
                            <p:stCondLst>
                              <p:cond delay="0"/>
                            </p:stCondLst>
                            <p:childTnLst>
                              <p:par>
                                <p:cTn id="1328" presetID="10" presetClass="entr" fill="hold" grpId="6" nodeType="withEffect">
                                  <p:stCondLst>
                                    <p:cond delay="9900"/>
                                  </p:stCondLst>
                                  <p:childTnLst>
                                    <p:set>
                                      <p:cBhvr>
                                        <p:cTn id="1329" dur="1" fill="hold">
                                          <p:stCondLst>
                                            <p:cond delay="0"/>
                                          </p:stCondLst>
                                        </p:cTn>
                                        <p:tgtEl>
                                          <p:spTgt spid="26"/>
                                        </p:tgtEl>
                                        <p:attrNameLst>
                                          <p:attrName>style.visibility</p:attrName>
                                        </p:attrNameLst>
                                      </p:cBhvr>
                                      <p:to>
                                        <p:strVal val="visible"/>
                                      </p:to>
                                    </p:set>
                                    <p:animEffect transition="in" filter="fade">
                                      <p:cBhvr>
                                        <p:cTn id="1330" dur="500"/>
                                        <p:tgtEl>
                                          <p:spTgt spid="26"/>
                                        </p:tgtEl>
                                      </p:cBhvr>
                                    </p:animEffect>
                                  </p:childTnLst>
                                </p:cTn>
                              </p:par>
                              <p:par>
                                <p:cTn id="1331" presetID="0" presetClass="path" fill="hold" grpId="7" nodeType="withEffect">
                                  <p:stCondLst>
                                    <p:cond delay="9900"/>
                                  </p:stCondLst>
                                  <p:childTnLst>
                                    <p:animMotion origin="layout" path="M 0 0 L -0.01452 -0.133 E" pathEditMode="relative" ptsTypes="AA">
                                      <p:cBhvr additive="base">
                                        <p:cTn id="1332" dur="4400" fill="hold"/>
                                        <p:tgtEl>
                                          <p:spTgt spid="26"/>
                                        </p:tgtEl>
                                        <p:attrNameLst>
                                          <p:attrName>ppt_x</p:attrName>
                                          <p:attrName>ppt_y</p:attrName>
                                        </p:attrNameLst>
                                      </p:cBhvr>
                                      <p:rCtr x="0" y="0"/>
                                    </p:animMotion>
                                    <p:animScale>
                                      <p:cBhvr>
                                        <p:cTn id="1333" dur="4400" fill="hold"/>
                                        <p:tgtEl>
                                          <p:spTgt spid="26"/>
                                        </p:tgtEl>
                                      </p:cBhvr>
                                      <p:from x="100000" y="100000"/>
                                      <p:to x="320000" y="320000"/>
                                    </p:animScale>
                                  </p:childTnLst>
                                </p:cTn>
                              </p:par>
                              <p:par>
                                <p:cTn id="1334" presetID="10" presetClass="exit" fill="hold" grpId="8" nodeType="withEffect">
                                  <p:stCondLst>
                                    <p:cond delay="13400"/>
                                  </p:stCondLst>
                                  <p:childTnLst>
                                    <p:animEffect transition="out" filter="fade">
                                      <p:cBhvr>
                                        <p:cTn id="1335" dur="900"/>
                                        <p:tgtEl>
                                          <p:spTgt spid="26"/>
                                        </p:tgtEl>
                                      </p:cBhvr>
                                    </p:animEffect>
                                    <p:set>
                                      <p:cBhvr>
                                        <p:cTn id="1336" dur="1" fill="hold">
                                          <p:stCondLst>
                                            <p:cond delay="899"/>
                                          </p:stCondLst>
                                        </p:cTn>
                                        <p:tgtEl>
                                          <p:spTgt spid="26"/>
                                        </p:tgtEl>
                                        <p:attrNameLst>
                                          <p:attrName>style.visibility</p:attrName>
                                        </p:attrNameLst>
                                      </p:cBhvr>
                                      <p:to>
                                        <p:strVal val="hidden"/>
                                      </p:to>
                                    </p:set>
                                  </p:childTnLst>
                                </p:cTn>
                              </p:par>
                            </p:childTnLst>
                          </p:cTn>
                        </p:par>
                        <p:par>
                          <p:cTn id="1347" fill="hold">
                            <p:stCondLst>
                              <p:cond delay="0"/>
                            </p:stCondLst>
                            <p:childTnLst>
                              <p:par>
                                <p:cTn id="1338" presetID="10" presetClass="entr" fill="hold" grpId="9" nodeType="withEffect">
                                  <p:stCondLst>
                                    <p:cond delay="14300"/>
                                  </p:stCondLst>
                                  <p:childTnLst>
                                    <p:set>
                                      <p:cBhvr>
                                        <p:cTn id="1339" dur="1" fill="hold">
                                          <p:stCondLst>
                                            <p:cond delay="0"/>
                                          </p:stCondLst>
                                        </p:cTn>
                                        <p:tgtEl>
                                          <p:spTgt spid="26"/>
                                        </p:tgtEl>
                                        <p:attrNameLst>
                                          <p:attrName>style.visibility</p:attrName>
                                        </p:attrNameLst>
                                      </p:cBhvr>
                                      <p:to>
                                        <p:strVal val="visible"/>
                                      </p:to>
                                    </p:set>
                                    <p:animEffect transition="in" filter="fade">
                                      <p:cBhvr>
                                        <p:cTn id="1340" dur="500"/>
                                        <p:tgtEl>
                                          <p:spTgt spid="26"/>
                                        </p:tgtEl>
                                      </p:cBhvr>
                                    </p:animEffect>
                                  </p:childTnLst>
                                </p:cTn>
                              </p:par>
                              <p:par>
                                <p:cTn id="1341" presetID="0" presetClass="path" fill="hold" grpId="10" nodeType="withEffect">
                                  <p:stCondLst>
                                    <p:cond delay="14300"/>
                                  </p:stCondLst>
                                  <p:childTnLst>
                                    <p:animMotion origin="layout" path="M 0 0 L -0.01452 -0.133 E" pathEditMode="relative" ptsTypes="AA">
                                      <p:cBhvr additive="base">
                                        <p:cTn id="1342" dur="4400" fill="hold"/>
                                        <p:tgtEl>
                                          <p:spTgt spid="26"/>
                                        </p:tgtEl>
                                        <p:attrNameLst>
                                          <p:attrName>ppt_x</p:attrName>
                                          <p:attrName>ppt_y</p:attrName>
                                        </p:attrNameLst>
                                      </p:cBhvr>
                                      <p:rCtr x="0" y="0"/>
                                    </p:animMotion>
                                    <p:animScale>
                                      <p:cBhvr>
                                        <p:cTn id="1343" dur="4400" fill="hold"/>
                                        <p:tgtEl>
                                          <p:spTgt spid="26"/>
                                        </p:tgtEl>
                                      </p:cBhvr>
                                      <p:from x="100000" y="100000"/>
                                      <p:to x="320000" y="320000"/>
                                    </p:animScale>
                                  </p:childTnLst>
                                </p:cTn>
                              </p:par>
                              <p:par>
                                <p:cTn id="1344" presetID="10" presetClass="exit" fill="hold" grpId="11" nodeType="withEffect">
                                  <p:stCondLst>
                                    <p:cond delay="17800"/>
                                  </p:stCondLst>
                                  <p:childTnLst>
                                    <p:animEffect transition="out" filter="fade">
                                      <p:cBhvr>
                                        <p:cTn id="1345" dur="900"/>
                                        <p:tgtEl>
                                          <p:spTgt spid="26"/>
                                        </p:tgtEl>
                                      </p:cBhvr>
                                    </p:animEffect>
                                    <p:set>
                                      <p:cBhvr>
                                        <p:cTn id="1346" dur="1" fill="hold">
                                          <p:stCondLst>
                                            <p:cond delay="899"/>
                                          </p:stCondLst>
                                        </p:cTn>
                                        <p:tgtEl>
                                          <p:spTgt spid="26"/>
                                        </p:tgtEl>
                                        <p:attrNameLst>
                                          <p:attrName>style.visibility</p:attrName>
                                        </p:attrNameLst>
                                      </p:cBhvr>
                                      <p:to>
                                        <p:strVal val="hidden"/>
                                      </p:to>
                                    </p:set>
                                  </p:childTnLst>
                                </p:cTn>
                              </p:par>
                            </p:childTnLst>
                          </p:cTn>
                        </p:par>
                        <p:par>
                          <p:cTn id="1357" fill="hold">
                            <p:stCondLst>
                              <p:cond delay="0"/>
                            </p:stCondLst>
                            <p:childTnLst>
                              <p:par>
                                <p:cTn id="1348" presetID="10" presetClass="entr" fill="hold" grpId="12" nodeType="withEffect">
                                  <p:stCondLst>
                                    <p:cond delay="18700"/>
                                  </p:stCondLst>
                                  <p:childTnLst>
                                    <p:set>
                                      <p:cBhvr>
                                        <p:cTn id="1349" dur="1" fill="hold">
                                          <p:stCondLst>
                                            <p:cond delay="0"/>
                                          </p:stCondLst>
                                        </p:cTn>
                                        <p:tgtEl>
                                          <p:spTgt spid="26"/>
                                        </p:tgtEl>
                                        <p:attrNameLst>
                                          <p:attrName>style.visibility</p:attrName>
                                        </p:attrNameLst>
                                      </p:cBhvr>
                                      <p:to>
                                        <p:strVal val="visible"/>
                                      </p:to>
                                    </p:set>
                                    <p:animEffect transition="in" filter="fade">
                                      <p:cBhvr>
                                        <p:cTn id="1350" dur="500"/>
                                        <p:tgtEl>
                                          <p:spTgt spid="26"/>
                                        </p:tgtEl>
                                      </p:cBhvr>
                                    </p:animEffect>
                                  </p:childTnLst>
                                </p:cTn>
                              </p:par>
                              <p:par>
                                <p:cTn id="1351" presetID="0" presetClass="path" fill="hold" grpId="13" nodeType="withEffect">
                                  <p:stCondLst>
                                    <p:cond delay="18700"/>
                                  </p:stCondLst>
                                  <p:childTnLst>
                                    <p:animMotion origin="layout" path="M 0 0 L -0.01452 -0.133 E" pathEditMode="relative" ptsTypes="AA">
                                      <p:cBhvr additive="base">
                                        <p:cTn id="1352" dur="4400" fill="hold"/>
                                        <p:tgtEl>
                                          <p:spTgt spid="26"/>
                                        </p:tgtEl>
                                        <p:attrNameLst>
                                          <p:attrName>ppt_x</p:attrName>
                                          <p:attrName>ppt_y</p:attrName>
                                        </p:attrNameLst>
                                      </p:cBhvr>
                                      <p:rCtr x="0" y="0"/>
                                    </p:animMotion>
                                    <p:animScale>
                                      <p:cBhvr>
                                        <p:cTn id="1353" dur="4400" fill="hold"/>
                                        <p:tgtEl>
                                          <p:spTgt spid="26"/>
                                        </p:tgtEl>
                                      </p:cBhvr>
                                      <p:from x="100000" y="100000"/>
                                      <p:to x="320000" y="320000"/>
                                    </p:animScale>
                                  </p:childTnLst>
                                </p:cTn>
                              </p:par>
                              <p:par>
                                <p:cTn id="1354" presetID="10" presetClass="exit" fill="hold" grpId="14" nodeType="withEffect">
                                  <p:stCondLst>
                                    <p:cond delay="22200"/>
                                  </p:stCondLst>
                                  <p:childTnLst>
                                    <p:animEffect transition="out" filter="fade">
                                      <p:cBhvr>
                                        <p:cTn id="1355" dur="900"/>
                                        <p:tgtEl>
                                          <p:spTgt spid="26"/>
                                        </p:tgtEl>
                                      </p:cBhvr>
                                    </p:animEffect>
                                    <p:set>
                                      <p:cBhvr>
                                        <p:cTn id="1356" dur="1" fill="hold">
                                          <p:stCondLst>
                                            <p:cond delay="899"/>
                                          </p:stCondLst>
                                        </p:cTn>
                                        <p:tgtEl>
                                          <p:spTgt spid="26"/>
                                        </p:tgtEl>
                                        <p:attrNameLst>
                                          <p:attrName>style.visibility</p:attrName>
                                        </p:attrNameLst>
                                      </p:cBhvr>
                                      <p:to>
                                        <p:strVal val="hidden"/>
                                      </p:to>
                                    </p:set>
                                  </p:childTnLst>
                                </p:cTn>
                              </p:par>
                            </p:childTnLst>
                          </p:cTn>
                        </p:par>
                        <p:par>
                          <p:cTn id="1367" fill="hold">
                            <p:stCondLst>
                              <p:cond delay="0"/>
                            </p:stCondLst>
                            <p:childTnLst>
                              <p:par>
                                <p:cTn id="1358" presetID="10" presetClass="entr" fill="hold" grpId="15" nodeType="withEffect">
                                  <p:stCondLst>
                                    <p:cond delay="23100"/>
                                  </p:stCondLst>
                                  <p:childTnLst>
                                    <p:set>
                                      <p:cBhvr>
                                        <p:cTn id="1359" dur="1" fill="hold">
                                          <p:stCondLst>
                                            <p:cond delay="0"/>
                                          </p:stCondLst>
                                        </p:cTn>
                                        <p:tgtEl>
                                          <p:spTgt spid="26"/>
                                        </p:tgtEl>
                                        <p:attrNameLst>
                                          <p:attrName>style.visibility</p:attrName>
                                        </p:attrNameLst>
                                      </p:cBhvr>
                                      <p:to>
                                        <p:strVal val="visible"/>
                                      </p:to>
                                    </p:set>
                                    <p:animEffect transition="in" filter="fade">
                                      <p:cBhvr>
                                        <p:cTn id="1360" dur="500"/>
                                        <p:tgtEl>
                                          <p:spTgt spid="26"/>
                                        </p:tgtEl>
                                      </p:cBhvr>
                                    </p:animEffect>
                                  </p:childTnLst>
                                </p:cTn>
                              </p:par>
                              <p:par>
                                <p:cTn id="1361" presetID="0" presetClass="path" fill="hold" grpId="16" nodeType="withEffect">
                                  <p:stCondLst>
                                    <p:cond delay="23100"/>
                                  </p:stCondLst>
                                  <p:childTnLst>
                                    <p:animMotion origin="layout" path="M 0 0 L -0.01452 -0.133 E" pathEditMode="relative" ptsTypes="AA">
                                      <p:cBhvr additive="base">
                                        <p:cTn id="1362" dur="4400" fill="hold"/>
                                        <p:tgtEl>
                                          <p:spTgt spid="26"/>
                                        </p:tgtEl>
                                        <p:attrNameLst>
                                          <p:attrName>ppt_x</p:attrName>
                                          <p:attrName>ppt_y</p:attrName>
                                        </p:attrNameLst>
                                      </p:cBhvr>
                                      <p:rCtr x="0" y="0"/>
                                    </p:animMotion>
                                    <p:animScale>
                                      <p:cBhvr>
                                        <p:cTn id="1363" dur="4400" fill="hold"/>
                                        <p:tgtEl>
                                          <p:spTgt spid="26"/>
                                        </p:tgtEl>
                                      </p:cBhvr>
                                      <p:from x="100000" y="100000"/>
                                      <p:to x="320000" y="320000"/>
                                    </p:animScale>
                                  </p:childTnLst>
                                </p:cTn>
                              </p:par>
                              <p:par>
                                <p:cTn id="1364" presetID="10" presetClass="exit" fill="hold" grpId="17" nodeType="withEffect">
                                  <p:stCondLst>
                                    <p:cond delay="26600"/>
                                  </p:stCondLst>
                                  <p:childTnLst>
                                    <p:animEffect transition="out" filter="fade">
                                      <p:cBhvr>
                                        <p:cTn id="1365" dur="900"/>
                                        <p:tgtEl>
                                          <p:spTgt spid="26"/>
                                        </p:tgtEl>
                                      </p:cBhvr>
                                    </p:animEffect>
                                    <p:set>
                                      <p:cBhvr>
                                        <p:cTn id="1366" dur="1" fill="hold">
                                          <p:stCondLst>
                                            <p:cond delay="899"/>
                                          </p:stCondLst>
                                        </p:cTn>
                                        <p:tgtEl>
                                          <p:spTgt spid="26"/>
                                        </p:tgtEl>
                                        <p:attrNameLst>
                                          <p:attrName>style.visibility</p:attrName>
                                        </p:attrNameLst>
                                      </p:cBhvr>
                                      <p:to>
                                        <p:strVal val="hidden"/>
                                      </p:to>
                                    </p:set>
                                  </p:childTnLst>
                                </p:cTn>
                              </p:par>
                            </p:childTnLst>
                          </p:cTn>
                        </p:par>
                        <p:par>
                          <p:cTn id="1377" fill="hold">
                            <p:stCondLst>
                              <p:cond delay="0"/>
                            </p:stCondLst>
                            <p:childTnLst>
                              <p:par>
                                <p:cTn id="1368" presetID="10" presetClass="entr" fill="hold" grpId="18" nodeType="withEffect">
                                  <p:stCondLst>
                                    <p:cond delay="27500"/>
                                  </p:stCondLst>
                                  <p:childTnLst>
                                    <p:set>
                                      <p:cBhvr>
                                        <p:cTn id="1369" dur="1" fill="hold">
                                          <p:stCondLst>
                                            <p:cond delay="0"/>
                                          </p:stCondLst>
                                        </p:cTn>
                                        <p:tgtEl>
                                          <p:spTgt spid="26"/>
                                        </p:tgtEl>
                                        <p:attrNameLst>
                                          <p:attrName>style.visibility</p:attrName>
                                        </p:attrNameLst>
                                      </p:cBhvr>
                                      <p:to>
                                        <p:strVal val="visible"/>
                                      </p:to>
                                    </p:set>
                                    <p:animEffect transition="in" filter="fade">
                                      <p:cBhvr>
                                        <p:cTn id="1370" dur="500"/>
                                        <p:tgtEl>
                                          <p:spTgt spid="26"/>
                                        </p:tgtEl>
                                      </p:cBhvr>
                                    </p:animEffect>
                                  </p:childTnLst>
                                </p:cTn>
                              </p:par>
                              <p:par>
                                <p:cTn id="1371" presetID="0" presetClass="path" fill="hold" grpId="19" nodeType="withEffect">
                                  <p:stCondLst>
                                    <p:cond delay="27500"/>
                                  </p:stCondLst>
                                  <p:childTnLst>
                                    <p:animMotion origin="layout" path="M 0 0 L -0.01452 -0.133 E" pathEditMode="relative" ptsTypes="AA">
                                      <p:cBhvr additive="base">
                                        <p:cTn id="1372" dur="4400" fill="hold"/>
                                        <p:tgtEl>
                                          <p:spTgt spid="26"/>
                                        </p:tgtEl>
                                        <p:attrNameLst>
                                          <p:attrName>ppt_x</p:attrName>
                                          <p:attrName>ppt_y</p:attrName>
                                        </p:attrNameLst>
                                      </p:cBhvr>
                                      <p:rCtr x="0" y="0"/>
                                    </p:animMotion>
                                    <p:animScale>
                                      <p:cBhvr>
                                        <p:cTn id="1373" dur="4400" fill="hold"/>
                                        <p:tgtEl>
                                          <p:spTgt spid="26"/>
                                        </p:tgtEl>
                                      </p:cBhvr>
                                      <p:from x="100000" y="100000"/>
                                      <p:to x="320000" y="320000"/>
                                    </p:animScale>
                                  </p:childTnLst>
                                </p:cTn>
                              </p:par>
                              <p:par>
                                <p:cTn id="1374" presetID="10" presetClass="exit" fill="hold" grpId="20" nodeType="withEffect">
                                  <p:stCondLst>
                                    <p:cond delay="31000"/>
                                  </p:stCondLst>
                                  <p:childTnLst>
                                    <p:animEffect transition="out" filter="fade">
                                      <p:cBhvr>
                                        <p:cTn id="1375" dur="900"/>
                                        <p:tgtEl>
                                          <p:spTgt spid="26"/>
                                        </p:tgtEl>
                                      </p:cBhvr>
                                    </p:animEffect>
                                    <p:set>
                                      <p:cBhvr>
                                        <p:cTn id="1376" dur="1" fill="hold">
                                          <p:stCondLst>
                                            <p:cond delay="899"/>
                                          </p:stCondLst>
                                        </p:cTn>
                                        <p:tgtEl>
                                          <p:spTgt spid="26"/>
                                        </p:tgtEl>
                                        <p:attrNameLst>
                                          <p:attrName>style.visibility</p:attrName>
                                        </p:attrNameLst>
                                      </p:cBhvr>
                                      <p:to>
                                        <p:strVal val="hidden"/>
                                      </p:to>
                                    </p:set>
                                  </p:childTnLst>
                                </p:cTn>
                              </p:par>
                            </p:childTnLst>
                          </p:cTn>
                        </p:par>
                        <p:par>
                          <p:cTn id="1387" fill="hold">
                            <p:stCondLst>
                              <p:cond delay="0"/>
                            </p:stCondLst>
                            <p:childTnLst>
                              <p:par>
                                <p:cTn id="1378" presetID="10" presetClass="entr" fill="hold" grpId="21" nodeType="withEffect">
                                  <p:stCondLst>
                                    <p:cond delay="31900"/>
                                  </p:stCondLst>
                                  <p:childTnLst>
                                    <p:set>
                                      <p:cBhvr>
                                        <p:cTn id="1379" dur="1" fill="hold">
                                          <p:stCondLst>
                                            <p:cond delay="0"/>
                                          </p:stCondLst>
                                        </p:cTn>
                                        <p:tgtEl>
                                          <p:spTgt spid="26"/>
                                        </p:tgtEl>
                                        <p:attrNameLst>
                                          <p:attrName>style.visibility</p:attrName>
                                        </p:attrNameLst>
                                      </p:cBhvr>
                                      <p:to>
                                        <p:strVal val="visible"/>
                                      </p:to>
                                    </p:set>
                                    <p:animEffect transition="in" filter="fade">
                                      <p:cBhvr>
                                        <p:cTn id="1380" dur="500"/>
                                        <p:tgtEl>
                                          <p:spTgt spid="26"/>
                                        </p:tgtEl>
                                      </p:cBhvr>
                                    </p:animEffect>
                                  </p:childTnLst>
                                </p:cTn>
                              </p:par>
                              <p:par>
                                <p:cTn id="1381" presetID="0" presetClass="path" fill="hold" grpId="22" nodeType="withEffect">
                                  <p:stCondLst>
                                    <p:cond delay="31900"/>
                                  </p:stCondLst>
                                  <p:childTnLst>
                                    <p:animMotion origin="layout" path="M 0 0 L -0.01452 -0.133 E" pathEditMode="relative" ptsTypes="AA">
                                      <p:cBhvr additive="base">
                                        <p:cTn id="1382" dur="4400" fill="hold"/>
                                        <p:tgtEl>
                                          <p:spTgt spid="26"/>
                                        </p:tgtEl>
                                        <p:attrNameLst>
                                          <p:attrName>ppt_x</p:attrName>
                                          <p:attrName>ppt_y</p:attrName>
                                        </p:attrNameLst>
                                      </p:cBhvr>
                                      <p:rCtr x="0" y="0"/>
                                    </p:animMotion>
                                    <p:animScale>
                                      <p:cBhvr>
                                        <p:cTn id="1383" dur="4400" fill="hold"/>
                                        <p:tgtEl>
                                          <p:spTgt spid="26"/>
                                        </p:tgtEl>
                                      </p:cBhvr>
                                      <p:from x="100000" y="100000"/>
                                      <p:to x="320000" y="320000"/>
                                    </p:animScale>
                                  </p:childTnLst>
                                </p:cTn>
                              </p:par>
                              <p:par>
                                <p:cTn id="1384" presetID="10" presetClass="exit" fill="hold" grpId="23" nodeType="withEffect">
                                  <p:stCondLst>
                                    <p:cond delay="35400"/>
                                  </p:stCondLst>
                                  <p:childTnLst>
                                    <p:animEffect transition="out" filter="fade">
                                      <p:cBhvr>
                                        <p:cTn id="1385" dur="900"/>
                                        <p:tgtEl>
                                          <p:spTgt spid="26"/>
                                        </p:tgtEl>
                                      </p:cBhvr>
                                    </p:animEffect>
                                    <p:set>
                                      <p:cBhvr>
                                        <p:cTn id="1386" dur="1" fill="hold">
                                          <p:stCondLst>
                                            <p:cond delay="899"/>
                                          </p:stCondLst>
                                        </p:cTn>
                                        <p:tgtEl>
                                          <p:spTgt spid="26"/>
                                        </p:tgtEl>
                                        <p:attrNameLst>
                                          <p:attrName>style.visibility</p:attrName>
                                        </p:attrNameLst>
                                      </p:cBhvr>
                                      <p:to>
                                        <p:strVal val="hidden"/>
                                      </p:to>
                                    </p:set>
                                  </p:childTnLst>
                                </p:cTn>
                              </p:par>
                            </p:childTnLst>
                          </p:cTn>
                        </p:par>
                        <p:par>
                          <p:cTn id="1397" fill="hold">
                            <p:stCondLst>
                              <p:cond delay="0"/>
                            </p:stCondLst>
                            <p:childTnLst>
                              <p:par>
                                <p:cTn id="1388" presetID="10" presetClass="entr" fill="hold" grpId="24" nodeType="withEffect">
                                  <p:stCondLst>
                                    <p:cond delay="36300"/>
                                  </p:stCondLst>
                                  <p:childTnLst>
                                    <p:set>
                                      <p:cBhvr>
                                        <p:cTn id="1389" dur="1" fill="hold">
                                          <p:stCondLst>
                                            <p:cond delay="0"/>
                                          </p:stCondLst>
                                        </p:cTn>
                                        <p:tgtEl>
                                          <p:spTgt spid="26"/>
                                        </p:tgtEl>
                                        <p:attrNameLst>
                                          <p:attrName>style.visibility</p:attrName>
                                        </p:attrNameLst>
                                      </p:cBhvr>
                                      <p:to>
                                        <p:strVal val="visible"/>
                                      </p:to>
                                    </p:set>
                                    <p:animEffect transition="in" filter="fade">
                                      <p:cBhvr>
                                        <p:cTn id="1390" dur="500"/>
                                        <p:tgtEl>
                                          <p:spTgt spid="26"/>
                                        </p:tgtEl>
                                      </p:cBhvr>
                                    </p:animEffect>
                                  </p:childTnLst>
                                </p:cTn>
                              </p:par>
                              <p:par>
                                <p:cTn id="1391" presetID="0" presetClass="path" fill="hold" grpId="25" nodeType="withEffect">
                                  <p:stCondLst>
                                    <p:cond delay="36300"/>
                                  </p:stCondLst>
                                  <p:childTnLst>
                                    <p:animMotion origin="layout" path="M 0 0 L -0.01452 -0.133 E" pathEditMode="relative" ptsTypes="AA">
                                      <p:cBhvr additive="base">
                                        <p:cTn id="1392" dur="4400" fill="hold"/>
                                        <p:tgtEl>
                                          <p:spTgt spid="26"/>
                                        </p:tgtEl>
                                        <p:attrNameLst>
                                          <p:attrName>ppt_x</p:attrName>
                                          <p:attrName>ppt_y</p:attrName>
                                        </p:attrNameLst>
                                      </p:cBhvr>
                                      <p:rCtr x="0" y="0"/>
                                    </p:animMotion>
                                    <p:animScale>
                                      <p:cBhvr>
                                        <p:cTn id="1393" dur="4400" fill="hold"/>
                                        <p:tgtEl>
                                          <p:spTgt spid="26"/>
                                        </p:tgtEl>
                                      </p:cBhvr>
                                      <p:from x="100000" y="100000"/>
                                      <p:to x="320000" y="320000"/>
                                    </p:animScale>
                                  </p:childTnLst>
                                </p:cTn>
                              </p:par>
                              <p:par>
                                <p:cTn id="1394" presetID="10" presetClass="exit" fill="hold" grpId="26" nodeType="withEffect">
                                  <p:stCondLst>
                                    <p:cond delay="39800"/>
                                  </p:stCondLst>
                                  <p:childTnLst>
                                    <p:animEffect transition="out" filter="fade">
                                      <p:cBhvr>
                                        <p:cTn id="1395" dur="900"/>
                                        <p:tgtEl>
                                          <p:spTgt spid="26"/>
                                        </p:tgtEl>
                                      </p:cBhvr>
                                    </p:animEffect>
                                    <p:set>
                                      <p:cBhvr>
                                        <p:cTn id="1396" dur="1" fill="hold">
                                          <p:stCondLst>
                                            <p:cond delay="899"/>
                                          </p:stCondLst>
                                        </p:cTn>
                                        <p:tgtEl>
                                          <p:spTgt spid="26"/>
                                        </p:tgtEl>
                                        <p:attrNameLst>
                                          <p:attrName>style.visibility</p:attrName>
                                        </p:attrNameLst>
                                      </p:cBhvr>
                                      <p:to>
                                        <p:strVal val="hidden"/>
                                      </p:to>
                                    </p:set>
                                  </p:childTnLst>
                                </p:cTn>
                              </p:par>
                            </p:childTnLst>
                          </p:cTn>
                        </p:par>
                        <p:par>
                          <p:cTn id="1407" fill="hold">
                            <p:stCondLst>
                              <p:cond delay="0"/>
                            </p:stCondLst>
                            <p:childTnLst>
                              <p:par>
                                <p:cTn id="1398" presetID="10" presetClass="entr" fill="hold" grpId="27" nodeType="withEffect">
                                  <p:stCondLst>
                                    <p:cond delay="40700"/>
                                  </p:stCondLst>
                                  <p:childTnLst>
                                    <p:set>
                                      <p:cBhvr>
                                        <p:cTn id="1399" dur="1" fill="hold">
                                          <p:stCondLst>
                                            <p:cond delay="0"/>
                                          </p:stCondLst>
                                        </p:cTn>
                                        <p:tgtEl>
                                          <p:spTgt spid="26"/>
                                        </p:tgtEl>
                                        <p:attrNameLst>
                                          <p:attrName>style.visibility</p:attrName>
                                        </p:attrNameLst>
                                      </p:cBhvr>
                                      <p:to>
                                        <p:strVal val="visible"/>
                                      </p:to>
                                    </p:set>
                                    <p:animEffect transition="in" filter="fade">
                                      <p:cBhvr>
                                        <p:cTn id="1400" dur="500"/>
                                        <p:tgtEl>
                                          <p:spTgt spid="26"/>
                                        </p:tgtEl>
                                      </p:cBhvr>
                                    </p:animEffect>
                                  </p:childTnLst>
                                </p:cTn>
                              </p:par>
                              <p:par>
                                <p:cTn id="1401" presetID="0" presetClass="path" fill="hold" grpId="28" nodeType="withEffect">
                                  <p:stCondLst>
                                    <p:cond delay="40700"/>
                                  </p:stCondLst>
                                  <p:childTnLst>
                                    <p:animMotion origin="layout" path="M 0 0 L -0.01452 -0.133 E" pathEditMode="relative" ptsTypes="AA">
                                      <p:cBhvr additive="base">
                                        <p:cTn id="1402" dur="4400" fill="hold"/>
                                        <p:tgtEl>
                                          <p:spTgt spid="26"/>
                                        </p:tgtEl>
                                        <p:attrNameLst>
                                          <p:attrName>ppt_x</p:attrName>
                                          <p:attrName>ppt_y</p:attrName>
                                        </p:attrNameLst>
                                      </p:cBhvr>
                                      <p:rCtr x="0" y="0"/>
                                    </p:animMotion>
                                    <p:animScale>
                                      <p:cBhvr>
                                        <p:cTn id="1403" dur="4400" fill="hold"/>
                                        <p:tgtEl>
                                          <p:spTgt spid="26"/>
                                        </p:tgtEl>
                                      </p:cBhvr>
                                      <p:from x="100000" y="100000"/>
                                      <p:to x="320000" y="320000"/>
                                    </p:animScale>
                                  </p:childTnLst>
                                </p:cTn>
                              </p:par>
                              <p:par>
                                <p:cTn id="1404" presetID="10" presetClass="exit" fill="hold" grpId="29" nodeType="withEffect">
                                  <p:stCondLst>
                                    <p:cond delay="44200"/>
                                  </p:stCondLst>
                                  <p:childTnLst>
                                    <p:animEffect transition="out" filter="fade">
                                      <p:cBhvr>
                                        <p:cTn id="1405" dur="900"/>
                                        <p:tgtEl>
                                          <p:spTgt spid="26"/>
                                        </p:tgtEl>
                                      </p:cBhvr>
                                    </p:animEffect>
                                    <p:set>
                                      <p:cBhvr>
                                        <p:cTn id="1406" dur="1" fill="hold">
                                          <p:stCondLst>
                                            <p:cond delay="899"/>
                                          </p:stCondLst>
                                        </p:cTn>
                                        <p:tgtEl>
                                          <p:spTgt spid="26"/>
                                        </p:tgtEl>
                                        <p:attrNameLst>
                                          <p:attrName>style.visibility</p:attrName>
                                        </p:attrNameLst>
                                      </p:cBhvr>
                                      <p:to>
                                        <p:strVal val="hidden"/>
                                      </p:to>
                                    </p:set>
                                  </p:childTnLst>
                                </p:cTn>
                              </p:par>
                            </p:childTnLst>
                          </p:cTn>
                        </p:par>
                        <p:par>
                          <p:cTn id="1417" fill="hold">
                            <p:stCondLst>
                              <p:cond delay="0"/>
                            </p:stCondLst>
                            <p:childTnLst>
                              <p:par>
                                <p:cTn id="1408" presetID="10" presetClass="entr" fill="hold" grpId="30" nodeType="withEffect">
                                  <p:stCondLst>
                                    <p:cond delay="45100"/>
                                  </p:stCondLst>
                                  <p:childTnLst>
                                    <p:set>
                                      <p:cBhvr>
                                        <p:cTn id="1409" dur="1" fill="hold">
                                          <p:stCondLst>
                                            <p:cond delay="0"/>
                                          </p:stCondLst>
                                        </p:cTn>
                                        <p:tgtEl>
                                          <p:spTgt spid="26"/>
                                        </p:tgtEl>
                                        <p:attrNameLst>
                                          <p:attrName>style.visibility</p:attrName>
                                        </p:attrNameLst>
                                      </p:cBhvr>
                                      <p:to>
                                        <p:strVal val="visible"/>
                                      </p:to>
                                    </p:set>
                                    <p:animEffect transition="in" filter="fade">
                                      <p:cBhvr>
                                        <p:cTn id="1410" dur="500"/>
                                        <p:tgtEl>
                                          <p:spTgt spid="26"/>
                                        </p:tgtEl>
                                      </p:cBhvr>
                                    </p:animEffect>
                                  </p:childTnLst>
                                </p:cTn>
                              </p:par>
                              <p:par>
                                <p:cTn id="1411" presetID="0" presetClass="path" fill="hold" grpId="31" nodeType="withEffect">
                                  <p:stCondLst>
                                    <p:cond delay="45100"/>
                                  </p:stCondLst>
                                  <p:childTnLst>
                                    <p:animMotion origin="layout" path="M 0 0 L -0.01452 -0.133 E" pathEditMode="relative" ptsTypes="AA">
                                      <p:cBhvr additive="base">
                                        <p:cTn id="1412" dur="4400" fill="hold"/>
                                        <p:tgtEl>
                                          <p:spTgt spid="26"/>
                                        </p:tgtEl>
                                        <p:attrNameLst>
                                          <p:attrName>ppt_x</p:attrName>
                                          <p:attrName>ppt_y</p:attrName>
                                        </p:attrNameLst>
                                      </p:cBhvr>
                                      <p:rCtr x="0" y="0"/>
                                    </p:animMotion>
                                    <p:animScale>
                                      <p:cBhvr>
                                        <p:cTn id="1413" dur="4400" fill="hold"/>
                                        <p:tgtEl>
                                          <p:spTgt spid="26"/>
                                        </p:tgtEl>
                                      </p:cBhvr>
                                      <p:from x="100000" y="100000"/>
                                      <p:to x="320000" y="320000"/>
                                    </p:animScale>
                                  </p:childTnLst>
                                </p:cTn>
                              </p:par>
                              <p:par>
                                <p:cTn id="1414" presetID="10" presetClass="exit" fill="hold" grpId="32" nodeType="withEffect">
                                  <p:stCondLst>
                                    <p:cond delay="48600"/>
                                  </p:stCondLst>
                                  <p:childTnLst>
                                    <p:animEffect transition="out" filter="fade">
                                      <p:cBhvr>
                                        <p:cTn id="1415" dur="900"/>
                                        <p:tgtEl>
                                          <p:spTgt spid="26"/>
                                        </p:tgtEl>
                                      </p:cBhvr>
                                    </p:animEffect>
                                    <p:set>
                                      <p:cBhvr>
                                        <p:cTn id="1416" dur="1" fill="hold">
                                          <p:stCondLst>
                                            <p:cond delay="899"/>
                                          </p:stCondLst>
                                        </p:cTn>
                                        <p:tgtEl>
                                          <p:spTgt spid="26"/>
                                        </p:tgtEl>
                                        <p:attrNameLst>
                                          <p:attrName>style.visibility</p:attrName>
                                        </p:attrNameLst>
                                      </p:cBhvr>
                                      <p:to>
                                        <p:strVal val="hidden"/>
                                      </p:to>
                                    </p:set>
                                  </p:childTnLst>
                                </p:cTn>
                              </p:par>
                            </p:childTnLst>
                          </p:cTn>
                        </p:par>
                        <p:par>
                          <p:cTn id="1427" fill="hold">
                            <p:stCondLst>
                              <p:cond delay="0"/>
                            </p:stCondLst>
                            <p:childTnLst>
                              <p:par>
                                <p:cTn id="1418" presetID="10" presetClass="entr" fill="hold" grpId="33" nodeType="withEffect">
                                  <p:stCondLst>
                                    <p:cond delay="49500"/>
                                  </p:stCondLst>
                                  <p:childTnLst>
                                    <p:set>
                                      <p:cBhvr>
                                        <p:cTn id="1419" dur="1" fill="hold">
                                          <p:stCondLst>
                                            <p:cond delay="0"/>
                                          </p:stCondLst>
                                        </p:cTn>
                                        <p:tgtEl>
                                          <p:spTgt spid="26"/>
                                        </p:tgtEl>
                                        <p:attrNameLst>
                                          <p:attrName>style.visibility</p:attrName>
                                        </p:attrNameLst>
                                      </p:cBhvr>
                                      <p:to>
                                        <p:strVal val="visible"/>
                                      </p:to>
                                    </p:set>
                                    <p:animEffect transition="in" filter="fade">
                                      <p:cBhvr>
                                        <p:cTn id="1420" dur="500"/>
                                        <p:tgtEl>
                                          <p:spTgt spid="26"/>
                                        </p:tgtEl>
                                      </p:cBhvr>
                                    </p:animEffect>
                                  </p:childTnLst>
                                </p:cTn>
                              </p:par>
                              <p:par>
                                <p:cTn id="1421" presetID="0" presetClass="path" fill="hold" grpId="34" nodeType="withEffect">
                                  <p:stCondLst>
                                    <p:cond delay="49500"/>
                                  </p:stCondLst>
                                  <p:childTnLst>
                                    <p:animMotion origin="layout" path="M 0 0 L -0.01452 -0.133 E" pathEditMode="relative" ptsTypes="AA">
                                      <p:cBhvr additive="base">
                                        <p:cTn id="1422" dur="4400" fill="hold"/>
                                        <p:tgtEl>
                                          <p:spTgt spid="26"/>
                                        </p:tgtEl>
                                        <p:attrNameLst>
                                          <p:attrName>ppt_x</p:attrName>
                                          <p:attrName>ppt_y</p:attrName>
                                        </p:attrNameLst>
                                      </p:cBhvr>
                                      <p:rCtr x="0" y="0"/>
                                    </p:animMotion>
                                    <p:animScale>
                                      <p:cBhvr>
                                        <p:cTn id="1423" dur="4400" fill="hold"/>
                                        <p:tgtEl>
                                          <p:spTgt spid="26"/>
                                        </p:tgtEl>
                                      </p:cBhvr>
                                      <p:from x="100000" y="100000"/>
                                      <p:to x="320000" y="320000"/>
                                    </p:animScale>
                                  </p:childTnLst>
                                </p:cTn>
                              </p:par>
                              <p:par>
                                <p:cTn id="1424" presetID="10" presetClass="exit" fill="hold" grpId="35" nodeType="withEffect">
                                  <p:stCondLst>
                                    <p:cond delay="53000"/>
                                  </p:stCondLst>
                                  <p:childTnLst>
                                    <p:animEffect transition="out" filter="fade">
                                      <p:cBhvr>
                                        <p:cTn id="1425" dur="900"/>
                                        <p:tgtEl>
                                          <p:spTgt spid="26"/>
                                        </p:tgtEl>
                                      </p:cBhvr>
                                    </p:animEffect>
                                    <p:set>
                                      <p:cBhvr>
                                        <p:cTn id="1426" dur="1" fill="hold">
                                          <p:stCondLst>
                                            <p:cond delay="899"/>
                                          </p:stCondLst>
                                        </p:cTn>
                                        <p:tgtEl>
                                          <p:spTgt spid="26"/>
                                        </p:tgtEl>
                                        <p:attrNameLst>
                                          <p:attrName>style.visibility</p:attrName>
                                        </p:attrNameLst>
                                      </p:cBhvr>
                                      <p:to>
                                        <p:strVal val="hidden"/>
                                      </p:to>
                                    </p:set>
                                  </p:childTnLst>
                                </p:cTn>
                              </p:par>
                            </p:childTnLst>
                          </p:cTn>
                        </p:par>
                        <p:par>
                          <p:cTn id="1437" fill="hold">
                            <p:stCondLst>
                              <p:cond delay="0"/>
                            </p:stCondLst>
                            <p:childTnLst>
                              <p:par>
                                <p:cTn id="1428" presetID="10" presetClass="entr" fill="hold" grpId="36" nodeType="withEffect">
                                  <p:stCondLst>
                                    <p:cond delay="53900"/>
                                  </p:stCondLst>
                                  <p:childTnLst>
                                    <p:set>
                                      <p:cBhvr>
                                        <p:cTn id="1429" dur="1" fill="hold">
                                          <p:stCondLst>
                                            <p:cond delay="0"/>
                                          </p:stCondLst>
                                        </p:cTn>
                                        <p:tgtEl>
                                          <p:spTgt spid="26"/>
                                        </p:tgtEl>
                                        <p:attrNameLst>
                                          <p:attrName>style.visibility</p:attrName>
                                        </p:attrNameLst>
                                      </p:cBhvr>
                                      <p:to>
                                        <p:strVal val="visible"/>
                                      </p:to>
                                    </p:set>
                                    <p:animEffect transition="in" filter="fade">
                                      <p:cBhvr>
                                        <p:cTn id="1430" dur="500"/>
                                        <p:tgtEl>
                                          <p:spTgt spid="26"/>
                                        </p:tgtEl>
                                      </p:cBhvr>
                                    </p:animEffect>
                                  </p:childTnLst>
                                </p:cTn>
                              </p:par>
                              <p:par>
                                <p:cTn id="1431" presetID="0" presetClass="path" fill="hold" grpId="37" nodeType="withEffect">
                                  <p:stCondLst>
                                    <p:cond delay="53900"/>
                                  </p:stCondLst>
                                  <p:childTnLst>
                                    <p:animMotion origin="layout" path="M 0 0 L -0.01452 -0.133 E" pathEditMode="relative" ptsTypes="AA">
                                      <p:cBhvr additive="base">
                                        <p:cTn id="1432" dur="4400" fill="hold"/>
                                        <p:tgtEl>
                                          <p:spTgt spid="26"/>
                                        </p:tgtEl>
                                        <p:attrNameLst>
                                          <p:attrName>ppt_x</p:attrName>
                                          <p:attrName>ppt_y</p:attrName>
                                        </p:attrNameLst>
                                      </p:cBhvr>
                                      <p:rCtr x="0" y="0"/>
                                    </p:animMotion>
                                    <p:animScale>
                                      <p:cBhvr>
                                        <p:cTn id="1433" dur="4400" fill="hold"/>
                                        <p:tgtEl>
                                          <p:spTgt spid="26"/>
                                        </p:tgtEl>
                                      </p:cBhvr>
                                      <p:from x="100000" y="100000"/>
                                      <p:to x="320000" y="320000"/>
                                    </p:animScale>
                                  </p:childTnLst>
                                </p:cTn>
                              </p:par>
                              <p:par>
                                <p:cTn id="1434" presetID="10" presetClass="exit" fill="hold" grpId="38" nodeType="withEffect">
                                  <p:stCondLst>
                                    <p:cond delay="57400"/>
                                  </p:stCondLst>
                                  <p:childTnLst>
                                    <p:animEffect transition="out" filter="fade">
                                      <p:cBhvr>
                                        <p:cTn id="1435" dur="900"/>
                                        <p:tgtEl>
                                          <p:spTgt spid="26"/>
                                        </p:tgtEl>
                                      </p:cBhvr>
                                    </p:animEffect>
                                    <p:set>
                                      <p:cBhvr>
                                        <p:cTn id="1436" dur="1" fill="hold">
                                          <p:stCondLst>
                                            <p:cond delay="899"/>
                                          </p:stCondLst>
                                        </p:cTn>
                                        <p:tgtEl>
                                          <p:spTgt spid="26"/>
                                        </p:tgtEl>
                                        <p:attrNameLst>
                                          <p:attrName>style.visibility</p:attrName>
                                        </p:attrNameLst>
                                      </p:cBhvr>
                                      <p:to>
                                        <p:strVal val="hidden"/>
                                      </p:to>
                                    </p:set>
                                  </p:childTnLst>
                                </p:cTn>
                              </p:par>
                            </p:childTnLst>
                          </p:cTn>
                        </p:par>
                        <p:par>
                          <p:cTn id="1447" fill="hold">
                            <p:stCondLst>
                              <p:cond delay="0"/>
                            </p:stCondLst>
                            <p:childTnLst>
                              <p:par>
                                <p:cTn id="1438" presetID="10" presetClass="entr" fill="hold" grpId="39" nodeType="withEffect">
                                  <p:stCondLst>
                                    <p:cond delay="58300"/>
                                  </p:stCondLst>
                                  <p:childTnLst>
                                    <p:set>
                                      <p:cBhvr>
                                        <p:cTn id="1439" dur="1" fill="hold">
                                          <p:stCondLst>
                                            <p:cond delay="0"/>
                                          </p:stCondLst>
                                        </p:cTn>
                                        <p:tgtEl>
                                          <p:spTgt spid="26"/>
                                        </p:tgtEl>
                                        <p:attrNameLst>
                                          <p:attrName>style.visibility</p:attrName>
                                        </p:attrNameLst>
                                      </p:cBhvr>
                                      <p:to>
                                        <p:strVal val="visible"/>
                                      </p:to>
                                    </p:set>
                                    <p:animEffect transition="in" filter="fade">
                                      <p:cBhvr>
                                        <p:cTn id="1440" dur="500"/>
                                        <p:tgtEl>
                                          <p:spTgt spid="26"/>
                                        </p:tgtEl>
                                      </p:cBhvr>
                                    </p:animEffect>
                                  </p:childTnLst>
                                </p:cTn>
                              </p:par>
                              <p:par>
                                <p:cTn id="1441" presetID="0" presetClass="path" fill="hold" grpId="40" nodeType="withEffect">
                                  <p:stCondLst>
                                    <p:cond delay="58300"/>
                                  </p:stCondLst>
                                  <p:childTnLst>
                                    <p:animMotion origin="layout" path="M 0 0 L -0.01452 -0.133 E" pathEditMode="relative" ptsTypes="AA">
                                      <p:cBhvr additive="base">
                                        <p:cTn id="1442" dur="4400" fill="hold"/>
                                        <p:tgtEl>
                                          <p:spTgt spid="26"/>
                                        </p:tgtEl>
                                        <p:attrNameLst>
                                          <p:attrName>ppt_x</p:attrName>
                                          <p:attrName>ppt_y</p:attrName>
                                        </p:attrNameLst>
                                      </p:cBhvr>
                                      <p:rCtr x="0" y="0"/>
                                    </p:animMotion>
                                    <p:animScale>
                                      <p:cBhvr>
                                        <p:cTn id="1443" dur="4400" fill="hold"/>
                                        <p:tgtEl>
                                          <p:spTgt spid="26"/>
                                        </p:tgtEl>
                                      </p:cBhvr>
                                      <p:from x="100000" y="100000"/>
                                      <p:to x="320000" y="320000"/>
                                    </p:animScale>
                                  </p:childTnLst>
                                </p:cTn>
                              </p:par>
                              <p:par>
                                <p:cTn id="1444" presetID="10" presetClass="exit" fill="hold" grpId="41" nodeType="withEffect">
                                  <p:stCondLst>
                                    <p:cond delay="61800"/>
                                  </p:stCondLst>
                                  <p:childTnLst>
                                    <p:animEffect transition="out" filter="fade">
                                      <p:cBhvr>
                                        <p:cTn id="1445" dur="900"/>
                                        <p:tgtEl>
                                          <p:spTgt spid="26"/>
                                        </p:tgtEl>
                                      </p:cBhvr>
                                    </p:animEffect>
                                    <p:set>
                                      <p:cBhvr>
                                        <p:cTn id="1446" dur="1" fill="hold">
                                          <p:stCondLst>
                                            <p:cond delay="899"/>
                                          </p:stCondLst>
                                        </p:cTn>
                                        <p:tgtEl>
                                          <p:spTgt spid="26"/>
                                        </p:tgtEl>
                                        <p:attrNameLst>
                                          <p:attrName>style.visibility</p:attrName>
                                        </p:attrNameLst>
                                      </p:cBhvr>
                                      <p:to>
                                        <p:strVal val="hidden"/>
                                      </p:to>
                                    </p:set>
                                  </p:childTnLst>
                                </p:cTn>
                              </p:par>
                            </p:childTnLst>
                          </p:cTn>
                        </p:par>
                        <p:par>
                          <p:cTn id="1457" fill="hold">
                            <p:stCondLst>
                              <p:cond delay="0"/>
                            </p:stCondLst>
                            <p:childTnLst>
                              <p:par>
                                <p:cTn id="1448" presetID="10" presetClass="entr" fill="hold" grpId="0" nodeType="withEffect">
                                  <p:stCondLst>
                                    <p:cond delay="2200"/>
                                  </p:stCondLst>
                                  <p:childTnLst>
                                    <p:set>
                                      <p:cBhvr>
                                        <p:cTn id="1449" dur="1" fill="hold">
                                          <p:stCondLst>
                                            <p:cond delay="0"/>
                                          </p:stCondLst>
                                        </p:cTn>
                                        <p:tgtEl>
                                          <p:spTgt spid="27"/>
                                        </p:tgtEl>
                                        <p:attrNameLst>
                                          <p:attrName>style.visibility</p:attrName>
                                        </p:attrNameLst>
                                      </p:cBhvr>
                                      <p:to>
                                        <p:strVal val="visible"/>
                                      </p:to>
                                    </p:set>
                                    <p:animEffect transition="in" filter="fade">
                                      <p:cBhvr>
                                        <p:cTn id="1450" dur="500"/>
                                        <p:tgtEl>
                                          <p:spTgt spid="27"/>
                                        </p:tgtEl>
                                      </p:cBhvr>
                                    </p:animEffect>
                                  </p:childTnLst>
                                </p:cTn>
                              </p:par>
                              <p:par>
                                <p:cTn id="1451" presetID="0" presetClass="path" fill="hold" grpId="1" nodeType="withEffect">
                                  <p:stCondLst>
                                    <p:cond delay="2200"/>
                                  </p:stCondLst>
                                  <p:childTnLst>
                                    <p:animMotion origin="layout" path="M 0 0 L -0.01254 -0.126 E" pathEditMode="relative" ptsTypes="AA">
                                      <p:cBhvr additive="base">
                                        <p:cTn id="1452" dur="4400" fill="hold"/>
                                        <p:tgtEl>
                                          <p:spTgt spid="27"/>
                                        </p:tgtEl>
                                        <p:attrNameLst>
                                          <p:attrName>ppt_x</p:attrName>
                                          <p:attrName>ppt_y</p:attrName>
                                        </p:attrNameLst>
                                      </p:cBhvr>
                                      <p:rCtr x="0" y="0"/>
                                    </p:animMotion>
                                    <p:animScale>
                                      <p:cBhvr>
                                        <p:cTn id="1453" dur="4400" fill="hold"/>
                                        <p:tgtEl>
                                          <p:spTgt spid="27"/>
                                        </p:tgtEl>
                                      </p:cBhvr>
                                      <p:from x="100000" y="100000"/>
                                      <p:to x="320000" y="320000"/>
                                    </p:animScale>
                                  </p:childTnLst>
                                </p:cTn>
                              </p:par>
                              <p:par>
                                <p:cTn id="1454" presetID="10" presetClass="exit" fill="hold" grpId="2" nodeType="withEffect">
                                  <p:stCondLst>
                                    <p:cond delay="5700"/>
                                  </p:stCondLst>
                                  <p:childTnLst>
                                    <p:animEffect transition="out" filter="fade">
                                      <p:cBhvr>
                                        <p:cTn id="1455" dur="900"/>
                                        <p:tgtEl>
                                          <p:spTgt spid="27"/>
                                        </p:tgtEl>
                                      </p:cBhvr>
                                    </p:animEffect>
                                    <p:set>
                                      <p:cBhvr>
                                        <p:cTn id="1456" dur="1" fill="hold">
                                          <p:stCondLst>
                                            <p:cond delay="899"/>
                                          </p:stCondLst>
                                        </p:cTn>
                                        <p:tgtEl>
                                          <p:spTgt spid="27"/>
                                        </p:tgtEl>
                                        <p:attrNameLst>
                                          <p:attrName>style.visibility</p:attrName>
                                        </p:attrNameLst>
                                      </p:cBhvr>
                                      <p:to>
                                        <p:strVal val="hidden"/>
                                      </p:to>
                                    </p:set>
                                  </p:childTnLst>
                                </p:cTn>
                              </p:par>
                            </p:childTnLst>
                          </p:cTn>
                        </p:par>
                        <p:par>
                          <p:cTn id="1467" fill="hold">
                            <p:stCondLst>
                              <p:cond delay="0"/>
                            </p:stCondLst>
                            <p:childTnLst>
                              <p:par>
                                <p:cTn id="1458" presetID="10" presetClass="entr" fill="hold" grpId="3" nodeType="withEffect">
                                  <p:stCondLst>
                                    <p:cond delay="6600"/>
                                  </p:stCondLst>
                                  <p:childTnLst>
                                    <p:set>
                                      <p:cBhvr>
                                        <p:cTn id="1459" dur="1" fill="hold">
                                          <p:stCondLst>
                                            <p:cond delay="0"/>
                                          </p:stCondLst>
                                        </p:cTn>
                                        <p:tgtEl>
                                          <p:spTgt spid="27"/>
                                        </p:tgtEl>
                                        <p:attrNameLst>
                                          <p:attrName>style.visibility</p:attrName>
                                        </p:attrNameLst>
                                      </p:cBhvr>
                                      <p:to>
                                        <p:strVal val="visible"/>
                                      </p:to>
                                    </p:set>
                                    <p:animEffect transition="in" filter="fade">
                                      <p:cBhvr>
                                        <p:cTn id="1460" dur="500"/>
                                        <p:tgtEl>
                                          <p:spTgt spid="27"/>
                                        </p:tgtEl>
                                      </p:cBhvr>
                                    </p:animEffect>
                                  </p:childTnLst>
                                </p:cTn>
                              </p:par>
                              <p:par>
                                <p:cTn id="1461" presetID="0" presetClass="path" fill="hold" grpId="4" nodeType="withEffect">
                                  <p:stCondLst>
                                    <p:cond delay="6600"/>
                                  </p:stCondLst>
                                  <p:childTnLst>
                                    <p:animMotion origin="layout" path="M 0 0 L -0.01254 -0.126 E" pathEditMode="relative" ptsTypes="AA">
                                      <p:cBhvr additive="base">
                                        <p:cTn id="1462" dur="4400" fill="hold"/>
                                        <p:tgtEl>
                                          <p:spTgt spid="27"/>
                                        </p:tgtEl>
                                        <p:attrNameLst>
                                          <p:attrName>ppt_x</p:attrName>
                                          <p:attrName>ppt_y</p:attrName>
                                        </p:attrNameLst>
                                      </p:cBhvr>
                                      <p:rCtr x="0" y="0"/>
                                    </p:animMotion>
                                    <p:animScale>
                                      <p:cBhvr>
                                        <p:cTn id="1463" dur="4400" fill="hold"/>
                                        <p:tgtEl>
                                          <p:spTgt spid="27"/>
                                        </p:tgtEl>
                                      </p:cBhvr>
                                      <p:from x="100000" y="100000"/>
                                      <p:to x="320000" y="320000"/>
                                    </p:animScale>
                                  </p:childTnLst>
                                </p:cTn>
                              </p:par>
                              <p:par>
                                <p:cTn id="1464" presetID="10" presetClass="exit" fill="hold" grpId="5" nodeType="withEffect">
                                  <p:stCondLst>
                                    <p:cond delay="10100"/>
                                  </p:stCondLst>
                                  <p:childTnLst>
                                    <p:animEffect transition="out" filter="fade">
                                      <p:cBhvr>
                                        <p:cTn id="1465" dur="900"/>
                                        <p:tgtEl>
                                          <p:spTgt spid="27"/>
                                        </p:tgtEl>
                                      </p:cBhvr>
                                    </p:animEffect>
                                    <p:set>
                                      <p:cBhvr>
                                        <p:cTn id="1466" dur="1" fill="hold">
                                          <p:stCondLst>
                                            <p:cond delay="899"/>
                                          </p:stCondLst>
                                        </p:cTn>
                                        <p:tgtEl>
                                          <p:spTgt spid="27"/>
                                        </p:tgtEl>
                                        <p:attrNameLst>
                                          <p:attrName>style.visibility</p:attrName>
                                        </p:attrNameLst>
                                      </p:cBhvr>
                                      <p:to>
                                        <p:strVal val="hidden"/>
                                      </p:to>
                                    </p:set>
                                  </p:childTnLst>
                                </p:cTn>
                              </p:par>
                            </p:childTnLst>
                          </p:cTn>
                        </p:par>
                        <p:par>
                          <p:cTn id="1477" fill="hold">
                            <p:stCondLst>
                              <p:cond delay="0"/>
                            </p:stCondLst>
                            <p:childTnLst>
                              <p:par>
                                <p:cTn id="1468" presetID="10" presetClass="entr" fill="hold" grpId="6" nodeType="withEffect">
                                  <p:stCondLst>
                                    <p:cond delay="11000"/>
                                  </p:stCondLst>
                                  <p:childTnLst>
                                    <p:set>
                                      <p:cBhvr>
                                        <p:cTn id="1469" dur="1" fill="hold">
                                          <p:stCondLst>
                                            <p:cond delay="0"/>
                                          </p:stCondLst>
                                        </p:cTn>
                                        <p:tgtEl>
                                          <p:spTgt spid="27"/>
                                        </p:tgtEl>
                                        <p:attrNameLst>
                                          <p:attrName>style.visibility</p:attrName>
                                        </p:attrNameLst>
                                      </p:cBhvr>
                                      <p:to>
                                        <p:strVal val="visible"/>
                                      </p:to>
                                    </p:set>
                                    <p:animEffect transition="in" filter="fade">
                                      <p:cBhvr>
                                        <p:cTn id="1470" dur="500"/>
                                        <p:tgtEl>
                                          <p:spTgt spid="27"/>
                                        </p:tgtEl>
                                      </p:cBhvr>
                                    </p:animEffect>
                                  </p:childTnLst>
                                </p:cTn>
                              </p:par>
                              <p:par>
                                <p:cTn id="1471" presetID="0" presetClass="path" fill="hold" grpId="7" nodeType="withEffect">
                                  <p:stCondLst>
                                    <p:cond delay="11000"/>
                                  </p:stCondLst>
                                  <p:childTnLst>
                                    <p:animMotion origin="layout" path="M 0 0 L -0.01254 -0.126 E" pathEditMode="relative" ptsTypes="AA">
                                      <p:cBhvr additive="base">
                                        <p:cTn id="1472" dur="4400" fill="hold"/>
                                        <p:tgtEl>
                                          <p:spTgt spid="27"/>
                                        </p:tgtEl>
                                        <p:attrNameLst>
                                          <p:attrName>ppt_x</p:attrName>
                                          <p:attrName>ppt_y</p:attrName>
                                        </p:attrNameLst>
                                      </p:cBhvr>
                                      <p:rCtr x="0" y="0"/>
                                    </p:animMotion>
                                    <p:animScale>
                                      <p:cBhvr>
                                        <p:cTn id="1473" dur="4400" fill="hold"/>
                                        <p:tgtEl>
                                          <p:spTgt spid="27"/>
                                        </p:tgtEl>
                                      </p:cBhvr>
                                      <p:from x="100000" y="100000"/>
                                      <p:to x="320000" y="320000"/>
                                    </p:animScale>
                                  </p:childTnLst>
                                </p:cTn>
                              </p:par>
                              <p:par>
                                <p:cTn id="1474" presetID="10" presetClass="exit" fill="hold" grpId="8" nodeType="withEffect">
                                  <p:stCondLst>
                                    <p:cond delay="14500"/>
                                  </p:stCondLst>
                                  <p:childTnLst>
                                    <p:animEffect transition="out" filter="fade">
                                      <p:cBhvr>
                                        <p:cTn id="1475" dur="900"/>
                                        <p:tgtEl>
                                          <p:spTgt spid="27"/>
                                        </p:tgtEl>
                                      </p:cBhvr>
                                    </p:animEffect>
                                    <p:set>
                                      <p:cBhvr>
                                        <p:cTn id="1476" dur="1" fill="hold">
                                          <p:stCondLst>
                                            <p:cond delay="899"/>
                                          </p:stCondLst>
                                        </p:cTn>
                                        <p:tgtEl>
                                          <p:spTgt spid="27"/>
                                        </p:tgtEl>
                                        <p:attrNameLst>
                                          <p:attrName>style.visibility</p:attrName>
                                        </p:attrNameLst>
                                      </p:cBhvr>
                                      <p:to>
                                        <p:strVal val="hidden"/>
                                      </p:to>
                                    </p:set>
                                  </p:childTnLst>
                                </p:cTn>
                              </p:par>
                            </p:childTnLst>
                          </p:cTn>
                        </p:par>
                        <p:par>
                          <p:cTn id="1487" fill="hold">
                            <p:stCondLst>
                              <p:cond delay="0"/>
                            </p:stCondLst>
                            <p:childTnLst>
                              <p:par>
                                <p:cTn id="1478" presetID="10" presetClass="entr" fill="hold" grpId="9" nodeType="withEffect">
                                  <p:stCondLst>
                                    <p:cond delay="15400"/>
                                  </p:stCondLst>
                                  <p:childTnLst>
                                    <p:set>
                                      <p:cBhvr>
                                        <p:cTn id="1479" dur="1" fill="hold">
                                          <p:stCondLst>
                                            <p:cond delay="0"/>
                                          </p:stCondLst>
                                        </p:cTn>
                                        <p:tgtEl>
                                          <p:spTgt spid="27"/>
                                        </p:tgtEl>
                                        <p:attrNameLst>
                                          <p:attrName>style.visibility</p:attrName>
                                        </p:attrNameLst>
                                      </p:cBhvr>
                                      <p:to>
                                        <p:strVal val="visible"/>
                                      </p:to>
                                    </p:set>
                                    <p:animEffect transition="in" filter="fade">
                                      <p:cBhvr>
                                        <p:cTn id="1480" dur="500"/>
                                        <p:tgtEl>
                                          <p:spTgt spid="27"/>
                                        </p:tgtEl>
                                      </p:cBhvr>
                                    </p:animEffect>
                                  </p:childTnLst>
                                </p:cTn>
                              </p:par>
                              <p:par>
                                <p:cTn id="1481" presetID="0" presetClass="path" fill="hold" grpId="10" nodeType="withEffect">
                                  <p:stCondLst>
                                    <p:cond delay="15400"/>
                                  </p:stCondLst>
                                  <p:childTnLst>
                                    <p:animMotion origin="layout" path="M 0 0 L -0.01254 -0.126 E" pathEditMode="relative" ptsTypes="AA">
                                      <p:cBhvr additive="base">
                                        <p:cTn id="1482" dur="4400" fill="hold"/>
                                        <p:tgtEl>
                                          <p:spTgt spid="27"/>
                                        </p:tgtEl>
                                        <p:attrNameLst>
                                          <p:attrName>ppt_x</p:attrName>
                                          <p:attrName>ppt_y</p:attrName>
                                        </p:attrNameLst>
                                      </p:cBhvr>
                                      <p:rCtr x="0" y="0"/>
                                    </p:animMotion>
                                    <p:animScale>
                                      <p:cBhvr>
                                        <p:cTn id="1483" dur="4400" fill="hold"/>
                                        <p:tgtEl>
                                          <p:spTgt spid="27"/>
                                        </p:tgtEl>
                                      </p:cBhvr>
                                      <p:from x="100000" y="100000"/>
                                      <p:to x="320000" y="320000"/>
                                    </p:animScale>
                                  </p:childTnLst>
                                </p:cTn>
                              </p:par>
                              <p:par>
                                <p:cTn id="1484" presetID="10" presetClass="exit" fill="hold" grpId="11" nodeType="withEffect">
                                  <p:stCondLst>
                                    <p:cond delay="18900"/>
                                  </p:stCondLst>
                                  <p:childTnLst>
                                    <p:animEffect transition="out" filter="fade">
                                      <p:cBhvr>
                                        <p:cTn id="1485" dur="900"/>
                                        <p:tgtEl>
                                          <p:spTgt spid="27"/>
                                        </p:tgtEl>
                                      </p:cBhvr>
                                    </p:animEffect>
                                    <p:set>
                                      <p:cBhvr>
                                        <p:cTn id="1486" dur="1" fill="hold">
                                          <p:stCondLst>
                                            <p:cond delay="899"/>
                                          </p:stCondLst>
                                        </p:cTn>
                                        <p:tgtEl>
                                          <p:spTgt spid="27"/>
                                        </p:tgtEl>
                                        <p:attrNameLst>
                                          <p:attrName>style.visibility</p:attrName>
                                        </p:attrNameLst>
                                      </p:cBhvr>
                                      <p:to>
                                        <p:strVal val="hidden"/>
                                      </p:to>
                                    </p:set>
                                  </p:childTnLst>
                                </p:cTn>
                              </p:par>
                            </p:childTnLst>
                          </p:cTn>
                        </p:par>
                        <p:par>
                          <p:cTn id="1497" fill="hold">
                            <p:stCondLst>
                              <p:cond delay="0"/>
                            </p:stCondLst>
                            <p:childTnLst>
                              <p:par>
                                <p:cTn id="1488" presetID="10" presetClass="entr" fill="hold" grpId="12" nodeType="withEffect">
                                  <p:stCondLst>
                                    <p:cond delay="19800"/>
                                  </p:stCondLst>
                                  <p:childTnLst>
                                    <p:set>
                                      <p:cBhvr>
                                        <p:cTn id="1489" dur="1" fill="hold">
                                          <p:stCondLst>
                                            <p:cond delay="0"/>
                                          </p:stCondLst>
                                        </p:cTn>
                                        <p:tgtEl>
                                          <p:spTgt spid="27"/>
                                        </p:tgtEl>
                                        <p:attrNameLst>
                                          <p:attrName>style.visibility</p:attrName>
                                        </p:attrNameLst>
                                      </p:cBhvr>
                                      <p:to>
                                        <p:strVal val="visible"/>
                                      </p:to>
                                    </p:set>
                                    <p:animEffect transition="in" filter="fade">
                                      <p:cBhvr>
                                        <p:cTn id="1490" dur="500"/>
                                        <p:tgtEl>
                                          <p:spTgt spid="27"/>
                                        </p:tgtEl>
                                      </p:cBhvr>
                                    </p:animEffect>
                                  </p:childTnLst>
                                </p:cTn>
                              </p:par>
                              <p:par>
                                <p:cTn id="1491" presetID="0" presetClass="path" fill="hold" grpId="13" nodeType="withEffect">
                                  <p:stCondLst>
                                    <p:cond delay="19800"/>
                                  </p:stCondLst>
                                  <p:childTnLst>
                                    <p:animMotion origin="layout" path="M 0 0 L -0.01254 -0.126 E" pathEditMode="relative" ptsTypes="AA">
                                      <p:cBhvr additive="base">
                                        <p:cTn id="1492" dur="4400" fill="hold"/>
                                        <p:tgtEl>
                                          <p:spTgt spid="27"/>
                                        </p:tgtEl>
                                        <p:attrNameLst>
                                          <p:attrName>ppt_x</p:attrName>
                                          <p:attrName>ppt_y</p:attrName>
                                        </p:attrNameLst>
                                      </p:cBhvr>
                                      <p:rCtr x="0" y="0"/>
                                    </p:animMotion>
                                    <p:animScale>
                                      <p:cBhvr>
                                        <p:cTn id="1493" dur="4400" fill="hold"/>
                                        <p:tgtEl>
                                          <p:spTgt spid="27"/>
                                        </p:tgtEl>
                                      </p:cBhvr>
                                      <p:from x="100000" y="100000"/>
                                      <p:to x="320000" y="320000"/>
                                    </p:animScale>
                                  </p:childTnLst>
                                </p:cTn>
                              </p:par>
                              <p:par>
                                <p:cTn id="1494" presetID="10" presetClass="exit" fill="hold" grpId="14" nodeType="withEffect">
                                  <p:stCondLst>
                                    <p:cond delay="23300"/>
                                  </p:stCondLst>
                                  <p:childTnLst>
                                    <p:animEffect transition="out" filter="fade">
                                      <p:cBhvr>
                                        <p:cTn id="1495" dur="900"/>
                                        <p:tgtEl>
                                          <p:spTgt spid="27"/>
                                        </p:tgtEl>
                                      </p:cBhvr>
                                    </p:animEffect>
                                    <p:set>
                                      <p:cBhvr>
                                        <p:cTn id="1496" dur="1" fill="hold">
                                          <p:stCondLst>
                                            <p:cond delay="899"/>
                                          </p:stCondLst>
                                        </p:cTn>
                                        <p:tgtEl>
                                          <p:spTgt spid="27"/>
                                        </p:tgtEl>
                                        <p:attrNameLst>
                                          <p:attrName>style.visibility</p:attrName>
                                        </p:attrNameLst>
                                      </p:cBhvr>
                                      <p:to>
                                        <p:strVal val="hidden"/>
                                      </p:to>
                                    </p:set>
                                  </p:childTnLst>
                                </p:cTn>
                              </p:par>
                            </p:childTnLst>
                          </p:cTn>
                        </p:par>
                        <p:par>
                          <p:cTn id="1507" fill="hold">
                            <p:stCondLst>
                              <p:cond delay="0"/>
                            </p:stCondLst>
                            <p:childTnLst>
                              <p:par>
                                <p:cTn id="1498" presetID="10" presetClass="entr" fill="hold" grpId="15" nodeType="withEffect">
                                  <p:stCondLst>
                                    <p:cond delay="24200"/>
                                  </p:stCondLst>
                                  <p:childTnLst>
                                    <p:set>
                                      <p:cBhvr>
                                        <p:cTn id="1499" dur="1" fill="hold">
                                          <p:stCondLst>
                                            <p:cond delay="0"/>
                                          </p:stCondLst>
                                        </p:cTn>
                                        <p:tgtEl>
                                          <p:spTgt spid="27"/>
                                        </p:tgtEl>
                                        <p:attrNameLst>
                                          <p:attrName>style.visibility</p:attrName>
                                        </p:attrNameLst>
                                      </p:cBhvr>
                                      <p:to>
                                        <p:strVal val="visible"/>
                                      </p:to>
                                    </p:set>
                                    <p:animEffect transition="in" filter="fade">
                                      <p:cBhvr>
                                        <p:cTn id="1500" dur="500"/>
                                        <p:tgtEl>
                                          <p:spTgt spid="27"/>
                                        </p:tgtEl>
                                      </p:cBhvr>
                                    </p:animEffect>
                                  </p:childTnLst>
                                </p:cTn>
                              </p:par>
                              <p:par>
                                <p:cTn id="1501" presetID="0" presetClass="path" fill="hold" grpId="16" nodeType="withEffect">
                                  <p:stCondLst>
                                    <p:cond delay="24200"/>
                                  </p:stCondLst>
                                  <p:childTnLst>
                                    <p:animMotion origin="layout" path="M 0 0 L -0.01254 -0.126 E" pathEditMode="relative" ptsTypes="AA">
                                      <p:cBhvr additive="base">
                                        <p:cTn id="1502" dur="4400" fill="hold"/>
                                        <p:tgtEl>
                                          <p:spTgt spid="27"/>
                                        </p:tgtEl>
                                        <p:attrNameLst>
                                          <p:attrName>ppt_x</p:attrName>
                                          <p:attrName>ppt_y</p:attrName>
                                        </p:attrNameLst>
                                      </p:cBhvr>
                                      <p:rCtr x="0" y="0"/>
                                    </p:animMotion>
                                    <p:animScale>
                                      <p:cBhvr>
                                        <p:cTn id="1503" dur="4400" fill="hold"/>
                                        <p:tgtEl>
                                          <p:spTgt spid="27"/>
                                        </p:tgtEl>
                                      </p:cBhvr>
                                      <p:from x="100000" y="100000"/>
                                      <p:to x="320000" y="320000"/>
                                    </p:animScale>
                                  </p:childTnLst>
                                </p:cTn>
                              </p:par>
                              <p:par>
                                <p:cTn id="1504" presetID="10" presetClass="exit" fill="hold" grpId="17" nodeType="withEffect">
                                  <p:stCondLst>
                                    <p:cond delay="27700"/>
                                  </p:stCondLst>
                                  <p:childTnLst>
                                    <p:animEffect transition="out" filter="fade">
                                      <p:cBhvr>
                                        <p:cTn id="1505" dur="900"/>
                                        <p:tgtEl>
                                          <p:spTgt spid="27"/>
                                        </p:tgtEl>
                                      </p:cBhvr>
                                    </p:animEffect>
                                    <p:set>
                                      <p:cBhvr>
                                        <p:cTn id="1506" dur="1" fill="hold">
                                          <p:stCondLst>
                                            <p:cond delay="899"/>
                                          </p:stCondLst>
                                        </p:cTn>
                                        <p:tgtEl>
                                          <p:spTgt spid="27"/>
                                        </p:tgtEl>
                                        <p:attrNameLst>
                                          <p:attrName>style.visibility</p:attrName>
                                        </p:attrNameLst>
                                      </p:cBhvr>
                                      <p:to>
                                        <p:strVal val="hidden"/>
                                      </p:to>
                                    </p:set>
                                  </p:childTnLst>
                                </p:cTn>
                              </p:par>
                            </p:childTnLst>
                          </p:cTn>
                        </p:par>
                        <p:par>
                          <p:cTn id="1517" fill="hold">
                            <p:stCondLst>
                              <p:cond delay="0"/>
                            </p:stCondLst>
                            <p:childTnLst>
                              <p:par>
                                <p:cTn id="1508" presetID="10" presetClass="entr" fill="hold" grpId="18" nodeType="withEffect">
                                  <p:stCondLst>
                                    <p:cond delay="28600"/>
                                  </p:stCondLst>
                                  <p:childTnLst>
                                    <p:set>
                                      <p:cBhvr>
                                        <p:cTn id="1509" dur="1" fill="hold">
                                          <p:stCondLst>
                                            <p:cond delay="0"/>
                                          </p:stCondLst>
                                        </p:cTn>
                                        <p:tgtEl>
                                          <p:spTgt spid="27"/>
                                        </p:tgtEl>
                                        <p:attrNameLst>
                                          <p:attrName>style.visibility</p:attrName>
                                        </p:attrNameLst>
                                      </p:cBhvr>
                                      <p:to>
                                        <p:strVal val="visible"/>
                                      </p:to>
                                    </p:set>
                                    <p:animEffect transition="in" filter="fade">
                                      <p:cBhvr>
                                        <p:cTn id="1510" dur="500"/>
                                        <p:tgtEl>
                                          <p:spTgt spid="27"/>
                                        </p:tgtEl>
                                      </p:cBhvr>
                                    </p:animEffect>
                                  </p:childTnLst>
                                </p:cTn>
                              </p:par>
                              <p:par>
                                <p:cTn id="1511" presetID="0" presetClass="path" fill="hold" grpId="19" nodeType="withEffect">
                                  <p:stCondLst>
                                    <p:cond delay="28600"/>
                                  </p:stCondLst>
                                  <p:childTnLst>
                                    <p:animMotion origin="layout" path="M 0 0 L -0.01254 -0.126 E" pathEditMode="relative" ptsTypes="AA">
                                      <p:cBhvr additive="base">
                                        <p:cTn id="1512" dur="4400" fill="hold"/>
                                        <p:tgtEl>
                                          <p:spTgt spid="27"/>
                                        </p:tgtEl>
                                        <p:attrNameLst>
                                          <p:attrName>ppt_x</p:attrName>
                                          <p:attrName>ppt_y</p:attrName>
                                        </p:attrNameLst>
                                      </p:cBhvr>
                                      <p:rCtr x="0" y="0"/>
                                    </p:animMotion>
                                    <p:animScale>
                                      <p:cBhvr>
                                        <p:cTn id="1513" dur="4400" fill="hold"/>
                                        <p:tgtEl>
                                          <p:spTgt spid="27"/>
                                        </p:tgtEl>
                                      </p:cBhvr>
                                      <p:from x="100000" y="100000"/>
                                      <p:to x="320000" y="320000"/>
                                    </p:animScale>
                                  </p:childTnLst>
                                </p:cTn>
                              </p:par>
                              <p:par>
                                <p:cTn id="1514" presetID="10" presetClass="exit" fill="hold" grpId="20" nodeType="withEffect">
                                  <p:stCondLst>
                                    <p:cond delay="32100"/>
                                  </p:stCondLst>
                                  <p:childTnLst>
                                    <p:animEffect transition="out" filter="fade">
                                      <p:cBhvr>
                                        <p:cTn id="1515" dur="900"/>
                                        <p:tgtEl>
                                          <p:spTgt spid="27"/>
                                        </p:tgtEl>
                                      </p:cBhvr>
                                    </p:animEffect>
                                    <p:set>
                                      <p:cBhvr>
                                        <p:cTn id="1516" dur="1" fill="hold">
                                          <p:stCondLst>
                                            <p:cond delay="899"/>
                                          </p:stCondLst>
                                        </p:cTn>
                                        <p:tgtEl>
                                          <p:spTgt spid="27"/>
                                        </p:tgtEl>
                                        <p:attrNameLst>
                                          <p:attrName>style.visibility</p:attrName>
                                        </p:attrNameLst>
                                      </p:cBhvr>
                                      <p:to>
                                        <p:strVal val="hidden"/>
                                      </p:to>
                                    </p:set>
                                  </p:childTnLst>
                                </p:cTn>
                              </p:par>
                            </p:childTnLst>
                          </p:cTn>
                        </p:par>
                        <p:par>
                          <p:cTn id="1527" fill="hold">
                            <p:stCondLst>
                              <p:cond delay="0"/>
                            </p:stCondLst>
                            <p:childTnLst>
                              <p:par>
                                <p:cTn id="1518" presetID="10" presetClass="entr" fill="hold" grpId="21" nodeType="withEffect">
                                  <p:stCondLst>
                                    <p:cond delay="33000"/>
                                  </p:stCondLst>
                                  <p:childTnLst>
                                    <p:set>
                                      <p:cBhvr>
                                        <p:cTn id="1519" dur="1" fill="hold">
                                          <p:stCondLst>
                                            <p:cond delay="0"/>
                                          </p:stCondLst>
                                        </p:cTn>
                                        <p:tgtEl>
                                          <p:spTgt spid="27"/>
                                        </p:tgtEl>
                                        <p:attrNameLst>
                                          <p:attrName>style.visibility</p:attrName>
                                        </p:attrNameLst>
                                      </p:cBhvr>
                                      <p:to>
                                        <p:strVal val="visible"/>
                                      </p:to>
                                    </p:set>
                                    <p:animEffect transition="in" filter="fade">
                                      <p:cBhvr>
                                        <p:cTn id="1520" dur="500"/>
                                        <p:tgtEl>
                                          <p:spTgt spid="27"/>
                                        </p:tgtEl>
                                      </p:cBhvr>
                                    </p:animEffect>
                                  </p:childTnLst>
                                </p:cTn>
                              </p:par>
                              <p:par>
                                <p:cTn id="1521" presetID="0" presetClass="path" fill="hold" grpId="22" nodeType="withEffect">
                                  <p:stCondLst>
                                    <p:cond delay="33000"/>
                                  </p:stCondLst>
                                  <p:childTnLst>
                                    <p:animMotion origin="layout" path="M 0 0 L -0.01254 -0.126 E" pathEditMode="relative" ptsTypes="AA">
                                      <p:cBhvr additive="base">
                                        <p:cTn id="1522" dur="4400" fill="hold"/>
                                        <p:tgtEl>
                                          <p:spTgt spid="27"/>
                                        </p:tgtEl>
                                        <p:attrNameLst>
                                          <p:attrName>ppt_x</p:attrName>
                                          <p:attrName>ppt_y</p:attrName>
                                        </p:attrNameLst>
                                      </p:cBhvr>
                                      <p:rCtr x="0" y="0"/>
                                    </p:animMotion>
                                    <p:animScale>
                                      <p:cBhvr>
                                        <p:cTn id="1523" dur="4400" fill="hold"/>
                                        <p:tgtEl>
                                          <p:spTgt spid="27"/>
                                        </p:tgtEl>
                                      </p:cBhvr>
                                      <p:from x="100000" y="100000"/>
                                      <p:to x="320000" y="320000"/>
                                    </p:animScale>
                                  </p:childTnLst>
                                </p:cTn>
                              </p:par>
                              <p:par>
                                <p:cTn id="1524" presetID="10" presetClass="exit" fill="hold" grpId="23" nodeType="withEffect">
                                  <p:stCondLst>
                                    <p:cond delay="36500"/>
                                  </p:stCondLst>
                                  <p:childTnLst>
                                    <p:animEffect transition="out" filter="fade">
                                      <p:cBhvr>
                                        <p:cTn id="1525" dur="900"/>
                                        <p:tgtEl>
                                          <p:spTgt spid="27"/>
                                        </p:tgtEl>
                                      </p:cBhvr>
                                    </p:animEffect>
                                    <p:set>
                                      <p:cBhvr>
                                        <p:cTn id="1526" dur="1" fill="hold">
                                          <p:stCondLst>
                                            <p:cond delay="899"/>
                                          </p:stCondLst>
                                        </p:cTn>
                                        <p:tgtEl>
                                          <p:spTgt spid="27"/>
                                        </p:tgtEl>
                                        <p:attrNameLst>
                                          <p:attrName>style.visibility</p:attrName>
                                        </p:attrNameLst>
                                      </p:cBhvr>
                                      <p:to>
                                        <p:strVal val="hidden"/>
                                      </p:to>
                                    </p:set>
                                  </p:childTnLst>
                                </p:cTn>
                              </p:par>
                            </p:childTnLst>
                          </p:cTn>
                        </p:par>
                        <p:par>
                          <p:cTn id="1537" fill="hold">
                            <p:stCondLst>
                              <p:cond delay="0"/>
                            </p:stCondLst>
                            <p:childTnLst>
                              <p:par>
                                <p:cTn id="1528" presetID="10" presetClass="entr" fill="hold" grpId="24" nodeType="withEffect">
                                  <p:stCondLst>
                                    <p:cond delay="37400"/>
                                  </p:stCondLst>
                                  <p:childTnLst>
                                    <p:set>
                                      <p:cBhvr>
                                        <p:cTn id="1529" dur="1" fill="hold">
                                          <p:stCondLst>
                                            <p:cond delay="0"/>
                                          </p:stCondLst>
                                        </p:cTn>
                                        <p:tgtEl>
                                          <p:spTgt spid="27"/>
                                        </p:tgtEl>
                                        <p:attrNameLst>
                                          <p:attrName>style.visibility</p:attrName>
                                        </p:attrNameLst>
                                      </p:cBhvr>
                                      <p:to>
                                        <p:strVal val="visible"/>
                                      </p:to>
                                    </p:set>
                                    <p:animEffect transition="in" filter="fade">
                                      <p:cBhvr>
                                        <p:cTn id="1530" dur="500"/>
                                        <p:tgtEl>
                                          <p:spTgt spid="27"/>
                                        </p:tgtEl>
                                      </p:cBhvr>
                                    </p:animEffect>
                                  </p:childTnLst>
                                </p:cTn>
                              </p:par>
                              <p:par>
                                <p:cTn id="1531" presetID="0" presetClass="path" fill="hold" grpId="25" nodeType="withEffect">
                                  <p:stCondLst>
                                    <p:cond delay="37400"/>
                                  </p:stCondLst>
                                  <p:childTnLst>
                                    <p:animMotion origin="layout" path="M 0 0 L -0.01254 -0.126 E" pathEditMode="relative" ptsTypes="AA">
                                      <p:cBhvr additive="base">
                                        <p:cTn id="1532" dur="4400" fill="hold"/>
                                        <p:tgtEl>
                                          <p:spTgt spid="27"/>
                                        </p:tgtEl>
                                        <p:attrNameLst>
                                          <p:attrName>ppt_x</p:attrName>
                                          <p:attrName>ppt_y</p:attrName>
                                        </p:attrNameLst>
                                      </p:cBhvr>
                                      <p:rCtr x="0" y="0"/>
                                    </p:animMotion>
                                    <p:animScale>
                                      <p:cBhvr>
                                        <p:cTn id="1533" dur="4400" fill="hold"/>
                                        <p:tgtEl>
                                          <p:spTgt spid="27"/>
                                        </p:tgtEl>
                                      </p:cBhvr>
                                      <p:from x="100000" y="100000"/>
                                      <p:to x="320000" y="320000"/>
                                    </p:animScale>
                                  </p:childTnLst>
                                </p:cTn>
                              </p:par>
                              <p:par>
                                <p:cTn id="1534" presetID="10" presetClass="exit" fill="hold" grpId="26" nodeType="withEffect">
                                  <p:stCondLst>
                                    <p:cond delay="40900"/>
                                  </p:stCondLst>
                                  <p:childTnLst>
                                    <p:animEffect transition="out" filter="fade">
                                      <p:cBhvr>
                                        <p:cTn id="1535" dur="900"/>
                                        <p:tgtEl>
                                          <p:spTgt spid="27"/>
                                        </p:tgtEl>
                                      </p:cBhvr>
                                    </p:animEffect>
                                    <p:set>
                                      <p:cBhvr>
                                        <p:cTn id="1536" dur="1" fill="hold">
                                          <p:stCondLst>
                                            <p:cond delay="899"/>
                                          </p:stCondLst>
                                        </p:cTn>
                                        <p:tgtEl>
                                          <p:spTgt spid="27"/>
                                        </p:tgtEl>
                                        <p:attrNameLst>
                                          <p:attrName>style.visibility</p:attrName>
                                        </p:attrNameLst>
                                      </p:cBhvr>
                                      <p:to>
                                        <p:strVal val="hidden"/>
                                      </p:to>
                                    </p:set>
                                  </p:childTnLst>
                                </p:cTn>
                              </p:par>
                            </p:childTnLst>
                          </p:cTn>
                        </p:par>
                        <p:par>
                          <p:cTn id="1547" fill="hold">
                            <p:stCondLst>
                              <p:cond delay="0"/>
                            </p:stCondLst>
                            <p:childTnLst>
                              <p:par>
                                <p:cTn id="1538" presetID="10" presetClass="entr" fill="hold" grpId="27" nodeType="withEffect">
                                  <p:stCondLst>
                                    <p:cond delay="41800"/>
                                  </p:stCondLst>
                                  <p:childTnLst>
                                    <p:set>
                                      <p:cBhvr>
                                        <p:cTn id="1539" dur="1" fill="hold">
                                          <p:stCondLst>
                                            <p:cond delay="0"/>
                                          </p:stCondLst>
                                        </p:cTn>
                                        <p:tgtEl>
                                          <p:spTgt spid="27"/>
                                        </p:tgtEl>
                                        <p:attrNameLst>
                                          <p:attrName>style.visibility</p:attrName>
                                        </p:attrNameLst>
                                      </p:cBhvr>
                                      <p:to>
                                        <p:strVal val="visible"/>
                                      </p:to>
                                    </p:set>
                                    <p:animEffect transition="in" filter="fade">
                                      <p:cBhvr>
                                        <p:cTn id="1540" dur="500"/>
                                        <p:tgtEl>
                                          <p:spTgt spid="27"/>
                                        </p:tgtEl>
                                      </p:cBhvr>
                                    </p:animEffect>
                                  </p:childTnLst>
                                </p:cTn>
                              </p:par>
                              <p:par>
                                <p:cTn id="1541" presetID="0" presetClass="path" fill="hold" grpId="28" nodeType="withEffect">
                                  <p:stCondLst>
                                    <p:cond delay="41800"/>
                                  </p:stCondLst>
                                  <p:childTnLst>
                                    <p:animMotion origin="layout" path="M 0 0 L -0.01254 -0.126 E" pathEditMode="relative" ptsTypes="AA">
                                      <p:cBhvr additive="base">
                                        <p:cTn id="1542" dur="4400" fill="hold"/>
                                        <p:tgtEl>
                                          <p:spTgt spid="27"/>
                                        </p:tgtEl>
                                        <p:attrNameLst>
                                          <p:attrName>ppt_x</p:attrName>
                                          <p:attrName>ppt_y</p:attrName>
                                        </p:attrNameLst>
                                      </p:cBhvr>
                                      <p:rCtr x="0" y="0"/>
                                    </p:animMotion>
                                    <p:animScale>
                                      <p:cBhvr>
                                        <p:cTn id="1543" dur="4400" fill="hold"/>
                                        <p:tgtEl>
                                          <p:spTgt spid="27"/>
                                        </p:tgtEl>
                                      </p:cBhvr>
                                      <p:from x="100000" y="100000"/>
                                      <p:to x="320000" y="320000"/>
                                    </p:animScale>
                                  </p:childTnLst>
                                </p:cTn>
                              </p:par>
                              <p:par>
                                <p:cTn id="1544" presetID="10" presetClass="exit" fill="hold" grpId="29" nodeType="withEffect">
                                  <p:stCondLst>
                                    <p:cond delay="45300"/>
                                  </p:stCondLst>
                                  <p:childTnLst>
                                    <p:animEffect transition="out" filter="fade">
                                      <p:cBhvr>
                                        <p:cTn id="1545" dur="900"/>
                                        <p:tgtEl>
                                          <p:spTgt spid="27"/>
                                        </p:tgtEl>
                                      </p:cBhvr>
                                    </p:animEffect>
                                    <p:set>
                                      <p:cBhvr>
                                        <p:cTn id="1546" dur="1" fill="hold">
                                          <p:stCondLst>
                                            <p:cond delay="899"/>
                                          </p:stCondLst>
                                        </p:cTn>
                                        <p:tgtEl>
                                          <p:spTgt spid="27"/>
                                        </p:tgtEl>
                                        <p:attrNameLst>
                                          <p:attrName>style.visibility</p:attrName>
                                        </p:attrNameLst>
                                      </p:cBhvr>
                                      <p:to>
                                        <p:strVal val="hidden"/>
                                      </p:to>
                                    </p:set>
                                  </p:childTnLst>
                                </p:cTn>
                              </p:par>
                            </p:childTnLst>
                          </p:cTn>
                        </p:par>
                        <p:par>
                          <p:cTn id="1557" fill="hold">
                            <p:stCondLst>
                              <p:cond delay="0"/>
                            </p:stCondLst>
                            <p:childTnLst>
                              <p:par>
                                <p:cTn id="1548" presetID="10" presetClass="entr" fill="hold" grpId="30" nodeType="withEffect">
                                  <p:stCondLst>
                                    <p:cond delay="46200"/>
                                  </p:stCondLst>
                                  <p:childTnLst>
                                    <p:set>
                                      <p:cBhvr>
                                        <p:cTn id="1549" dur="1" fill="hold">
                                          <p:stCondLst>
                                            <p:cond delay="0"/>
                                          </p:stCondLst>
                                        </p:cTn>
                                        <p:tgtEl>
                                          <p:spTgt spid="27"/>
                                        </p:tgtEl>
                                        <p:attrNameLst>
                                          <p:attrName>style.visibility</p:attrName>
                                        </p:attrNameLst>
                                      </p:cBhvr>
                                      <p:to>
                                        <p:strVal val="visible"/>
                                      </p:to>
                                    </p:set>
                                    <p:animEffect transition="in" filter="fade">
                                      <p:cBhvr>
                                        <p:cTn id="1550" dur="500"/>
                                        <p:tgtEl>
                                          <p:spTgt spid="27"/>
                                        </p:tgtEl>
                                      </p:cBhvr>
                                    </p:animEffect>
                                  </p:childTnLst>
                                </p:cTn>
                              </p:par>
                              <p:par>
                                <p:cTn id="1551" presetID="0" presetClass="path" fill="hold" grpId="31" nodeType="withEffect">
                                  <p:stCondLst>
                                    <p:cond delay="46200"/>
                                  </p:stCondLst>
                                  <p:childTnLst>
                                    <p:animMotion origin="layout" path="M 0 0 L -0.01254 -0.126 E" pathEditMode="relative" ptsTypes="AA">
                                      <p:cBhvr additive="base">
                                        <p:cTn id="1552" dur="4400" fill="hold"/>
                                        <p:tgtEl>
                                          <p:spTgt spid="27"/>
                                        </p:tgtEl>
                                        <p:attrNameLst>
                                          <p:attrName>ppt_x</p:attrName>
                                          <p:attrName>ppt_y</p:attrName>
                                        </p:attrNameLst>
                                      </p:cBhvr>
                                      <p:rCtr x="0" y="0"/>
                                    </p:animMotion>
                                    <p:animScale>
                                      <p:cBhvr>
                                        <p:cTn id="1553" dur="4400" fill="hold"/>
                                        <p:tgtEl>
                                          <p:spTgt spid="27"/>
                                        </p:tgtEl>
                                      </p:cBhvr>
                                      <p:from x="100000" y="100000"/>
                                      <p:to x="320000" y="320000"/>
                                    </p:animScale>
                                  </p:childTnLst>
                                </p:cTn>
                              </p:par>
                              <p:par>
                                <p:cTn id="1554" presetID="10" presetClass="exit" fill="hold" grpId="32" nodeType="withEffect">
                                  <p:stCondLst>
                                    <p:cond delay="49700"/>
                                  </p:stCondLst>
                                  <p:childTnLst>
                                    <p:animEffect transition="out" filter="fade">
                                      <p:cBhvr>
                                        <p:cTn id="1555" dur="900"/>
                                        <p:tgtEl>
                                          <p:spTgt spid="27"/>
                                        </p:tgtEl>
                                      </p:cBhvr>
                                    </p:animEffect>
                                    <p:set>
                                      <p:cBhvr>
                                        <p:cTn id="1556" dur="1" fill="hold">
                                          <p:stCondLst>
                                            <p:cond delay="899"/>
                                          </p:stCondLst>
                                        </p:cTn>
                                        <p:tgtEl>
                                          <p:spTgt spid="27"/>
                                        </p:tgtEl>
                                        <p:attrNameLst>
                                          <p:attrName>style.visibility</p:attrName>
                                        </p:attrNameLst>
                                      </p:cBhvr>
                                      <p:to>
                                        <p:strVal val="hidden"/>
                                      </p:to>
                                    </p:set>
                                  </p:childTnLst>
                                </p:cTn>
                              </p:par>
                            </p:childTnLst>
                          </p:cTn>
                        </p:par>
                        <p:par>
                          <p:cTn id="1567" fill="hold">
                            <p:stCondLst>
                              <p:cond delay="0"/>
                            </p:stCondLst>
                            <p:childTnLst>
                              <p:par>
                                <p:cTn id="1558" presetID="10" presetClass="entr" fill="hold" grpId="33" nodeType="withEffect">
                                  <p:stCondLst>
                                    <p:cond delay="50600"/>
                                  </p:stCondLst>
                                  <p:childTnLst>
                                    <p:set>
                                      <p:cBhvr>
                                        <p:cTn id="1559" dur="1" fill="hold">
                                          <p:stCondLst>
                                            <p:cond delay="0"/>
                                          </p:stCondLst>
                                        </p:cTn>
                                        <p:tgtEl>
                                          <p:spTgt spid="27"/>
                                        </p:tgtEl>
                                        <p:attrNameLst>
                                          <p:attrName>style.visibility</p:attrName>
                                        </p:attrNameLst>
                                      </p:cBhvr>
                                      <p:to>
                                        <p:strVal val="visible"/>
                                      </p:to>
                                    </p:set>
                                    <p:animEffect transition="in" filter="fade">
                                      <p:cBhvr>
                                        <p:cTn id="1560" dur="500"/>
                                        <p:tgtEl>
                                          <p:spTgt spid="27"/>
                                        </p:tgtEl>
                                      </p:cBhvr>
                                    </p:animEffect>
                                  </p:childTnLst>
                                </p:cTn>
                              </p:par>
                              <p:par>
                                <p:cTn id="1561" presetID="0" presetClass="path" fill="hold" grpId="34" nodeType="withEffect">
                                  <p:stCondLst>
                                    <p:cond delay="50600"/>
                                  </p:stCondLst>
                                  <p:childTnLst>
                                    <p:animMotion origin="layout" path="M 0 0 L -0.01254 -0.126 E" pathEditMode="relative" ptsTypes="AA">
                                      <p:cBhvr additive="base">
                                        <p:cTn id="1562" dur="4400" fill="hold"/>
                                        <p:tgtEl>
                                          <p:spTgt spid="27"/>
                                        </p:tgtEl>
                                        <p:attrNameLst>
                                          <p:attrName>ppt_x</p:attrName>
                                          <p:attrName>ppt_y</p:attrName>
                                        </p:attrNameLst>
                                      </p:cBhvr>
                                      <p:rCtr x="0" y="0"/>
                                    </p:animMotion>
                                    <p:animScale>
                                      <p:cBhvr>
                                        <p:cTn id="1563" dur="4400" fill="hold"/>
                                        <p:tgtEl>
                                          <p:spTgt spid="27"/>
                                        </p:tgtEl>
                                      </p:cBhvr>
                                      <p:from x="100000" y="100000"/>
                                      <p:to x="320000" y="320000"/>
                                    </p:animScale>
                                  </p:childTnLst>
                                </p:cTn>
                              </p:par>
                              <p:par>
                                <p:cTn id="1564" presetID="10" presetClass="exit" fill="hold" grpId="35" nodeType="withEffect">
                                  <p:stCondLst>
                                    <p:cond delay="54100"/>
                                  </p:stCondLst>
                                  <p:childTnLst>
                                    <p:animEffect transition="out" filter="fade">
                                      <p:cBhvr>
                                        <p:cTn id="1565" dur="900"/>
                                        <p:tgtEl>
                                          <p:spTgt spid="27"/>
                                        </p:tgtEl>
                                      </p:cBhvr>
                                    </p:animEffect>
                                    <p:set>
                                      <p:cBhvr>
                                        <p:cTn id="1566" dur="1" fill="hold">
                                          <p:stCondLst>
                                            <p:cond delay="899"/>
                                          </p:stCondLst>
                                        </p:cTn>
                                        <p:tgtEl>
                                          <p:spTgt spid="27"/>
                                        </p:tgtEl>
                                        <p:attrNameLst>
                                          <p:attrName>style.visibility</p:attrName>
                                        </p:attrNameLst>
                                      </p:cBhvr>
                                      <p:to>
                                        <p:strVal val="hidden"/>
                                      </p:to>
                                    </p:set>
                                  </p:childTnLst>
                                </p:cTn>
                              </p:par>
                            </p:childTnLst>
                          </p:cTn>
                        </p:par>
                        <p:par>
                          <p:cTn id="1577" fill="hold">
                            <p:stCondLst>
                              <p:cond delay="0"/>
                            </p:stCondLst>
                            <p:childTnLst>
                              <p:par>
                                <p:cTn id="1568" presetID="10" presetClass="entr" fill="hold" grpId="36" nodeType="withEffect">
                                  <p:stCondLst>
                                    <p:cond delay="55000"/>
                                  </p:stCondLst>
                                  <p:childTnLst>
                                    <p:set>
                                      <p:cBhvr>
                                        <p:cTn id="1569" dur="1" fill="hold">
                                          <p:stCondLst>
                                            <p:cond delay="0"/>
                                          </p:stCondLst>
                                        </p:cTn>
                                        <p:tgtEl>
                                          <p:spTgt spid="27"/>
                                        </p:tgtEl>
                                        <p:attrNameLst>
                                          <p:attrName>style.visibility</p:attrName>
                                        </p:attrNameLst>
                                      </p:cBhvr>
                                      <p:to>
                                        <p:strVal val="visible"/>
                                      </p:to>
                                    </p:set>
                                    <p:animEffect transition="in" filter="fade">
                                      <p:cBhvr>
                                        <p:cTn id="1570" dur="500"/>
                                        <p:tgtEl>
                                          <p:spTgt spid="27"/>
                                        </p:tgtEl>
                                      </p:cBhvr>
                                    </p:animEffect>
                                  </p:childTnLst>
                                </p:cTn>
                              </p:par>
                              <p:par>
                                <p:cTn id="1571" presetID="0" presetClass="path" fill="hold" grpId="37" nodeType="withEffect">
                                  <p:stCondLst>
                                    <p:cond delay="55000"/>
                                  </p:stCondLst>
                                  <p:childTnLst>
                                    <p:animMotion origin="layout" path="M 0 0 L -0.01254 -0.126 E" pathEditMode="relative" ptsTypes="AA">
                                      <p:cBhvr additive="base">
                                        <p:cTn id="1572" dur="4400" fill="hold"/>
                                        <p:tgtEl>
                                          <p:spTgt spid="27"/>
                                        </p:tgtEl>
                                        <p:attrNameLst>
                                          <p:attrName>ppt_x</p:attrName>
                                          <p:attrName>ppt_y</p:attrName>
                                        </p:attrNameLst>
                                      </p:cBhvr>
                                      <p:rCtr x="0" y="0"/>
                                    </p:animMotion>
                                    <p:animScale>
                                      <p:cBhvr>
                                        <p:cTn id="1573" dur="4400" fill="hold"/>
                                        <p:tgtEl>
                                          <p:spTgt spid="27"/>
                                        </p:tgtEl>
                                      </p:cBhvr>
                                      <p:from x="100000" y="100000"/>
                                      <p:to x="320000" y="320000"/>
                                    </p:animScale>
                                  </p:childTnLst>
                                </p:cTn>
                              </p:par>
                              <p:par>
                                <p:cTn id="1574" presetID="10" presetClass="exit" fill="hold" grpId="38" nodeType="withEffect">
                                  <p:stCondLst>
                                    <p:cond delay="58500"/>
                                  </p:stCondLst>
                                  <p:childTnLst>
                                    <p:animEffect transition="out" filter="fade">
                                      <p:cBhvr>
                                        <p:cTn id="1575" dur="900"/>
                                        <p:tgtEl>
                                          <p:spTgt spid="27"/>
                                        </p:tgtEl>
                                      </p:cBhvr>
                                    </p:animEffect>
                                    <p:set>
                                      <p:cBhvr>
                                        <p:cTn id="1576" dur="1" fill="hold">
                                          <p:stCondLst>
                                            <p:cond delay="899"/>
                                          </p:stCondLst>
                                        </p:cTn>
                                        <p:tgtEl>
                                          <p:spTgt spid="27"/>
                                        </p:tgtEl>
                                        <p:attrNameLst>
                                          <p:attrName>style.visibility</p:attrName>
                                        </p:attrNameLst>
                                      </p:cBhvr>
                                      <p:to>
                                        <p:strVal val="hidden"/>
                                      </p:to>
                                    </p:set>
                                  </p:childTnLst>
                                </p:cTn>
                              </p:par>
                            </p:childTnLst>
                          </p:cTn>
                        </p:par>
                        <p:par>
                          <p:cTn id="1587" fill="hold">
                            <p:stCondLst>
                              <p:cond delay="0"/>
                            </p:stCondLst>
                            <p:childTnLst>
                              <p:par>
                                <p:cTn id="1578" presetID="10" presetClass="entr" fill="hold" grpId="39" nodeType="withEffect">
                                  <p:stCondLst>
                                    <p:cond delay="59400"/>
                                  </p:stCondLst>
                                  <p:childTnLst>
                                    <p:set>
                                      <p:cBhvr>
                                        <p:cTn id="1579" dur="1" fill="hold">
                                          <p:stCondLst>
                                            <p:cond delay="0"/>
                                          </p:stCondLst>
                                        </p:cTn>
                                        <p:tgtEl>
                                          <p:spTgt spid="27"/>
                                        </p:tgtEl>
                                        <p:attrNameLst>
                                          <p:attrName>style.visibility</p:attrName>
                                        </p:attrNameLst>
                                      </p:cBhvr>
                                      <p:to>
                                        <p:strVal val="visible"/>
                                      </p:to>
                                    </p:set>
                                    <p:animEffect transition="in" filter="fade">
                                      <p:cBhvr>
                                        <p:cTn id="1580" dur="500"/>
                                        <p:tgtEl>
                                          <p:spTgt spid="27"/>
                                        </p:tgtEl>
                                      </p:cBhvr>
                                    </p:animEffect>
                                  </p:childTnLst>
                                </p:cTn>
                              </p:par>
                              <p:par>
                                <p:cTn id="1581" presetID="0" presetClass="path" fill="hold" grpId="40" nodeType="withEffect">
                                  <p:stCondLst>
                                    <p:cond delay="59400"/>
                                  </p:stCondLst>
                                  <p:childTnLst>
                                    <p:animMotion origin="layout" path="M 0 0 L -0.01254 -0.126 E" pathEditMode="relative" ptsTypes="AA">
                                      <p:cBhvr additive="base">
                                        <p:cTn id="1582" dur="4400" fill="hold"/>
                                        <p:tgtEl>
                                          <p:spTgt spid="27"/>
                                        </p:tgtEl>
                                        <p:attrNameLst>
                                          <p:attrName>ppt_x</p:attrName>
                                          <p:attrName>ppt_y</p:attrName>
                                        </p:attrNameLst>
                                      </p:cBhvr>
                                      <p:rCtr x="0" y="0"/>
                                    </p:animMotion>
                                    <p:animScale>
                                      <p:cBhvr>
                                        <p:cTn id="1583" dur="4400" fill="hold"/>
                                        <p:tgtEl>
                                          <p:spTgt spid="27"/>
                                        </p:tgtEl>
                                      </p:cBhvr>
                                      <p:from x="100000" y="100000"/>
                                      <p:to x="320000" y="320000"/>
                                    </p:animScale>
                                  </p:childTnLst>
                                </p:cTn>
                              </p:par>
                              <p:par>
                                <p:cTn id="1584" presetID="10" presetClass="exit" fill="hold" grpId="41" nodeType="withEffect">
                                  <p:stCondLst>
                                    <p:cond delay="62900"/>
                                  </p:stCondLst>
                                  <p:childTnLst>
                                    <p:animEffect transition="out" filter="fade">
                                      <p:cBhvr>
                                        <p:cTn id="1585" dur="900"/>
                                        <p:tgtEl>
                                          <p:spTgt spid="27"/>
                                        </p:tgtEl>
                                      </p:cBhvr>
                                    </p:animEffect>
                                    <p:set>
                                      <p:cBhvr>
                                        <p:cTn id="1586" dur="1" fill="hold">
                                          <p:stCondLst>
                                            <p:cond delay="899"/>
                                          </p:stCondLst>
                                        </p:cTn>
                                        <p:tgtEl>
                                          <p:spTgt spid="27"/>
                                        </p:tgtEl>
                                        <p:attrNameLst>
                                          <p:attrName>style.visibility</p:attrName>
                                        </p:attrNameLst>
                                      </p:cBhvr>
                                      <p:to>
                                        <p:strVal val="hidden"/>
                                      </p:to>
                                    </p:set>
                                  </p:childTnLst>
                                </p:cTn>
                              </p:par>
                            </p:childTnLst>
                          </p:cTn>
                        </p:par>
                        <p:par>
                          <p:cTn id="1597" fill="hold">
                            <p:stCondLst>
                              <p:cond delay="0"/>
                            </p:stCondLst>
                            <p:childTnLst>
                              <p:par>
                                <p:cTn id="1588" presetID="10" presetClass="entr" fill="hold" grpId="0" nodeType="withEffect">
                                  <p:stCondLst>
                                    <p:cond delay="3300"/>
                                  </p:stCondLst>
                                  <p:childTnLst>
                                    <p:set>
                                      <p:cBhvr>
                                        <p:cTn id="1589" dur="1" fill="hold">
                                          <p:stCondLst>
                                            <p:cond delay="0"/>
                                          </p:stCondLst>
                                        </p:cTn>
                                        <p:tgtEl>
                                          <p:spTgt spid="28"/>
                                        </p:tgtEl>
                                        <p:attrNameLst>
                                          <p:attrName>style.visibility</p:attrName>
                                        </p:attrNameLst>
                                      </p:cBhvr>
                                      <p:to>
                                        <p:strVal val="visible"/>
                                      </p:to>
                                    </p:set>
                                    <p:animEffect transition="in" filter="fade">
                                      <p:cBhvr>
                                        <p:cTn id="1590" dur="500"/>
                                        <p:tgtEl>
                                          <p:spTgt spid="28"/>
                                        </p:tgtEl>
                                      </p:cBhvr>
                                    </p:animEffect>
                                  </p:childTnLst>
                                </p:cTn>
                              </p:par>
                              <p:par>
                                <p:cTn id="1591" presetID="0" presetClass="path" fill="hold" grpId="1" nodeType="withEffect">
                                  <p:stCondLst>
                                    <p:cond delay="3300"/>
                                  </p:stCondLst>
                                  <p:childTnLst>
                                    <p:animMotion origin="layout" path="M 0 0 L -0.01056 -0.119 E" pathEditMode="relative" ptsTypes="AA">
                                      <p:cBhvr additive="base">
                                        <p:cTn id="1592" dur="4400" fill="hold"/>
                                        <p:tgtEl>
                                          <p:spTgt spid="28"/>
                                        </p:tgtEl>
                                        <p:attrNameLst>
                                          <p:attrName>ppt_x</p:attrName>
                                          <p:attrName>ppt_y</p:attrName>
                                        </p:attrNameLst>
                                      </p:cBhvr>
                                      <p:rCtr x="0" y="0"/>
                                    </p:animMotion>
                                    <p:animScale>
                                      <p:cBhvr>
                                        <p:cTn id="1593" dur="4400" fill="hold"/>
                                        <p:tgtEl>
                                          <p:spTgt spid="28"/>
                                        </p:tgtEl>
                                      </p:cBhvr>
                                      <p:from x="100000" y="100000"/>
                                      <p:to x="320000" y="320000"/>
                                    </p:animScale>
                                  </p:childTnLst>
                                </p:cTn>
                              </p:par>
                              <p:par>
                                <p:cTn id="1594" presetID="10" presetClass="exit" fill="hold" grpId="2" nodeType="withEffect">
                                  <p:stCondLst>
                                    <p:cond delay="6800"/>
                                  </p:stCondLst>
                                  <p:childTnLst>
                                    <p:animEffect transition="out" filter="fade">
                                      <p:cBhvr>
                                        <p:cTn id="1595" dur="900"/>
                                        <p:tgtEl>
                                          <p:spTgt spid="28"/>
                                        </p:tgtEl>
                                      </p:cBhvr>
                                    </p:animEffect>
                                    <p:set>
                                      <p:cBhvr>
                                        <p:cTn id="1596" dur="1" fill="hold">
                                          <p:stCondLst>
                                            <p:cond delay="899"/>
                                          </p:stCondLst>
                                        </p:cTn>
                                        <p:tgtEl>
                                          <p:spTgt spid="28"/>
                                        </p:tgtEl>
                                        <p:attrNameLst>
                                          <p:attrName>style.visibility</p:attrName>
                                        </p:attrNameLst>
                                      </p:cBhvr>
                                      <p:to>
                                        <p:strVal val="hidden"/>
                                      </p:to>
                                    </p:set>
                                  </p:childTnLst>
                                </p:cTn>
                              </p:par>
                            </p:childTnLst>
                          </p:cTn>
                        </p:par>
                        <p:par>
                          <p:cTn id="1607" fill="hold">
                            <p:stCondLst>
                              <p:cond delay="0"/>
                            </p:stCondLst>
                            <p:childTnLst>
                              <p:par>
                                <p:cTn id="1598" presetID="10" presetClass="entr" fill="hold" grpId="3" nodeType="withEffect">
                                  <p:stCondLst>
                                    <p:cond delay="7700"/>
                                  </p:stCondLst>
                                  <p:childTnLst>
                                    <p:set>
                                      <p:cBhvr>
                                        <p:cTn id="1599" dur="1" fill="hold">
                                          <p:stCondLst>
                                            <p:cond delay="0"/>
                                          </p:stCondLst>
                                        </p:cTn>
                                        <p:tgtEl>
                                          <p:spTgt spid="28"/>
                                        </p:tgtEl>
                                        <p:attrNameLst>
                                          <p:attrName>style.visibility</p:attrName>
                                        </p:attrNameLst>
                                      </p:cBhvr>
                                      <p:to>
                                        <p:strVal val="visible"/>
                                      </p:to>
                                    </p:set>
                                    <p:animEffect transition="in" filter="fade">
                                      <p:cBhvr>
                                        <p:cTn id="1600" dur="500"/>
                                        <p:tgtEl>
                                          <p:spTgt spid="28"/>
                                        </p:tgtEl>
                                      </p:cBhvr>
                                    </p:animEffect>
                                  </p:childTnLst>
                                </p:cTn>
                              </p:par>
                              <p:par>
                                <p:cTn id="1601" presetID="0" presetClass="path" fill="hold" grpId="4" nodeType="withEffect">
                                  <p:stCondLst>
                                    <p:cond delay="7700"/>
                                  </p:stCondLst>
                                  <p:childTnLst>
                                    <p:animMotion origin="layout" path="M 0 0 L -0.01056 -0.119 E" pathEditMode="relative" ptsTypes="AA">
                                      <p:cBhvr additive="base">
                                        <p:cTn id="1602" dur="4400" fill="hold"/>
                                        <p:tgtEl>
                                          <p:spTgt spid="28"/>
                                        </p:tgtEl>
                                        <p:attrNameLst>
                                          <p:attrName>ppt_x</p:attrName>
                                          <p:attrName>ppt_y</p:attrName>
                                        </p:attrNameLst>
                                      </p:cBhvr>
                                      <p:rCtr x="0" y="0"/>
                                    </p:animMotion>
                                    <p:animScale>
                                      <p:cBhvr>
                                        <p:cTn id="1603" dur="4400" fill="hold"/>
                                        <p:tgtEl>
                                          <p:spTgt spid="28"/>
                                        </p:tgtEl>
                                      </p:cBhvr>
                                      <p:from x="100000" y="100000"/>
                                      <p:to x="320000" y="320000"/>
                                    </p:animScale>
                                  </p:childTnLst>
                                </p:cTn>
                              </p:par>
                              <p:par>
                                <p:cTn id="1604" presetID="10" presetClass="exit" fill="hold" grpId="5" nodeType="withEffect">
                                  <p:stCondLst>
                                    <p:cond delay="11200"/>
                                  </p:stCondLst>
                                  <p:childTnLst>
                                    <p:animEffect transition="out" filter="fade">
                                      <p:cBhvr>
                                        <p:cTn id="1605" dur="900"/>
                                        <p:tgtEl>
                                          <p:spTgt spid="28"/>
                                        </p:tgtEl>
                                      </p:cBhvr>
                                    </p:animEffect>
                                    <p:set>
                                      <p:cBhvr>
                                        <p:cTn id="1606" dur="1" fill="hold">
                                          <p:stCondLst>
                                            <p:cond delay="899"/>
                                          </p:stCondLst>
                                        </p:cTn>
                                        <p:tgtEl>
                                          <p:spTgt spid="28"/>
                                        </p:tgtEl>
                                        <p:attrNameLst>
                                          <p:attrName>style.visibility</p:attrName>
                                        </p:attrNameLst>
                                      </p:cBhvr>
                                      <p:to>
                                        <p:strVal val="hidden"/>
                                      </p:to>
                                    </p:set>
                                  </p:childTnLst>
                                </p:cTn>
                              </p:par>
                            </p:childTnLst>
                          </p:cTn>
                        </p:par>
                        <p:par>
                          <p:cTn id="1617" fill="hold">
                            <p:stCondLst>
                              <p:cond delay="0"/>
                            </p:stCondLst>
                            <p:childTnLst>
                              <p:par>
                                <p:cTn id="1608" presetID="10" presetClass="entr" fill="hold" grpId="6" nodeType="withEffect">
                                  <p:stCondLst>
                                    <p:cond delay="12100"/>
                                  </p:stCondLst>
                                  <p:childTnLst>
                                    <p:set>
                                      <p:cBhvr>
                                        <p:cTn id="1609" dur="1" fill="hold">
                                          <p:stCondLst>
                                            <p:cond delay="0"/>
                                          </p:stCondLst>
                                        </p:cTn>
                                        <p:tgtEl>
                                          <p:spTgt spid="28"/>
                                        </p:tgtEl>
                                        <p:attrNameLst>
                                          <p:attrName>style.visibility</p:attrName>
                                        </p:attrNameLst>
                                      </p:cBhvr>
                                      <p:to>
                                        <p:strVal val="visible"/>
                                      </p:to>
                                    </p:set>
                                    <p:animEffect transition="in" filter="fade">
                                      <p:cBhvr>
                                        <p:cTn id="1610" dur="500"/>
                                        <p:tgtEl>
                                          <p:spTgt spid="28"/>
                                        </p:tgtEl>
                                      </p:cBhvr>
                                    </p:animEffect>
                                  </p:childTnLst>
                                </p:cTn>
                              </p:par>
                              <p:par>
                                <p:cTn id="1611" presetID="0" presetClass="path" fill="hold" grpId="7" nodeType="withEffect">
                                  <p:stCondLst>
                                    <p:cond delay="12100"/>
                                  </p:stCondLst>
                                  <p:childTnLst>
                                    <p:animMotion origin="layout" path="M 0 0 L -0.01056 -0.119 E" pathEditMode="relative" ptsTypes="AA">
                                      <p:cBhvr additive="base">
                                        <p:cTn id="1612" dur="4400" fill="hold"/>
                                        <p:tgtEl>
                                          <p:spTgt spid="28"/>
                                        </p:tgtEl>
                                        <p:attrNameLst>
                                          <p:attrName>ppt_x</p:attrName>
                                          <p:attrName>ppt_y</p:attrName>
                                        </p:attrNameLst>
                                      </p:cBhvr>
                                      <p:rCtr x="0" y="0"/>
                                    </p:animMotion>
                                    <p:animScale>
                                      <p:cBhvr>
                                        <p:cTn id="1613" dur="4400" fill="hold"/>
                                        <p:tgtEl>
                                          <p:spTgt spid="28"/>
                                        </p:tgtEl>
                                      </p:cBhvr>
                                      <p:from x="100000" y="100000"/>
                                      <p:to x="320000" y="320000"/>
                                    </p:animScale>
                                  </p:childTnLst>
                                </p:cTn>
                              </p:par>
                              <p:par>
                                <p:cTn id="1614" presetID="10" presetClass="exit" fill="hold" grpId="8" nodeType="withEffect">
                                  <p:stCondLst>
                                    <p:cond delay="15600"/>
                                  </p:stCondLst>
                                  <p:childTnLst>
                                    <p:animEffect transition="out" filter="fade">
                                      <p:cBhvr>
                                        <p:cTn id="1615" dur="900"/>
                                        <p:tgtEl>
                                          <p:spTgt spid="28"/>
                                        </p:tgtEl>
                                      </p:cBhvr>
                                    </p:animEffect>
                                    <p:set>
                                      <p:cBhvr>
                                        <p:cTn id="1616" dur="1" fill="hold">
                                          <p:stCondLst>
                                            <p:cond delay="899"/>
                                          </p:stCondLst>
                                        </p:cTn>
                                        <p:tgtEl>
                                          <p:spTgt spid="28"/>
                                        </p:tgtEl>
                                        <p:attrNameLst>
                                          <p:attrName>style.visibility</p:attrName>
                                        </p:attrNameLst>
                                      </p:cBhvr>
                                      <p:to>
                                        <p:strVal val="hidden"/>
                                      </p:to>
                                    </p:set>
                                  </p:childTnLst>
                                </p:cTn>
                              </p:par>
                            </p:childTnLst>
                          </p:cTn>
                        </p:par>
                        <p:par>
                          <p:cTn id="1627" fill="hold">
                            <p:stCondLst>
                              <p:cond delay="0"/>
                            </p:stCondLst>
                            <p:childTnLst>
                              <p:par>
                                <p:cTn id="1618" presetID="10" presetClass="entr" fill="hold" grpId="9" nodeType="withEffect">
                                  <p:stCondLst>
                                    <p:cond delay="16500"/>
                                  </p:stCondLst>
                                  <p:childTnLst>
                                    <p:set>
                                      <p:cBhvr>
                                        <p:cTn id="1619" dur="1" fill="hold">
                                          <p:stCondLst>
                                            <p:cond delay="0"/>
                                          </p:stCondLst>
                                        </p:cTn>
                                        <p:tgtEl>
                                          <p:spTgt spid="28"/>
                                        </p:tgtEl>
                                        <p:attrNameLst>
                                          <p:attrName>style.visibility</p:attrName>
                                        </p:attrNameLst>
                                      </p:cBhvr>
                                      <p:to>
                                        <p:strVal val="visible"/>
                                      </p:to>
                                    </p:set>
                                    <p:animEffect transition="in" filter="fade">
                                      <p:cBhvr>
                                        <p:cTn id="1620" dur="500"/>
                                        <p:tgtEl>
                                          <p:spTgt spid="28"/>
                                        </p:tgtEl>
                                      </p:cBhvr>
                                    </p:animEffect>
                                  </p:childTnLst>
                                </p:cTn>
                              </p:par>
                              <p:par>
                                <p:cTn id="1621" presetID="0" presetClass="path" fill="hold" grpId="10" nodeType="withEffect">
                                  <p:stCondLst>
                                    <p:cond delay="16500"/>
                                  </p:stCondLst>
                                  <p:childTnLst>
                                    <p:animMotion origin="layout" path="M 0 0 L -0.01056 -0.119 E" pathEditMode="relative" ptsTypes="AA">
                                      <p:cBhvr additive="base">
                                        <p:cTn id="1622" dur="4400" fill="hold"/>
                                        <p:tgtEl>
                                          <p:spTgt spid="28"/>
                                        </p:tgtEl>
                                        <p:attrNameLst>
                                          <p:attrName>ppt_x</p:attrName>
                                          <p:attrName>ppt_y</p:attrName>
                                        </p:attrNameLst>
                                      </p:cBhvr>
                                      <p:rCtr x="0" y="0"/>
                                    </p:animMotion>
                                    <p:animScale>
                                      <p:cBhvr>
                                        <p:cTn id="1623" dur="4400" fill="hold"/>
                                        <p:tgtEl>
                                          <p:spTgt spid="28"/>
                                        </p:tgtEl>
                                      </p:cBhvr>
                                      <p:from x="100000" y="100000"/>
                                      <p:to x="320000" y="320000"/>
                                    </p:animScale>
                                  </p:childTnLst>
                                </p:cTn>
                              </p:par>
                              <p:par>
                                <p:cTn id="1624" presetID="10" presetClass="exit" fill="hold" grpId="11" nodeType="withEffect">
                                  <p:stCondLst>
                                    <p:cond delay="20000"/>
                                  </p:stCondLst>
                                  <p:childTnLst>
                                    <p:animEffect transition="out" filter="fade">
                                      <p:cBhvr>
                                        <p:cTn id="1625" dur="900"/>
                                        <p:tgtEl>
                                          <p:spTgt spid="28"/>
                                        </p:tgtEl>
                                      </p:cBhvr>
                                    </p:animEffect>
                                    <p:set>
                                      <p:cBhvr>
                                        <p:cTn id="1626" dur="1" fill="hold">
                                          <p:stCondLst>
                                            <p:cond delay="899"/>
                                          </p:stCondLst>
                                        </p:cTn>
                                        <p:tgtEl>
                                          <p:spTgt spid="28"/>
                                        </p:tgtEl>
                                        <p:attrNameLst>
                                          <p:attrName>style.visibility</p:attrName>
                                        </p:attrNameLst>
                                      </p:cBhvr>
                                      <p:to>
                                        <p:strVal val="hidden"/>
                                      </p:to>
                                    </p:set>
                                  </p:childTnLst>
                                </p:cTn>
                              </p:par>
                            </p:childTnLst>
                          </p:cTn>
                        </p:par>
                        <p:par>
                          <p:cTn id="1637" fill="hold">
                            <p:stCondLst>
                              <p:cond delay="0"/>
                            </p:stCondLst>
                            <p:childTnLst>
                              <p:par>
                                <p:cTn id="1628" presetID="10" presetClass="entr" fill="hold" grpId="12" nodeType="withEffect">
                                  <p:stCondLst>
                                    <p:cond delay="20900"/>
                                  </p:stCondLst>
                                  <p:childTnLst>
                                    <p:set>
                                      <p:cBhvr>
                                        <p:cTn id="1629" dur="1" fill="hold">
                                          <p:stCondLst>
                                            <p:cond delay="0"/>
                                          </p:stCondLst>
                                        </p:cTn>
                                        <p:tgtEl>
                                          <p:spTgt spid="28"/>
                                        </p:tgtEl>
                                        <p:attrNameLst>
                                          <p:attrName>style.visibility</p:attrName>
                                        </p:attrNameLst>
                                      </p:cBhvr>
                                      <p:to>
                                        <p:strVal val="visible"/>
                                      </p:to>
                                    </p:set>
                                    <p:animEffect transition="in" filter="fade">
                                      <p:cBhvr>
                                        <p:cTn id="1630" dur="500"/>
                                        <p:tgtEl>
                                          <p:spTgt spid="28"/>
                                        </p:tgtEl>
                                      </p:cBhvr>
                                    </p:animEffect>
                                  </p:childTnLst>
                                </p:cTn>
                              </p:par>
                              <p:par>
                                <p:cTn id="1631" presetID="0" presetClass="path" fill="hold" grpId="13" nodeType="withEffect">
                                  <p:stCondLst>
                                    <p:cond delay="20900"/>
                                  </p:stCondLst>
                                  <p:childTnLst>
                                    <p:animMotion origin="layout" path="M 0 0 L -0.01056 -0.119 E" pathEditMode="relative" ptsTypes="AA">
                                      <p:cBhvr additive="base">
                                        <p:cTn id="1632" dur="4400" fill="hold"/>
                                        <p:tgtEl>
                                          <p:spTgt spid="28"/>
                                        </p:tgtEl>
                                        <p:attrNameLst>
                                          <p:attrName>ppt_x</p:attrName>
                                          <p:attrName>ppt_y</p:attrName>
                                        </p:attrNameLst>
                                      </p:cBhvr>
                                      <p:rCtr x="0" y="0"/>
                                    </p:animMotion>
                                    <p:animScale>
                                      <p:cBhvr>
                                        <p:cTn id="1633" dur="4400" fill="hold"/>
                                        <p:tgtEl>
                                          <p:spTgt spid="28"/>
                                        </p:tgtEl>
                                      </p:cBhvr>
                                      <p:from x="100000" y="100000"/>
                                      <p:to x="320000" y="320000"/>
                                    </p:animScale>
                                  </p:childTnLst>
                                </p:cTn>
                              </p:par>
                              <p:par>
                                <p:cTn id="1634" presetID="10" presetClass="exit" fill="hold" grpId="14" nodeType="withEffect">
                                  <p:stCondLst>
                                    <p:cond delay="24400"/>
                                  </p:stCondLst>
                                  <p:childTnLst>
                                    <p:animEffect transition="out" filter="fade">
                                      <p:cBhvr>
                                        <p:cTn id="1635" dur="900"/>
                                        <p:tgtEl>
                                          <p:spTgt spid="28"/>
                                        </p:tgtEl>
                                      </p:cBhvr>
                                    </p:animEffect>
                                    <p:set>
                                      <p:cBhvr>
                                        <p:cTn id="1636" dur="1" fill="hold">
                                          <p:stCondLst>
                                            <p:cond delay="899"/>
                                          </p:stCondLst>
                                        </p:cTn>
                                        <p:tgtEl>
                                          <p:spTgt spid="28"/>
                                        </p:tgtEl>
                                        <p:attrNameLst>
                                          <p:attrName>style.visibility</p:attrName>
                                        </p:attrNameLst>
                                      </p:cBhvr>
                                      <p:to>
                                        <p:strVal val="hidden"/>
                                      </p:to>
                                    </p:set>
                                  </p:childTnLst>
                                </p:cTn>
                              </p:par>
                            </p:childTnLst>
                          </p:cTn>
                        </p:par>
                        <p:par>
                          <p:cTn id="1647" fill="hold">
                            <p:stCondLst>
                              <p:cond delay="0"/>
                            </p:stCondLst>
                            <p:childTnLst>
                              <p:par>
                                <p:cTn id="1638" presetID="10" presetClass="entr" fill="hold" grpId="15" nodeType="withEffect">
                                  <p:stCondLst>
                                    <p:cond delay="25300"/>
                                  </p:stCondLst>
                                  <p:childTnLst>
                                    <p:set>
                                      <p:cBhvr>
                                        <p:cTn id="1639" dur="1" fill="hold">
                                          <p:stCondLst>
                                            <p:cond delay="0"/>
                                          </p:stCondLst>
                                        </p:cTn>
                                        <p:tgtEl>
                                          <p:spTgt spid="28"/>
                                        </p:tgtEl>
                                        <p:attrNameLst>
                                          <p:attrName>style.visibility</p:attrName>
                                        </p:attrNameLst>
                                      </p:cBhvr>
                                      <p:to>
                                        <p:strVal val="visible"/>
                                      </p:to>
                                    </p:set>
                                    <p:animEffect transition="in" filter="fade">
                                      <p:cBhvr>
                                        <p:cTn id="1640" dur="500"/>
                                        <p:tgtEl>
                                          <p:spTgt spid="28"/>
                                        </p:tgtEl>
                                      </p:cBhvr>
                                    </p:animEffect>
                                  </p:childTnLst>
                                </p:cTn>
                              </p:par>
                              <p:par>
                                <p:cTn id="1641" presetID="0" presetClass="path" fill="hold" grpId="16" nodeType="withEffect">
                                  <p:stCondLst>
                                    <p:cond delay="25300"/>
                                  </p:stCondLst>
                                  <p:childTnLst>
                                    <p:animMotion origin="layout" path="M 0 0 L -0.01056 -0.119 E" pathEditMode="relative" ptsTypes="AA">
                                      <p:cBhvr additive="base">
                                        <p:cTn id="1642" dur="4400" fill="hold"/>
                                        <p:tgtEl>
                                          <p:spTgt spid="28"/>
                                        </p:tgtEl>
                                        <p:attrNameLst>
                                          <p:attrName>ppt_x</p:attrName>
                                          <p:attrName>ppt_y</p:attrName>
                                        </p:attrNameLst>
                                      </p:cBhvr>
                                      <p:rCtr x="0" y="0"/>
                                    </p:animMotion>
                                    <p:animScale>
                                      <p:cBhvr>
                                        <p:cTn id="1643" dur="4400" fill="hold"/>
                                        <p:tgtEl>
                                          <p:spTgt spid="28"/>
                                        </p:tgtEl>
                                      </p:cBhvr>
                                      <p:from x="100000" y="100000"/>
                                      <p:to x="320000" y="320000"/>
                                    </p:animScale>
                                  </p:childTnLst>
                                </p:cTn>
                              </p:par>
                              <p:par>
                                <p:cTn id="1644" presetID="10" presetClass="exit" fill="hold" grpId="17" nodeType="withEffect">
                                  <p:stCondLst>
                                    <p:cond delay="28800"/>
                                  </p:stCondLst>
                                  <p:childTnLst>
                                    <p:animEffect transition="out" filter="fade">
                                      <p:cBhvr>
                                        <p:cTn id="1645" dur="900"/>
                                        <p:tgtEl>
                                          <p:spTgt spid="28"/>
                                        </p:tgtEl>
                                      </p:cBhvr>
                                    </p:animEffect>
                                    <p:set>
                                      <p:cBhvr>
                                        <p:cTn id="1646" dur="1" fill="hold">
                                          <p:stCondLst>
                                            <p:cond delay="899"/>
                                          </p:stCondLst>
                                        </p:cTn>
                                        <p:tgtEl>
                                          <p:spTgt spid="28"/>
                                        </p:tgtEl>
                                        <p:attrNameLst>
                                          <p:attrName>style.visibility</p:attrName>
                                        </p:attrNameLst>
                                      </p:cBhvr>
                                      <p:to>
                                        <p:strVal val="hidden"/>
                                      </p:to>
                                    </p:set>
                                  </p:childTnLst>
                                </p:cTn>
                              </p:par>
                            </p:childTnLst>
                          </p:cTn>
                        </p:par>
                        <p:par>
                          <p:cTn id="1657" fill="hold">
                            <p:stCondLst>
                              <p:cond delay="0"/>
                            </p:stCondLst>
                            <p:childTnLst>
                              <p:par>
                                <p:cTn id="1648" presetID="10" presetClass="entr" fill="hold" grpId="18" nodeType="withEffect">
                                  <p:stCondLst>
                                    <p:cond delay="29700"/>
                                  </p:stCondLst>
                                  <p:childTnLst>
                                    <p:set>
                                      <p:cBhvr>
                                        <p:cTn id="1649" dur="1" fill="hold">
                                          <p:stCondLst>
                                            <p:cond delay="0"/>
                                          </p:stCondLst>
                                        </p:cTn>
                                        <p:tgtEl>
                                          <p:spTgt spid="28"/>
                                        </p:tgtEl>
                                        <p:attrNameLst>
                                          <p:attrName>style.visibility</p:attrName>
                                        </p:attrNameLst>
                                      </p:cBhvr>
                                      <p:to>
                                        <p:strVal val="visible"/>
                                      </p:to>
                                    </p:set>
                                    <p:animEffect transition="in" filter="fade">
                                      <p:cBhvr>
                                        <p:cTn id="1650" dur="500"/>
                                        <p:tgtEl>
                                          <p:spTgt spid="28"/>
                                        </p:tgtEl>
                                      </p:cBhvr>
                                    </p:animEffect>
                                  </p:childTnLst>
                                </p:cTn>
                              </p:par>
                              <p:par>
                                <p:cTn id="1651" presetID="0" presetClass="path" fill="hold" grpId="19" nodeType="withEffect">
                                  <p:stCondLst>
                                    <p:cond delay="29700"/>
                                  </p:stCondLst>
                                  <p:childTnLst>
                                    <p:animMotion origin="layout" path="M 0 0 L -0.01056 -0.119 E" pathEditMode="relative" ptsTypes="AA">
                                      <p:cBhvr additive="base">
                                        <p:cTn id="1652" dur="4400" fill="hold"/>
                                        <p:tgtEl>
                                          <p:spTgt spid="28"/>
                                        </p:tgtEl>
                                        <p:attrNameLst>
                                          <p:attrName>ppt_x</p:attrName>
                                          <p:attrName>ppt_y</p:attrName>
                                        </p:attrNameLst>
                                      </p:cBhvr>
                                      <p:rCtr x="0" y="0"/>
                                    </p:animMotion>
                                    <p:animScale>
                                      <p:cBhvr>
                                        <p:cTn id="1653" dur="4400" fill="hold"/>
                                        <p:tgtEl>
                                          <p:spTgt spid="28"/>
                                        </p:tgtEl>
                                      </p:cBhvr>
                                      <p:from x="100000" y="100000"/>
                                      <p:to x="320000" y="320000"/>
                                    </p:animScale>
                                  </p:childTnLst>
                                </p:cTn>
                              </p:par>
                              <p:par>
                                <p:cTn id="1654" presetID="10" presetClass="exit" fill="hold" grpId="20" nodeType="withEffect">
                                  <p:stCondLst>
                                    <p:cond delay="33200"/>
                                  </p:stCondLst>
                                  <p:childTnLst>
                                    <p:animEffect transition="out" filter="fade">
                                      <p:cBhvr>
                                        <p:cTn id="1655" dur="900"/>
                                        <p:tgtEl>
                                          <p:spTgt spid="28"/>
                                        </p:tgtEl>
                                      </p:cBhvr>
                                    </p:animEffect>
                                    <p:set>
                                      <p:cBhvr>
                                        <p:cTn id="1656" dur="1" fill="hold">
                                          <p:stCondLst>
                                            <p:cond delay="899"/>
                                          </p:stCondLst>
                                        </p:cTn>
                                        <p:tgtEl>
                                          <p:spTgt spid="28"/>
                                        </p:tgtEl>
                                        <p:attrNameLst>
                                          <p:attrName>style.visibility</p:attrName>
                                        </p:attrNameLst>
                                      </p:cBhvr>
                                      <p:to>
                                        <p:strVal val="hidden"/>
                                      </p:to>
                                    </p:set>
                                  </p:childTnLst>
                                </p:cTn>
                              </p:par>
                            </p:childTnLst>
                          </p:cTn>
                        </p:par>
                        <p:par>
                          <p:cTn id="1667" fill="hold">
                            <p:stCondLst>
                              <p:cond delay="0"/>
                            </p:stCondLst>
                            <p:childTnLst>
                              <p:par>
                                <p:cTn id="1658" presetID="10" presetClass="entr" fill="hold" grpId="21" nodeType="withEffect">
                                  <p:stCondLst>
                                    <p:cond delay="34100"/>
                                  </p:stCondLst>
                                  <p:childTnLst>
                                    <p:set>
                                      <p:cBhvr>
                                        <p:cTn id="1659" dur="1" fill="hold">
                                          <p:stCondLst>
                                            <p:cond delay="0"/>
                                          </p:stCondLst>
                                        </p:cTn>
                                        <p:tgtEl>
                                          <p:spTgt spid="28"/>
                                        </p:tgtEl>
                                        <p:attrNameLst>
                                          <p:attrName>style.visibility</p:attrName>
                                        </p:attrNameLst>
                                      </p:cBhvr>
                                      <p:to>
                                        <p:strVal val="visible"/>
                                      </p:to>
                                    </p:set>
                                    <p:animEffect transition="in" filter="fade">
                                      <p:cBhvr>
                                        <p:cTn id="1660" dur="500"/>
                                        <p:tgtEl>
                                          <p:spTgt spid="28"/>
                                        </p:tgtEl>
                                      </p:cBhvr>
                                    </p:animEffect>
                                  </p:childTnLst>
                                </p:cTn>
                              </p:par>
                              <p:par>
                                <p:cTn id="1661" presetID="0" presetClass="path" fill="hold" grpId="22" nodeType="withEffect">
                                  <p:stCondLst>
                                    <p:cond delay="34100"/>
                                  </p:stCondLst>
                                  <p:childTnLst>
                                    <p:animMotion origin="layout" path="M 0 0 L -0.01056 -0.119 E" pathEditMode="relative" ptsTypes="AA">
                                      <p:cBhvr additive="base">
                                        <p:cTn id="1662" dur="4400" fill="hold"/>
                                        <p:tgtEl>
                                          <p:spTgt spid="28"/>
                                        </p:tgtEl>
                                        <p:attrNameLst>
                                          <p:attrName>ppt_x</p:attrName>
                                          <p:attrName>ppt_y</p:attrName>
                                        </p:attrNameLst>
                                      </p:cBhvr>
                                      <p:rCtr x="0" y="0"/>
                                    </p:animMotion>
                                    <p:animScale>
                                      <p:cBhvr>
                                        <p:cTn id="1663" dur="4400" fill="hold"/>
                                        <p:tgtEl>
                                          <p:spTgt spid="28"/>
                                        </p:tgtEl>
                                      </p:cBhvr>
                                      <p:from x="100000" y="100000"/>
                                      <p:to x="320000" y="320000"/>
                                    </p:animScale>
                                  </p:childTnLst>
                                </p:cTn>
                              </p:par>
                              <p:par>
                                <p:cTn id="1664" presetID="10" presetClass="exit" fill="hold" grpId="23" nodeType="withEffect">
                                  <p:stCondLst>
                                    <p:cond delay="37600"/>
                                  </p:stCondLst>
                                  <p:childTnLst>
                                    <p:animEffect transition="out" filter="fade">
                                      <p:cBhvr>
                                        <p:cTn id="1665" dur="900"/>
                                        <p:tgtEl>
                                          <p:spTgt spid="28"/>
                                        </p:tgtEl>
                                      </p:cBhvr>
                                    </p:animEffect>
                                    <p:set>
                                      <p:cBhvr>
                                        <p:cTn id="1666" dur="1" fill="hold">
                                          <p:stCondLst>
                                            <p:cond delay="899"/>
                                          </p:stCondLst>
                                        </p:cTn>
                                        <p:tgtEl>
                                          <p:spTgt spid="28"/>
                                        </p:tgtEl>
                                        <p:attrNameLst>
                                          <p:attrName>style.visibility</p:attrName>
                                        </p:attrNameLst>
                                      </p:cBhvr>
                                      <p:to>
                                        <p:strVal val="hidden"/>
                                      </p:to>
                                    </p:set>
                                  </p:childTnLst>
                                </p:cTn>
                              </p:par>
                            </p:childTnLst>
                          </p:cTn>
                        </p:par>
                        <p:par>
                          <p:cTn id="1677" fill="hold">
                            <p:stCondLst>
                              <p:cond delay="0"/>
                            </p:stCondLst>
                            <p:childTnLst>
                              <p:par>
                                <p:cTn id="1668" presetID="10" presetClass="entr" fill="hold" grpId="24" nodeType="withEffect">
                                  <p:stCondLst>
                                    <p:cond delay="38500"/>
                                  </p:stCondLst>
                                  <p:childTnLst>
                                    <p:set>
                                      <p:cBhvr>
                                        <p:cTn id="1669" dur="1" fill="hold">
                                          <p:stCondLst>
                                            <p:cond delay="0"/>
                                          </p:stCondLst>
                                        </p:cTn>
                                        <p:tgtEl>
                                          <p:spTgt spid="28"/>
                                        </p:tgtEl>
                                        <p:attrNameLst>
                                          <p:attrName>style.visibility</p:attrName>
                                        </p:attrNameLst>
                                      </p:cBhvr>
                                      <p:to>
                                        <p:strVal val="visible"/>
                                      </p:to>
                                    </p:set>
                                    <p:animEffect transition="in" filter="fade">
                                      <p:cBhvr>
                                        <p:cTn id="1670" dur="500"/>
                                        <p:tgtEl>
                                          <p:spTgt spid="28"/>
                                        </p:tgtEl>
                                      </p:cBhvr>
                                    </p:animEffect>
                                  </p:childTnLst>
                                </p:cTn>
                              </p:par>
                              <p:par>
                                <p:cTn id="1671" presetID="0" presetClass="path" fill="hold" grpId="25" nodeType="withEffect">
                                  <p:stCondLst>
                                    <p:cond delay="38500"/>
                                  </p:stCondLst>
                                  <p:childTnLst>
                                    <p:animMotion origin="layout" path="M 0 0 L -0.01056 -0.119 E" pathEditMode="relative" ptsTypes="AA">
                                      <p:cBhvr additive="base">
                                        <p:cTn id="1672" dur="4400" fill="hold"/>
                                        <p:tgtEl>
                                          <p:spTgt spid="28"/>
                                        </p:tgtEl>
                                        <p:attrNameLst>
                                          <p:attrName>ppt_x</p:attrName>
                                          <p:attrName>ppt_y</p:attrName>
                                        </p:attrNameLst>
                                      </p:cBhvr>
                                      <p:rCtr x="0" y="0"/>
                                    </p:animMotion>
                                    <p:animScale>
                                      <p:cBhvr>
                                        <p:cTn id="1673" dur="4400" fill="hold"/>
                                        <p:tgtEl>
                                          <p:spTgt spid="28"/>
                                        </p:tgtEl>
                                      </p:cBhvr>
                                      <p:from x="100000" y="100000"/>
                                      <p:to x="320000" y="320000"/>
                                    </p:animScale>
                                  </p:childTnLst>
                                </p:cTn>
                              </p:par>
                              <p:par>
                                <p:cTn id="1674" presetID="10" presetClass="exit" fill="hold" grpId="26" nodeType="withEffect">
                                  <p:stCondLst>
                                    <p:cond delay="42000"/>
                                  </p:stCondLst>
                                  <p:childTnLst>
                                    <p:animEffect transition="out" filter="fade">
                                      <p:cBhvr>
                                        <p:cTn id="1675" dur="900"/>
                                        <p:tgtEl>
                                          <p:spTgt spid="28"/>
                                        </p:tgtEl>
                                      </p:cBhvr>
                                    </p:animEffect>
                                    <p:set>
                                      <p:cBhvr>
                                        <p:cTn id="1676" dur="1" fill="hold">
                                          <p:stCondLst>
                                            <p:cond delay="899"/>
                                          </p:stCondLst>
                                        </p:cTn>
                                        <p:tgtEl>
                                          <p:spTgt spid="28"/>
                                        </p:tgtEl>
                                        <p:attrNameLst>
                                          <p:attrName>style.visibility</p:attrName>
                                        </p:attrNameLst>
                                      </p:cBhvr>
                                      <p:to>
                                        <p:strVal val="hidden"/>
                                      </p:to>
                                    </p:set>
                                  </p:childTnLst>
                                </p:cTn>
                              </p:par>
                            </p:childTnLst>
                          </p:cTn>
                        </p:par>
                        <p:par>
                          <p:cTn id="1687" fill="hold">
                            <p:stCondLst>
                              <p:cond delay="0"/>
                            </p:stCondLst>
                            <p:childTnLst>
                              <p:par>
                                <p:cTn id="1678" presetID="10" presetClass="entr" fill="hold" grpId="27" nodeType="withEffect">
                                  <p:stCondLst>
                                    <p:cond delay="42900"/>
                                  </p:stCondLst>
                                  <p:childTnLst>
                                    <p:set>
                                      <p:cBhvr>
                                        <p:cTn id="1679" dur="1" fill="hold">
                                          <p:stCondLst>
                                            <p:cond delay="0"/>
                                          </p:stCondLst>
                                        </p:cTn>
                                        <p:tgtEl>
                                          <p:spTgt spid="28"/>
                                        </p:tgtEl>
                                        <p:attrNameLst>
                                          <p:attrName>style.visibility</p:attrName>
                                        </p:attrNameLst>
                                      </p:cBhvr>
                                      <p:to>
                                        <p:strVal val="visible"/>
                                      </p:to>
                                    </p:set>
                                    <p:animEffect transition="in" filter="fade">
                                      <p:cBhvr>
                                        <p:cTn id="1680" dur="500"/>
                                        <p:tgtEl>
                                          <p:spTgt spid="28"/>
                                        </p:tgtEl>
                                      </p:cBhvr>
                                    </p:animEffect>
                                  </p:childTnLst>
                                </p:cTn>
                              </p:par>
                              <p:par>
                                <p:cTn id="1681" presetID="0" presetClass="path" fill="hold" grpId="28" nodeType="withEffect">
                                  <p:stCondLst>
                                    <p:cond delay="42900"/>
                                  </p:stCondLst>
                                  <p:childTnLst>
                                    <p:animMotion origin="layout" path="M 0 0 L -0.01056 -0.119 E" pathEditMode="relative" ptsTypes="AA">
                                      <p:cBhvr additive="base">
                                        <p:cTn id="1682" dur="4400" fill="hold"/>
                                        <p:tgtEl>
                                          <p:spTgt spid="28"/>
                                        </p:tgtEl>
                                        <p:attrNameLst>
                                          <p:attrName>ppt_x</p:attrName>
                                          <p:attrName>ppt_y</p:attrName>
                                        </p:attrNameLst>
                                      </p:cBhvr>
                                      <p:rCtr x="0" y="0"/>
                                    </p:animMotion>
                                    <p:animScale>
                                      <p:cBhvr>
                                        <p:cTn id="1683" dur="4400" fill="hold"/>
                                        <p:tgtEl>
                                          <p:spTgt spid="28"/>
                                        </p:tgtEl>
                                      </p:cBhvr>
                                      <p:from x="100000" y="100000"/>
                                      <p:to x="320000" y="320000"/>
                                    </p:animScale>
                                  </p:childTnLst>
                                </p:cTn>
                              </p:par>
                              <p:par>
                                <p:cTn id="1684" presetID="10" presetClass="exit" fill="hold" grpId="29" nodeType="withEffect">
                                  <p:stCondLst>
                                    <p:cond delay="46400"/>
                                  </p:stCondLst>
                                  <p:childTnLst>
                                    <p:animEffect transition="out" filter="fade">
                                      <p:cBhvr>
                                        <p:cTn id="1685" dur="900"/>
                                        <p:tgtEl>
                                          <p:spTgt spid="28"/>
                                        </p:tgtEl>
                                      </p:cBhvr>
                                    </p:animEffect>
                                    <p:set>
                                      <p:cBhvr>
                                        <p:cTn id="1686" dur="1" fill="hold">
                                          <p:stCondLst>
                                            <p:cond delay="899"/>
                                          </p:stCondLst>
                                        </p:cTn>
                                        <p:tgtEl>
                                          <p:spTgt spid="28"/>
                                        </p:tgtEl>
                                        <p:attrNameLst>
                                          <p:attrName>style.visibility</p:attrName>
                                        </p:attrNameLst>
                                      </p:cBhvr>
                                      <p:to>
                                        <p:strVal val="hidden"/>
                                      </p:to>
                                    </p:set>
                                  </p:childTnLst>
                                </p:cTn>
                              </p:par>
                            </p:childTnLst>
                          </p:cTn>
                        </p:par>
                        <p:par>
                          <p:cTn id="1697" fill="hold">
                            <p:stCondLst>
                              <p:cond delay="0"/>
                            </p:stCondLst>
                            <p:childTnLst>
                              <p:par>
                                <p:cTn id="1688" presetID="10" presetClass="entr" fill="hold" grpId="30" nodeType="withEffect">
                                  <p:stCondLst>
                                    <p:cond delay="47300"/>
                                  </p:stCondLst>
                                  <p:childTnLst>
                                    <p:set>
                                      <p:cBhvr>
                                        <p:cTn id="1689" dur="1" fill="hold">
                                          <p:stCondLst>
                                            <p:cond delay="0"/>
                                          </p:stCondLst>
                                        </p:cTn>
                                        <p:tgtEl>
                                          <p:spTgt spid="28"/>
                                        </p:tgtEl>
                                        <p:attrNameLst>
                                          <p:attrName>style.visibility</p:attrName>
                                        </p:attrNameLst>
                                      </p:cBhvr>
                                      <p:to>
                                        <p:strVal val="visible"/>
                                      </p:to>
                                    </p:set>
                                    <p:animEffect transition="in" filter="fade">
                                      <p:cBhvr>
                                        <p:cTn id="1690" dur="500"/>
                                        <p:tgtEl>
                                          <p:spTgt spid="28"/>
                                        </p:tgtEl>
                                      </p:cBhvr>
                                    </p:animEffect>
                                  </p:childTnLst>
                                </p:cTn>
                              </p:par>
                              <p:par>
                                <p:cTn id="1691" presetID="0" presetClass="path" fill="hold" grpId="31" nodeType="withEffect">
                                  <p:stCondLst>
                                    <p:cond delay="47300"/>
                                  </p:stCondLst>
                                  <p:childTnLst>
                                    <p:animMotion origin="layout" path="M 0 0 L -0.01056 -0.119 E" pathEditMode="relative" ptsTypes="AA">
                                      <p:cBhvr additive="base">
                                        <p:cTn id="1692" dur="4400" fill="hold"/>
                                        <p:tgtEl>
                                          <p:spTgt spid="28"/>
                                        </p:tgtEl>
                                        <p:attrNameLst>
                                          <p:attrName>ppt_x</p:attrName>
                                          <p:attrName>ppt_y</p:attrName>
                                        </p:attrNameLst>
                                      </p:cBhvr>
                                      <p:rCtr x="0" y="0"/>
                                    </p:animMotion>
                                    <p:animScale>
                                      <p:cBhvr>
                                        <p:cTn id="1693" dur="4400" fill="hold"/>
                                        <p:tgtEl>
                                          <p:spTgt spid="28"/>
                                        </p:tgtEl>
                                      </p:cBhvr>
                                      <p:from x="100000" y="100000"/>
                                      <p:to x="320000" y="320000"/>
                                    </p:animScale>
                                  </p:childTnLst>
                                </p:cTn>
                              </p:par>
                              <p:par>
                                <p:cTn id="1694" presetID="10" presetClass="exit" fill="hold" grpId="32" nodeType="withEffect">
                                  <p:stCondLst>
                                    <p:cond delay="50800"/>
                                  </p:stCondLst>
                                  <p:childTnLst>
                                    <p:animEffect transition="out" filter="fade">
                                      <p:cBhvr>
                                        <p:cTn id="1695" dur="900"/>
                                        <p:tgtEl>
                                          <p:spTgt spid="28"/>
                                        </p:tgtEl>
                                      </p:cBhvr>
                                    </p:animEffect>
                                    <p:set>
                                      <p:cBhvr>
                                        <p:cTn id="1696" dur="1" fill="hold">
                                          <p:stCondLst>
                                            <p:cond delay="899"/>
                                          </p:stCondLst>
                                        </p:cTn>
                                        <p:tgtEl>
                                          <p:spTgt spid="28"/>
                                        </p:tgtEl>
                                        <p:attrNameLst>
                                          <p:attrName>style.visibility</p:attrName>
                                        </p:attrNameLst>
                                      </p:cBhvr>
                                      <p:to>
                                        <p:strVal val="hidden"/>
                                      </p:to>
                                    </p:set>
                                  </p:childTnLst>
                                </p:cTn>
                              </p:par>
                            </p:childTnLst>
                          </p:cTn>
                        </p:par>
                        <p:par>
                          <p:cTn id="1707" fill="hold">
                            <p:stCondLst>
                              <p:cond delay="0"/>
                            </p:stCondLst>
                            <p:childTnLst>
                              <p:par>
                                <p:cTn id="1698" presetID="10" presetClass="entr" fill="hold" grpId="33" nodeType="withEffect">
                                  <p:stCondLst>
                                    <p:cond delay="51700"/>
                                  </p:stCondLst>
                                  <p:childTnLst>
                                    <p:set>
                                      <p:cBhvr>
                                        <p:cTn id="1699" dur="1" fill="hold">
                                          <p:stCondLst>
                                            <p:cond delay="0"/>
                                          </p:stCondLst>
                                        </p:cTn>
                                        <p:tgtEl>
                                          <p:spTgt spid="28"/>
                                        </p:tgtEl>
                                        <p:attrNameLst>
                                          <p:attrName>style.visibility</p:attrName>
                                        </p:attrNameLst>
                                      </p:cBhvr>
                                      <p:to>
                                        <p:strVal val="visible"/>
                                      </p:to>
                                    </p:set>
                                    <p:animEffect transition="in" filter="fade">
                                      <p:cBhvr>
                                        <p:cTn id="1700" dur="500"/>
                                        <p:tgtEl>
                                          <p:spTgt spid="28"/>
                                        </p:tgtEl>
                                      </p:cBhvr>
                                    </p:animEffect>
                                  </p:childTnLst>
                                </p:cTn>
                              </p:par>
                              <p:par>
                                <p:cTn id="1701" presetID="0" presetClass="path" fill="hold" grpId="34" nodeType="withEffect">
                                  <p:stCondLst>
                                    <p:cond delay="51700"/>
                                  </p:stCondLst>
                                  <p:childTnLst>
                                    <p:animMotion origin="layout" path="M 0 0 L -0.01056 -0.119 E" pathEditMode="relative" ptsTypes="AA">
                                      <p:cBhvr additive="base">
                                        <p:cTn id="1702" dur="4400" fill="hold"/>
                                        <p:tgtEl>
                                          <p:spTgt spid="28"/>
                                        </p:tgtEl>
                                        <p:attrNameLst>
                                          <p:attrName>ppt_x</p:attrName>
                                          <p:attrName>ppt_y</p:attrName>
                                        </p:attrNameLst>
                                      </p:cBhvr>
                                      <p:rCtr x="0" y="0"/>
                                    </p:animMotion>
                                    <p:animScale>
                                      <p:cBhvr>
                                        <p:cTn id="1703" dur="4400" fill="hold"/>
                                        <p:tgtEl>
                                          <p:spTgt spid="28"/>
                                        </p:tgtEl>
                                      </p:cBhvr>
                                      <p:from x="100000" y="100000"/>
                                      <p:to x="320000" y="320000"/>
                                    </p:animScale>
                                  </p:childTnLst>
                                </p:cTn>
                              </p:par>
                              <p:par>
                                <p:cTn id="1704" presetID="10" presetClass="exit" fill="hold" grpId="35" nodeType="withEffect">
                                  <p:stCondLst>
                                    <p:cond delay="55200"/>
                                  </p:stCondLst>
                                  <p:childTnLst>
                                    <p:animEffect transition="out" filter="fade">
                                      <p:cBhvr>
                                        <p:cTn id="1705" dur="900"/>
                                        <p:tgtEl>
                                          <p:spTgt spid="28"/>
                                        </p:tgtEl>
                                      </p:cBhvr>
                                    </p:animEffect>
                                    <p:set>
                                      <p:cBhvr>
                                        <p:cTn id="1706" dur="1" fill="hold">
                                          <p:stCondLst>
                                            <p:cond delay="899"/>
                                          </p:stCondLst>
                                        </p:cTn>
                                        <p:tgtEl>
                                          <p:spTgt spid="28"/>
                                        </p:tgtEl>
                                        <p:attrNameLst>
                                          <p:attrName>style.visibility</p:attrName>
                                        </p:attrNameLst>
                                      </p:cBhvr>
                                      <p:to>
                                        <p:strVal val="hidden"/>
                                      </p:to>
                                    </p:set>
                                  </p:childTnLst>
                                </p:cTn>
                              </p:par>
                            </p:childTnLst>
                          </p:cTn>
                        </p:par>
                        <p:par>
                          <p:cTn id="1717" fill="hold">
                            <p:stCondLst>
                              <p:cond delay="0"/>
                            </p:stCondLst>
                            <p:childTnLst>
                              <p:par>
                                <p:cTn id="1708" presetID="10" presetClass="entr" fill="hold" grpId="36" nodeType="withEffect">
                                  <p:stCondLst>
                                    <p:cond delay="56100"/>
                                  </p:stCondLst>
                                  <p:childTnLst>
                                    <p:set>
                                      <p:cBhvr>
                                        <p:cTn id="1709" dur="1" fill="hold">
                                          <p:stCondLst>
                                            <p:cond delay="0"/>
                                          </p:stCondLst>
                                        </p:cTn>
                                        <p:tgtEl>
                                          <p:spTgt spid="28"/>
                                        </p:tgtEl>
                                        <p:attrNameLst>
                                          <p:attrName>style.visibility</p:attrName>
                                        </p:attrNameLst>
                                      </p:cBhvr>
                                      <p:to>
                                        <p:strVal val="visible"/>
                                      </p:to>
                                    </p:set>
                                    <p:animEffect transition="in" filter="fade">
                                      <p:cBhvr>
                                        <p:cTn id="1710" dur="500"/>
                                        <p:tgtEl>
                                          <p:spTgt spid="28"/>
                                        </p:tgtEl>
                                      </p:cBhvr>
                                    </p:animEffect>
                                  </p:childTnLst>
                                </p:cTn>
                              </p:par>
                              <p:par>
                                <p:cTn id="1711" presetID="0" presetClass="path" fill="hold" grpId="37" nodeType="withEffect">
                                  <p:stCondLst>
                                    <p:cond delay="56100"/>
                                  </p:stCondLst>
                                  <p:childTnLst>
                                    <p:animMotion origin="layout" path="M 0 0 L -0.01056 -0.119 E" pathEditMode="relative" ptsTypes="AA">
                                      <p:cBhvr additive="base">
                                        <p:cTn id="1712" dur="4400" fill="hold"/>
                                        <p:tgtEl>
                                          <p:spTgt spid="28"/>
                                        </p:tgtEl>
                                        <p:attrNameLst>
                                          <p:attrName>ppt_x</p:attrName>
                                          <p:attrName>ppt_y</p:attrName>
                                        </p:attrNameLst>
                                      </p:cBhvr>
                                      <p:rCtr x="0" y="0"/>
                                    </p:animMotion>
                                    <p:animScale>
                                      <p:cBhvr>
                                        <p:cTn id="1713" dur="4400" fill="hold"/>
                                        <p:tgtEl>
                                          <p:spTgt spid="28"/>
                                        </p:tgtEl>
                                      </p:cBhvr>
                                      <p:from x="100000" y="100000"/>
                                      <p:to x="320000" y="320000"/>
                                    </p:animScale>
                                  </p:childTnLst>
                                </p:cTn>
                              </p:par>
                              <p:par>
                                <p:cTn id="1714" presetID="10" presetClass="exit" fill="hold" grpId="38" nodeType="withEffect">
                                  <p:stCondLst>
                                    <p:cond delay="59600"/>
                                  </p:stCondLst>
                                  <p:childTnLst>
                                    <p:animEffect transition="out" filter="fade">
                                      <p:cBhvr>
                                        <p:cTn id="1715" dur="900"/>
                                        <p:tgtEl>
                                          <p:spTgt spid="28"/>
                                        </p:tgtEl>
                                      </p:cBhvr>
                                    </p:animEffect>
                                    <p:set>
                                      <p:cBhvr>
                                        <p:cTn id="1716" dur="1" fill="hold">
                                          <p:stCondLst>
                                            <p:cond delay="899"/>
                                          </p:stCondLst>
                                        </p:cTn>
                                        <p:tgtEl>
                                          <p:spTgt spid="28"/>
                                        </p:tgtEl>
                                        <p:attrNameLst>
                                          <p:attrName>style.visibility</p:attrName>
                                        </p:attrNameLst>
                                      </p:cBhvr>
                                      <p:to>
                                        <p:strVal val="hidden"/>
                                      </p:to>
                                    </p:set>
                                  </p:childTnLst>
                                </p:cTn>
                              </p:par>
                            </p:childTnLst>
                          </p:cTn>
                        </p:par>
                        <p:par>
                          <p:cTn id="1727" fill="hold">
                            <p:stCondLst>
                              <p:cond delay="0"/>
                            </p:stCondLst>
                            <p:childTnLst>
                              <p:par>
                                <p:cTn id="1718" presetID="10" presetClass="entr" fill="hold" grpId="39" nodeType="withEffect">
                                  <p:stCondLst>
                                    <p:cond delay="60500"/>
                                  </p:stCondLst>
                                  <p:childTnLst>
                                    <p:set>
                                      <p:cBhvr>
                                        <p:cTn id="1719" dur="1" fill="hold">
                                          <p:stCondLst>
                                            <p:cond delay="0"/>
                                          </p:stCondLst>
                                        </p:cTn>
                                        <p:tgtEl>
                                          <p:spTgt spid="28"/>
                                        </p:tgtEl>
                                        <p:attrNameLst>
                                          <p:attrName>style.visibility</p:attrName>
                                        </p:attrNameLst>
                                      </p:cBhvr>
                                      <p:to>
                                        <p:strVal val="visible"/>
                                      </p:to>
                                    </p:set>
                                    <p:animEffect transition="in" filter="fade">
                                      <p:cBhvr>
                                        <p:cTn id="1720" dur="500"/>
                                        <p:tgtEl>
                                          <p:spTgt spid="28"/>
                                        </p:tgtEl>
                                      </p:cBhvr>
                                    </p:animEffect>
                                  </p:childTnLst>
                                </p:cTn>
                              </p:par>
                              <p:par>
                                <p:cTn id="1721" presetID="0" presetClass="path" fill="hold" grpId="40" nodeType="withEffect">
                                  <p:stCondLst>
                                    <p:cond delay="60500"/>
                                  </p:stCondLst>
                                  <p:childTnLst>
                                    <p:animMotion origin="layout" path="M 0 0 L -0.01056 -0.119 E" pathEditMode="relative" ptsTypes="AA">
                                      <p:cBhvr additive="base">
                                        <p:cTn id="1722" dur="4400" fill="hold"/>
                                        <p:tgtEl>
                                          <p:spTgt spid="28"/>
                                        </p:tgtEl>
                                        <p:attrNameLst>
                                          <p:attrName>ppt_x</p:attrName>
                                          <p:attrName>ppt_y</p:attrName>
                                        </p:attrNameLst>
                                      </p:cBhvr>
                                      <p:rCtr x="0" y="0"/>
                                    </p:animMotion>
                                    <p:animScale>
                                      <p:cBhvr>
                                        <p:cTn id="1723" dur="4400" fill="hold"/>
                                        <p:tgtEl>
                                          <p:spTgt spid="28"/>
                                        </p:tgtEl>
                                      </p:cBhvr>
                                      <p:from x="100000" y="100000"/>
                                      <p:to x="320000" y="320000"/>
                                    </p:animScale>
                                  </p:childTnLst>
                                </p:cTn>
                              </p:par>
                              <p:par>
                                <p:cTn id="1724" presetID="10" presetClass="exit" fill="hold" grpId="41" nodeType="withEffect">
                                  <p:stCondLst>
                                    <p:cond delay="64000"/>
                                  </p:stCondLst>
                                  <p:childTnLst>
                                    <p:animEffect transition="out" filter="fade">
                                      <p:cBhvr>
                                        <p:cTn id="1725" dur="900"/>
                                        <p:tgtEl>
                                          <p:spTgt spid="28"/>
                                        </p:tgtEl>
                                      </p:cBhvr>
                                    </p:animEffect>
                                    <p:set>
                                      <p:cBhvr>
                                        <p:cTn id="1726" dur="1" fill="hold">
                                          <p:stCondLst>
                                            <p:cond delay="8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How this carbon emission investigation is organised</a:t>
            </a:r>
          </a:p>
          <a:p>
            <a:pPr algn="l">
              <a:spcBef>
                <a:spcPts val="200"/>
              </a:spcBef>
              <a:defRPr>
                <a:latin typeface="Times New Roman"/>
              </a:defRPr>
            </a:pPr>
            <a:r>
              <a:rPr sz="2500" b="1">
                <a:solidFill>
                  <a:srgbClr val="FFFFFF"/>
                </a:solidFill>
                <a:latin typeface="Georgia"/>
              </a:rPr>
              <a:t>Contents</a:t>
            </a:r>
          </a:p>
        </p:txBody>
      </p:sp>
      <p:sp>
        <p:nvSpPr>
          <p:cNvPr id="10" name="TextBox 9"/>
          <p:cNvSpPr txBox="1"/>
          <p:nvPr/>
        </p:nvSpPr>
        <p:spPr>
          <a:xfrm>
            <a:off x="777240" y="969264"/>
            <a:ext cx="10607040" cy="310896"/>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F5248"/>
                </a:solidFill>
                <a:latin typeface="Times New Roman"/>
              </a:rPr>
              <a:t>Six blocks, one question: </a:t>
            </a:r>
            <a:r>
              <a:rPr sz="1450" b="0">
                <a:solidFill>
                  <a:srgbClr val="252B30"/>
                </a:solidFill>
                <a:latin typeface="Times New Roman"/>
              </a:rPr>
              <a:t>covered fossil CO2 kept rising for 30 years - one shared trajectory, or several transition pathways?</a:t>
            </a:r>
          </a:p>
        </p:txBody>
      </p:sp>
      <p:sp>
        <p:nvSpPr>
          <p:cNvPr id="11" name="Rounded Rectangle 10"/>
          <p:cNvSpPr/>
          <p:nvPr/>
        </p:nvSpPr>
        <p:spPr>
          <a:xfrm>
            <a:off x="777240" y="1353312"/>
            <a:ext cx="10607040" cy="694944"/>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2" name="Rectangle 11"/>
          <p:cNvSpPr/>
          <p:nvPr/>
        </p:nvSpPr>
        <p:spPr>
          <a:xfrm>
            <a:off x="777240" y="1353312"/>
            <a:ext cx="64008" cy="69494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13" name="TextBox 12"/>
          <p:cNvSpPr txBox="1"/>
          <p:nvPr/>
        </p:nvSpPr>
        <p:spPr>
          <a:xfrm>
            <a:off x="987552" y="1444752"/>
            <a:ext cx="548640" cy="502920"/>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2F5248"/>
                </a:solidFill>
                <a:latin typeface="Times New Roman"/>
              </a:rPr>
              <a:t>1</a:t>
            </a:r>
          </a:p>
        </p:txBody>
      </p:sp>
      <p:sp>
        <p:nvSpPr>
          <p:cNvPr id="14" name="TextBox 13"/>
          <p:cNvSpPr txBox="1"/>
          <p:nvPr/>
        </p:nvSpPr>
        <p:spPr>
          <a:xfrm>
            <a:off x="1600200" y="1399032"/>
            <a:ext cx="5669280" cy="603504"/>
          </a:xfrm>
          <a:prstGeom prst="rect">
            <a:avLst/>
          </a:prstGeom>
          <a:noFill/>
          <a:ln>
            <a:noFill/>
          </a:ln>
          <a:effectLst/>
        </p:spPr>
        <p:txBody>
          <a:bodyPr wrap="square" anchor="t" lIns="45720" rIns="45720" tIns="18288" bIns="18288">
            <a:spAutoFit/>
          </a:bodyPr>
          <a:lstStyle/>
          <a:p>
            <a:pPr algn="l">
              <a:defRPr>
                <a:latin typeface="Times New Roman"/>
              </a:defRPr>
            </a:pPr>
            <a:r>
              <a:rPr sz="1800" b="1">
                <a:solidFill>
                  <a:srgbClr val="252B30"/>
                </a:solidFill>
                <a:latin typeface="Times New Roman"/>
              </a:rPr>
              <a:t>Introduction</a:t>
            </a:r>
          </a:p>
          <a:p>
            <a:pPr algn="l">
              <a:defRPr>
                <a:latin typeface="Times New Roman"/>
              </a:defRPr>
            </a:pPr>
            <a:r>
              <a:rPr sz="1350" b="0">
                <a:solidFill>
                  <a:srgbClr val="6E7672"/>
                </a:solidFill>
                <a:latin typeface="Times New Roman"/>
              </a:rPr>
              <a:t>The puzzle: 30 years of growth, one path or many?</a:t>
            </a:r>
          </a:p>
        </p:txBody>
      </p:sp>
      <p:sp>
        <p:nvSpPr>
          <p:cNvPr id="15" name="TextBox 14"/>
          <p:cNvSpPr txBox="1"/>
          <p:nvPr/>
        </p:nvSpPr>
        <p:spPr>
          <a:xfrm>
            <a:off x="9418320" y="1499616"/>
            <a:ext cx="1828800" cy="411480"/>
          </a:xfrm>
          <a:prstGeom prst="rect">
            <a:avLst/>
          </a:prstGeom>
          <a:noFill/>
          <a:ln>
            <a:noFill/>
          </a:ln>
          <a:effectLst/>
        </p:spPr>
        <p:txBody>
          <a:bodyPr wrap="square" anchor="t" lIns="45720" rIns="45720" tIns="18288" bIns="18288">
            <a:spAutoFit/>
          </a:bodyPr>
          <a:lstStyle/>
          <a:p>
            <a:pPr algn="r">
              <a:defRPr>
                <a:latin typeface="Times New Roman"/>
              </a:defRPr>
            </a:pPr>
            <a:r>
              <a:rPr sz="1450" b="1">
                <a:solidFill>
                  <a:srgbClr val="2F5248"/>
                </a:solidFill>
                <a:latin typeface="Times New Roman"/>
              </a:rPr>
              <a:t>Slide 3</a:t>
            </a:r>
          </a:p>
        </p:txBody>
      </p:sp>
      <p:sp>
        <p:nvSpPr>
          <p:cNvPr id="16" name="Rounded Rectangle 15"/>
          <p:cNvSpPr/>
          <p:nvPr/>
        </p:nvSpPr>
        <p:spPr>
          <a:xfrm>
            <a:off x="777240" y="2121408"/>
            <a:ext cx="10607040" cy="694944"/>
          </a:xfrm>
          <a:prstGeom prst="roundRect">
            <a:avLst>
              <a:gd name="adj" fmla="val 5500"/>
            </a:avLst>
          </a:prstGeom>
          <a:solidFill>
            <a:srgbClr val="FFFFFF">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7" name="Rectangle 16"/>
          <p:cNvSpPr/>
          <p:nvPr/>
        </p:nvSpPr>
        <p:spPr>
          <a:xfrm>
            <a:off x="777240" y="2121408"/>
            <a:ext cx="64008" cy="694944"/>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18" name="TextBox 17"/>
          <p:cNvSpPr txBox="1"/>
          <p:nvPr/>
        </p:nvSpPr>
        <p:spPr>
          <a:xfrm>
            <a:off x="987552" y="2212848"/>
            <a:ext cx="548640" cy="502920"/>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4F6E96"/>
                </a:solidFill>
                <a:latin typeface="Times New Roman"/>
              </a:rPr>
              <a:t>2</a:t>
            </a:r>
          </a:p>
        </p:txBody>
      </p:sp>
      <p:sp>
        <p:nvSpPr>
          <p:cNvPr id="19" name="TextBox 18"/>
          <p:cNvSpPr txBox="1"/>
          <p:nvPr/>
        </p:nvSpPr>
        <p:spPr>
          <a:xfrm>
            <a:off x="1600200" y="2167127"/>
            <a:ext cx="5669280" cy="603504"/>
          </a:xfrm>
          <a:prstGeom prst="rect">
            <a:avLst/>
          </a:prstGeom>
          <a:noFill/>
          <a:ln>
            <a:noFill/>
          </a:ln>
          <a:effectLst/>
        </p:spPr>
        <p:txBody>
          <a:bodyPr wrap="square" anchor="t" lIns="45720" rIns="45720" tIns="18288" bIns="18288">
            <a:spAutoFit/>
          </a:bodyPr>
          <a:lstStyle/>
          <a:p>
            <a:pPr algn="l">
              <a:defRPr>
                <a:latin typeface="Times New Roman"/>
              </a:defRPr>
            </a:pPr>
            <a:r>
              <a:rPr sz="1800" b="1">
                <a:solidFill>
                  <a:srgbClr val="252B30"/>
                </a:solidFill>
                <a:latin typeface="Times New Roman"/>
              </a:rPr>
              <a:t>Exploration of Dataset</a:t>
            </a:r>
          </a:p>
          <a:p>
            <a:pPr algn="l">
              <a:defRPr>
                <a:latin typeface="Times New Roman"/>
              </a:defRPr>
            </a:pPr>
            <a:r>
              <a:rPr sz="1350" b="0">
                <a:solidFill>
                  <a:srgbClr val="6E7672"/>
                </a:solidFill>
                <a:latin typeface="Times New Roman"/>
              </a:rPr>
              <a:t>Sources, conditioning, and where countries differ</a:t>
            </a:r>
          </a:p>
        </p:txBody>
      </p:sp>
      <p:sp>
        <p:nvSpPr>
          <p:cNvPr id="20" name="TextBox 19"/>
          <p:cNvSpPr txBox="1"/>
          <p:nvPr/>
        </p:nvSpPr>
        <p:spPr>
          <a:xfrm>
            <a:off x="9418320" y="2267712"/>
            <a:ext cx="1828800" cy="411480"/>
          </a:xfrm>
          <a:prstGeom prst="rect">
            <a:avLst/>
          </a:prstGeom>
          <a:noFill/>
          <a:ln>
            <a:noFill/>
          </a:ln>
          <a:effectLst/>
        </p:spPr>
        <p:txBody>
          <a:bodyPr wrap="square" anchor="t" lIns="45720" rIns="45720" tIns="18288" bIns="18288">
            <a:spAutoFit/>
          </a:bodyPr>
          <a:lstStyle/>
          <a:p>
            <a:pPr algn="r">
              <a:defRPr>
                <a:latin typeface="Times New Roman"/>
              </a:defRPr>
            </a:pPr>
            <a:r>
              <a:rPr sz="1450" b="1">
                <a:solidFill>
                  <a:srgbClr val="4F6E96"/>
                </a:solidFill>
                <a:latin typeface="Times New Roman"/>
              </a:rPr>
              <a:t>Slides 4-10</a:t>
            </a:r>
          </a:p>
        </p:txBody>
      </p:sp>
      <p:sp>
        <p:nvSpPr>
          <p:cNvPr id="21" name="Rounded Rectangle 20"/>
          <p:cNvSpPr/>
          <p:nvPr/>
        </p:nvSpPr>
        <p:spPr>
          <a:xfrm>
            <a:off x="777240" y="2889503"/>
            <a:ext cx="10607040" cy="694944"/>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2" name="Rectangle 21"/>
          <p:cNvSpPr/>
          <p:nvPr/>
        </p:nvSpPr>
        <p:spPr>
          <a:xfrm>
            <a:off x="777240" y="2889503"/>
            <a:ext cx="64008" cy="694944"/>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3" name="TextBox 22"/>
          <p:cNvSpPr txBox="1"/>
          <p:nvPr/>
        </p:nvSpPr>
        <p:spPr>
          <a:xfrm>
            <a:off x="987552" y="2980944"/>
            <a:ext cx="548640" cy="502920"/>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BE7F4E"/>
                </a:solidFill>
                <a:latin typeface="Times New Roman"/>
              </a:rPr>
              <a:t>3</a:t>
            </a:r>
          </a:p>
        </p:txBody>
      </p:sp>
      <p:sp>
        <p:nvSpPr>
          <p:cNvPr id="24" name="TextBox 23"/>
          <p:cNvSpPr txBox="1"/>
          <p:nvPr/>
        </p:nvSpPr>
        <p:spPr>
          <a:xfrm>
            <a:off x="1600200" y="2935223"/>
            <a:ext cx="5669280" cy="603504"/>
          </a:xfrm>
          <a:prstGeom prst="rect">
            <a:avLst/>
          </a:prstGeom>
          <a:noFill/>
          <a:ln>
            <a:noFill/>
          </a:ln>
          <a:effectLst/>
        </p:spPr>
        <p:txBody>
          <a:bodyPr wrap="square" anchor="t" lIns="45720" rIns="45720" tIns="18288" bIns="18288">
            <a:spAutoFit/>
          </a:bodyPr>
          <a:lstStyle/>
          <a:p>
            <a:pPr algn="l">
              <a:defRPr>
                <a:latin typeface="Times New Roman"/>
              </a:defRPr>
            </a:pPr>
            <a:r>
              <a:rPr sz="1800" b="1">
                <a:solidFill>
                  <a:srgbClr val="252B30"/>
                </a:solidFill>
                <a:latin typeface="Times New Roman"/>
              </a:rPr>
              <a:t>Design of AI Algorithm</a:t>
            </a:r>
          </a:p>
          <a:p>
            <a:pPr algn="l">
              <a:defRPr>
                <a:latin typeface="Times New Roman"/>
              </a:defRPr>
            </a:pPr>
            <a:r>
              <a:rPr sz="1350" b="0">
                <a:solidFill>
                  <a:srgbClr val="6E7672"/>
                </a:solidFill>
                <a:latin typeface="Times New Roman"/>
              </a:rPr>
              <a:t>From trajectories to 11 features, PCA and K-means</a:t>
            </a:r>
          </a:p>
        </p:txBody>
      </p:sp>
      <p:sp>
        <p:nvSpPr>
          <p:cNvPr id="25" name="TextBox 24"/>
          <p:cNvSpPr txBox="1"/>
          <p:nvPr/>
        </p:nvSpPr>
        <p:spPr>
          <a:xfrm>
            <a:off x="9418320" y="3035808"/>
            <a:ext cx="1828800" cy="411480"/>
          </a:xfrm>
          <a:prstGeom prst="rect">
            <a:avLst/>
          </a:prstGeom>
          <a:noFill/>
          <a:ln>
            <a:noFill/>
          </a:ln>
          <a:effectLst/>
        </p:spPr>
        <p:txBody>
          <a:bodyPr wrap="square" anchor="t" lIns="45720" rIns="45720" tIns="18288" bIns="18288">
            <a:spAutoFit/>
          </a:bodyPr>
          <a:lstStyle/>
          <a:p>
            <a:pPr algn="r">
              <a:defRPr>
                <a:latin typeface="Times New Roman"/>
              </a:defRPr>
            </a:pPr>
            <a:r>
              <a:rPr sz="1450" b="1">
                <a:solidFill>
                  <a:srgbClr val="BE7F4E"/>
                </a:solidFill>
                <a:latin typeface="Times New Roman"/>
              </a:rPr>
              <a:t>Slides 11-14</a:t>
            </a:r>
          </a:p>
        </p:txBody>
      </p:sp>
      <p:sp>
        <p:nvSpPr>
          <p:cNvPr id="26" name="Rounded Rectangle 25"/>
          <p:cNvSpPr/>
          <p:nvPr/>
        </p:nvSpPr>
        <p:spPr>
          <a:xfrm>
            <a:off x="777240" y="3657599"/>
            <a:ext cx="10607040" cy="694944"/>
          </a:xfrm>
          <a:prstGeom prst="roundRect">
            <a:avLst>
              <a:gd name="adj" fmla="val 5500"/>
            </a:avLst>
          </a:prstGeom>
          <a:solidFill>
            <a:srgbClr val="FFFFFF">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7" name="Rectangle 26"/>
          <p:cNvSpPr/>
          <p:nvPr/>
        </p:nvSpPr>
        <p:spPr>
          <a:xfrm>
            <a:off x="777240" y="3657599"/>
            <a:ext cx="64008" cy="694944"/>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8" name="TextBox 27"/>
          <p:cNvSpPr txBox="1"/>
          <p:nvPr/>
        </p:nvSpPr>
        <p:spPr>
          <a:xfrm>
            <a:off x="987552" y="3749039"/>
            <a:ext cx="548640" cy="502920"/>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4F6E96"/>
                </a:solidFill>
                <a:latin typeface="Times New Roman"/>
              </a:rPr>
              <a:t>4</a:t>
            </a:r>
          </a:p>
        </p:txBody>
      </p:sp>
      <p:sp>
        <p:nvSpPr>
          <p:cNvPr id="29" name="TextBox 28"/>
          <p:cNvSpPr txBox="1"/>
          <p:nvPr/>
        </p:nvSpPr>
        <p:spPr>
          <a:xfrm>
            <a:off x="1600200" y="3703320"/>
            <a:ext cx="5669280" cy="603504"/>
          </a:xfrm>
          <a:prstGeom prst="rect">
            <a:avLst/>
          </a:prstGeom>
          <a:noFill/>
          <a:ln>
            <a:noFill/>
          </a:ln>
          <a:effectLst/>
        </p:spPr>
        <p:txBody>
          <a:bodyPr wrap="square" anchor="t" lIns="45720" rIns="45720" tIns="18288" bIns="18288">
            <a:spAutoFit/>
          </a:bodyPr>
          <a:lstStyle/>
          <a:p>
            <a:pPr algn="l">
              <a:defRPr>
                <a:latin typeface="Times New Roman"/>
              </a:defRPr>
            </a:pPr>
            <a:r>
              <a:rPr sz="1800" b="1">
                <a:solidFill>
                  <a:srgbClr val="252B30"/>
                </a:solidFill>
                <a:latin typeface="Times New Roman"/>
              </a:rPr>
              <a:t>Model Evaluation and Performance</a:t>
            </a:r>
          </a:p>
          <a:p>
            <a:pPr algn="l">
              <a:defRPr>
                <a:latin typeface="Times New Roman"/>
              </a:defRPr>
            </a:pPr>
            <a:r>
              <a:rPr sz="1350" b="0">
                <a:solidFill>
                  <a:srgbClr val="6E7672"/>
                </a:solidFill>
                <a:latin typeface="Times New Roman"/>
              </a:rPr>
              <a:t>Validity, stability and membership uncertainty</a:t>
            </a:r>
          </a:p>
        </p:txBody>
      </p:sp>
      <p:sp>
        <p:nvSpPr>
          <p:cNvPr id="30" name="TextBox 29"/>
          <p:cNvSpPr txBox="1"/>
          <p:nvPr/>
        </p:nvSpPr>
        <p:spPr>
          <a:xfrm>
            <a:off x="9418320" y="3803903"/>
            <a:ext cx="1828800" cy="411480"/>
          </a:xfrm>
          <a:prstGeom prst="rect">
            <a:avLst/>
          </a:prstGeom>
          <a:noFill/>
          <a:ln>
            <a:noFill/>
          </a:ln>
          <a:effectLst/>
        </p:spPr>
        <p:txBody>
          <a:bodyPr wrap="square" anchor="t" lIns="45720" rIns="45720" tIns="18288" bIns="18288">
            <a:spAutoFit/>
          </a:bodyPr>
          <a:lstStyle/>
          <a:p>
            <a:pPr algn="r">
              <a:defRPr>
                <a:latin typeface="Times New Roman"/>
              </a:defRPr>
            </a:pPr>
            <a:r>
              <a:rPr sz="1450" b="1">
                <a:solidFill>
                  <a:srgbClr val="4F6E96"/>
                </a:solidFill>
                <a:latin typeface="Times New Roman"/>
              </a:rPr>
              <a:t>Slides 15-17</a:t>
            </a:r>
          </a:p>
        </p:txBody>
      </p:sp>
      <p:sp>
        <p:nvSpPr>
          <p:cNvPr id="31" name="Rounded Rectangle 30"/>
          <p:cNvSpPr/>
          <p:nvPr/>
        </p:nvSpPr>
        <p:spPr>
          <a:xfrm>
            <a:off x="777240" y="4425696"/>
            <a:ext cx="10607040" cy="694944"/>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2" name="Rectangle 31"/>
          <p:cNvSpPr/>
          <p:nvPr/>
        </p:nvSpPr>
        <p:spPr>
          <a:xfrm>
            <a:off x="777240" y="4425696"/>
            <a:ext cx="64008" cy="694944"/>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33" name="TextBox 32"/>
          <p:cNvSpPr txBox="1"/>
          <p:nvPr/>
        </p:nvSpPr>
        <p:spPr>
          <a:xfrm>
            <a:off x="987552" y="4517136"/>
            <a:ext cx="548640" cy="502920"/>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BE7F4E"/>
                </a:solidFill>
                <a:latin typeface="Times New Roman"/>
              </a:rPr>
              <a:t>5</a:t>
            </a:r>
          </a:p>
        </p:txBody>
      </p:sp>
      <p:sp>
        <p:nvSpPr>
          <p:cNvPr id="34" name="TextBox 33"/>
          <p:cNvSpPr txBox="1"/>
          <p:nvPr/>
        </p:nvSpPr>
        <p:spPr>
          <a:xfrm>
            <a:off x="1600200" y="4471416"/>
            <a:ext cx="5669280" cy="603504"/>
          </a:xfrm>
          <a:prstGeom prst="rect">
            <a:avLst/>
          </a:prstGeom>
          <a:noFill/>
          <a:ln>
            <a:noFill/>
          </a:ln>
          <a:effectLst/>
        </p:spPr>
        <p:txBody>
          <a:bodyPr wrap="square" anchor="t" lIns="45720" rIns="45720" tIns="18288" bIns="18288">
            <a:spAutoFit/>
          </a:bodyPr>
          <a:lstStyle/>
          <a:p>
            <a:pPr algn="l">
              <a:defRPr>
                <a:latin typeface="Times New Roman"/>
              </a:defRPr>
            </a:pPr>
            <a:r>
              <a:rPr sz="1800" b="1">
                <a:solidFill>
                  <a:srgbClr val="252B30"/>
                </a:solidFill>
                <a:latin typeface="Times New Roman"/>
              </a:rPr>
              <a:t>Visual Storytelling</a:t>
            </a:r>
          </a:p>
          <a:p>
            <a:pPr algn="l">
              <a:defRPr>
                <a:latin typeface="Times New Roman"/>
              </a:defRPr>
            </a:pPr>
            <a:r>
              <a:rPr sz="1350" b="0">
                <a:solidFill>
                  <a:srgbClr val="6E7672"/>
                </a:solidFill>
                <a:latin typeface="Times New Roman"/>
              </a:rPr>
              <a:t>Two pathways, two monitoring priorities</a:t>
            </a:r>
          </a:p>
        </p:txBody>
      </p:sp>
      <p:sp>
        <p:nvSpPr>
          <p:cNvPr id="35" name="TextBox 34"/>
          <p:cNvSpPr txBox="1"/>
          <p:nvPr/>
        </p:nvSpPr>
        <p:spPr>
          <a:xfrm>
            <a:off x="9418320" y="4572000"/>
            <a:ext cx="1828800" cy="411480"/>
          </a:xfrm>
          <a:prstGeom prst="rect">
            <a:avLst/>
          </a:prstGeom>
          <a:noFill/>
          <a:ln>
            <a:noFill/>
          </a:ln>
          <a:effectLst/>
        </p:spPr>
        <p:txBody>
          <a:bodyPr wrap="square" anchor="t" lIns="45720" rIns="45720" tIns="18288" bIns="18288">
            <a:spAutoFit/>
          </a:bodyPr>
          <a:lstStyle/>
          <a:p>
            <a:pPr algn="r">
              <a:defRPr>
                <a:latin typeface="Times New Roman"/>
              </a:defRPr>
            </a:pPr>
            <a:r>
              <a:rPr sz="1450" b="1">
                <a:solidFill>
                  <a:srgbClr val="BE7F4E"/>
                </a:solidFill>
                <a:latin typeface="Times New Roman"/>
              </a:rPr>
              <a:t>Slides 18-21</a:t>
            </a:r>
          </a:p>
        </p:txBody>
      </p:sp>
      <p:sp>
        <p:nvSpPr>
          <p:cNvPr id="36" name="Rounded Rectangle 35"/>
          <p:cNvSpPr/>
          <p:nvPr/>
        </p:nvSpPr>
        <p:spPr>
          <a:xfrm>
            <a:off x="777240" y="5193792"/>
            <a:ext cx="10607040" cy="694944"/>
          </a:xfrm>
          <a:prstGeom prst="roundRect">
            <a:avLst>
              <a:gd name="adj" fmla="val 5500"/>
            </a:avLst>
          </a:prstGeom>
          <a:solidFill>
            <a:srgbClr val="FFFFFF">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7" name="Rectangle 36"/>
          <p:cNvSpPr/>
          <p:nvPr/>
        </p:nvSpPr>
        <p:spPr>
          <a:xfrm>
            <a:off x="777240" y="5193792"/>
            <a:ext cx="64008" cy="69494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38" name="TextBox 37"/>
          <p:cNvSpPr txBox="1"/>
          <p:nvPr/>
        </p:nvSpPr>
        <p:spPr>
          <a:xfrm>
            <a:off x="987552" y="5285231"/>
            <a:ext cx="548640" cy="502920"/>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2F5248"/>
                </a:solidFill>
                <a:latin typeface="Times New Roman"/>
              </a:rPr>
              <a:t>6</a:t>
            </a:r>
          </a:p>
        </p:txBody>
      </p:sp>
      <p:sp>
        <p:nvSpPr>
          <p:cNvPr id="39" name="TextBox 38"/>
          <p:cNvSpPr txBox="1"/>
          <p:nvPr/>
        </p:nvSpPr>
        <p:spPr>
          <a:xfrm>
            <a:off x="1600200" y="5239512"/>
            <a:ext cx="5669280" cy="603504"/>
          </a:xfrm>
          <a:prstGeom prst="rect">
            <a:avLst/>
          </a:prstGeom>
          <a:noFill/>
          <a:ln>
            <a:noFill/>
          </a:ln>
          <a:effectLst/>
        </p:spPr>
        <p:txBody>
          <a:bodyPr wrap="square" anchor="t" lIns="45720" rIns="45720" tIns="18288" bIns="18288">
            <a:spAutoFit/>
          </a:bodyPr>
          <a:lstStyle/>
          <a:p>
            <a:pPr algn="l">
              <a:defRPr>
                <a:latin typeface="Times New Roman"/>
              </a:defRPr>
            </a:pPr>
            <a:r>
              <a:rPr sz="1800" b="1">
                <a:solidFill>
                  <a:srgbClr val="252B30"/>
                </a:solidFill>
                <a:latin typeface="Times New Roman"/>
              </a:rPr>
              <a:t>Conclusions</a:t>
            </a:r>
          </a:p>
          <a:p>
            <a:pPr algn="l">
              <a:defRPr>
                <a:latin typeface="Times New Roman"/>
              </a:defRPr>
            </a:pPr>
            <a:r>
              <a:rPr sz="1350" b="0">
                <a:solidFill>
                  <a:srgbClr val="6E7672"/>
                </a:solidFill>
                <a:latin typeface="Times New Roman"/>
              </a:rPr>
              <a:t>Contributions, novelty and limitations</a:t>
            </a:r>
          </a:p>
        </p:txBody>
      </p:sp>
      <p:sp>
        <p:nvSpPr>
          <p:cNvPr id="40" name="TextBox 39"/>
          <p:cNvSpPr txBox="1"/>
          <p:nvPr/>
        </p:nvSpPr>
        <p:spPr>
          <a:xfrm>
            <a:off x="9418320" y="5340096"/>
            <a:ext cx="1828800" cy="411480"/>
          </a:xfrm>
          <a:prstGeom prst="rect">
            <a:avLst/>
          </a:prstGeom>
          <a:noFill/>
          <a:ln>
            <a:noFill/>
          </a:ln>
          <a:effectLst/>
        </p:spPr>
        <p:txBody>
          <a:bodyPr wrap="square" anchor="t" lIns="45720" rIns="45720" tIns="18288" bIns="18288">
            <a:spAutoFit/>
          </a:bodyPr>
          <a:lstStyle/>
          <a:p>
            <a:pPr algn="r">
              <a:defRPr>
                <a:latin typeface="Times New Roman"/>
              </a:defRPr>
            </a:pPr>
            <a:r>
              <a:rPr sz="1450" b="1">
                <a:solidFill>
                  <a:srgbClr val="2F5248"/>
                </a:solidFill>
                <a:latin typeface="Times New Roman"/>
              </a:rPr>
              <a:t>Slide 22</a:t>
            </a:r>
          </a:p>
        </p:txBody>
      </p:sp>
      <p:sp>
        <p:nvSpPr>
          <p:cNvPr id="41" name="TextBox 40"/>
          <p:cNvSpPr txBox="1"/>
          <p:nvPr/>
        </p:nvSpPr>
        <p:spPr>
          <a:xfrm>
            <a:off x="777240" y="5989320"/>
            <a:ext cx="10607040" cy="310896"/>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6E7672"/>
                </a:solidFill>
                <a:latin typeface="Times New Roman"/>
              </a:rPr>
              <a:t>Each block below names the stage it reports, and every slide banner repeats that stage name.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INTRODUCTION · Why we investigate country carbon emission patterns</a:t>
            </a:r>
          </a:p>
          <a:p>
            <a:pPr algn="l">
              <a:spcBef>
                <a:spcPts val="200"/>
              </a:spcBef>
              <a:defRPr>
                <a:latin typeface="Times New Roman"/>
              </a:defRPr>
            </a:pPr>
            <a:r>
              <a:rPr sz="2300" b="1">
                <a:solidFill>
                  <a:srgbClr val="FFFFFF"/>
                </a:solidFill>
                <a:latin typeface="Georgia"/>
              </a:rPr>
              <a:t>Emissions kept rising - but not along one shared path</a:t>
            </a:r>
          </a:p>
        </p:txBody>
      </p:sp>
      <p:sp>
        <p:nvSpPr>
          <p:cNvPr id="10" name="TextBox 9"/>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SHEN RUITING</a:t>
            </a:r>
          </a:p>
        </p:txBody>
      </p:sp>
      <p:sp>
        <p:nvSpPr>
          <p:cNvPr id="11" name="TextBox 10"/>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3</a:t>
            </a:r>
          </a:p>
        </p:txBody>
      </p:sp>
      <p:sp>
        <p:nvSpPr>
          <p:cNvPr id="12" name="TextBox 11"/>
          <p:cNvSpPr txBox="1"/>
          <p:nvPr/>
        </p:nvSpPr>
        <p:spPr>
          <a:xfrm>
            <a:off x="457200" y="1005840"/>
            <a:ext cx="274320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THE PUZZLE</a:t>
            </a:r>
          </a:p>
        </p:txBody>
      </p:sp>
      <p:sp>
        <p:nvSpPr>
          <p:cNvPr id="13" name="anim_24"/>
          <p:cNvSpPr/>
          <p:nvPr/>
        </p:nvSpPr>
        <p:spPr>
          <a:xfrm>
            <a:off x="457200" y="1298448"/>
            <a:ext cx="3291840" cy="160020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4" name="anim_25"/>
          <p:cNvSpPr txBox="1"/>
          <p:nvPr/>
        </p:nvSpPr>
        <p:spPr>
          <a:xfrm>
            <a:off x="640080" y="1426464"/>
            <a:ext cx="2926080" cy="1371600"/>
          </a:xfrm>
          <a:prstGeom prst="rect">
            <a:avLst/>
          </a:prstGeom>
          <a:noFill/>
          <a:ln>
            <a:noFill/>
          </a:ln>
          <a:effectLst/>
        </p:spPr>
        <p:txBody>
          <a:bodyPr wrap="square" anchor="t" lIns="45720" rIns="45720" tIns="18288" bIns="18288">
            <a:spAutoFit/>
          </a:bodyPr>
          <a:lstStyle/>
          <a:p>
            <a:pPr algn="l">
              <a:defRPr>
                <a:latin typeface="Times New Roman"/>
              </a:defRPr>
            </a:pPr>
            <a:r>
              <a:rPr sz="2800" b="1">
                <a:solidFill>
                  <a:srgbClr val="4F6E96"/>
                </a:solidFill>
                <a:latin typeface="Georgia"/>
              </a:rPr>
              <a:t>+63.8%</a:t>
            </a:r>
          </a:p>
          <a:p>
            <a:pPr algn="l">
              <a:spcBef>
                <a:spcPts val="400"/>
              </a:spcBef>
              <a:defRPr>
                <a:latin typeface="Times New Roman"/>
              </a:defRPr>
            </a:pPr>
            <a:r>
              <a:rPr sz="1400" b="1">
                <a:solidFill>
                  <a:srgbClr val="252B30"/>
                </a:solidFill>
                <a:latin typeface="Times New Roman"/>
              </a:rPr>
              <a:t>Sample-wide fossil CO2, 1992 to 2021</a:t>
            </a:r>
          </a:p>
          <a:p>
            <a:pPr algn="l">
              <a:spcBef>
                <a:spcPts val="300"/>
              </a:spcBef>
              <a:defRPr>
                <a:latin typeface="Times New Roman"/>
              </a:defRPr>
            </a:pPr>
            <a:r>
              <a:rPr sz="1300" b="0">
                <a:solidFill>
                  <a:srgbClr val="252B30"/>
                </a:solidFill>
                <a:latin typeface="Times New Roman"/>
              </a:rPr>
              <a:t>21.97 to 35.98 Gt across the 193 countries covered by our panel</a:t>
            </a:r>
          </a:p>
        </p:txBody>
      </p:sp>
      <p:sp>
        <p:nvSpPr>
          <p:cNvPr id="15" name="anim_26"/>
          <p:cNvSpPr/>
          <p:nvPr/>
        </p:nvSpPr>
        <p:spPr>
          <a:xfrm>
            <a:off x="457200" y="3063240"/>
            <a:ext cx="3291840" cy="160020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6" name="anim_27"/>
          <p:cNvSpPr txBox="1"/>
          <p:nvPr/>
        </p:nvSpPr>
        <p:spPr>
          <a:xfrm>
            <a:off x="640080" y="3191256"/>
            <a:ext cx="2926080" cy="1371600"/>
          </a:xfrm>
          <a:prstGeom prst="rect">
            <a:avLst/>
          </a:prstGeom>
          <a:noFill/>
          <a:ln>
            <a:noFill/>
          </a:ln>
          <a:effectLst/>
        </p:spPr>
        <p:txBody>
          <a:bodyPr wrap="square" anchor="t" lIns="45720" rIns="45720" tIns="18288" bIns="18288">
            <a:spAutoFit/>
          </a:bodyPr>
          <a:lstStyle/>
          <a:p>
            <a:pPr algn="l">
              <a:defRPr>
                <a:latin typeface="Times New Roman"/>
              </a:defRPr>
            </a:pPr>
            <a:r>
              <a:rPr sz="2800" b="1">
                <a:solidFill>
                  <a:srgbClr val="BE7F4E"/>
                </a:solidFill>
                <a:latin typeface="Georgia"/>
              </a:rPr>
              <a:t>30 years</a:t>
            </a:r>
          </a:p>
          <a:p>
            <a:pPr algn="l">
              <a:spcBef>
                <a:spcPts val="400"/>
              </a:spcBef>
              <a:defRPr>
                <a:latin typeface="Times New Roman"/>
              </a:defRPr>
            </a:pPr>
            <a:r>
              <a:rPr sz="1400" b="1">
                <a:solidFill>
                  <a:srgbClr val="252B30"/>
                </a:solidFill>
                <a:latin typeface="Times New Roman"/>
              </a:rPr>
              <a:t>of sustained global climate attention</a:t>
            </a:r>
          </a:p>
          <a:p>
            <a:pPr algn="l">
              <a:spcBef>
                <a:spcPts val="300"/>
              </a:spcBef>
              <a:defRPr>
                <a:latin typeface="Times New Roman"/>
              </a:defRPr>
            </a:pPr>
            <a:r>
              <a:rPr sz="1300" b="0">
                <a:solidFill>
                  <a:srgbClr val="252B30"/>
                </a:solidFill>
                <a:latin typeface="Times New Roman"/>
              </a:rPr>
              <a:t>yet the covered total kept growing - why, and driven by whom?</a:t>
            </a:r>
          </a:p>
        </p:txBody>
      </p:sp>
      <p:sp>
        <p:nvSpPr>
          <p:cNvPr id="17" name="TextBox 16"/>
          <p:cNvSpPr txBox="1"/>
          <p:nvPr/>
        </p:nvSpPr>
        <p:spPr>
          <a:xfrm>
            <a:off x="4206240" y="1005840"/>
            <a:ext cx="548640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OUR QUESTION CHAIN</a:t>
            </a:r>
          </a:p>
        </p:txBody>
      </p:sp>
      <p:sp>
        <p:nvSpPr>
          <p:cNvPr id="18" name="anim_28"/>
          <p:cNvSpPr/>
          <p:nvPr/>
        </p:nvSpPr>
        <p:spPr>
          <a:xfrm>
            <a:off x="4206240" y="1298448"/>
            <a:ext cx="717804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9" name="anim_29"/>
          <p:cNvSpPr txBox="1"/>
          <p:nvPr/>
        </p:nvSpPr>
        <p:spPr>
          <a:xfrm>
            <a:off x="4407408" y="1353312"/>
            <a:ext cx="566928" cy="676656"/>
          </a:xfrm>
          <a:prstGeom prst="rect">
            <a:avLst/>
          </a:prstGeom>
          <a:noFill/>
          <a:ln>
            <a:noFill/>
          </a:ln>
          <a:effectLst/>
        </p:spPr>
        <p:txBody>
          <a:bodyPr wrap="square" anchor="ctr" lIns="45720" rIns="45720" tIns="18288" bIns="18288">
            <a:spAutoFit/>
          </a:bodyPr>
          <a:lstStyle/>
          <a:p>
            <a:pPr algn="l">
              <a:defRPr>
                <a:latin typeface="Times New Roman"/>
              </a:defRPr>
            </a:pPr>
            <a:r>
              <a:rPr sz="1700" b="1">
                <a:solidFill>
                  <a:srgbClr val="4F6E96"/>
                </a:solidFill>
                <a:latin typeface="Times New Roman"/>
              </a:rPr>
              <a:t>Q1</a:t>
            </a:r>
          </a:p>
        </p:txBody>
      </p:sp>
      <p:sp>
        <p:nvSpPr>
          <p:cNvPr id="20" name="anim_30"/>
          <p:cNvSpPr txBox="1"/>
          <p:nvPr/>
        </p:nvSpPr>
        <p:spPr>
          <a:xfrm>
            <a:off x="4983480" y="1353312"/>
            <a:ext cx="6263640" cy="676656"/>
          </a:xfrm>
          <a:prstGeom prst="rect">
            <a:avLst/>
          </a:prstGeom>
          <a:noFill/>
          <a:ln>
            <a:noFill/>
          </a:ln>
          <a:effectLst/>
        </p:spPr>
        <p:txBody>
          <a:bodyPr wrap="square" anchor="ctr" lIns="45720" rIns="45720" tIns="18288" bIns="18288">
            <a:spAutoFit/>
          </a:bodyPr>
          <a:lstStyle/>
          <a:p>
            <a:pPr algn="l">
              <a:defRPr>
                <a:latin typeface="Times New Roman"/>
              </a:defRPr>
            </a:pPr>
            <a:r>
              <a:rPr sz="1550" b="0">
                <a:solidFill>
                  <a:srgbClr val="252B30"/>
                </a:solidFill>
                <a:latin typeface="Times New Roman"/>
              </a:rPr>
              <a:t>Is the rise one common trajectory - or different transition pathways?</a:t>
            </a:r>
          </a:p>
        </p:txBody>
      </p:sp>
      <p:sp>
        <p:nvSpPr>
          <p:cNvPr id="21" name="anim_31"/>
          <p:cNvSpPr/>
          <p:nvPr/>
        </p:nvSpPr>
        <p:spPr>
          <a:xfrm>
            <a:off x="4206240" y="2194560"/>
            <a:ext cx="717804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2" name="anim_32"/>
          <p:cNvSpPr txBox="1"/>
          <p:nvPr/>
        </p:nvSpPr>
        <p:spPr>
          <a:xfrm>
            <a:off x="4407408" y="2249424"/>
            <a:ext cx="566928" cy="676656"/>
          </a:xfrm>
          <a:prstGeom prst="rect">
            <a:avLst/>
          </a:prstGeom>
          <a:noFill/>
          <a:ln>
            <a:noFill/>
          </a:ln>
          <a:effectLst/>
        </p:spPr>
        <p:txBody>
          <a:bodyPr wrap="square" anchor="ctr" lIns="45720" rIns="45720" tIns="18288" bIns="18288">
            <a:spAutoFit/>
          </a:bodyPr>
          <a:lstStyle/>
          <a:p>
            <a:pPr algn="l">
              <a:defRPr>
                <a:latin typeface="Times New Roman"/>
              </a:defRPr>
            </a:pPr>
            <a:r>
              <a:rPr sz="1700" b="1">
                <a:solidFill>
                  <a:srgbClr val="4F6E96"/>
                </a:solidFill>
                <a:latin typeface="Times New Roman"/>
              </a:rPr>
              <a:t>Q2</a:t>
            </a:r>
          </a:p>
        </p:txBody>
      </p:sp>
      <p:sp>
        <p:nvSpPr>
          <p:cNvPr id="23" name="anim_33"/>
          <p:cNvSpPr txBox="1"/>
          <p:nvPr/>
        </p:nvSpPr>
        <p:spPr>
          <a:xfrm>
            <a:off x="4983480" y="2249424"/>
            <a:ext cx="6263640" cy="676656"/>
          </a:xfrm>
          <a:prstGeom prst="rect">
            <a:avLst/>
          </a:prstGeom>
          <a:noFill/>
          <a:ln>
            <a:noFill/>
          </a:ln>
          <a:effectLst/>
        </p:spPr>
        <p:txBody>
          <a:bodyPr wrap="square" anchor="ctr" lIns="45720" rIns="45720" tIns="18288" bIns="18288">
            <a:spAutoFit/>
          </a:bodyPr>
          <a:lstStyle/>
          <a:p>
            <a:pPr algn="l">
              <a:defRPr>
                <a:latin typeface="Times New Roman"/>
              </a:defRPr>
            </a:pPr>
            <a:r>
              <a:rPr sz="1550" b="0">
                <a:solidFill>
                  <a:srgbClr val="252B30"/>
                </a:solidFill>
                <a:latin typeface="Times New Roman"/>
              </a:rPr>
              <a:t>Do countries differ only in size, or in speed, timing and fuel mix?</a:t>
            </a:r>
          </a:p>
        </p:txBody>
      </p:sp>
      <p:sp>
        <p:nvSpPr>
          <p:cNvPr id="24" name="anim_34"/>
          <p:cNvSpPr/>
          <p:nvPr/>
        </p:nvSpPr>
        <p:spPr>
          <a:xfrm>
            <a:off x="4206240" y="3090672"/>
            <a:ext cx="717804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5" name="anim_35"/>
          <p:cNvSpPr txBox="1"/>
          <p:nvPr/>
        </p:nvSpPr>
        <p:spPr>
          <a:xfrm>
            <a:off x="4407408" y="3145536"/>
            <a:ext cx="566928" cy="676656"/>
          </a:xfrm>
          <a:prstGeom prst="rect">
            <a:avLst/>
          </a:prstGeom>
          <a:noFill/>
          <a:ln>
            <a:noFill/>
          </a:ln>
          <a:effectLst/>
        </p:spPr>
        <p:txBody>
          <a:bodyPr wrap="square" anchor="ctr" lIns="45720" rIns="45720" tIns="18288" bIns="18288">
            <a:spAutoFit/>
          </a:bodyPr>
          <a:lstStyle/>
          <a:p>
            <a:pPr algn="l">
              <a:defRPr>
                <a:latin typeface="Times New Roman"/>
              </a:defRPr>
            </a:pPr>
            <a:r>
              <a:rPr sz="1700" b="1">
                <a:solidFill>
                  <a:srgbClr val="4F6E96"/>
                </a:solidFill>
                <a:latin typeface="Times New Roman"/>
              </a:rPr>
              <a:t>Q3</a:t>
            </a:r>
          </a:p>
        </p:txBody>
      </p:sp>
      <p:sp>
        <p:nvSpPr>
          <p:cNvPr id="26" name="anim_36"/>
          <p:cNvSpPr txBox="1"/>
          <p:nvPr/>
        </p:nvSpPr>
        <p:spPr>
          <a:xfrm>
            <a:off x="4983480" y="3145536"/>
            <a:ext cx="6263640" cy="676656"/>
          </a:xfrm>
          <a:prstGeom prst="rect">
            <a:avLst/>
          </a:prstGeom>
          <a:noFill/>
          <a:ln>
            <a:noFill/>
          </a:ln>
          <a:effectLst/>
        </p:spPr>
        <p:txBody>
          <a:bodyPr wrap="square" anchor="ctr" lIns="45720" rIns="45720" tIns="18288" bIns="18288">
            <a:spAutoFit/>
          </a:bodyPr>
          <a:lstStyle/>
          <a:p>
            <a:pPr algn="l">
              <a:defRPr>
                <a:latin typeface="Times New Roman"/>
              </a:defRPr>
            </a:pPr>
            <a:r>
              <a:rPr sz="1550" b="0">
                <a:solidFill>
                  <a:srgbClr val="252B30"/>
                </a:solidFill>
                <a:latin typeface="Times New Roman"/>
              </a:rPr>
              <a:t>Can AI identify these pathways stably from trajectory features?</a:t>
            </a:r>
          </a:p>
        </p:txBody>
      </p:sp>
      <p:sp>
        <p:nvSpPr>
          <p:cNvPr id="27" name="anim_37"/>
          <p:cNvSpPr/>
          <p:nvPr/>
        </p:nvSpPr>
        <p:spPr>
          <a:xfrm>
            <a:off x="4206240" y="3986783"/>
            <a:ext cx="7178040" cy="786384"/>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8" name="anim_38"/>
          <p:cNvSpPr txBox="1"/>
          <p:nvPr/>
        </p:nvSpPr>
        <p:spPr>
          <a:xfrm>
            <a:off x="4407408" y="4041647"/>
            <a:ext cx="566928" cy="676656"/>
          </a:xfrm>
          <a:prstGeom prst="rect">
            <a:avLst/>
          </a:prstGeom>
          <a:noFill/>
          <a:ln>
            <a:noFill/>
          </a:ln>
          <a:effectLst/>
        </p:spPr>
        <p:txBody>
          <a:bodyPr wrap="square" anchor="ctr" lIns="45720" rIns="45720" tIns="18288" bIns="18288">
            <a:spAutoFit/>
          </a:bodyPr>
          <a:lstStyle/>
          <a:p>
            <a:pPr algn="l">
              <a:defRPr>
                <a:latin typeface="Times New Roman"/>
              </a:defRPr>
            </a:pPr>
            <a:r>
              <a:rPr sz="1700" b="1">
                <a:solidFill>
                  <a:srgbClr val="2F5248"/>
                </a:solidFill>
                <a:latin typeface="Times New Roman"/>
              </a:rPr>
              <a:t>Q4</a:t>
            </a:r>
          </a:p>
        </p:txBody>
      </p:sp>
      <p:sp>
        <p:nvSpPr>
          <p:cNvPr id="29" name="anim_39"/>
          <p:cNvSpPr txBox="1"/>
          <p:nvPr/>
        </p:nvSpPr>
        <p:spPr>
          <a:xfrm>
            <a:off x="4983480" y="4041647"/>
            <a:ext cx="6263640" cy="676656"/>
          </a:xfrm>
          <a:prstGeom prst="rect">
            <a:avLst/>
          </a:prstGeom>
          <a:noFill/>
          <a:ln>
            <a:noFill/>
          </a:ln>
          <a:effectLst/>
        </p:spPr>
        <p:txBody>
          <a:bodyPr wrap="square" anchor="ctr" lIns="45720" rIns="45720" tIns="18288" bIns="18288">
            <a:spAutoFit/>
          </a:bodyPr>
          <a:lstStyle/>
          <a:p>
            <a:pPr algn="l">
              <a:defRPr>
                <a:latin typeface="Times New Roman"/>
              </a:defRPr>
            </a:pPr>
            <a:r>
              <a:rPr sz="1550" b="1">
                <a:solidFill>
                  <a:srgbClr val="252B30"/>
                </a:solidFill>
                <a:latin typeface="Times New Roman"/>
              </a:rPr>
              <a:t>Where should limited climate-monitoring attention go?</a:t>
            </a:r>
          </a:p>
        </p:txBody>
      </p:sp>
      <p:sp>
        <p:nvSpPr>
          <p:cNvPr id="30" name="anim_40"/>
          <p:cNvSpPr/>
          <p:nvPr/>
        </p:nvSpPr>
        <p:spPr>
          <a:xfrm>
            <a:off x="457200" y="4956048"/>
            <a:ext cx="10927080" cy="114300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1" name="anim_41"/>
          <p:cNvSpPr txBox="1"/>
          <p:nvPr/>
        </p:nvSpPr>
        <p:spPr>
          <a:xfrm>
            <a:off x="658368" y="5047488"/>
            <a:ext cx="10515600" cy="1005840"/>
          </a:xfrm>
          <a:prstGeom prst="rect">
            <a:avLst/>
          </a:prstGeom>
          <a:noFill/>
          <a:ln>
            <a:noFill/>
          </a:ln>
          <a:effectLst/>
        </p:spPr>
        <p:txBody>
          <a:bodyPr wrap="square" anchor="t" lIns="45720" rIns="45720" tIns="18288" bIns="18288">
            <a:spAutoFit/>
          </a:bodyPr>
          <a:lstStyle/>
          <a:p>
            <a:pPr algn="l">
              <a:defRPr>
                <a:latin typeface="Times New Roman"/>
              </a:defRPr>
            </a:pPr>
            <a:r>
              <a:rPr sz="1400" b="1">
                <a:solidFill>
                  <a:srgbClr val="2F5248"/>
                </a:solidFill>
                <a:latin typeface="Times New Roman"/>
              </a:rPr>
              <a:t>Approach</a:t>
            </a:r>
          </a:p>
          <a:p>
            <a:pPr algn="l">
              <a:spcBef>
                <a:spcPts val="400"/>
              </a:spcBef>
              <a:defRPr>
                <a:latin typeface="Times New Roman"/>
              </a:defRPr>
            </a:pPr>
            <a:r>
              <a:rPr sz="1500" b="0">
                <a:solidFill>
                  <a:srgbClr val="252B30"/>
                </a:solidFill>
                <a:latin typeface="Times New Roman"/>
              </a:rPr>
              <a:t>explore differences  →  engineer trajectory features  →  K-means (K = 2)  →  evaluate separation and stability  →  pathway-specific monitoring priorities</a:t>
            </a:r>
          </a:p>
          <a:p>
            <a:pPr algn="l">
              <a:spcBef>
                <a:spcPts val="400"/>
              </a:spcBef>
              <a:defRPr>
                <a:latin typeface="Times New Roman"/>
              </a:defRPr>
            </a:pPr>
            <a:r>
              <a:rPr sz="1300" b="0">
                <a:solidFill>
                  <a:srgbClr val="6E7672"/>
                </a:solidFill>
                <a:latin typeface="Times New Roman"/>
              </a:rPr>
              <a:t>Each stage below is reported in the order it was carried 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0"/>
                      </p:stCondLst>
                      <p:childTnLst>
                        <p:par>
                          <p:cTn id="11"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3"/>
                                        </p:tgtEl>
                                        <p:attrNameLst>
                                          <p:attrName>style.visibility</p:attrName>
                                        </p:attrNameLst>
                                      </p:cBhvr>
                                      <p:to>
                                        <p:strVal val="visible"/>
                                      </p:to>
                                    </p:set>
                                    <p:animEffect transition="in" filter="fade">
                                      <p:cBhvr>
                                        <p:cTn id="6" dur="450"/>
                                        <p:tgtEl>
                                          <p:spTgt spid="13"/>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50"/>
                                        <p:tgtEl>
                                          <p:spTgt spid="14"/>
                                        </p:tgtEl>
                                      </p:cBhvr>
                                    </p:animEffect>
                                  </p:childTnLst>
                                </p:cTn>
                              </p:par>
                            </p:childTnLst>
                          </p:cTn>
                        </p:par>
                      </p:childTnLst>
                    </p:cTn>
                  </p:par>
                  <p:par>
                    <p:cTn id="18" fill="hold">
                      <p:stCondLst>
                        <p:cond delay="0"/>
                      </p:stCondLst>
                      <p:childTnLst>
                        <p:par>
                          <p:cTn id="19" fill="hold">
                            <p:stCondLst>
                              <p:cond delay="0"/>
                            </p:stCondLst>
                            <p:childTnLst>
                              <p:par>
                                <p:cTn id="12" presetID="10" presetClass="entr" presetSubtype="0" fill="hold" grpId="0" nodeType="afterEffect">
                                  <p:stCondLst>
                                    <p:cond delay="40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50"/>
                                        <p:tgtEl>
                                          <p:spTgt spid="15"/>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childTnLst>
                    </p:cTn>
                  </p:par>
                  <p:par>
                    <p:cTn id="29" fill="hold">
                      <p:stCondLst>
                        <p:cond delay="0"/>
                      </p:stCondLst>
                      <p:childTnLst>
                        <p:par>
                          <p:cTn id="30" fill="hold">
                            <p:stCondLst>
                              <p:cond delay="0"/>
                            </p:stCondLst>
                            <p:childTnLst>
                              <p:par>
                                <p:cTn id="20" presetID="10" presetClass="entr" presetSubtype="0" fill="hold" grpId="0" nodeType="afterEffect">
                                  <p:stCondLst>
                                    <p:cond delay="4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par>
                                <p:cTn id="23" presetID="10" presetClass="entr" presetSubtype="0" fill="hold" grpId="0" nodeType="withEffect">
                                  <p:stCondLst>
                                    <p:cond delay="53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50"/>
                                        <p:tgtEl>
                                          <p:spTgt spid="19"/>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50"/>
                                        <p:tgtEl>
                                          <p:spTgt spid="20"/>
                                        </p:tgtEl>
                                      </p:cBhvr>
                                    </p:animEffect>
                                  </p:childTnLst>
                                </p:cTn>
                              </p:par>
                            </p:childTnLst>
                          </p:cTn>
                        </p:par>
                      </p:childTnLst>
                    </p:cTn>
                  </p:par>
                  <p:par>
                    <p:cTn id="40" fill="hold">
                      <p:stCondLst>
                        <p:cond delay="0"/>
                      </p:stCondLst>
                      <p:childTnLst>
                        <p:par>
                          <p:cTn id="41" fill="hold">
                            <p:stCondLst>
                              <p:cond delay="0"/>
                            </p:stCondLst>
                            <p:childTnLst>
                              <p:par>
                                <p:cTn id="31" presetID="10" presetClass="entr" presetSubtype="0" fill="hold" grpId="0" nodeType="afterEffect">
                                  <p:stCondLst>
                                    <p:cond delay="40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50"/>
                                        <p:tgtEl>
                                          <p:spTgt spid="21"/>
                                        </p:tgtEl>
                                      </p:cBhvr>
                                    </p:animEffect>
                                  </p:childTnLst>
                                </p:cTn>
                              </p:par>
                              <p:par>
                                <p:cTn id="34" presetID="10" presetClass="entr" presetSubtype="0" fill="hold" grpId="0" nodeType="withEffect">
                                  <p:stCondLst>
                                    <p:cond delay="53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50"/>
                                        <p:tgtEl>
                                          <p:spTgt spid="22"/>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50"/>
                                        <p:tgtEl>
                                          <p:spTgt spid="23"/>
                                        </p:tgtEl>
                                      </p:cBhvr>
                                    </p:animEffect>
                                  </p:childTnLst>
                                </p:cTn>
                              </p:par>
                            </p:childTnLst>
                          </p:cTn>
                        </p:par>
                      </p:childTnLst>
                    </p:cTn>
                  </p:par>
                  <p:par>
                    <p:cTn id="51" fill="hold">
                      <p:stCondLst>
                        <p:cond delay="0"/>
                      </p:stCondLst>
                      <p:childTnLst>
                        <p:par>
                          <p:cTn id="52" fill="hold">
                            <p:stCondLst>
                              <p:cond delay="0"/>
                            </p:stCondLst>
                            <p:childTnLst>
                              <p:par>
                                <p:cTn id="42" presetID="10" presetClass="entr" presetSubtype="0" fill="hold" grpId="0" nodeType="afterEffect">
                                  <p:stCondLst>
                                    <p:cond delay="40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5" presetID="10" presetClass="entr" presetSubtype="0" fill="hold" grpId="0" nodeType="withEffect">
                                  <p:stCondLst>
                                    <p:cond delay="53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grpId="0" nodeType="withEffect">
                                  <p:stCondLst>
                                    <p:cond delay="66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450"/>
                                        <p:tgtEl>
                                          <p:spTgt spid="26"/>
                                        </p:tgtEl>
                                      </p:cBhvr>
                                    </p:animEffect>
                                  </p:childTnLst>
                                </p:cTn>
                              </p:par>
                            </p:childTnLst>
                          </p:cTn>
                        </p:par>
                      </p:childTnLst>
                    </p:cTn>
                  </p:par>
                  <p:par>
                    <p:cTn id="62" fill="hold">
                      <p:stCondLst>
                        <p:cond delay="0"/>
                      </p:stCondLst>
                      <p:childTnLst>
                        <p:par>
                          <p:cTn id="63" fill="hold">
                            <p:stCondLst>
                              <p:cond delay="0"/>
                            </p:stCondLst>
                            <p:childTnLst>
                              <p:par>
                                <p:cTn id="53" presetID="10" presetClass="entr" presetSubtype="0" fill="hold" grpId="0" nodeType="afterEffect">
                                  <p:stCondLst>
                                    <p:cond delay="40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50"/>
                                        <p:tgtEl>
                                          <p:spTgt spid="27"/>
                                        </p:tgtEl>
                                      </p:cBhvr>
                                    </p:animEffect>
                                  </p:childTnLst>
                                </p:cTn>
                              </p:par>
                              <p:par>
                                <p:cTn id="56" presetID="10" presetClass="entr" presetSubtype="0" fill="hold" grpId="0" nodeType="withEffect">
                                  <p:stCondLst>
                                    <p:cond delay="5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50"/>
                                        <p:tgtEl>
                                          <p:spTgt spid="28"/>
                                        </p:tgtEl>
                                      </p:cBhvr>
                                    </p:animEffect>
                                  </p:childTnLst>
                                </p:cTn>
                              </p:par>
                              <p:par>
                                <p:cTn id="59" presetID="10" presetClass="entr" presetSubtype="0" fill="hold" grpId="0" nodeType="withEffect">
                                  <p:stCondLst>
                                    <p:cond delay="66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50"/>
                                        <p:tgtEl>
                                          <p:spTgt spid="29"/>
                                        </p:tgtEl>
                                      </p:cBhvr>
                                    </p:animEffect>
                                  </p:childTnLst>
                                </p:cTn>
                              </p:par>
                            </p:childTnLst>
                          </p:cTn>
                        </p:par>
                      </p:childTnLst>
                    </p:cTn>
                  </p:par>
                  <p:par>
                    <p:cTn id="70" fill="hold">
                      <p:stCondLst>
                        <p:cond delay="0"/>
                      </p:stCondLst>
                      <p:childTnLst>
                        <p:par>
                          <p:cTn id="71" fill="hold">
                            <p:stCondLst>
                              <p:cond delay="0"/>
                            </p:stCondLst>
                            <p:childTnLst>
                              <p:par>
                                <p:cTn id="64" presetID="10" presetClass="entr" presetSubtype="0" fill="hold" grpId="0" nodeType="afterEffect">
                                  <p:stCondLst>
                                    <p:cond delay="40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450"/>
                                        <p:tgtEl>
                                          <p:spTgt spid="30"/>
                                        </p:tgtEl>
                                      </p:cBhvr>
                                    </p:animEffect>
                                  </p:childTnLst>
                                </p:cTn>
                              </p:par>
                              <p:par>
                                <p:cTn id="67" presetID="10" presetClass="entr" presetSubtype="0" fill="hold" grpId="0" nodeType="withEffect">
                                  <p:stCondLst>
                                    <p:cond delay="53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DESIGN OF AI ALGORITHM · Defining the clustering unit and the modelled cohort</a:t>
            </a:r>
          </a:p>
          <a:p>
            <a:pPr algn="l">
              <a:spcBef>
                <a:spcPts val="200"/>
              </a:spcBef>
              <a:defRPr>
                <a:latin typeface="Times New Roman"/>
              </a:defRPr>
            </a:pPr>
            <a:r>
              <a:rPr sz="2300" b="1">
                <a:solidFill>
                  <a:srgbClr val="FFFFFF"/>
                </a:solidFill>
                <a:latin typeface="Georgia"/>
              </a:rPr>
              <a:t>From 213 territories to 193 comparable country profiles</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1 / 4</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RAN CHANGMING</a:t>
            </a:r>
          </a:p>
        </p:txBody>
      </p:sp>
      <p:sp>
        <p:nvSpPr>
          <p:cNvPr id="12" name="TextBox 11"/>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11</a:t>
            </a:r>
          </a:p>
        </p:txBody>
      </p:sp>
      <p:sp>
        <p:nvSpPr>
          <p:cNvPr id="13" name="TextBox 12"/>
          <p:cNvSpPr txBox="1"/>
          <p:nvPr/>
        </p:nvSpPr>
        <p:spPr>
          <a:xfrm>
            <a:off x="457200" y="987552"/>
            <a:ext cx="548640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COHORT FUNNEL</a:t>
            </a:r>
          </a:p>
        </p:txBody>
      </p:sp>
      <p:sp>
        <p:nvSpPr>
          <p:cNvPr id="14" name="anim_42"/>
          <p:cNvSpPr/>
          <p:nvPr/>
        </p:nvSpPr>
        <p:spPr>
          <a:xfrm>
            <a:off x="457200" y="1298448"/>
            <a:ext cx="5852160" cy="859536"/>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5" name="anim_43"/>
          <p:cNvSpPr txBox="1"/>
          <p:nvPr/>
        </p:nvSpPr>
        <p:spPr>
          <a:xfrm>
            <a:off x="603504" y="1380744"/>
            <a:ext cx="1280160" cy="685800"/>
          </a:xfrm>
          <a:prstGeom prst="rect">
            <a:avLst/>
          </a:prstGeom>
          <a:noFill/>
          <a:ln>
            <a:noFill/>
          </a:ln>
          <a:effectLst/>
        </p:spPr>
        <p:txBody>
          <a:bodyPr wrap="none" anchor="t" lIns="45720" rIns="45720" tIns="18288" bIns="18288">
            <a:spAutoFit/>
          </a:bodyPr>
          <a:lstStyle/>
          <a:p>
            <a:pPr algn="l">
              <a:defRPr>
                <a:latin typeface="Times New Roman"/>
              </a:defRPr>
            </a:pPr>
            <a:r>
              <a:rPr sz="2200" b="1">
                <a:solidFill>
                  <a:srgbClr val="4F6E96"/>
                </a:solidFill>
                <a:latin typeface="Times New Roman"/>
              </a:rPr>
              <a:t>6,378</a:t>
            </a:r>
          </a:p>
        </p:txBody>
      </p:sp>
      <p:sp>
        <p:nvSpPr>
          <p:cNvPr id="16" name="anim_44"/>
          <p:cNvSpPr txBox="1"/>
          <p:nvPr/>
        </p:nvSpPr>
        <p:spPr>
          <a:xfrm>
            <a:off x="1883664" y="1362456"/>
            <a:ext cx="4297680" cy="749808"/>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52B30"/>
                </a:solidFill>
                <a:latin typeface="Times New Roman"/>
              </a:rPr>
              <a:t>country-year rows</a:t>
            </a:r>
          </a:p>
          <a:p>
            <a:pPr algn="l">
              <a:defRPr>
                <a:latin typeface="Times New Roman"/>
              </a:defRPr>
            </a:pPr>
            <a:r>
              <a:rPr sz="1300" b="0">
                <a:solidFill>
                  <a:srgbClr val="6E7672"/>
                </a:solidFill>
                <a:latin typeface="Times New Roman"/>
              </a:rPr>
              <a:t>OWID backbone + GCB fuel fills, 1992-2021</a:t>
            </a:r>
          </a:p>
        </p:txBody>
      </p:sp>
      <p:sp>
        <p:nvSpPr>
          <p:cNvPr id="17" name="anim_45"/>
          <p:cNvSpPr/>
          <p:nvPr/>
        </p:nvSpPr>
        <p:spPr>
          <a:xfrm>
            <a:off x="749808" y="2267712"/>
            <a:ext cx="5440680" cy="859536"/>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8" name="anim_46"/>
          <p:cNvSpPr txBox="1"/>
          <p:nvPr/>
        </p:nvSpPr>
        <p:spPr>
          <a:xfrm>
            <a:off x="896112" y="2350008"/>
            <a:ext cx="1280160" cy="685800"/>
          </a:xfrm>
          <a:prstGeom prst="rect">
            <a:avLst/>
          </a:prstGeom>
          <a:noFill/>
          <a:ln>
            <a:noFill/>
          </a:ln>
          <a:effectLst/>
        </p:spPr>
        <p:txBody>
          <a:bodyPr wrap="none" anchor="t" lIns="45720" rIns="45720" tIns="18288" bIns="18288">
            <a:spAutoFit/>
          </a:bodyPr>
          <a:lstStyle/>
          <a:p>
            <a:pPr algn="l">
              <a:defRPr>
                <a:latin typeface="Times New Roman"/>
              </a:defRPr>
            </a:pPr>
            <a:r>
              <a:rPr sz="2200" b="1">
                <a:solidFill>
                  <a:srgbClr val="4F6E96"/>
                </a:solidFill>
                <a:latin typeface="Times New Roman"/>
              </a:rPr>
              <a:t>213</a:t>
            </a:r>
          </a:p>
        </p:txBody>
      </p:sp>
      <p:sp>
        <p:nvSpPr>
          <p:cNvPr id="19" name="anim_47"/>
          <p:cNvSpPr txBox="1"/>
          <p:nvPr/>
        </p:nvSpPr>
        <p:spPr>
          <a:xfrm>
            <a:off x="2176272" y="2331720"/>
            <a:ext cx="3886200" cy="749808"/>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52B30"/>
                </a:solidFill>
                <a:latin typeface="Times New Roman"/>
              </a:rPr>
              <a:t>countries &amp; territories</a:t>
            </a:r>
          </a:p>
          <a:p>
            <a:pPr algn="l">
              <a:defRPr>
                <a:latin typeface="Times New Roman"/>
              </a:defRPr>
            </a:pPr>
            <a:r>
              <a:rPr sz="1300" b="0">
                <a:solidFill>
                  <a:srgbClr val="6E7672"/>
                </a:solidFill>
                <a:latin typeface="Times New Roman"/>
              </a:rPr>
              <a:t>valid ISO codes in the panel</a:t>
            </a:r>
          </a:p>
        </p:txBody>
      </p:sp>
      <p:sp>
        <p:nvSpPr>
          <p:cNvPr id="20" name="anim_48"/>
          <p:cNvSpPr/>
          <p:nvPr/>
        </p:nvSpPr>
        <p:spPr>
          <a:xfrm>
            <a:off x="1042416" y="3236976"/>
            <a:ext cx="5029200" cy="859536"/>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1" name="anim_49"/>
          <p:cNvSpPr txBox="1"/>
          <p:nvPr/>
        </p:nvSpPr>
        <p:spPr>
          <a:xfrm>
            <a:off x="1188720" y="3319272"/>
            <a:ext cx="1280160" cy="685800"/>
          </a:xfrm>
          <a:prstGeom prst="rect">
            <a:avLst/>
          </a:prstGeom>
          <a:noFill/>
          <a:ln>
            <a:noFill/>
          </a:ln>
          <a:effectLst/>
        </p:spPr>
        <p:txBody>
          <a:bodyPr wrap="none" anchor="t" lIns="45720" rIns="45720" tIns="18288" bIns="18288">
            <a:spAutoFit/>
          </a:bodyPr>
          <a:lstStyle/>
          <a:p>
            <a:pPr algn="l">
              <a:defRPr>
                <a:latin typeface="Times New Roman"/>
              </a:defRPr>
            </a:pPr>
            <a:r>
              <a:rPr sz="2200" b="1">
                <a:solidFill>
                  <a:srgbClr val="BE7F4E"/>
                </a:solidFill>
                <a:latin typeface="Times New Roman"/>
              </a:rPr>
              <a:t>-16</a:t>
            </a:r>
          </a:p>
        </p:txBody>
      </p:sp>
      <p:sp>
        <p:nvSpPr>
          <p:cNvPr id="22" name="anim_50"/>
          <p:cNvSpPr txBox="1"/>
          <p:nvPr/>
        </p:nvSpPr>
        <p:spPr>
          <a:xfrm>
            <a:off x="2468880" y="3300984"/>
            <a:ext cx="3474720" cy="749808"/>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52B30"/>
                </a:solidFill>
                <a:latin typeface="Times New Roman"/>
              </a:rPr>
              <a:t>micro states excluded</a:t>
            </a:r>
          </a:p>
          <a:p>
            <a:pPr algn="l">
              <a:defRPr>
                <a:latin typeface="Times New Roman"/>
              </a:defRPr>
            </a:pPr>
            <a:r>
              <a:rPr sz="1300" b="0">
                <a:solidFill>
                  <a:srgbClr val="6E7672"/>
                </a:solidFill>
                <a:latin typeface="Times New Roman"/>
              </a:rPr>
              <a:t>populations too small for stable trajectories</a:t>
            </a:r>
          </a:p>
        </p:txBody>
      </p:sp>
      <p:sp>
        <p:nvSpPr>
          <p:cNvPr id="23" name="anim_51"/>
          <p:cNvSpPr/>
          <p:nvPr/>
        </p:nvSpPr>
        <p:spPr>
          <a:xfrm>
            <a:off x="1335024" y="4206240"/>
            <a:ext cx="4617720" cy="859536"/>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4" name="anim_52"/>
          <p:cNvSpPr txBox="1"/>
          <p:nvPr/>
        </p:nvSpPr>
        <p:spPr>
          <a:xfrm>
            <a:off x="1481328" y="4288536"/>
            <a:ext cx="1280160" cy="685800"/>
          </a:xfrm>
          <a:prstGeom prst="rect">
            <a:avLst/>
          </a:prstGeom>
          <a:noFill/>
          <a:ln>
            <a:noFill/>
          </a:ln>
          <a:effectLst/>
        </p:spPr>
        <p:txBody>
          <a:bodyPr wrap="square" anchor="t" lIns="45720" rIns="45720" tIns="18288" bIns="18288">
            <a:spAutoFit/>
          </a:bodyPr>
          <a:lstStyle/>
          <a:p>
            <a:pPr algn="l">
              <a:defRPr>
                <a:latin typeface="Times New Roman"/>
              </a:defRPr>
            </a:pPr>
            <a:r>
              <a:rPr sz="2200" b="1">
                <a:solidFill>
                  <a:srgbClr val="BE7F4E"/>
                </a:solidFill>
                <a:latin typeface="Times New Roman"/>
              </a:rPr>
              <a:t>-4</a:t>
            </a:r>
          </a:p>
        </p:txBody>
      </p:sp>
      <p:sp>
        <p:nvSpPr>
          <p:cNvPr id="25" name="anim_53"/>
          <p:cNvSpPr txBox="1"/>
          <p:nvPr/>
        </p:nvSpPr>
        <p:spPr>
          <a:xfrm>
            <a:off x="2761488" y="4270248"/>
            <a:ext cx="3063240" cy="749808"/>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52B30"/>
                </a:solidFill>
                <a:latin typeface="Times New Roman"/>
              </a:rPr>
              <a:t>incomplete histories excluded</a:t>
            </a:r>
          </a:p>
          <a:p>
            <a:pPr algn="l">
              <a:defRPr>
                <a:latin typeface="Times New Roman"/>
              </a:defRPr>
            </a:pPr>
            <a:r>
              <a:rPr sz="1300" b="0">
                <a:solidFill>
                  <a:srgbClr val="6E7672"/>
                </a:solidFill>
                <a:latin typeface="Times New Roman"/>
              </a:rPr>
              <a:t>fewer than 30 consecutive years 1992-2021</a:t>
            </a:r>
          </a:p>
        </p:txBody>
      </p:sp>
      <p:sp>
        <p:nvSpPr>
          <p:cNvPr id="26" name="anim_54"/>
          <p:cNvSpPr/>
          <p:nvPr/>
        </p:nvSpPr>
        <p:spPr>
          <a:xfrm>
            <a:off x="1627632" y="5175504"/>
            <a:ext cx="4206240" cy="859536"/>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7" name="anim_55"/>
          <p:cNvSpPr txBox="1"/>
          <p:nvPr/>
        </p:nvSpPr>
        <p:spPr>
          <a:xfrm>
            <a:off x="1773936" y="5257800"/>
            <a:ext cx="1280160" cy="685800"/>
          </a:xfrm>
          <a:prstGeom prst="rect">
            <a:avLst/>
          </a:prstGeom>
          <a:noFill/>
          <a:ln>
            <a:noFill/>
          </a:ln>
          <a:effectLst/>
        </p:spPr>
        <p:txBody>
          <a:bodyPr wrap="none" anchor="t" lIns="45720" rIns="45720" tIns="18288" bIns="18288">
            <a:spAutoFit/>
          </a:bodyPr>
          <a:lstStyle/>
          <a:p>
            <a:pPr algn="l">
              <a:defRPr>
                <a:latin typeface="Times New Roman"/>
              </a:defRPr>
            </a:pPr>
            <a:r>
              <a:rPr sz="2200" b="1">
                <a:solidFill>
                  <a:srgbClr val="2F5248"/>
                </a:solidFill>
                <a:latin typeface="Times New Roman"/>
              </a:rPr>
              <a:t>193</a:t>
            </a:r>
          </a:p>
        </p:txBody>
      </p:sp>
      <p:sp>
        <p:nvSpPr>
          <p:cNvPr id="28" name="anim_56"/>
          <p:cNvSpPr txBox="1"/>
          <p:nvPr/>
        </p:nvSpPr>
        <p:spPr>
          <a:xfrm>
            <a:off x="3054096" y="5239512"/>
            <a:ext cx="2651760" cy="749808"/>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52B30"/>
                </a:solidFill>
                <a:latin typeface="Times New Roman"/>
              </a:rPr>
              <a:t>modelled countries / entities</a:t>
            </a:r>
          </a:p>
          <a:p>
            <a:pPr algn="l">
              <a:defRPr>
                <a:latin typeface="Times New Roman"/>
              </a:defRPr>
            </a:pPr>
            <a:r>
              <a:rPr sz="1300" b="0">
                <a:solidFill>
                  <a:srgbClr val="6E7672"/>
                </a:solidFill>
                <a:latin typeface="Times New Roman"/>
              </a:rPr>
              <a:t>complete history + reliable fuel structure</a:t>
            </a:r>
          </a:p>
        </p:txBody>
      </p:sp>
      <p:sp>
        <p:nvSpPr>
          <p:cNvPr id="29" name="TextBox 28"/>
          <p:cNvSpPr txBox="1"/>
          <p:nvPr/>
        </p:nvSpPr>
        <p:spPr>
          <a:xfrm>
            <a:off x="6720840" y="987552"/>
            <a:ext cx="493776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WHY THIS COHORT</a:t>
            </a:r>
          </a:p>
        </p:txBody>
      </p:sp>
      <p:sp>
        <p:nvSpPr>
          <p:cNvPr id="30" name="anim_57"/>
          <p:cNvSpPr/>
          <p:nvPr/>
        </p:nvSpPr>
        <p:spPr>
          <a:xfrm>
            <a:off x="6720840" y="1298448"/>
            <a:ext cx="4663440" cy="1874519"/>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1" name="anim_58"/>
          <p:cNvSpPr txBox="1"/>
          <p:nvPr/>
        </p:nvSpPr>
        <p:spPr>
          <a:xfrm>
            <a:off x="6903720" y="1426464"/>
            <a:ext cx="4297680" cy="1645920"/>
          </a:xfrm>
          <a:prstGeom prst="rect">
            <a:avLst/>
          </a:prstGeom>
          <a:noFill/>
          <a:ln>
            <a:noFill/>
          </a:ln>
          <a:effectLst/>
        </p:spPr>
        <p:txBody>
          <a:bodyPr wrap="square" anchor="t" lIns="45720" rIns="45720" tIns="18288" bIns="18288">
            <a:spAutoFit/>
          </a:bodyPr>
          <a:lstStyle/>
          <a:p>
            <a:pPr algn="l">
              <a:defRPr>
                <a:latin typeface="Times New Roman"/>
              </a:defRPr>
            </a:pPr>
            <a:r>
              <a:rPr sz="1400" b="1">
                <a:solidFill>
                  <a:srgbClr val="252B30"/>
                </a:solidFill>
                <a:latin typeface="Times New Roman"/>
              </a:rPr>
              <a:t>Trajectory features need complete histories. </a:t>
            </a:r>
            <a:r>
              <a:rPr sz="1400" b="0">
                <a:solidFill>
                  <a:srgbClr val="252B30"/>
                </a:solidFill>
                <a:latin typeface="Times New Roman"/>
              </a:rPr>
              <a:t>Slopes, peaks and post-peak change are only comparable when every country covers the same 30 years.</a:t>
            </a:r>
          </a:p>
          <a:p>
            <a:pPr algn="l">
              <a:spcBef>
                <a:spcPts val="800"/>
              </a:spcBef>
              <a:defRPr>
                <a:latin typeface="Times New Roman"/>
              </a:defRPr>
            </a:pPr>
            <a:r>
              <a:rPr sz="1400" b="1">
                <a:solidFill>
                  <a:srgbClr val="252B30"/>
                </a:solidFill>
                <a:latin typeface="Times New Roman"/>
              </a:rPr>
              <a:t>Fuel features need reliable shares. </a:t>
            </a:r>
            <a:r>
              <a:rPr sz="1400" b="0">
                <a:solidFill>
                  <a:srgbClr val="252B30"/>
                </a:solidFill>
                <a:latin typeface="Times New Roman"/>
              </a:rPr>
              <a:t>Entities with unreliable fuel structure would distort the fuel-shift block.</a:t>
            </a:r>
          </a:p>
        </p:txBody>
      </p:sp>
      <p:sp>
        <p:nvSpPr>
          <p:cNvPr id="32" name="anim_59"/>
          <p:cNvSpPr/>
          <p:nvPr/>
        </p:nvSpPr>
        <p:spPr>
          <a:xfrm>
            <a:off x="6720840" y="3401568"/>
            <a:ext cx="4663440" cy="146304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3" name="anim_60"/>
          <p:cNvSpPr txBox="1"/>
          <p:nvPr/>
        </p:nvSpPr>
        <p:spPr>
          <a:xfrm>
            <a:off x="6903720" y="3529584"/>
            <a:ext cx="4297680" cy="123444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ONE COUNTRY = ONE PROFILE</a:t>
            </a:r>
          </a:p>
          <a:p>
            <a:pPr algn="l">
              <a:spcBef>
                <a:spcPts val="600"/>
              </a:spcBef>
              <a:defRPr>
                <a:latin typeface="Times New Roman"/>
              </a:defRPr>
            </a:pPr>
            <a:r>
              <a:rPr sz="1400" b="0">
                <a:solidFill>
                  <a:srgbClr val="252B30"/>
                </a:solidFill>
                <a:latin typeface="Times New Roman"/>
              </a:rPr>
              <a:t>Each of the 193 countries becomes a single 11-feature trajectory profile - the clustering unit for everything that follows.</a:t>
            </a:r>
          </a:p>
        </p:txBody>
      </p:sp>
      <p:sp>
        <p:nvSpPr>
          <p:cNvPr id="34" name="anim_61"/>
          <p:cNvSpPr/>
          <p:nvPr/>
        </p:nvSpPr>
        <p:spPr>
          <a:xfrm>
            <a:off x="6720840" y="5047488"/>
            <a:ext cx="4663440" cy="1051560"/>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5" name="anim_62"/>
          <p:cNvSpPr txBox="1"/>
          <p:nvPr/>
        </p:nvSpPr>
        <p:spPr>
          <a:xfrm>
            <a:off x="6903720" y="5157216"/>
            <a:ext cx="4297680" cy="86868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AUDITABLE BY DESIGN</a:t>
            </a:r>
          </a:p>
          <a:p>
            <a:pPr algn="l">
              <a:spcBef>
                <a:spcPts val="400"/>
              </a:spcBef>
              <a:defRPr>
                <a:latin typeface="Times New Roman"/>
              </a:defRPr>
            </a:pPr>
            <a:r>
              <a:rPr sz="1350" b="0">
                <a:solidFill>
                  <a:srgbClr val="252B30"/>
                </a:solidFill>
                <a:latin typeface="Times New Roman"/>
              </a:rPr>
              <a:t>Every exclusion is logged with its reason in cohort_audit.csv, so the sample can be reproduced or challenged.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0"/>
                      </p:stCondLst>
                      <p:childTnLst>
                        <p:par>
                          <p:cTn id="14"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4"/>
                                        </p:tgtEl>
                                        <p:attrNameLst>
                                          <p:attrName>style.visibility</p:attrName>
                                        </p:attrNameLst>
                                      </p:cBhvr>
                                      <p:to>
                                        <p:strVal val="visible"/>
                                      </p:to>
                                    </p:set>
                                    <p:animEffect transition="in" filter="fade">
                                      <p:cBhvr>
                                        <p:cTn id="6" dur="450"/>
                                        <p:tgtEl>
                                          <p:spTgt spid="14"/>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5"/>
                                        </p:tgtEl>
                                        <p:attrNameLst>
                                          <p:attrName>style.visibility</p:attrName>
                                        </p:attrNameLst>
                                      </p:cBhvr>
                                      <p:to>
                                        <p:strVal val="visible"/>
                                      </p:to>
                                    </p:set>
                                    <p:animEffect transition="in" filter="fade">
                                      <p:cBhvr>
                                        <p:cTn id="9" dur="450"/>
                                        <p:tgtEl>
                                          <p:spTgt spid="15"/>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50"/>
                                        <p:tgtEl>
                                          <p:spTgt spid="16"/>
                                        </p:tgtEl>
                                      </p:cBhvr>
                                    </p:animEffect>
                                  </p:childTnLst>
                                </p:cTn>
                              </p:par>
                            </p:childTnLst>
                          </p:cTn>
                        </p:par>
                      </p:childTnLst>
                    </p:cTn>
                  </p:par>
                  <p:par>
                    <p:cTn id="24" fill="hold">
                      <p:stCondLst>
                        <p:cond delay="0"/>
                      </p:stCondLst>
                      <p:childTnLst>
                        <p:par>
                          <p:cTn id="25" fill="hold">
                            <p:stCondLst>
                              <p:cond delay="0"/>
                            </p:stCondLst>
                            <p:childTnLst>
                              <p:par>
                                <p:cTn id="15" presetID="10" presetClass="entr" presetSubtype="0" fill="hold" grpId="0" nodeType="afterEffect">
                                  <p:stCondLst>
                                    <p:cond delay="4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53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66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childTnLst>
                          </p:cTn>
                        </p:par>
                      </p:childTnLst>
                    </p:cTn>
                  </p:par>
                  <p:par>
                    <p:cTn id="35" fill="hold">
                      <p:stCondLst>
                        <p:cond delay="0"/>
                      </p:stCondLst>
                      <p:childTnLst>
                        <p:par>
                          <p:cTn id="36" fill="hold">
                            <p:stCondLst>
                              <p:cond delay="0"/>
                            </p:stCondLst>
                            <p:childTnLst>
                              <p:par>
                                <p:cTn id="26" presetID="10" presetClass="entr" presetSubtype="0" fill="hold" grpId="0" nodeType="afterEffect">
                                  <p:stCondLst>
                                    <p:cond delay="4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50"/>
                                        <p:tgtEl>
                                          <p:spTgt spid="20"/>
                                        </p:tgtEl>
                                      </p:cBhvr>
                                    </p:animEffect>
                                  </p:childTnLst>
                                </p:cTn>
                              </p:par>
                              <p:par>
                                <p:cTn id="29" presetID="10" presetClass="entr" presetSubtype="0" fill="hold" grpId="0" nodeType="withEffect">
                                  <p:stCondLst>
                                    <p:cond delay="53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grpId="0" nodeType="withEffect">
                                  <p:stCondLst>
                                    <p:cond delay="66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childTnLst>
                          </p:cTn>
                        </p:par>
                      </p:childTnLst>
                    </p:cTn>
                  </p:par>
                  <p:par>
                    <p:cTn id="46" fill="hold">
                      <p:stCondLst>
                        <p:cond delay="0"/>
                      </p:stCondLst>
                      <p:childTnLst>
                        <p:par>
                          <p:cTn id="47" fill="hold">
                            <p:stCondLst>
                              <p:cond delay="0"/>
                            </p:stCondLst>
                            <p:childTnLst>
                              <p:par>
                                <p:cTn id="37" presetID="10" presetClass="entr" presetSubtype="0" fill="hold" grpId="0" nodeType="afterEffect">
                                  <p:stCondLst>
                                    <p:cond delay="40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50"/>
                                        <p:tgtEl>
                                          <p:spTgt spid="23"/>
                                        </p:tgtEl>
                                      </p:cBhvr>
                                    </p:animEffect>
                                  </p:childTnLst>
                                </p:cTn>
                              </p:par>
                              <p:par>
                                <p:cTn id="40" presetID="10" presetClass="entr" presetSubtype="0" fill="hold" grpId="0" nodeType="withEffect">
                                  <p:stCondLst>
                                    <p:cond delay="53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50"/>
                                        <p:tgtEl>
                                          <p:spTgt spid="24"/>
                                        </p:tgtEl>
                                      </p:cBhvr>
                                    </p:animEffect>
                                  </p:childTnLst>
                                </p:cTn>
                              </p:par>
                              <p:par>
                                <p:cTn id="43" presetID="10" presetClass="entr" presetSubtype="0" fill="hold" grpId="0" nodeType="withEffect">
                                  <p:stCondLst>
                                    <p:cond delay="66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50"/>
                                        <p:tgtEl>
                                          <p:spTgt spid="25"/>
                                        </p:tgtEl>
                                      </p:cBhvr>
                                    </p:animEffect>
                                  </p:childTnLst>
                                </p:cTn>
                              </p:par>
                            </p:childTnLst>
                          </p:cTn>
                        </p:par>
                      </p:childTnLst>
                    </p:cTn>
                  </p:par>
                  <p:par>
                    <p:cTn id="57" fill="hold">
                      <p:stCondLst>
                        <p:cond delay="0"/>
                      </p:stCondLst>
                      <p:childTnLst>
                        <p:par>
                          <p:cTn id="58" fill="hold">
                            <p:stCondLst>
                              <p:cond delay="0"/>
                            </p:stCondLst>
                            <p:childTnLst>
                              <p:par>
                                <p:cTn id="48" presetID="10" presetClass="entr" presetSubtype="0" fill="hold" grpId="0" nodeType="afterEffect">
                                  <p:stCondLst>
                                    <p:cond delay="40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450"/>
                                        <p:tgtEl>
                                          <p:spTgt spid="26"/>
                                        </p:tgtEl>
                                      </p:cBhvr>
                                    </p:animEffect>
                                  </p:childTnLst>
                                </p:cTn>
                              </p:par>
                              <p:par>
                                <p:cTn id="51" presetID="10" presetClass="entr" presetSubtype="0" fill="hold" grpId="0" nodeType="withEffect">
                                  <p:stCondLst>
                                    <p:cond delay="53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450"/>
                                        <p:tgtEl>
                                          <p:spTgt spid="27"/>
                                        </p:tgtEl>
                                      </p:cBhvr>
                                    </p:animEffect>
                                  </p:childTnLst>
                                </p:cTn>
                              </p:par>
                              <p:par>
                                <p:cTn id="54" presetID="10" presetClass="entr" presetSubtype="0" fill="hold" grpId="0" nodeType="withEffect">
                                  <p:stCondLst>
                                    <p:cond delay="66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450"/>
                                        <p:tgtEl>
                                          <p:spTgt spid="28"/>
                                        </p:tgtEl>
                                      </p:cBhvr>
                                    </p:animEffect>
                                  </p:childTnLst>
                                </p:cTn>
                              </p:par>
                            </p:childTnLst>
                          </p:cTn>
                        </p:par>
                      </p:childTnLst>
                    </p:cTn>
                  </p:par>
                  <p:par>
                    <p:cTn id="65" fill="hold">
                      <p:stCondLst>
                        <p:cond delay="0"/>
                      </p:stCondLst>
                      <p:childTnLst>
                        <p:par>
                          <p:cTn id="66" fill="hold">
                            <p:stCondLst>
                              <p:cond delay="0"/>
                            </p:stCondLst>
                            <p:childTnLst>
                              <p:par>
                                <p:cTn id="59" presetID="10" presetClass="entr" presetSubtype="0" fill="hold" grpId="0" nodeType="afterEffect">
                                  <p:stCondLst>
                                    <p:cond delay="40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50"/>
                                        <p:tgtEl>
                                          <p:spTgt spid="30"/>
                                        </p:tgtEl>
                                      </p:cBhvr>
                                    </p:animEffect>
                                  </p:childTnLst>
                                </p:cTn>
                              </p:par>
                              <p:par>
                                <p:cTn id="62" presetID="10" presetClass="entr" presetSubtype="0" fill="hold" grpId="0" nodeType="withEffect">
                                  <p:stCondLst>
                                    <p:cond delay="53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450"/>
                                        <p:tgtEl>
                                          <p:spTgt spid="31"/>
                                        </p:tgtEl>
                                      </p:cBhvr>
                                    </p:animEffect>
                                  </p:childTnLst>
                                </p:cTn>
                              </p:par>
                            </p:childTnLst>
                          </p:cTn>
                        </p:par>
                      </p:childTnLst>
                    </p:cTn>
                  </p:par>
                  <p:par>
                    <p:cTn id="73" fill="hold">
                      <p:stCondLst>
                        <p:cond delay="0"/>
                      </p:stCondLst>
                      <p:childTnLst>
                        <p:par>
                          <p:cTn id="74" fill="hold">
                            <p:stCondLst>
                              <p:cond delay="0"/>
                            </p:stCondLst>
                            <p:childTnLst>
                              <p:par>
                                <p:cTn id="67" presetID="10" presetClass="entr" presetSubtype="0" fill="hold" grpId="0" nodeType="afterEffect">
                                  <p:stCondLst>
                                    <p:cond delay="40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450"/>
                                        <p:tgtEl>
                                          <p:spTgt spid="32"/>
                                        </p:tgtEl>
                                      </p:cBhvr>
                                    </p:animEffect>
                                  </p:childTnLst>
                                </p:cTn>
                              </p:par>
                              <p:par>
                                <p:cTn id="70" presetID="10" presetClass="entr" presetSubtype="0" fill="hold" grpId="0" nodeType="withEffect">
                                  <p:stCondLst>
                                    <p:cond delay="53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450"/>
                                        <p:tgtEl>
                                          <p:spTgt spid="33"/>
                                        </p:tgtEl>
                                      </p:cBhvr>
                                    </p:animEffect>
                                  </p:childTnLst>
                                </p:cTn>
                              </p:par>
                            </p:childTnLst>
                          </p:cTn>
                        </p:par>
                      </p:childTnLst>
                    </p:cTn>
                  </p:par>
                  <p:par>
                    <p:cTn id="81" fill="hold">
                      <p:stCondLst>
                        <p:cond delay="0"/>
                      </p:stCondLst>
                      <p:childTnLst>
                        <p:par>
                          <p:cTn id="82" fill="hold">
                            <p:stCondLst>
                              <p:cond delay="0"/>
                            </p:stCondLst>
                            <p:childTnLst>
                              <p:par>
                                <p:cTn id="75" presetID="10" presetClass="entr" presetSubtype="0" fill="hold" grpId="0" nodeType="afterEffect">
                                  <p:stCondLst>
                                    <p:cond delay="40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450"/>
                                        <p:tgtEl>
                                          <p:spTgt spid="34"/>
                                        </p:tgtEl>
                                      </p:cBhvr>
                                    </p:animEffect>
                                  </p:childTnLst>
                                </p:cTn>
                              </p:par>
                              <p:par>
                                <p:cTn id="78" presetID="10" presetClass="entr" presetSubtype="0" fill="hold" grpId="0" nodeType="withEffect">
                                  <p:stCondLst>
                                    <p:cond delay="53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DESIGN OF AI ALGORITHM · Turning 30-year emission histories into model features</a:t>
            </a:r>
          </a:p>
          <a:p>
            <a:pPr algn="l">
              <a:spcBef>
                <a:spcPts val="200"/>
              </a:spcBef>
              <a:defRPr>
                <a:latin typeface="Times New Roman"/>
              </a:defRPr>
            </a:pPr>
            <a:r>
              <a:rPr sz="2100" b="1">
                <a:solidFill>
                  <a:srgbClr val="FFFFFF"/>
                </a:solidFill>
                <a:latin typeface="Georgia"/>
              </a:rPr>
              <a:t>Eleven features describe level, direction, timing and fuel shift</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2 / 4</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RAN CHANGMING</a:t>
            </a:r>
          </a:p>
        </p:txBody>
      </p:sp>
      <p:sp>
        <p:nvSpPr>
          <p:cNvPr id="12" name="TextBox 11"/>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12</a:t>
            </a:r>
          </a:p>
        </p:txBody>
      </p:sp>
      <p:sp>
        <p:nvSpPr>
          <p:cNvPr id="13" name="anim_63"/>
          <p:cNvSpPr/>
          <p:nvPr/>
        </p:nvSpPr>
        <p:spPr>
          <a:xfrm>
            <a:off x="457200" y="1143000"/>
            <a:ext cx="2651760" cy="402336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4" name="anim_64"/>
          <p:cNvSpPr/>
          <p:nvPr/>
        </p:nvSpPr>
        <p:spPr>
          <a:xfrm>
            <a:off x="457200" y="1143000"/>
            <a:ext cx="2651760" cy="82296"/>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5" name="anim_65"/>
          <p:cNvSpPr txBox="1"/>
          <p:nvPr/>
        </p:nvSpPr>
        <p:spPr>
          <a:xfrm>
            <a:off x="603504" y="1335024"/>
            <a:ext cx="2377440" cy="27432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4F6E96"/>
                </a:solidFill>
                <a:latin typeface="Times New Roman"/>
              </a:rPr>
              <a:t>01 · LEVEL</a:t>
            </a:r>
          </a:p>
        </p:txBody>
      </p:sp>
      <p:sp>
        <p:nvSpPr>
          <p:cNvPr id="16" name="anim_66"/>
          <p:cNvSpPr txBox="1"/>
          <p:nvPr/>
        </p:nvSpPr>
        <p:spPr>
          <a:xfrm>
            <a:off x="603504" y="1645920"/>
            <a:ext cx="2377440" cy="731520"/>
          </a:xfrm>
          <a:prstGeom prst="rect">
            <a:avLst/>
          </a:prstGeom>
          <a:noFill/>
          <a:ln>
            <a:noFill/>
          </a:ln>
          <a:effectLst/>
        </p:spPr>
        <p:txBody>
          <a:bodyPr wrap="square" anchor="t" lIns="45720" rIns="45720" tIns="18288" bIns="18288">
            <a:spAutoFit/>
          </a:bodyPr>
          <a:lstStyle/>
          <a:p>
            <a:pPr algn="l">
              <a:defRPr>
                <a:latin typeface="Times New Roman"/>
              </a:defRPr>
            </a:pPr>
            <a:r>
              <a:rPr sz="1500" b="1">
                <a:solidFill>
                  <a:srgbClr val="252B30"/>
                </a:solidFill>
                <a:latin typeface="Times New Roman"/>
              </a:rPr>
              <a:t>How intense is the economy now?</a:t>
            </a:r>
          </a:p>
        </p:txBody>
      </p:sp>
      <p:sp>
        <p:nvSpPr>
          <p:cNvPr id="17" name="anim_67"/>
          <p:cNvSpPr txBox="1"/>
          <p:nvPr/>
        </p:nvSpPr>
        <p:spPr>
          <a:xfrm>
            <a:off x="603504" y="2450592"/>
            <a:ext cx="2377440" cy="1645920"/>
          </a:xfrm>
          <a:prstGeom prst="rect">
            <a:avLst/>
          </a:prstGeom>
          <a:noFill/>
          <a:ln>
            <a:noFill/>
          </a:ln>
          <a:effectLst/>
        </p:spPr>
        <p:txBody>
          <a:bodyPr wrap="square" anchor="t" lIns="45720" rIns="45720" tIns="18288" bIns="18288">
            <a:spAutoFit/>
          </a:bodyPr>
          <a:lstStyle/>
          <a:p>
            <a:pPr algn="l">
              <a:spcBef>
                <a:spcPts val="400"/>
              </a:spcBef>
              <a:defRPr>
                <a:latin typeface="Times New Roman"/>
              </a:defRPr>
            </a:pPr>
            <a:r>
              <a:rPr sz="1450" b="0">
                <a:solidFill>
                  <a:srgbClr val="252B30"/>
                </a:solidFill>
                <a:latin typeface="Times New Roman"/>
              </a:rPr>
              <a:t>· Log recent per-capita CO2</a:t>
            </a:r>
          </a:p>
          <a:p>
            <a:pPr algn="l">
              <a:spcBef>
                <a:spcPts val="400"/>
              </a:spcBef>
              <a:defRPr>
                <a:latin typeface="Times New Roman"/>
              </a:defRPr>
            </a:pPr>
            <a:r>
              <a:rPr sz="1450" b="0">
                <a:solidFill>
                  <a:srgbClr val="252B30"/>
                </a:solidFill>
                <a:latin typeface="Times New Roman"/>
              </a:rPr>
              <a:t>· (median 2017-2021)</a:t>
            </a:r>
          </a:p>
        </p:txBody>
      </p:sp>
      <p:sp>
        <p:nvSpPr>
          <p:cNvPr id="18" name="anim_68"/>
          <p:cNvSpPr txBox="1"/>
          <p:nvPr/>
        </p:nvSpPr>
        <p:spPr>
          <a:xfrm>
            <a:off x="603504" y="4187952"/>
            <a:ext cx="2377440" cy="91440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Log scale stops extreme values from dominating distances.</a:t>
            </a:r>
          </a:p>
        </p:txBody>
      </p:sp>
      <p:sp>
        <p:nvSpPr>
          <p:cNvPr id="19" name="anim_69"/>
          <p:cNvSpPr/>
          <p:nvPr/>
        </p:nvSpPr>
        <p:spPr>
          <a:xfrm>
            <a:off x="3310128" y="1143000"/>
            <a:ext cx="2651760" cy="402336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0" name="anim_70"/>
          <p:cNvSpPr/>
          <p:nvPr/>
        </p:nvSpPr>
        <p:spPr>
          <a:xfrm>
            <a:off x="3310128" y="1143000"/>
            <a:ext cx="2651760" cy="82296"/>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1" name="anim_71"/>
          <p:cNvSpPr txBox="1"/>
          <p:nvPr/>
        </p:nvSpPr>
        <p:spPr>
          <a:xfrm>
            <a:off x="3456432" y="1335024"/>
            <a:ext cx="2377440" cy="27432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BE7F4E"/>
                </a:solidFill>
                <a:latin typeface="Times New Roman"/>
              </a:rPr>
              <a:t>02 · DIRECTION</a:t>
            </a:r>
          </a:p>
        </p:txBody>
      </p:sp>
      <p:sp>
        <p:nvSpPr>
          <p:cNvPr id="22" name="anim_72"/>
          <p:cNvSpPr txBox="1"/>
          <p:nvPr/>
        </p:nvSpPr>
        <p:spPr>
          <a:xfrm>
            <a:off x="3456432" y="1645920"/>
            <a:ext cx="2377440" cy="731520"/>
          </a:xfrm>
          <a:prstGeom prst="rect">
            <a:avLst/>
          </a:prstGeom>
          <a:noFill/>
          <a:ln>
            <a:noFill/>
          </a:ln>
          <a:effectLst/>
        </p:spPr>
        <p:txBody>
          <a:bodyPr wrap="square" anchor="t" lIns="45720" rIns="45720" tIns="18288" bIns="18288">
            <a:spAutoFit/>
          </a:bodyPr>
          <a:lstStyle/>
          <a:p>
            <a:pPr algn="l">
              <a:defRPr>
                <a:latin typeface="Times New Roman"/>
              </a:defRPr>
            </a:pPr>
            <a:r>
              <a:rPr sz="1500" b="1">
                <a:solidFill>
                  <a:srgbClr val="252B30"/>
                </a:solidFill>
                <a:latin typeface="Times New Roman"/>
              </a:rPr>
              <a:t>Which way is the trajectory moving?</a:t>
            </a:r>
          </a:p>
        </p:txBody>
      </p:sp>
      <p:sp>
        <p:nvSpPr>
          <p:cNvPr id="23" name="anim_73"/>
          <p:cNvSpPr txBox="1"/>
          <p:nvPr/>
        </p:nvSpPr>
        <p:spPr>
          <a:xfrm>
            <a:off x="3456432" y="2450592"/>
            <a:ext cx="2377440" cy="1645920"/>
          </a:xfrm>
          <a:prstGeom prst="rect">
            <a:avLst/>
          </a:prstGeom>
          <a:noFill/>
          <a:ln>
            <a:noFill/>
          </a:ln>
          <a:effectLst/>
        </p:spPr>
        <p:txBody>
          <a:bodyPr wrap="square" anchor="t" lIns="45720" rIns="45720" tIns="18288" bIns="18288">
            <a:spAutoFit/>
          </a:bodyPr>
          <a:lstStyle/>
          <a:p>
            <a:pPr algn="l">
              <a:spcBef>
                <a:spcPts val="400"/>
              </a:spcBef>
              <a:defRPr>
                <a:latin typeface="Times New Roman"/>
              </a:defRPr>
            </a:pPr>
            <a:r>
              <a:rPr sz="1450" b="0">
                <a:solidFill>
                  <a:srgbClr val="252B30"/>
                </a:solidFill>
                <a:latin typeface="Times New Roman"/>
              </a:rPr>
              <a:t>· Long-term log slope 1992-2021</a:t>
            </a:r>
          </a:p>
          <a:p>
            <a:pPr algn="l">
              <a:spcBef>
                <a:spcPts val="400"/>
              </a:spcBef>
              <a:defRPr>
                <a:latin typeface="Times New Roman"/>
              </a:defRPr>
            </a:pPr>
            <a:r>
              <a:rPr sz="1450" b="0">
                <a:solidFill>
                  <a:srgbClr val="252B30"/>
                </a:solidFill>
                <a:latin typeface="Times New Roman"/>
              </a:rPr>
              <a:t>· Recent log slope 2012-2021</a:t>
            </a:r>
          </a:p>
          <a:p>
            <a:pPr algn="l">
              <a:spcBef>
                <a:spcPts val="400"/>
              </a:spcBef>
              <a:defRPr>
                <a:latin typeface="Times New Roman"/>
              </a:defRPr>
            </a:pPr>
            <a:r>
              <a:rPr sz="1450" b="0">
                <a:solidFill>
                  <a:srgbClr val="252B30"/>
                </a:solidFill>
                <a:latin typeface="Times New Roman"/>
              </a:rPr>
              <a:t>· Acceleration (recent - long-term)</a:t>
            </a:r>
          </a:p>
        </p:txBody>
      </p:sp>
      <p:sp>
        <p:nvSpPr>
          <p:cNvPr id="24" name="anim_74"/>
          <p:cNvSpPr txBox="1"/>
          <p:nvPr/>
        </p:nvSpPr>
        <p:spPr>
          <a:xfrm>
            <a:off x="3456432" y="4187952"/>
            <a:ext cx="2377440" cy="91440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Separates long-run direction from recent slowdown or renewed growth.</a:t>
            </a:r>
          </a:p>
        </p:txBody>
      </p:sp>
      <p:sp>
        <p:nvSpPr>
          <p:cNvPr id="25" name="anim_75"/>
          <p:cNvSpPr/>
          <p:nvPr/>
        </p:nvSpPr>
        <p:spPr>
          <a:xfrm>
            <a:off x="6163056" y="1143000"/>
            <a:ext cx="2651760" cy="402336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6" name="anim_76"/>
          <p:cNvSpPr/>
          <p:nvPr/>
        </p:nvSpPr>
        <p:spPr>
          <a:xfrm>
            <a:off x="6163056" y="1143000"/>
            <a:ext cx="2651760" cy="82296"/>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7" name="anim_77"/>
          <p:cNvSpPr txBox="1"/>
          <p:nvPr/>
        </p:nvSpPr>
        <p:spPr>
          <a:xfrm>
            <a:off x="6309360" y="1335024"/>
            <a:ext cx="2377440" cy="27432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4F6E96"/>
                </a:solidFill>
                <a:latin typeface="Times New Roman"/>
              </a:rPr>
              <a:t>03 · TIMING</a:t>
            </a:r>
          </a:p>
        </p:txBody>
      </p:sp>
      <p:sp>
        <p:nvSpPr>
          <p:cNvPr id="28" name="anim_78"/>
          <p:cNvSpPr txBox="1"/>
          <p:nvPr/>
        </p:nvSpPr>
        <p:spPr>
          <a:xfrm>
            <a:off x="6309360" y="1645920"/>
            <a:ext cx="2377440" cy="731520"/>
          </a:xfrm>
          <a:prstGeom prst="rect">
            <a:avLst/>
          </a:prstGeom>
          <a:noFill/>
          <a:ln>
            <a:noFill/>
          </a:ln>
          <a:effectLst/>
        </p:spPr>
        <p:txBody>
          <a:bodyPr wrap="square" anchor="t" lIns="45720" rIns="45720" tIns="18288" bIns="18288">
            <a:spAutoFit/>
          </a:bodyPr>
          <a:lstStyle/>
          <a:p>
            <a:pPr algn="l">
              <a:defRPr>
                <a:latin typeface="Times New Roman"/>
              </a:defRPr>
            </a:pPr>
            <a:r>
              <a:rPr sz="1500" b="1">
                <a:solidFill>
                  <a:srgbClr val="252B30"/>
                </a:solidFill>
                <a:latin typeface="Times New Roman"/>
              </a:rPr>
              <a:t>When does change happen?</a:t>
            </a:r>
          </a:p>
        </p:txBody>
      </p:sp>
      <p:sp>
        <p:nvSpPr>
          <p:cNvPr id="29" name="anim_79"/>
          <p:cNvSpPr txBox="1"/>
          <p:nvPr/>
        </p:nvSpPr>
        <p:spPr>
          <a:xfrm>
            <a:off x="6309360" y="2450592"/>
            <a:ext cx="2377440" cy="1645920"/>
          </a:xfrm>
          <a:prstGeom prst="rect">
            <a:avLst/>
          </a:prstGeom>
          <a:noFill/>
          <a:ln>
            <a:noFill/>
          </a:ln>
          <a:effectLst/>
        </p:spPr>
        <p:txBody>
          <a:bodyPr wrap="square" anchor="t" lIns="45720" rIns="45720" tIns="18288" bIns="18288">
            <a:spAutoFit/>
          </a:bodyPr>
          <a:lstStyle/>
          <a:p>
            <a:pPr algn="l">
              <a:spcBef>
                <a:spcPts val="400"/>
              </a:spcBef>
              <a:defRPr>
                <a:latin typeface="Times New Roman"/>
              </a:defRPr>
            </a:pPr>
            <a:r>
              <a:rPr sz="1450" b="0">
                <a:solidFill>
                  <a:srgbClr val="252B30"/>
                </a:solidFill>
                <a:latin typeface="Times New Roman"/>
              </a:rPr>
              <a:t>· Growth volatility (MAD)</a:t>
            </a:r>
          </a:p>
          <a:p>
            <a:pPr algn="l">
              <a:spcBef>
                <a:spcPts val="400"/>
              </a:spcBef>
              <a:defRPr>
                <a:latin typeface="Times New Roman"/>
              </a:defRPr>
            </a:pPr>
            <a:r>
              <a:rPr sz="1450" b="0">
                <a:solidFill>
                  <a:srgbClr val="252B30"/>
                </a:solidFill>
                <a:latin typeface="Times New Roman"/>
              </a:rPr>
              <a:t>· Peak timing (relative)</a:t>
            </a:r>
          </a:p>
          <a:p>
            <a:pPr algn="l">
              <a:spcBef>
                <a:spcPts val="400"/>
              </a:spcBef>
              <a:defRPr>
                <a:latin typeface="Times New Roman"/>
              </a:defRPr>
            </a:pPr>
            <a:r>
              <a:rPr sz="1450" b="0">
                <a:solidFill>
                  <a:srgbClr val="252B30"/>
                </a:solidFill>
                <a:latin typeface="Times New Roman"/>
              </a:rPr>
              <a:t>· Post-peak change</a:t>
            </a:r>
          </a:p>
        </p:txBody>
      </p:sp>
      <p:sp>
        <p:nvSpPr>
          <p:cNvPr id="30" name="anim_80"/>
          <p:cNvSpPr txBox="1"/>
          <p:nvPr/>
        </p:nvSpPr>
        <p:spPr>
          <a:xfrm>
            <a:off x="6309360" y="4187952"/>
            <a:ext cx="2377440" cy="91440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Distinguishes smooth plateauing from unstable or still-rising paths.</a:t>
            </a:r>
          </a:p>
        </p:txBody>
      </p:sp>
      <p:sp>
        <p:nvSpPr>
          <p:cNvPr id="31" name="anim_81"/>
          <p:cNvSpPr/>
          <p:nvPr/>
        </p:nvSpPr>
        <p:spPr>
          <a:xfrm>
            <a:off x="9015984" y="1143000"/>
            <a:ext cx="2651760" cy="402336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2" name="anim_82"/>
          <p:cNvSpPr/>
          <p:nvPr/>
        </p:nvSpPr>
        <p:spPr>
          <a:xfrm>
            <a:off x="9015984" y="1143000"/>
            <a:ext cx="2651760" cy="82296"/>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3" name="anim_83"/>
          <p:cNvSpPr txBox="1"/>
          <p:nvPr/>
        </p:nvSpPr>
        <p:spPr>
          <a:xfrm>
            <a:off x="9162288" y="1335024"/>
            <a:ext cx="2377440" cy="27432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BE7F4E"/>
                </a:solidFill>
                <a:latin typeface="Times New Roman"/>
              </a:rPr>
              <a:t>04 · FUEL SHIFT</a:t>
            </a:r>
          </a:p>
        </p:txBody>
      </p:sp>
      <p:sp>
        <p:nvSpPr>
          <p:cNvPr id="34" name="anim_84"/>
          <p:cNvSpPr txBox="1"/>
          <p:nvPr/>
        </p:nvSpPr>
        <p:spPr>
          <a:xfrm>
            <a:off x="9162288" y="1645920"/>
            <a:ext cx="2377440" cy="731520"/>
          </a:xfrm>
          <a:prstGeom prst="rect">
            <a:avLst/>
          </a:prstGeom>
          <a:noFill/>
          <a:ln>
            <a:noFill/>
          </a:ln>
          <a:effectLst/>
        </p:spPr>
        <p:txBody>
          <a:bodyPr wrap="square" anchor="t" lIns="45720" rIns="45720" tIns="18288" bIns="18288">
            <a:spAutoFit/>
          </a:bodyPr>
          <a:lstStyle/>
          <a:p>
            <a:pPr algn="l">
              <a:defRPr>
                <a:latin typeface="Times New Roman"/>
              </a:defRPr>
            </a:pPr>
            <a:r>
              <a:rPr sz="1500" b="1">
                <a:solidFill>
                  <a:srgbClr val="252B30"/>
                </a:solidFill>
                <a:latin typeface="Times New Roman"/>
              </a:rPr>
              <a:t>Is the fuel mix decarbonising?</a:t>
            </a:r>
          </a:p>
        </p:txBody>
      </p:sp>
      <p:sp>
        <p:nvSpPr>
          <p:cNvPr id="35" name="anim_85"/>
          <p:cNvSpPr txBox="1"/>
          <p:nvPr/>
        </p:nvSpPr>
        <p:spPr>
          <a:xfrm>
            <a:off x="9162288" y="2450592"/>
            <a:ext cx="2377440" cy="1645920"/>
          </a:xfrm>
          <a:prstGeom prst="rect">
            <a:avLst/>
          </a:prstGeom>
          <a:noFill/>
          <a:ln>
            <a:noFill/>
          </a:ln>
          <a:effectLst/>
        </p:spPr>
        <p:txBody>
          <a:bodyPr wrap="square" anchor="t" lIns="45720" rIns="45720" tIns="18288" bIns="18288">
            <a:spAutoFit/>
          </a:bodyPr>
          <a:lstStyle/>
          <a:p>
            <a:pPr algn="l">
              <a:spcBef>
                <a:spcPts val="400"/>
              </a:spcBef>
              <a:defRPr>
                <a:latin typeface="Times New Roman"/>
              </a:defRPr>
            </a:pPr>
            <a:r>
              <a:rPr sz="1450" b="0">
                <a:solidFill>
                  <a:srgbClr val="252B30"/>
                </a:solidFill>
                <a:latin typeface="Times New Roman"/>
              </a:rPr>
              <a:t>· Recent coal &amp; gas shares</a:t>
            </a:r>
          </a:p>
          <a:p>
            <a:pPr algn="l">
              <a:spcBef>
                <a:spcPts val="400"/>
              </a:spcBef>
              <a:defRPr>
                <a:latin typeface="Times New Roman"/>
              </a:defRPr>
            </a:pPr>
            <a:r>
              <a:rPr sz="1450" b="0">
                <a:solidFill>
                  <a:srgbClr val="252B30"/>
                </a:solidFill>
                <a:latin typeface="Times New Roman"/>
              </a:rPr>
              <a:t>· Coal &amp; gas share change</a:t>
            </a:r>
          </a:p>
          <a:p>
            <a:pPr algn="l">
              <a:spcBef>
                <a:spcPts val="400"/>
              </a:spcBef>
              <a:defRPr>
                <a:latin typeface="Times New Roman"/>
              </a:defRPr>
            </a:pPr>
            <a:r>
              <a:rPr sz="1450" b="0">
                <a:solidFill>
                  <a:srgbClr val="252B30"/>
                </a:solidFill>
                <a:latin typeface="Times New Roman"/>
              </a:rPr>
              <a:t>· (early vs recent 5-yr medians)</a:t>
            </a:r>
          </a:p>
        </p:txBody>
      </p:sp>
      <p:sp>
        <p:nvSpPr>
          <p:cNvPr id="36" name="anim_86"/>
          <p:cNvSpPr txBox="1"/>
          <p:nvPr/>
        </p:nvSpPr>
        <p:spPr>
          <a:xfrm>
            <a:off x="9162288" y="4187952"/>
            <a:ext cx="2377440" cy="91440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Oil share is kept for interpretation but omitted from the model to avoid perfect dependence.</a:t>
            </a:r>
          </a:p>
        </p:txBody>
      </p:sp>
      <p:sp>
        <p:nvSpPr>
          <p:cNvPr id="37" name="anim_87"/>
          <p:cNvSpPr/>
          <p:nvPr/>
        </p:nvSpPr>
        <p:spPr>
          <a:xfrm>
            <a:off x="457200" y="5349240"/>
            <a:ext cx="10927080" cy="749808"/>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8" name="anim_88"/>
          <p:cNvSpPr txBox="1"/>
          <p:nvPr/>
        </p:nvSpPr>
        <p:spPr>
          <a:xfrm>
            <a:off x="658368" y="5449824"/>
            <a:ext cx="10515600" cy="594360"/>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52B30"/>
                </a:solidFill>
                <a:latin typeface="Times New Roman"/>
              </a:rPr>
              <a:t>Built only from per-capita CO2, growth rates and fuel shares - </a:t>
            </a:r>
            <a:r>
              <a:rPr sz="1450" b="0">
                <a:solidFill>
                  <a:srgbClr val="2F5248"/>
                </a:solidFill>
                <a:latin typeface="Times New Roman"/>
              </a:rPr>
              <a:t>total CO2 and population never enter the model; they return later, only to interpret the pathways.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2" fill="hold">
                      <p:stCondLst>
                        <p:cond delay="0"/>
                      </p:stCondLst>
                      <p:childTnLst>
                        <p:par>
                          <p:cTn id="23"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3"/>
                                        </p:tgtEl>
                                        <p:attrNameLst>
                                          <p:attrName>style.visibility</p:attrName>
                                        </p:attrNameLst>
                                      </p:cBhvr>
                                      <p:to>
                                        <p:strVal val="visible"/>
                                      </p:to>
                                    </p:set>
                                    <p:animEffect transition="in" filter="fade">
                                      <p:cBhvr>
                                        <p:cTn id="6" dur="450"/>
                                        <p:tgtEl>
                                          <p:spTgt spid="13"/>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50"/>
                                        <p:tgtEl>
                                          <p:spTgt spid="14"/>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par>
                                <p:cTn id="13" presetID="10" presetClass="entr" presetSubtype="0" fill="hold" grpId="0" nodeType="withEffect">
                                  <p:stCondLst>
                                    <p:cond delay="79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50"/>
                                        <p:tgtEl>
                                          <p:spTgt spid="16"/>
                                        </p:tgtEl>
                                      </p:cBhvr>
                                    </p:animEffect>
                                  </p:childTnLst>
                                </p:cTn>
                              </p:par>
                              <p:par>
                                <p:cTn id="16" presetID="10" presetClass="entr" presetSubtype="0" fill="hold" grpId="0" nodeType="withEffect">
                                  <p:stCondLst>
                                    <p:cond delay="92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50"/>
                                        <p:tgtEl>
                                          <p:spTgt spid="17"/>
                                        </p:tgtEl>
                                      </p:cBhvr>
                                    </p:animEffect>
                                  </p:childTnLst>
                                </p:cTn>
                              </p:par>
                              <p:par>
                                <p:cTn id="19" presetID="10" presetClass="entr" presetSubtype="0" fill="hold" grpId="0" nodeType="withEffect">
                                  <p:stCondLst>
                                    <p:cond delay="105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childTnLst>
                          </p:cTn>
                        </p:par>
                      </p:childTnLst>
                    </p:cTn>
                  </p:par>
                  <p:par>
                    <p:cTn id="42" fill="hold">
                      <p:stCondLst>
                        <p:cond delay="0"/>
                      </p:stCondLst>
                      <p:childTnLst>
                        <p:par>
                          <p:cTn id="43" fill="hold">
                            <p:stCondLst>
                              <p:cond delay="0"/>
                            </p:stCondLst>
                            <p:childTnLst>
                              <p:par>
                                <p:cTn id="24" presetID="10" presetClass="entr" presetSubtype="0" fill="hold" grpId="0" nodeType="afterEffect">
                                  <p:stCondLst>
                                    <p:cond delay="40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50"/>
                                        <p:tgtEl>
                                          <p:spTgt spid="19"/>
                                        </p:tgtEl>
                                      </p:cBhvr>
                                    </p:animEffect>
                                  </p:childTnLst>
                                </p:cTn>
                              </p:par>
                              <p:par>
                                <p:cTn id="27" presetID="10" presetClass="entr" presetSubtype="0" fill="hold" grpId="0" nodeType="withEffect">
                                  <p:stCondLst>
                                    <p:cond delay="53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50"/>
                                        <p:tgtEl>
                                          <p:spTgt spid="20"/>
                                        </p:tgtEl>
                                      </p:cBhvr>
                                    </p:animEffect>
                                  </p:childTnLst>
                                </p:cTn>
                              </p:par>
                              <p:par>
                                <p:cTn id="30" presetID="10" presetClass="entr" presetSubtype="0" fill="hold" grpId="0" nodeType="withEffect">
                                  <p:stCondLst>
                                    <p:cond delay="66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50"/>
                                        <p:tgtEl>
                                          <p:spTgt spid="21"/>
                                        </p:tgtEl>
                                      </p:cBhvr>
                                    </p:animEffect>
                                  </p:childTnLst>
                                </p:cTn>
                              </p:par>
                              <p:par>
                                <p:cTn id="33" presetID="10" presetClass="entr" presetSubtype="0" fill="hold" grpId="0" nodeType="withEffect">
                                  <p:stCondLst>
                                    <p:cond delay="79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50"/>
                                        <p:tgtEl>
                                          <p:spTgt spid="22"/>
                                        </p:tgtEl>
                                      </p:cBhvr>
                                    </p:animEffect>
                                  </p:childTnLst>
                                </p:cTn>
                              </p:par>
                              <p:par>
                                <p:cTn id="36" presetID="10" presetClass="entr" presetSubtype="0" fill="hold" grpId="0" nodeType="withEffect">
                                  <p:stCondLst>
                                    <p:cond delay="92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50"/>
                                        <p:tgtEl>
                                          <p:spTgt spid="23"/>
                                        </p:tgtEl>
                                      </p:cBhvr>
                                    </p:animEffect>
                                  </p:childTnLst>
                                </p:cTn>
                              </p:par>
                              <p:par>
                                <p:cTn id="39" presetID="10" presetClass="entr" presetSubtype="0" fill="hold" grpId="0" nodeType="withEffect">
                                  <p:stCondLst>
                                    <p:cond delay="105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childTnLst>
                          </p:cTn>
                        </p:par>
                      </p:childTnLst>
                    </p:cTn>
                  </p:par>
                  <p:par>
                    <p:cTn id="62" fill="hold">
                      <p:stCondLst>
                        <p:cond delay="0"/>
                      </p:stCondLst>
                      <p:childTnLst>
                        <p:par>
                          <p:cTn id="63" fill="hold">
                            <p:stCondLst>
                              <p:cond delay="0"/>
                            </p:stCondLst>
                            <p:childTnLst>
                              <p:par>
                                <p:cTn id="44" presetID="10" presetClass="entr" presetSubtype="0" fill="hold" grpId="0" nodeType="afterEffect">
                                  <p:stCondLst>
                                    <p:cond delay="40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47" presetID="10" presetClass="entr" presetSubtype="0" fill="hold" grpId="0" nodeType="withEffect">
                                  <p:stCondLst>
                                    <p:cond delay="53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50"/>
                                        <p:tgtEl>
                                          <p:spTgt spid="27"/>
                                        </p:tgtEl>
                                      </p:cBhvr>
                                    </p:animEffect>
                                  </p:childTnLst>
                                </p:cTn>
                              </p:par>
                              <p:par>
                                <p:cTn id="53" presetID="10" presetClass="entr" presetSubtype="0" fill="hold" grpId="0" nodeType="withEffect">
                                  <p:stCondLst>
                                    <p:cond delay="79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50"/>
                                        <p:tgtEl>
                                          <p:spTgt spid="28"/>
                                        </p:tgtEl>
                                      </p:cBhvr>
                                    </p:animEffect>
                                  </p:childTnLst>
                                </p:cTn>
                              </p:par>
                              <p:par>
                                <p:cTn id="56" presetID="10" presetClass="entr" presetSubtype="0" fill="hold" grpId="0" nodeType="withEffect">
                                  <p:stCondLst>
                                    <p:cond delay="92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50"/>
                                        <p:tgtEl>
                                          <p:spTgt spid="29"/>
                                        </p:tgtEl>
                                      </p:cBhvr>
                                    </p:animEffect>
                                  </p:childTnLst>
                                </p:cTn>
                              </p:par>
                              <p:par>
                                <p:cTn id="59" presetID="10" presetClass="entr" presetSubtype="0" fill="hold" grpId="0" nodeType="withEffect">
                                  <p:stCondLst>
                                    <p:cond delay="105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50"/>
                                        <p:tgtEl>
                                          <p:spTgt spid="30"/>
                                        </p:tgtEl>
                                      </p:cBhvr>
                                    </p:animEffect>
                                  </p:childTnLst>
                                </p:cTn>
                              </p:par>
                            </p:childTnLst>
                          </p:cTn>
                        </p:par>
                      </p:childTnLst>
                    </p:cTn>
                  </p:par>
                  <p:par>
                    <p:cTn id="82" fill="hold">
                      <p:stCondLst>
                        <p:cond delay="0"/>
                      </p:stCondLst>
                      <p:childTnLst>
                        <p:par>
                          <p:cTn id="83" fill="hold">
                            <p:stCondLst>
                              <p:cond delay="0"/>
                            </p:stCondLst>
                            <p:childTnLst>
                              <p:par>
                                <p:cTn id="64" presetID="10" presetClass="entr" presetSubtype="0" fill="hold" grpId="0" nodeType="afterEffect">
                                  <p:stCondLst>
                                    <p:cond delay="40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450"/>
                                        <p:tgtEl>
                                          <p:spTgt spid="31"/>
                                        </p:tgtEl>
                                      </p:cBhvr>
                                    </p:animEffect>
                                  </p:childTnLst>
                                </p:cTn>
                              </p:par>
                              <p:par>
                                <p:cTn id="67" presetID="10" presetClass="entr" presetSubtype="0" fill="hold" grpId="0" nodeType="withEffect">
                                  <p:stCondLst>
                                    <p:cond delay="53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450"/>
                                        <p:tgtEl>
                                          <p:spTgt spid="32"/>
                                        </p:tgtEl>
                                      </p:cBhvr>
                                    </p:animEffect>
                                  </p:childTnLst>
                                </p:cTn>
                              </p:par>
                              <p:par>
                                <p:cTn id="70" presetID="10" presetClass="entr" presetSubtype="0" fill="hold" grpId="0" nodeType="withEffect">
                                  <p:stCondLst>
                                    <p:cond delay="66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450"/>
                                        <p:tgtEl>
                                          <p:spTgt spid="33"/>
                                        </p:tgtEl>
                                      </p:cBhvr>
                                    </p:animEffect>
                                  </p:childTnLst>
                                </p:cTn>
                              </p:par>
                              <p:par>
                                <p:cTn id="73" presetID="10" presetClass="entr" presetSubtype="0" fill="hold" grpId="0" nodeType="withEffect">
                                  <p:stCondLst>
                                    <p:cond delay="79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450"/>
                                        <p:tgtEl>
                                          <p:spTgt spid="34"/>
                                        </p:tgtEl>
                                      </p:cBhvr>
                                    </p:animEffect>
                                  </p:childTnLst>
                                </p:cTn>
                              </p:par>
                              <p:par>
                                <p:cTn id="76" presetID="10" presetClass="entr" presetSubtype="0" fill="hold" grpId="0" nodeType="withEffect">
                                  <p:stCondLst>
                                    <p:cond delay="92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450"/>
                                        <p:tgtEl>
                                          <p:spTgt spid="35"/>
                                        </p:tgtEl>
                                      </p:cBhvr>
                                    </p:animEffect>
                                  </p:childTnLst>
                                </p:cTn>
                              </p:par>
                              <p:par>
                                <p:cTn id="79" presetID="10" presetClass="entr" presetSubtype="0" fill="hold" grpId="0" nodeType="withEffect">
                                  <p:stCondLst>
                                    <p:cond delay="105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450"/>
                                        <p:tgtEl>
                                          <p:spTgt spid="36"/>
                                        </p:tgtEl>
                                      </p:cBhvr>
                                    </p:animEffect>
                                  </p:childTnLst>
                                </p:cTn>
                              </p:par>
                            </p:childTnLst>
                          </p:cTn>
                        </p:par>
                      </p:childTnLst>
                    </p:cTn>
                  </p:par>
                  <p:par>
                    <p:cTn id="90" fill="hold">
                      <p:stCondLst>
                        <p:cond delay="0"/>
                      </p:stCondLst>
                      <p:childTnLst>
                        <p:par>
                          <p:cTn id="91" fill="hold">
                            <p:stCondLst>
                              <p:cond delay="0"/>
                            </p:stCondLst>
                            <p:childTnLst>
                              <p:par>
                                <p:cTn id="84" presetID="10" presetClass="entr" presetSubtype="0" fill="hold" grpId="0" nodeType="afterEffect">
                                  <p:stCondLst>
                                    <p:cond delay="400"/>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450"/>
                                        <p:tgtEl>
                                          <p:spTgt spid="37"/>
                                        </p:tgtEl>
                                      </p:cBhvr>
                                    </p:animEffect>
                                  </p:childTnLst>
                                </p:cTn>
                              </p:par>
                              <p:par>
                                <p:cTn id="87" presetID="10" presetClass="entr" presetSubtype="0" fill="hold" grpId="0" nodeType="withEffect">
                                  <p:stCondLst>
                                    <p:cond delay="53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DESIGN OF AI ALGORITHM · Scaling, PCA, K-means and how they are validated</a:t>
            </a:r>
          </a:p>
          <a:p>
            <a:pPr algn="l">
              <a:spcBef>
                <a:spcPts val="200"/>
              </a:spcBef>
              <a:defRPr>
                <a:latin typeface="Times New Roman"/>
              </a:defRPr>
            </a:pPr>
            <a:r>
              <a:rPr sz="2300" b="1">
                <a:solidFill>
                  <a:srgbClr val="FFFFFF"/>
                </a:solidFill>
                <a:latin typeface="Georgia"/>
              </a:rPr>
              <a:t>A fixed pipeline turns 30-year histories into two pathways</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3 / 4</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RAN CHANGMING</a:t>
            </a:r>
          </a:p>
        </p:txBody>
      </p:sp>
      <p:sp>
        <p:nvSpPr>
          <p:cNvPr id="12" name="TextBox 11"/>
          <p:cNvSpPr txBox="1"/>
          <p:nvPr/>
        </p:nvSpPr>
        <p:spPr>
          <a:xfrm>
            <a:off x="7818120" y="6492240"/>
            <a:ext cx="2743200" cy="292608"/>
          </a:xfrm>
          <a:prstGeom prst="rect">
            <a:avLst/>
          </a:prstGeom>
          <a:noFill/>
          <a:ln>
            <a:noFill/>
          </a:ln>
          <a:effectLst/>
        </p:spPr>
        <p:txBody>
          <a:bodyPr wrap="square" anchor="ctr" lIns="45720" rIns="45720" tIns="18288" bIns="18288">
            <a:spAutoFit/>
          </a:bodyPr>
          <a:lstStyle/>
          <a:p>
            <a:pPr algn="r">
              <a:defRPr>
                <a:latin typeface="Times New Roman"/>
              </a:defRPr>
            </a:pPr>
            <a:r>
              <a:rPr sz="1300" b="0">
                <a:solidFill>
                  <a:srgbClr val="6E7672"/>
                </a:solidFill>
                <a:latin typeface="Times New Roman"/>
              </a:rPr>
              <a:t>[4]</a:t>
            </a:r>
          </a:p>
        </p:txBody>
      </p:sp>
      <p:sp>
        <p:nvSpPr>
          <p:cNvPr id="13" name="TextBox 12"/>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13</a:t>
            </a:r>
          </a:p>
        </p:txBody>
      </p:sp>
      <p:sp>
        <p:nvSpPr>
          <p:cNvPr id="14" name="anim_89"/>
          <p:cNvSpPr/>
          <p:nvPr/>
        </p:nvSpPr>
        <p:spPr>
          <a:xfrm>
            <a:off x="457200" y="1371600"/>
            <a:ext cx="1938528" cy="137160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5" name="anim_90"/>
          <p:cNvSpPr txBox="1"/>
          <p:nvPr/>
        </p:nvSpPr>
        <p:spPr>
          <a:xfrm>
            <a:off x="530352" y="1463040"/>
            <a:ext cx="1792224" cy="548640"/>
          </a:xfrm>
          <a:prstGeom prst="rect">
            <a:avLst/>
          </a:prstGeom>
          <a:noFill/>
          <a:ln>
            <a:noFill/>
          </a:ln>
          <a:effectLst/>
        </p:spPr>
        <p:txBody>
          <a:bodyPr wrap="square" anchor="t" lIns="45720" rIns="45720" tIns="18288" bIns="18288">
            <a:spAutoFit/>
          </a:bodyPr>
          <a:lstStyle/>
          <a:p>
            <a:pPr algn="ctr">
              <a:defRPr>
                <a:latin typeface="Times New Roman"/>
              </a:defRPr>
            </a:pPr>
            <a:r>
              <a:rPr sz="1350" b="1">
                <a:solidFill>
                  <a:srgbClr val="252B30"/>
                </a:solidFill>
                <a:latin typeface="Times New Roman"/>
              </a:rPr>
              <a:t>COUNTRY-YEAR PANEL</a:t>
            </a:r>
          </a:p>
        </p:txBody>
      </p:sp>
      <p:sp>
        <p:nvSpPr>
          <p:cNvPr id="16" name="anim_91"/>
          <p:cNvSpPr txBox="1"/>
          <p:nvPr/>
        </p:nvSpPr>
        <p:spPr>
          <a:xfrm>
            <a:off x="530352" y="2011680"/>
            <a:ext cx="1792224" cy="676656"/>
          </a:xfrm>
          <a:prstGeom prst="rect">
            <a:avLst/>
          </a:prstGeom>
          <a:noFill/>
          <a:ln>
            <a:noFill/>
          </a:ln>
          <a:effectLst/>
        </p:spPr>
        <p:txBody>
          <a:bodyPr wrap="square" anchor="t" lIns="45720" rIns="45720" tIns="18288" bIns="18288">
            <a:spAutoFit/>
          </a:bodyPr>
          <a:lstStyle/>
          <a:p>
            <a:pPr algn="ctr">
              <a:defRPr>
                <a:latin typeface="Times New Roman"/>
              </a:defRPr>
            </a:pPr>
            <a:r>
              <a:rPr sz="1300" b="0">
                <a:solidFill>
                  <a:srgbClr val="6E7672"/>
                </a:solidFill>
                <a:latin typeface="Times New Roman"/>
              </a:rPr>
              <a:t>6,378 rows · 1992-2021</a:t>
            </a:r>
          </a:p>
        </p:txBody>
      </p:sp>
      <p:sp>
        <p:nvSpPr>
          <p:cNvPr id="17" name="anim_92"/>
          <p:cNvSpPr/>
          <p:nvPr/>
        </p:nvSpPr>
        <p:spPr>
          <a:xfrm>
            <a:off x="2432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18" name="anim_93"/>
          <p:cNvSpPr/>
          <p:nvPr/>
        </p:nvSpPr>
        <p:spPr>
          <a:xfrm>
            <a:off x="2743200" y="1371600"/>
            <a:ext cx="1938528" cy="137160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9" name="anim_94"/>
          <p:cNvSpPr txBox="1"/>
          <p:nvPr/>
        </p:nvSpPr>
        <p:spPr>
          <a:xfrm>
            <a:off x="2816352" y="1463040"/>
            <a:ext cx="1792224" cy="548640"/>
          </a:xfrm>
          <a:prstGeom prst="rect">
            <a:avLst/>
          </a:prstGeom>
          <a:noFill/>
          <a:ln>
            <a:noFill/>
          </a:ln>
          <a:effectLst/>
        </p:spPr>
        <p:txBody>
          <a:bodyPr wrap="square" anchor="t" lIns="45720" rIns="45720" tIns="18288" bIns="18288">
            <a:spAutoFit/>
          </a:bodyPr>
          <a:lstStyle/>
          <a:p>
            <a:pPr algn="ctr">
              <a:defRPr>
                <a:latin typeface="Times New Roman"/>
              </a:defRPr>
            </a:pPr>
            <a:r>
              <a:rPr sz="1350" b="1">
                <a:solidFill>
                  <a:srgbClr val="252B30"/>
                </a:solidFill>
                <a:latin typeface="Times New Roman"/>
              </a:rPr>
              <a:t>193 COUNTRY PROFILES</a:t>
            </a:r>
          </a:p>
        </p:txBody>
      </p:sp>
      <p:sp>
        <p:nvSpPr>
          <p:cNvPr id="20" name="anim_95"/>
          <p:cNvSpPr txBox="1"/>
          <p:nvPr/>
        </p:nvSpPr>
        <p:spPr>
          <a:xfrm>
            <a:off x="2816352" y="2011680"/>
            <a:ext cx="1792224" cy="676656"/>
          </a:xfrm>
          <a:prstGeom prst="rect">
            <a:avLst/>
          </a:prstGeom>
          <a:noFill/>
          <a:ln>
            <a:noFill/>
          </a:ln>
          <a:effectLst/>
        </p:spPr>
        <p:txBody>
          <a:bodyPr wrap="square" anchor="t" lIns="45720" rIns="45720" tIns="18288" bIns="18288">
            <a:spAutoFit/>
          </a:bodyPr>
          <a:lstStyle/>
          <a:p>
            <a:pPr algn="ctr">
              <a:defRPr>
                <a:latin typeface="Times New Roman"/>
              </a:defRPr>
            </a:pPr>
            <a:r>
              <a:rPr sz="1300" b="0">
                <a:solidFill>
                  <a:srgbClr val="6E7672"/>
                </a:solidFill>
                <a:latin typeface="Times New Roman"/>
              </a:rPr>
              <a:t>one row per country, 11 features</a:t>
            </a:r>
          </a:p>
        </p:txBody>
      </p:sp>
      <p:sp>
        <p:nvSpPr>
          <p:cNvPr id="21" name="anim_96"/>
          <p:cNvSpPr/>
          <p:nvPr/>
        </p:nvSpPr>
        <p:spPr>
          <a:xfrm>
            <a:off x="4718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2" name="anim_97"/>
          <p:cNvSpPr/>
          <p:nvPr/>
        </p:nvSpPr>
        <p:spPr>
          <a:xfrm>
            <a:off x="5029200" y="1371600"/>
            <a:ext cx="1938528" cy="137160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3" name="anim_98"/>
          <p:cNvSpPr txBox="1"/>
          <p:nvPr/>
        </p:nvSpPr>
        <p:spPr>
          <a:xfrm>
            <a:off x="5102352" y="1463040"/>
            <a:ext cx="1792224" cy="548640"/>
          </a:xfrm>
          <a:prstGeom prst="rect">
            <a:avLst/>
          </a:prstGeom>
          <a:noFill/>
          <a:ln>
            <a:noFill/>
          </a:ln>
          <a:effectLst/>
        </p:spPr>
        <p:txBody>
          <a:bodyPr wrap="square" anchor="t" lIns="45720" rIns="45720" tIns="18288" bIns="18288">
            <a:spAutoFit/>
          </a:bodyPr>
          <a:lstStyle/>
          <a:p>
            <a:pPr algn="ctr">
              <a:defRPr>
                <a:latin typeface="Times New Roman"/>
              </a:defRPr>
            </a:pPr>
            <a:r>
              <a:rPr sz="1350" b="1">
                <a:solidFill>
                  <a:srgbClr val="252B30"/>
                </a:solidFill>
                <a:latin typeface="Times New Roman"/>
              </a:rPr>
              <a:t>ROBUSTSCALER</a:t>
            </a:r>
          </a:p>
        </p:txBody>
      </p:sp>
      <p:sp>
        <p:nvSpPr>
          <p:cNvPr id="24" name="anim_99"/>
          <p:cNvSpPr txBox="1"/>
          <p:nvPr/>
        </p:nvSpPr>
        <p:spPr>
          <a:xfrm>
            <a:off x="5102352" y="2011680"/>
            <a:ext cx="1792224" cy="676656"/>
          </a:xfrm>
          <a:prstGeom prst="rect">
            <a:avLst/>
          </a:prstGeom>
          <a:noFill/>
          <a:ln>
            <a:noFill/>
          </a:ln>
          <a:effectLst/>
        </p:spPr>
        <p:txBody>
          <a:bodyPr wrap="square" anchor="t" lIns="45720" rIns="45720" tIns="18288" bIns="18288">
            <a:spAutoFit/>
          </a:bodyPr>
          <a:lstStyle/>
          <a:p>
            <a:pPr algn="ctr">
              <a:defRPr>
                <a:latin typeface="Times New Roman"/>
              </a:defRPr>
            </a:pPr>
            <a:r>
              <a:rPr sz="1300" b="0">
                <a:solidFill>
                  <a:srgbClr val="6E7672"/>
                </a:solidFill>
                <a:latin typeface="Times New Roman"/>
              </a:rPr>
              <a:t>median / IQR scaling, so outliers cannot dominate distances</a:t>
            </a:r>
          </a:p>
        </p:txBody>
      </p:sp>
      <p:sp>
        <p:nvSpPr>
          <p:cNvPr id="25" name="anim_100"/>
          <p:cNvSpPr/>
          <p:nvPr/>
        </p:nvSpPr>
        <p:spPr>
          <a:xfrm>
            <a:off x="7004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6" name="anim_101"/>
          <p:cNvSpPr/>
          <p:nvPr/>
        </p:nvSpPr>
        <p:spPr>
          <a:xfrm>
            <a:off x="7315200" y="1371600"/>
            <a:ext cx="1938528" cy="137160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7" name="anim_102"/>
          <p:cNvSpPr txBox="1"/>
          <p:nvPr/>
        </p:nvSpPr>
        <p:spPr>
          <a:xfrm>
            <a:off x="7388352" y="1463040"/>
            <a:ext cx="1792224" cy="548640"/>
          </a:xfrm>
          <a:prstGeom prst="rect">
            <a:avLst/>
          </a:prstGeom>
          <a:noFill/>
          <a:ln>
            <a:noFill/>
          </a:ln>
          <a:effectLst/>
        </p:spPr>
        <p:txBody>
          <a:bodyPr wrap="square" anchor="t" lIns="45720" rIns="45720" tIns="18288" bIns="18288">
            <a:spAutoFit/>
          </a:bodyPr>
          <a:lstStyle/>
          <a:p>
            <a:pPr algn="ctr">
              <a:defRPr>
                <a:latin typeface="Times New Roman"/>
              </a:defRPr>
            </a:pPr>
            <a:r>
              <a:rPr sz="1350" b="1">
                <a:solidFill>
                  <a:srgbClr val="252B30"/>
                </a:solidFill>
                <a:latin typeface="Times New Roman"/>
              </a:rPr>
              <a:t>PCA → 4 COMPONENTS</a:t>
            </a:r>
          </a:p>
        </p:txBody>
      </p:sp>
      <p:sp>
        <p:nvSpPr>
          <p:cNvPr id="28" name="anim_103"/>
          <p:cNvSpPr txBox="1"/>
          <p:nvPr/>
        </p:nvSpPr>
        <p:spPr>
          <a:xfrm>
            <a:off x="7388352" y="2011680"/>
            <a:ext cx="1792224" cy="676656"/>
          </a:xfrm>
          <a:prstGeom prst="rect">
            <a:avLst/>
          </a:prstGeom>
          <a:noFill/>
          <a:ln>
            <a:noFill/>
          </a:ln>
          <a:effectLst/>
        </p:spPr>
        <p:txBody>
          <a:bodyPr wrap="square" anchor="t" lIns="45720" rIns="45720" tIns="18288" bIns="18288">
            <a:spAutoFit/>
          </a:bodyPr>
          <a:lstStyle/>
          <a:p>
            <a:pPr algn="ctr">
              <a:defRPr>
                <a:latin typeface="Times New Roman"/>
              </a:defRPr>
            </a:pPr>
            <a:r>
              <a:rPr sz="1300" b="0">
                <a:solidFill>
                  <a:srgbClr val="6E7672"/>
                </a:solidFill>
                <a:latin typeface="Times New Roman"/>
              </a:rPr>
              <a:t>87.41% of variance kept, correlated features merged</a:t>
            </a:r>
          </a:p>
        </p:txBody>
      </p:sp>
      <p:sp>
        <p:nvSpPr>
          <p:cNvPr id="29" name="anim_104"/>
          <p:cNvSpPr/>
          <p:nvPr/>
        </p:nvSpPr>
        <p:spPr>
          <a:xfrm>
            <a:off x="9290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30" name="anim_105"/>
          <p:cNvSpPr/>
          <p:nvPr/>
        </p:nvSpPr>
        <p:spPr>
          <a:xfrm>
            <a:off x="9601200" y="1371600"/>
            <a:ext cx="1938528" cy="137160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1" name="anim_106"/>
          <p:cNvSpPr txBox="1"/>
          <p:nvPr/>
        </p:nvSpPr>
        <p:spPr>
          <a:xfrm>
            <a:off x="9674352" y="1463040"/>
            <a:ext cx="1792224" cy="548640"/>
          </a:xfrm>
          <a:prstGeom prst="rect">
            <a:avLst/>
          </a:prstGeom>
          <a:noFill/>
          <a:ln>
            <a:noFill/>
          </a:ln>
          <a:effectLst/>
        </p:spPr>
        <p:txBody>
          <a:bodyPr wrap="square" anchor="t" lIns="45720" rIns="45720" tIns="18288" bIns="18288">
            <a:spAutoFit/>
          </a:bodyPr>
          <a:lstStyle/>
          <a:p>
            <a:pPr algn="ctr">
              <a:defRPr>
                <a:latin typeface="Times New Roman"/>
              </a:defRPr>
            </a:pPr>
            <a:r>
              <a:rPr sz="1350" b="1">
                <a:solidFill>
                  <a:srgbClr val="252B30"/>
                </a:solidFill>
                <a:latin typeface="Times New Roman"/>
              </a:rPr>
              <a:t>K-MEANS · K = 2-8</a:t>
            </a:r>
          </a:p>
        </p:txBody>
      </p:sp>
      <p:sp>
        <p:nvSpPr>
          <p:cNvPr id="32" name="anim_107"/>
          <p:cNvSpPr txBox="1"/>
          <p:nvPr/>
        </p:nvSpPr>
        <p:spPr>
          <a:xfrm>
            <a:off x="9674352" y="2011680"/>
            <a:ext cx="1792224" cy="676656"/>
          </a:xfrm>
          <a:prstGeom prst="rect">
            <a:avLst/>
          </a:prstGeom>
          <a:noFill/>
          <a:ln>
            <a:noFill/>
          </a:ln>
          <a:effectLst/>
        </p:spPr>
        <p:txBody>
          <a:bodyPr wrap="square" anchor="t" lIns="45720" rIns="45720" tIns="18288" bIns="18288">
            <a:spAutoFit/>
          </a:bodyPr>
          <a:lstStyle/>
          <a:p>
            <a:pPr algn="ctr">
              <a:defRPr>
                <a:latin typeface="Times New Roman"/>
              </a:defRPr>
            </a:pPr>
            <a:r>
              <a:rPr sz="1300" b="0">
                <a:solidFill>
                  <a:srgbClr val="6E7672"/>
                </a:solidFill>
                <a:latin typeface="Times New Roman"/>
              </a:rPr>
              <a:t>50 restarts, fixed seed 42: the grouping re-runs identically</a:t>
            </a:r>
          </a:p>
        </p:txBody>
      </p:sp>
      <p:sp>
        <p:nvSpPr>
          <p:cNvPr id="33" name="TextBox 32"/>
          <p:cNvSpPr txBox="1"/>
          <p:nvPr/>
        </p:nvSpPr>
        <p:spPr>
          <a:xfrm>
            <a:off x="457200" y="2880360"/>
            <a:ext cx="1092708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VALIDATION RUNS ALONGSIDE - NOT INSIDE - THE CLUSTERING</a:t>
            </a:r>
          </a:p>
        </p:txBody>
      </p:sp>
      <p:sp>
        <p:nvSpPr>
          <p:cNvPr id="34" name="anim_108"/>
          <p:cNvSpPr/>
          <p:nvPr/>
        </p:nvSpPr>
        <p:spPr>
          <a:xfrm>
            <a:off x="457200" y="3200400"/>
            <a:ext cx="3520440" cy="1097280"/>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5" name="anim_109"/>
          <p:cNvSpPr txBox="1"/>
          <p:nvPr/>
        </p:nvSpPr>
        <p:spPr>
          <a:xfrm>
            <a:off x="621792" y="3310128"/>
            <a:ext cx="3246120" cy="91440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BE7F4E"/>
                </a:solidFill>
                <a:latin typeface="Times New Roman"/>
              </a:rPr>
              <a:t>GMM SOFT MEMBERSHIP</a:t>
            </a:r>
          </a:p>
          <a:p>
            <a:pPr algn="l">
              <a:spcBef>
                <a:spcPts val="200"/>
              </a:spcBef>
              <a:defRPr>
                <a:latin typeface="Times New Roman"/>
              </a:defRPr>
            </a:pPr>
            <a:r>
              <a:rPr sz="1300" b="0">
                <a:solidFill>
                  <a:srgbClr val="252B30"/>
                </a:solidFill>
                <a:latin typeface="Times New Roman"/>
              </a:rPr>
              <a:t>probability of belonging to each cluster</a:t>
            </a:r>
          </a:p>
        </p:txBody>
      </p:sp>
      <p:sp>
        <p:nvSpPr>
          <p:cNvPr id="36" name="anim_110"/>
          <p:cNvSpPr/>
          <p:nvPr/>
        </p:nvSpPr>
        <p:spPr>
          <a:xfrm>
            <a:off x="4160520" y="3200400"/>
            <a:ext cx="3520440" cy="1097280"/>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7" name="anim_111"/>
          <p:cNvSpPr txBox="1"/>
          <p:nvPr/>
        </p:nvSpPr>
        <p:spPr>
          <a:xfrm>
            <a:off x="4325112" y="3310128"/>
            <a:ext cx="3246120" cy="91440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BE7F4E"/>
                </a:solidFill>
                <a:latin typeface="Times New Roman"/>
              </a:rPr>
              <a:t>100 x 80% SUBSAMPLING</a:t>
            </a:r>
          </a:p>
          <a:p>
            <a:pPr algn="l">
              <a:spcBef>
                <a:spcPts val="200"/>
              </a:spcBef>
              <a:defRPr>
                <a:latin typeface="Times New Roman"/>
              </a:defRPr>
            </a:pPr>
            <a:r>
              <a:rPr sz="1300" b="0">
                <a:solidFill>
                  <a:srgbClr val="252B30"/>
                </a:solidFill>
                <a:latin typeface="Times New Roman"/>
              </a:rPr>
              <a:t>refit and compare labels (Adjusted Rand Index)</a:t>
            </a:r>
          </a:p>
        </p:txBody>
      </p:sp>
      <p:sp>
        <p:nvSpPr>
          <p:cNvPr id="38" name="anim_112"/>
          <p:cNvSpPr/>
          <p:nvPr/>
        </p:nvSpPr>
        <p:spPr>
          <a:xfrm>
            <a:off x="7863840" y="3200400"/>
            <a:ext cx="3520440" cy="10972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9" name="anim_113"/>
          <p:cNvSpPr txBox="1"/>
          <p:nvPr/>
        </p:nvSpPr>
        <p:spPr>
          <a:xfrm>
            <a:off x="8028431" y="3310128"/>
            <a:ext cx="3246120" cy="91440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NEITHER CHANGES THE LABELS</a:t>
            </a:r>
          </a:p>
          <a:p>
            <a:pPr algn="l">
              <a:spcBef>
                <a:spcPts val="200"/>
              </a:spcBef>
              <a:defRPr>
                <a:latin typeface="Times New Roman"/>
              </a:defRPr>
            </a:pPr>
            <a:r>
              <a:rPr sz="1300" b="0">
                <a:solidFill>
                  <a:srgbClr val="252B30"/>
                </a:solidFill>
                <a:latin typeface="Times New Roman"/>
              </a:rPr>
              <a:t>both instruments only test the grouping that K-means already produced</a:t>
            </a:r>
          </a:p>
        </p:txBody>
      </p:sp>
      <p:sp>
        <p:nvSpPr>
          <p:cNvPr id="40" name="TextBox 39"/>
          <p:cNvSpPr txBox="1"/>
          <p:nvPr/>
        </p:nvSpPr>
        <p:spPr>
          <a:xfrm>
            <a:off x="457200" y="4480560"/>
            <a:ext cx="548640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WHY K-MEANS</a:t>
            </a:r>
          </a:p>
        </p:txBody>
      </p:sp>
      <p:sp>
        <p:nvSpPr>
          <p:cNvPr id="41" name="anim_114"/>
          <p:cNvSpPr/>
          <p:nvPr/>
        </p:nvSpPr>
        <p:spPr>
          <a:xfrm>
            <a:off x="457200" y="4800600"/>
            <a:ext cx="10927080" cy="128016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2" name="anim_115"/>
          <p:cNvSpPr txBox="1"/>
          <p:nvPr/>
        </p:nvSpPr>
        <p:spPr>
          <a:xfrm>
            <a:off x="658368" y="4901184"/>
            <a:ext cx="10515600" cy="1097280"/>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52B30"/>
                </a:solidFill>
                <a:latin typeface="Times New Roman"/>
              </a:rPr>
              <a:t>Unsupervised by design: </a:t>
            </a:r>
            <a:r>
              <a:rPr sz="1450" b="0">
                <a:solidFill>
                  <a:srgbClr val="252B30"/>
                </a:solidFill>
                <a:latin typeface="Times New Roman"/>
              </a:rPr>
              <a:t>no labels exist for 'transition pathway', so we cluster comparable profiles and validate the structure afterwards.</a:t>
            </a:r>
          </a:p>
          <a:p>
            <a:pPr algn="l">
              <a:spcBef>
                <a:spcPts val="500"/>
              </a:spcBef>
              <a:defRPr>
                <a:latin typeface="Times New Roman"/>
              </a:defRPr>
            </a:pPr>
            <a:r>
              <a:rPr sz="1450" b="1">
                <a:solidFill>
                  <a:srgbClr val="252B30"/>
                </a:solidFill>
                <a:latin typeface="Times New Roman"/>
              </a:rPr>
              <a:t>Simple, explainable, reproducible: </a:t>
            </a:r>
            <a:r>
              <a:rPr sz="1450" b="0">
                <a:solidFill>
                  <a:srgbClr val="252B30"/>
                </a:solidFill>
                <a:latin typeface="Times New Roman"/>
              </a:rPr>
              <a:t>a fixed seed and n_init = 50 make the exact grouping re-runnable; PCA removes redundancy among correlated trajectory features before distances are computed.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 fill="hold">
                      <p:stCondLst>
                        <p:cond delay="0"/>
                      </p:stCondLst>
                      <p:childTnLst>
                        <p:par>
                          <p:cTn id="17"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4"/>
                                        </p:tgtEl>
                                        <p:attrNameLst>
                                          <p:attrName>style.visibility</p:attrName>
                                        </p:attrNameLst>
                                      </p:cBhvr>
                                      <p:to>
                                        <p:strVal val="visible"/>
                                      </p:to>
                                    </p:set>
                                    <p:animEffect transition="in" filter="fade">
                                      <p:cBhvr>
                                        <p:cTn id="6" dur="450"/>
                                        <p:tgtEl>
                                          <p:spTgt spid="14"/>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5"/>
                                        </p:tgtEl>
                                        <p:attrNameLst>
                                          <p:attrName>style.visibility</p:attrName>
                                        </p:attrNameLst>
                                      </p:cBhvr>
                                      <p:to>
                                        <p:strVal val="visible"/>
                                      </p:to>
                                    </p:set>
                                    <p:animEffect transition="in" filter="fade">
                                      <p:cBhvr>
                                        <p:cTn id="9" dur="450"/>
                                        <p:tgtEl>
                                          <p:spTgt spid="15"/>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50"/>
                                        <p:tgtEl>
                                          <p:spTgt spid="16"/>
                                        </p:tgtEl>
                                      </p:cBhvr>
                                    </p:animEffect>
                                  </p:childTnLst>
                                </p:cTn>
                              </p:par>
                              <p:par>
                                <p:cTn id="13" presetID="10" presetClass="entr" presetSubtype="0" fill="hold" grpId="0" nodeType="withEffect">
                                  <p:stCondLst>
                                    <p:cond delay="79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50"/>
                                        <p:tgtEl>
                                          <p:spTgt spid="17"/>
                                        </p:tgtEl>
                                      </p:cBhvr>
                                    </p:animEffect>
                                  </p:childTnLst>
                                </p:cTn>
                              </p:par>
                            </p:childTnLst>
                          </p:cTn>
                        </p:par>
                      </p:childTnLst>
                    </p:cTn>
                  </p:par>
                  <p:par>
                    <p:cTn id="30" fill="hold">
                      <p:stCondLst>
                        <p:cond delay="0"/>
                      </p:stCondLst>
                      <p:childTnLst>
                        <p:par>
                          <p:cTn id="31" fill="hold">
                            <p:stCondLst>
                              <p:cond delay="0"/>
                            </p:stCondLst>
                            <p:childTnLst>
                              <p:par>
                                <p:cTn id="18" presetID="10" presetClass="entr" presetSubtype="0" fill="hold" grpId="0" nodeType="afterEffect">
                                  <p:stCondLst>
                                    <p:cond delay="40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53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66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79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childTnLst>
                          </p:cTn>
                        </p:par>
                      </p:childTnLst>
                    </p:cTn>
                  </p:par>
                  <p:par>
                    <p:cTn id="44" fill="hold">
                      <p:stCondLst>
                        <p:cond delay="0"/>
                      </p:stCondLst>
                      <p:childTnLst>
                        <p:par>
                          <p:cTn id="45" fill="hold">
                            <p:stCondLst>
                              <p:cond delay="0"/>
                            </p:stCondLst>
                            <p:childTnLst>
                              <p:par>
                                <p:cTn id="32" presetID="10" presetClass="entr" presetSubtype="0" fill="hold" grpId="0" nodeType="afterEffect">
                                  <p:stCondLst>
                                    <p:cond delay="40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grpId="0" nodeType="withEffect">
                                  <p:stCondLst>
                                    <p:cond delay="53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par>
                                <p:cTn id="38" presetID="10" presetClass="entr" presetSubtype="0" fill="hold" grpId="0" nodeType="withEffect">
                                  <p:stCondLst>
                                    <p:cond delay="66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450"/>
                                        <p:tgtEl>
                                          <p:spTgt spid="24"/>
                                        </p:tgtEl>
                                      </p:cBhvr>
                                    </p:animEffect>
                                  </p:childTnLst>
                                </p:cTn>
                              </p:par>
                              <p:par>
                                <p:cTn id="41" presetID="10" presetClass="entr" presetSubtype="0" fill="hold" grpId="0" nodeType="withEffect">
                                  <p:stCondLst>
                                    <p:cond delay="79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50"/>
                                        <p:tgtEl>
                                          <p:spTgt spid="25"/>
                                        </p:tgtEl>
                                      </p:cBhvr>
                                    </p:animEffect>
                                  </p:childTnLst>
                                </p:cTn>
                              </p:par>
                            </p:childTnLst>
                          </p:cTn>
                        </p:par>
                      </p:childTnLst>
                    </p:cTn>
                  </p:par>
                  <p:par>
                    <p:cTn id="58" fill="hold">
                      <p:stCondLst>
                        <p:cond delay="0"/>
                      </p:stCondLst>
                      <p:childTnLst>
                        <p:par>
                          <p:cTn id="59" fill="hold">
                            <p:stCondLst>
                              <p:cond delay="0"/>
                            </p:stCondLst>
                            <p:childTnLst>
                              <p:par>
                                <p:cTn id="46" presetID="10" presetClass="entr" presetSubtype="0" fill="hold" grpId="0" nodeType="afterEffect">
                                  <p:stCondLst>
                                    <p:cond delay="40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50"/>
                                        <p:tgtEl>
                                          <p:spTgt spid="26"/>
                                        </p:tgtEl>
                                      </p:cBhvr>
                                    </p:animEffect>
                                  </p:childTnLst>
                                </p:cTn>
                              </p:par>
                              <p:par>
                                <p:cTn id="49" presetID="10" presetClass="entr" presetSubtype="0" fill="hold" grpId="0" nodeType="withEffect">
                                  <p:stCondLst>
                                    <p:cond delay="53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par>
                                <p:cTn id="52" presetID="10" presetClass="entr" presetSubtype="0" fill="hold" grpId="0" nodeType="withEffect">
                                  <p:stCondLst>
                                    <p:cond delay="66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50"/>
                                        <p:tgtEl>
                                          <p:spTgt spid="28"/>
                                        </p:tgtEl>
                                      </p:cBhvr>
                                    </p:animEffect>
                                  </p:childTnLst>
                                </p:cTn>
                              </p:par>
                              <p:par>
                                <p:cTn id="55" presetID="10" presetClass="entr" presetSubtype="0" fill="hold" grpId="0" nodeType="withEffect">
                                  <p:stCondLst>
                                    <p:cond delay="79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50"/>
                                        <p:tgtEl>
                                          <p:spTgt spid="29"/>
                                        </p:tgtEl>
                                      </p:cBhvr>
                                    </p:animEffect>
                                  </p:childTnLst>
                                </p:cTn>
                              </p:par>
                            </p:childTnLst>
                          </p:cTn>
                        </p:par>
                      </p:childTnLst>
                    </p:cTn>
                  </p:par>
                  <p:par>
                    <p:cTn id="69" fill="hold">
                      <p:stCondLst>
                        <p:cond delay="0"/>
                      </p:stCondLst>
                      <p:childTnLst>
                        <p:par>
                          <p:cTn id="70" fill="hold">
                            <p:stCondLst>
                              <p:cond delay="0"/>
                            </p:stCondLst>
                            <p:childTnLst>
                              <p:par>
                                <p:cTn id="60" presetID="10" presetClass="entr" presetSubtype="0" fill="hold" grpId="0" nodeType="afterEffect">
                                  <p:stCondLst>
                                    <p:cond delay="40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50"/>
                                        <p:tgtEl>
                                          <p:spTgt spid="30"/>
                                        </p:tgtEl>
                                      </p:cBhvr>
                                    </p:animEffect>
                                  </p:childTnLst>
                                </p:cTn>
                              </p:par>
                              <p:par>
                                <p:cTn id="63" presetID="10" presetClass="entr" presetSubtype="0" fill="hold" grpId="0" nodeType="withEffect">
                                  <p:stCondLst>
                                    <p:cond delay="53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50"/>
                                        <p:tgtEl>
                                          <p:spTgt spid="31"/>
                                        </p:tgtEl>
                                      </p:cBhvr>
                                    </p:animEffect>
                                  </p:childTnLst>
                                </p:cTn>
                              </p:par>
                              <p:par>
                                <p:cTn id="66" presetID="10" presetClass="entr" presetSubtype="0" fill="hold" grpId="0" nodeType="withEffect">
                                  <p:stCondLst>
                                    <p:cond delay="66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50"/>
                                        <p:tgtEl>
                                          <p:spTgt spid="32"/>
                                        </p:tgtEl>
                                      </p:cBhvr>
                                    </p:animEffect>
                                  </p:childTnLst>
                                </p:cTn>
                              </p:par>
                            </p:childTnLst>
                          </p:cTn>
                        </p:par>
                      </p:childTnLst>
                    </p:cTn>
                  </p:par>
                  <p:par>
                    <p:cTn id="83" fill="hold">
                      <p:stCondLst>
                        <p:cond delay="0"/>
                      </p:stCondLst>
                      <p:childTnLst>
                        <p:par>
                          <p:cTn id="84" fill="hold">
                            <p:stCondLst>
                              <p:cond delay="0"/>
                            </p:stCondLst>
                            <p:childTnLst>
                              <p:par>
                                <p:cTn id="71" presetID="10" presetClass="entr" presetSubtype="0" fill="hold" grpId="0" nodeType="afterEffect">
                                  <p:stCondLst>
                                    <p:cond delay="40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450"/>
                                        <p:tgtEl>
                                          <p:spTgt spid="34"/>
                                        </p:tgtEl>
                                      </p:cBhvr>
                                    </p:animEffect>
                                  </p:childTnLst>
                                </p:cTn>
                              </p:par>
                              <p:par>
                                <p:cTn id="74" presetID="10" presetClass="entr" presetSubtype="0" fill="hold" grpId="0" nodeType="withEffect">
                                  <p:stCondLst>
                                    <p:cond delay="53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450"/>
                                        <p:tgtEl>
                                          <p:spTgt spid="35"/>
                                        </p:tgtEl>
                                      </p:cBhvr>
                                    </p:animEffect>
                                  </p:childTnLst>
                                </p:cTn>
                              </p:par>
                              <p:par>
                                <p:cTn id="77" presetID="10" presetClass="entr" presetSubtype="0" fill="hold" grpId="0" nodeType="withEffect">
                                  <p:stCondLst>
                                    <p:cond delay="66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450"/>
                                        <p:tgtEl>
                                          <p:spTgt spid="36"/>
                                        </p:tgtEl>
                                      </p:cBhvr>
                                    </p:animEffect>
                                  </p:childTnLst>
                                </p:cTn>
                              </p:par>
                              <p:par>
                                <p:cTn id="80" presetID="10" presetClass="entr" presetSubtype="0" fill="hold" grpId="0" nodeType="withEffect">
                                  <p:stCondLst>
                                    <p:cond delay="79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450"/>
                                        <p:tgtEl>
                                          <p:spTgt spid="37"/>
                                        </p:tgtEl>
                                      </p:cBhvr>
                                    </p:animEffect>
                                  </p:childTnLst>
                                </p:cTn>
                              </p:par>
                            </p:childTnLst>
                          </p:cTn>
                        </p:par>
                      </p:childTnLst>
                    </p:cTn>
                  </p:par>
                  <p:par>
                    <p:cTn id="91" fill="hold">
                      <p:stCondLst>
                        <p:cond delay="0"/>
                      </p:stCondLst>
                      <p:childTnLst>
                        <p:par>
                          <p:cTn id="92" fill="hold">
                            <p:stCondLst>
                              <p:cond delay="0"/>
                            </p:stCondLst>
                            <p:childTnLst>
                              <p:par>
                                <p:cTn id="85" presetID="10" presetClass="entr" presetSubtype="0" fill="hold" grpId="0" nodeType="afterEffect">
                                  <p:stCondLst>
                                    <p:cond delay="40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450"/>
                                        <p:tgtEl>
                                          <p:spTgt spid="38"/>
                                        </p:tgtEl>
                                      </p:cBhvr>
                                    </p:animEffect>
                                  </p:childTnLst>
                                </p:cTn>
                              </p:par>
                              <p:par>
                                <p:cTn id="88" presetID="10" presetClass="entr" presetSubtype="0" fill="hold" grpId="0" nodeType="withEffect">
                                  <p:stCondLst>
                                    <p:cond delay="53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450"/>
                                        <p:tgtEl>
                                          <p:spTgt spid="39"/>
                                        </p:tgtEl>
                                      </p:cBhvr>
                                    </p:animEffect>
                                  </p:childTnLst>
                                </p:cTn>
                              </p:par>
                            </p:childTnLst>
                          </p:cTn>
                        </p:par>
                      </p:childTnLst>
                    </p:cTn>
                  </p:par>
                  <p:par>
                    <p:cTn id="99" fill="hold">
                      <p:stCondLst>
                        <p:cond delay="0"/>
                      </p:stCondLst>
                      <p:childTnLst>
                        <p:par>
                          <p:cTn id="100" fill="hold">
                            <p:stCondLst>
                              <p:cond delay="0"/>
                            </p:stCondLst>
                            <p:childTnLst>
                              <p:par>
                                <p:cTn id="93" presetID="10" presetClass="entr" presetSubtype="0" fill="hold" grpId="0" nodeType="afterEffect">
                                  <p:stCondLst>
                                    <p:cond delay="40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450"/>
                                        <p:tgtEl>
                                          <p:spTgt spid="41"/>
                                        </p:tgtEl>
                                      </p:cBhvr>
                                    </p:animEffect>
                                  </p:childTnLst>
                                </p:cTn>
                              </p:par>
                              <p:par>
                                <p:cTn id="96" presetID="10" presetClass="entr" presetSubtype="0" fill="hold" grpId="0" nodeType="withEffect">
                                  <p:stCondLst>
                                    <p:cond delay="53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DESIGN OF AI ALGORITHM · Choosing how many emission patterns to keep (K = 2-8)</a:t>
            </a:r>
          </a:p>
          <a:p>
            <a:pPr algn="l">
              <a:spcBef>
                <a:spcPts val="200"/>
              </a:spcBef>
              <a:defRPr>
                <a:latin typeface="Times New Roman"/>
              </a:defRPr>
            </a:pPr>
            <a:r>
              <a:rPr sz="2500" b="1">
                <a:solidFill>
                  <a:srgbClr val="FFFFFF"/>
                </a:solidFill>
                <a:latin typeface="Georgia"/>
              </a:rPr>
              <a:t>All three validity metrics rank K = 2 first</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4 / 4</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RAN CHANGMING</a:t>
            </a:r>
          </a:p>
        </p:txBody>
      </p:sp>
      <p:sp>
        <p:nvSpPr>
          <p:cNvPr id="12" name="TextBox 11"/>
          <p:cNvSpPr txBox="1"/>
          <p:nvPr/>
        </p:nvSpPr>
        <p:spPr>
          <a:xfrm>
            <a:off x="7818120" y="6492240"/>
            <a:ext cx="2743200" cy="292608"/>
          </a:xfrm>
          <a:prstGeom prst="rect">
            <a:avLst/>
          </a:prstGeom>
          <a:noFill/>
          <a:ln>
            <a:noFill/>
          </a:ln>
          <a:effectLst/>
        </p:spPr>
        <p:txBody>
          <a:bodyPr wrap="square" anchor="ctr" lIns="45720" rIns="45720" tIns="18288" bIns="18288">
            <a:spAutoFit/>
          </a:bodyPr>
          <a:lstStyle/>
          <a:p>
            <a:pPr algn="r">
              <a:defRPr>
                <a:latin typeface="Times New Roman"/>
              </a:defRPr>
            </a:pPr>
            <a:r>
              <a:rPr sz="1300" b="0">
                <a:solidFill>
                  <a:srgbClr val="6E7672"/>
                </a:solidFill>
                <a:latin typeface="Times New Roman"/>
              </a:rPr>
              <a:t>[4] [5]</a:t>
            </a:r>
          </a:p>
        </p:txBody>
      </p:sp>
      <p:sp>
        <p:nvSpPr>
          <p:cNvPr id="13" name="TextBox 12"/>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14</a:t>
            </a:r>
          </a:p>
        </p:txBody>
      </p:sp>
      <p:pic>
        <p:nvPicPr>
          <p:cNvPr id="14" name="anim_116" descr="fig_k_selection.png"/>
          <p:cNvPicPr>
            <a:picLocks noChangeAspect="1"/>
          </p:cNvPicPr>
          <p:nvPr/>
        </p:nvPicPr>
        <p:blipFill>
          <a:blip r:embed="rId3"/>
          <a:stretch>
            <a:fillRect/>
          </a:stretch>
        </p:blipFill>
        <p:spPr>
          <a:xfrm>
            <a:off x="292608" y="1075449"/>
            <a:ext cx="8686800" cy="2567404"/>
          </a:xfrm>
          <a:prstGeom prst="rect">
            <a:avLst/>
          </a:prstGeom>
        </p:spPr>
      </p:pic>
      <p:sp>
        <p:nvSpPr>
          <p:cNvPr id="15" name="anim_117"/>
          <p:cNvSpPr txBox="1"/>
          <p:nvPr/>
        </p:nvSpPr>
        <p:spPr>
          <a:xfrm>
            <a:off x="457200" y="3785615"/>
            <a:ext cx="8503920" cy="329184"/>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Inertia (within-cluster sum of squares) always falls as K grows - shown for reference only, never used alone to pick K.</a:t>
            </a:r>
          </a:p>
        </p:txBody>
      </p:sp>
      <p:sp>
        <p:nvSpPr>
          <p:cNvPr id="16" name="anim_118"/>
          <p:cNvSpPr/>
          <p:nvPr/>
        </p:nvSpPr>
        <p:spPr>
          <a:xfrm>
            <a:off x="457200" y="4187952"/>
            <a:ext cx="8503920" cy="1810512"/>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7" name="anim_119"/>
          <p:cNvSpPr txBox="1"/>
          <p:nvPr/>
        </p:nvSpPr>
        <p:spPr>
          <a:xfrm>
            <a:off x="658368" y="4297680"/>
            <a:ext cx="8138160" cy="1645920"/>
          </a:xfrm>
          <a:prstGeom prst="rect">
            <a:avLst/>
          </a:prstGeom>
          <a:noFill/>
          <a:ln>
            <a:noFill/>
          </a:ln>
          <a:effectLst/>
        </p:spPr>
        <p:txBody>
          <a:bodyPr wrap="square" anchor="t" lIns="45720" rIns="45720" tIns="18288" bIns="18288">
            <a:spAutoFit/>
          </a:bodyPr>
          <a:lstStyle/>
          <a:p>
            <a:pPr algn="l">
              <a:defRPr>
                <a:latin typeface="Times New Roman"/>
              </a:defRPr>
            </a:pPr>
            <a:r>
              <a:rPr sz="1400" b="1">
                <a:solidFill>
                  <a:srgbClr val="2F5248"/>
                </a:solidFill>
                <a:latin typeface="Times New Roman"/>
              </a:rPr>
              <a:t>How the decision was made</a:t>
            </a:r>
          </a:p>
          <a:p>
            <a:pPr algn="l">
              <a:spcBef>
                <a:spcPts val="600"/>
              </a:spcBef>
              <a:defRPr>
                <a:latin typeface="Times New Roman"/>
              </a:defRPr>
            </a:pPr>
            <a:r>
              <a:rPr sz="1400" b="0">
                <a:solidFill>
                  <a:srgbClr val="252B30"/>
                </a:solidFill>
                <a:latin typeface="Times New Roman"/>
              </a:rPr>
              <a:t>· Three internal criteria were computed on the same PCA space for every candidate K from 2 to 8, so the comparison is like-for-like.</a:t>
            </a:r>
          </a:p>
          <a:p>
            <a:pPr algn="l">
              <a:spcBef>
                <a:spcPts val="400"/>
              </a:spcBef>
              <a:defRPr>
                <a:latin typeface="Times New Roman"/>
              </a:defRPr>
            </a:pPr>
            <a:r>
              <a:rPr sz="1400" b="0">
                <a:solidFill>
                  <a:srgbClr val="252B30"/>
                </a:solidFill>
                <a:latin typeface="Times New Roman"/>
              </a:rPr>
              <a:t>· All three agree on K = 2; no criterion prefers a finer split, and K = 3-8 lose separation without adding interpretable structure.</a:t>
            </a:r>
          </a:p>
          <a:p>
            <a:pPr algn="l">
              <a:spcBef>
                <a:spcPts val="400"/>
              </a:spcBef>
              <a:defRPr>
                <a:latin typeface="Times New Roman"/>
              </a:defRPr>
            </a:pPr>
            <a:r>
              <a:rPr sz="1400" b="0">
                <a:solidFill>
                  <a:srgbClr val="252B30"/>
                </a:solidFill>
                <a:latin typeface="Times New Roman"/>
              </a:rPr>
              <a:t>· K = 2 is therefore a screening frame for monitoring attention, not a claim that only two kinds of country exist.</a:t>
            </a:r>
          </a:p>
        </p:txBody>
      </p:sp>
      <p:sp>
        <p:nvSpPr>
          <p:cNvPr id="18" name="anim_120"/>
          <p:cNvSpPr/>
          <p:nvPr/>
        </p:nvSpPr>
        <p:spPr>
          <a:xfrm>
            <a:off x="9098280" y="1188720"/>
            <a:ext cx="2606040" cy="987552"/>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9" name="anim_121"/>
          <p:cNvSpPr txBox="1"/>
          <p:nvPr/>
        </p:nvSpPr>
        <p:spPr>
          <a:xfrm>
            <a:off x="9098280" y="1243584"/>
            <a:ext cx="2606040" cy="402336"/>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4F6E96"/>
                </a:solidFill>
                <a:latin typeface="Times New Roman"/>
              </a:rPr>
              <a:t>0.486</a:t>
            </a:r>
            <a:r>
              <a:rPr sz="1400" b="1">
                <a:solidFill>
                  <a:srgbClr val="252B30"/>
                </a:solidFill>
                <a:latin typeface="Times New Roman"/>
              </a:rPr>
              <a:t>   Silhouette</a:t>
            </a:r>
          </a:p>
        </p:txBody>
      </p:sp>
      <p:sp>
        <p:nvSpPr>
          <p:cNvPr id="20" name="anim_122"/>
          <p:cNvSpPr txBox="1"/>
          <p:nvPr/>
        </p:nvSpPr>
        <p:spPr>
          <a:xfrm>
            <a:off x="9098280" y="1700784"/>
            <a:ext cx="2606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highest - compact, well separated</a:t>
            </a:r>
          </a:p>
        </p:txBody>
      </p:sp>
      <p:sp>
        <p:nvSpPr>
          <p:cNvPr id="21" name="anim_123"/>
          <p:cNvSpPr/>
          <p:nvPr/>
        </p:nvSpPr>
        <p:spPr>
          <a:xfrm>
            <a:off x="9098280" y="2322576"/>
            <a:ext cx="2606040" cy="987552"/>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2" name="anim_124"/>
          <p:cNvSpPr txBox="1"/>
          <p:nvPr/>
        </p:nvSpPr>
        <p:spPr>
          <a:xfrm>
            <a:off x="9098280" y="2377440"/>
            <a:ext cx="2606040" cy="402336"/>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4F6E96"/>
                </a:solidFill>
                <a:latin typeface="Times New Roman"/>
              </a:rPr>
              <a:t>0.865</a:t>
            </a:r>
            <a:r>
              <a:rPr sz="1400" b="1">
                <a:solidFill>
                  <a:srgbClr val="252B30"/>
                </a:solidFill>
                <a:latin typeface="Times New Roman"/>
              </a:rPr>
              <a:t>   Davies-Bouldin</a:t>
            </a:r>
          </a:p>
        </p:txBody>
      </p:sp>
      <p:sp>
        <p:nvSpPr>
          <p:cNvPr id="23" name="anim_125"/>
          <p:cNvSpPr txBox="1"/>
          <p:nvPr/>
        </p:nvSpPr>
        <p:spPr>
          <a:xfrm>
            <a:off x="9098280" y="2834640"/>
            <a:ext cx="2606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lowest - least overlap</a:t>
            </a:r>
          </a:p>
        </p:txBody>
      </p:sp>
      <p:sp>
        <p:nvSpPr>
          <p:cNvPr id="24" name="anim_126"/>
          <p:cNvSpPr/>
          <p:nvPr/>
        </p:nvSpPr>
        <p:spPr>
          <a:xfrm>
            <a:off x="9098280" y="3456432"/>
            <a:ext cx="2606040" cy="987552"/>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5" name="anim_127"/>
          <p:cNvSpPr txBox="1"/>
          <p:nvPr/>
        </p:nvSpPr>
        <p:spPr>
          <a:xfrm>
            <a:off x="9098280" y="3511296"/>
            <a:ext cx="2606040" cy="402336"/>
          </a:xfrm>
          <a:prstGeom prst="rect">
            <a:avLst/>
          </a:prstGeom>
          <a:noFill/>
          <a:ln>
            <a:noFill/>
          </a:ln>
          <a:effectLst/>
        </p:spPr>
        <p:txBody>
          <a:bodyPr wrap="square" anchor="t" lIns="45720" rIns="45720" tIns="18288" bIns="18288">
            <a:spAutoFit/>
          </a:bodyPr>
          <a:lstStyle/>
          <a:p>
            <a:pPr algn="l">
              <a:defRPr>
                <a:latin typeface="Times New Roman"/>
              </a:defRPr>
            </a:pPr>
            <a:r>
              <a:rPr sz="2100" b="1">
                <a:solidFill>
                  <a:srgbClr val="4F6E96"/>
                </a:solidFill>
                <a:latin typeface="Times New Roman"/>
              </a:rPr>
              <a:t>98.3</a:t>
            </a:r>
            <a:r>
              <a:rPr sz="1400" b="1">
                <a:solidFill>
                  <a:srgbClr val="252B30"/>
                </a:solidFill>
                <a:latin typeface="Times New Roman"/>
              </a:rPr>
              <a:t>   Calinski-Harabasz</a:t>
            </a:r>
          </a:p>
        </p:txBody>
      </p:sp>
      <p:sp>
        <p:nvSpPr>
          <p:cNvPr id="26" name="anim_128"/>
          <p:cNvSpPr txBox="1"/>
          <p:nvPr/>
        </p:nvSpPr>
        <p:spPr>
          <a:xfrm>
            <a:off x="9098280" y="3968496"/>
            <a:ext cx="26060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highest - strongest split</a:t>
            </a:r>
          </a:p>
        </p:txBody>
      </p:sp>
      <p:sp>
        <p:nvSpPr>
          <p:cNvPr id="27" name="anim_129"/>
          <p:cNvSpPr/>
          <p:nvPr/>
        </p:nvSpPr>
        <p:spPr>
          <a:xfrm>
            <a:off x="9098280" y="4645152"/>
            <a:ext cx="2606040" cy="160020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8" name="anim_130"/>
          <p:cNvSpPr txBox="1"/>
          <p:nvPr/>
        </p:nvSpPr>
        <p:spPr>
          <a:xfrm>
            <a:off x="9244584" y="4773168"/>
            <a:ext cx="2331720" cy="141732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BE7F4E"/>
                </a:solidFill>
                <a:latin typeface="Times New Roman"/>
              </a:rPr>
              <a:t>DECISION</a:t>
            </a:r>
          </a:p>
          <a:p>
            <a:pPr algn="l">
              <a:spcBef>
                <a:spcPts val="500"/>
              </a:spcBef>
              <a:defRPr>
                <a:latin typeface="Times New Roman"/>
              </a:defRPr>
            </a:pPr>
            <a:r>
              <a:rPr sz="1450" b="1">
                <a:solidFill>
                  <a:srgbClr val="252B30"/>
                </a:solidFill>
                <a:latin typeface="Times New Roman"/>
              </a:rPr>
              <a:t>K = 2 - the strongest macro segmentation, not the most detailed taxonomy.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0"/>
                      </p:stCondLst>
                      <p:childTnLst>
                        <p:par>
                          <p:cTn id="11"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4"/>
                                        </p:tgtEl>
                                        <p:attrNameLst>
                                          <p:attrName>style.visibility</p:attrName>
                                        </p:attrNameLst>
                                      </p:cBhvr>
                                      <p:to>
                                        <p:strVal val="visible"/>
                                      </p:to>
                                    </p:set>
                                    <p:animEffect transition="in" filter="fade">
                                      <p:cBhvr>
                                        <p:cTn id="6" dur="450"/>
                                        <p:tgtEl>
                                          <p:spTgt spid="14"/>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5"/>
                                        </p:tgtEl>
                                        <p:attrNameLst>
                                          <p:attrName>style.visibility</p:attrName>
                                        </p:attrNameLst>
                                      </p:cBhvr>
                                      <p:to>
                                        <p:strVal val="visible"/>
                                      </p:to>
                                    </p:set>
                                    <p:animEffect transition="in" filter="fade">
                                      <p:cBhvr>
                                        <p:cTn id="9" dur="450"/>
                                        <p:tgtEl>
                                          <p:spTgt spid="15"/>
                                        </p:tgtEl>
                                      </p:cBhvr>
                                    </p:animEffect>
                                  </p:childTnLst>
                                </p:cTn>
                              </p:par>
                            </p:childTnLst>
                          </p:cTn>
                        </p:par>
                      </p:childTnLst>
                    </p:cTn>
                  </p:par>
                  <p:par>
                    <p:cTn id="18" fill="hold">
                      <p:stCondLst>
                        <p:cond delay="0"/>
                      </p:stCondLst>
                      <p:childTnLst>
                        <p:par>
                          <p:cTn id="19" fill="hold">
                            <p:stCondLst>
                              <p:cond delay="0"/>
                            </p:stCondLst>
                            <p:childTnLst>
                              <p:par>
                                <p:cTn id="12" presetID="10" presetClass="entr" presetSubtype="0" fill="hold" grpId="0" nodeType="afterEffect">
                                  <p:stCondLst>
                                    <p:cond delay="4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childTnLst>
                          </p:cTn>
                        </p:par>
                      </p:childTnLst>
                    </p:cTn>
                  </p:par>
                  <p:par>
                    <p:cTn id="29" fill="hold">
                      <p:stCondLst>
                        <p:cond delay="0"/>
                      </p:stCondLst>
                      <p:childTnLst>
                        <p:par>
                          <p:cTn id="30" fill="hold">
                            <p:stCondLst>
                              <p:cond delay="0"/>
                            </p:stCondLst>
                            <p:childTnLst>
                              <p:par>
                                <p:cTn id="20" presetID="10" presetClass="entr" presetSubtype="0" fill="hold" grpId="0" nodeType="afterEffect">
                                  <p:stCondLst>
                                    <p:cond delay="4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par>
                                <p:cTn id="23" presetID="10" presetClass="entr" presetSubtype="0" fill="hold" grpId="0" nodeType="withEffect">
                                  <p:stCondLst>
                                    <p:cond delay="53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50"/>
                                        <p:tgtEl>
                                          <p:spTgt spid="19"/>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50"/>
                                        <p:tgtEl>
                                          <p:spTgt spid="20"/>
                                        </p:tgtEl>
                                      </p:cBhvr>
                                    </p:animEffect>
                                  </p:childTnLst>
                                </p:cTn>
                              </p:par>
                            </p:childTnLst>
                          </p:cTn>
                        </p:par>
                      </p:childTnLst>
                    </p:cTn>
                  </p:par>
                  <p:par>
                    <p:cTn id="40" fill="hold">
                      <p:stCondLst>
                        <p:cond delay="0"/>
                      </p:stCondLst>
                      <p:childTnLst>
                        <p:par>
                          <p:cTn id="41" fill="hold">
                            <p:stCondLst>
                              <p:cond delay="0"/>
                            </p:stCondLst>
                            <p:childTnLst>
                              <p:par>
                                <p:cTn id="31" presetID="10" presetClass="entr" presetSubtype="0" fill="hold" grpId="0" nodeType="afterEffect">
                                  <p:stCondLst>
                                    <p:cond delay="40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50"/>
                                        <p:tgtEl>
                                          <p:spTgt spid="21"/>
                                        </p:tgtEl>
                                      </p:cBhvr>
                                    </p:animEffect>
                                  </p:childTnLst>
                                </p:cTn>
                              </p:par>
                              <p:par>
                                <p:cTn id="34" presetID="10" presetClass="entr" presetSubtype="0" fill="hold" grpId="0" nodeType="withEffect">
                                  <p:stCondLst>
                                    <p:cond delay="53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50"/>
                                        <p:tgtEl>
                                          <p:spTgt spid="22"/>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50"/>
                                        <p:tgtEl>
                                          <p:spTgt spid="23"/>
                                        </p:tgtEl>
                                      </p:cBhvr>
                                    </p:animEffect>
                                  </p:childTnLst>
                                </p:cTn>
                              </p:par>
                            </p:childTnLst>
                          </p:cTn>
                        </p:par>
                      </p:childTnLst>
                    </p:cTn>
                  </p:par>
                  <p:par>
                    <p:cTn id="51" fill="hold">
                      <p:stCondLst>
                        <p:cond delay="0"/>
                      </p:stCondLst>
                      <p:childTnLst>
                        <p:par>
                          <p:cTn id="52" fill="hold">
                            <p:stCondLst>
                              <p:cond delay="0"/>
                            </p:stCondLst>
                            <p:childTnLst>
                              <p:par>
                                <p:cTn id="42" presetID="10" presetClass="entr" presetSubtype="0" fill="hold" grpId="0" nodeType="afterEffect">
                                  <p:stCondLst>
                                    <p:cond delay="40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5" presetID="10" presetClass="entr" presetSubtype="0" fill="hold" grpId="0" nodeType="withEffect">
                                  <p:stCondLst>
                                    <p:cond delay="53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grpId="0" nodeType="withEffect">
                                  <p:stCondLst>
                                    <p:cond delay="66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450"/>
                                        <p:tgtEl>
                                          <p:spTgt spid="26"/>
                                        </p:tgtEl>
                                      </p:cBhvr>
                                    </p:animEffect>
                                  </p:childTnLst>
                                </p:cTn>
                              </p:par>
                            </p:childTnLst>
                          </p:cTn>
                        </p:par>
                      </p:childTnLst>
                    </p:cTn>
                  </p:par>
                  <p:par>
                    <p:cTn id="59" fill="hold">
                      <p:stCondLst>
                        <p:cond delay="0"/>
                      </p:stCondLst>
                      <p:childTnLst>
                        <p:par>
                          <p:cTn id="60" fill="hold">
                            <p:stCondLst>
                              <p:cond delay="0"/>
                            </p:stCondLst>
                            <p:childTnLst>
                              <p:par>
                                <p:cTn id="53" presetID="10" presetClass="entr" presetSubtype="0" fill="hold" grpId="0" nodeType="afterEffect">
                                  <p:stCondLst>
                                    <p:cond delay="40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50"/>
                                        <p:tgtEl>
                                          <p:spTgt spid="27"/>
                                        </p:tgtEl>
                                      </p:cBhvr>
                                    </p:animEffect>
                                  </p:childTnLst>
                                </p:cTn>
                              </p:par>
                              <p:par>
                                <p:cTn id="56" presetID="10" presetClass="entr" presetSubtype="0" fill="hold" grpId="0" nodeType="withEffect">
                                  <p:stCondLst>
                                    <p:cond delay="5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MODEL EVALUATION AND PERFORMANCE · Does the two-pattern structure actually separate?</a:t>
            </a:r>
          </a:p>
          <a:p>
            <a:pPr algn="l">
              <a:spcBef>
                <a:spcPts val="200"/>
              </a:spcBef>
              <a:defRPr>
                <a:latin typeface="Times New Roman"/>
              </a:defRPr>
            </a:pPr>
            <a:r>
              <a:rPr sz="2300" b="1">
                <a:solidFill>
                  <a:srgbClr val="FFFFFF"/>
                </a:solidFill>
                <a:latin typeface="Georgia"/>
              </a:rPr>
              <a:t>Two pathways separate cleanly in reduced feature space</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1 / 3</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REN SIYU</a:t>
            </a:r>
          </a:p>
        </p:txBody>
      </p:sp>
      <p:sp>
        <p:nvSpPr>
          <p:cNvPr id="12" name="TextBox 11"/>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15</a:t>
            </a:r>
          </a:p>
        </p:txBody>
      </p:sp>
      <p:pic>
        <p:nvPicPr>
          <p:cNvPr id="13" name="anim_131" descr="fig_pca_pathways.png"/>
          <p:cNvPicPr>
            <a:picLocks noChangeAspect="1"/>
          </p:cNvPicPr>
          <p:nvPr/>
        </p:nvPicPr>
        <p:blipFill>
          <a:blip r:embed="rId3"/>
          <a:stretch>
            <a:fillRect/>
          </a:stretch>
        </p:blipFill>
        <p:spPr>
          <a:xfrm>
            <a:off x="256032" y="983261"/>
            <a:ext cx="8046720" cy="5056069"/>
          </a:xfrm>
          <a:prstGeom prst="rect">
            <a:avLst/>
          </a:prstGeom>
        </p:spPr>
      </p:pic>
      <p:sp>
        <p:nvSpPr>
          <p:cNvPr id="14" name="TextBox 13"/>
          <p:cNvSpPr txBox="1"/>
          <p:nvPr/>
        </p:nvSpPr>
        <p:spPr>
          <a:xfrm>
            <a:off x="8412480" y="1115568"/>
            <a:ext cx="356616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HOW TO READ</a:t>
            </a:r>
          </a:p>
        </p:txBody>
      </p:sp>
      <p:sp>
        <p:nvSpPr>
          <p:cNvPr id="15" name="anim_132"/>
          <p:cNvSpPr txBox="1"/>
          <p:nvPr/>
        </p:nvSpPr>
        <p:spPr>
          <a:xfrm>
            <a:off x="8412480" y="1426464"/>
            <a:ext cx="3017520" cy="2651760"/>
          </a:xfrm>
          <a:prstGeom prst="rect">
            <a:avLst/>
          </a:prstGeom>
          <a:noFill/>
          <a:ln>
            <a:noFill/>
          </a:ln>
          <a:effectLst/>
        </p:spPr>
        <p:txBody>
          <a:bodyPr wrap="square" anchor="t" lIns="45720" rIns="45720" tIns="18288" bIns="18288">
            <a:spAutoFit/>
          </a:bodyPr>
          <a:lstStyle/>
          <a:p>
            <a:pPr algn="l">
              <a:defRPr>
                <a:latin typeface="Times New Roman"/>
              </a:defRPr>
            </a:pPr>
            <a:r>
              <a:rPr sz="1400" b="0">
                <a:solidFill>
                  <a:srgbClr val="252B30"/>
                </a:solidFill>
                <a:latin typeface="Times New Roman"/>
              </a:rPr>
              <a:t>Each dot is one country's 11-feature profile, projected onto the first two principal components.</a:t>
            </a:r>
          </a:p>
          <a:p>
            <a:pPr algn="l">
              <a:spcBef>
                <a:spcPts val="800"/>
              </a:spcBef>
              <a:defRPr>
                <a:latin typeface="Times New Roman"/>
              </a:defRPr>
            </a:pPr>
            <a:r>
              <a:rPr sz="1400" b="0">
                <a:solidFill>
                  <a:srgbClr val="252B30"/>
                </a:solidFill>
                <a:latin typeface="Times New Roman"/>
              </a:rPr>
              <a:t>Colour shows the K-means label computed in the full 4-component space - not in this 2D view.</a:t>
            </a:r>
          </a:p>
          <a:p>
            <a:pPr algn="l">
              <a:spcBef>
                <a:spcPts val="800"/>
              </a:spcBef>
              <a:defRPr>
                <a:latin typeface="Times New Roman"/>
              </a:defRPr>
            </a:pPr>
            <a:r>
              <a:rPr sz="1400" b="0">
                <a:solidFill>
                  <a:srgbClr val="252B30"/>
                </a:solidFill>
                <a:latin typeface="Times New Roman"/>
              </a:rPr>
              <a:t>Dark rings mark the 10 low-confidence boundary countries.</a:t>
            </a:r>
          </a:p>
        </p:txBody>
      </p:sp>
      <p:sp>
        <p:nvSpPr>
          <p:cNvPr id="16" name="anim_133"/>
          <p:cNvSpPr/>
          <p:nvPr/>
        </p:nvSpPr>
        <p:spPr>
          <a:xfrm>
            <a:off x="8412480" y="4160520"/>
            <a:ext cx="3017520" cy="17830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7" name="anim_134"/>
          <p:cNvSpPr txBox="1"/>
          <p:nvPr/>
        </p:nvSpPr>
        <p:spPr>
          <a:xfrm>
            <a:off x="8558784" y="4279392"/>
            <a:ext cx="2743200" cy="1600200"/>
          </a:xfrm>
          <a:prstGeom prst="rect">
            <a:avLst/>
          </a:prstGeom>
          <a:noFill/>
          <a:ln>
            <a:noFill/>
          </a:ln>
          <a:effectLst/>
        </p:spPr>
        <p:txBody>
          <a:bodyPr wrap="square" anchor="t" lIns="45720" rIns="45720" tIns="18288" bIns="18288">
            <a:spAutoFit/>
          </a:bodyPr>
          <a:lstStyle/>
          <a:p>
            <a:pPr algn="l">
              <a:defRPr>
                <a:latin typeface="Times New Roman"/>
              </a:defRPr>
            </a:pPr>
            <a:r>
              <a:rPr sz="1500" b="1">
                <a:solidFill>
                  <a:srgbClr val="2F5248"/>
                </a:solidFill>
                <a:latin typeface="Times New Roman"/>
              </a:rPr>
              <a:t>PC1 + PC2 show 70.8% of variance</a:t>
            </a:r>
          </a:p>
          <a:p>
            <a:pPr algn="l">
              <a:spcBef>
                <a:spcPts val="500"/>
              </a:spcBef>
              <a:defRPr>
                <a:latin typeface="Times New Roman"/>
              </a:defRPr>
            </a:pPr>
            <a:r>
              <a:rPr sz="1350" b="0">
                <a:solidFill>
                  <a:srgbClr val="252B30"/>
                </a:solidFill>
                <a:latin typeface="Times New Roman"/>
              </a:rPr>
              <a:t>Clustering used all four retained components (87.41%). This 2D projection is a display device - the visible separation understates the true separation.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0"/>
                      </p:stCondLst>
                      <p:childTnLst>
                        <p:par>
                          <p:cTn id="8"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3"/>
                                        </p:tgtEl>
                                        <p:attrNameLst>
                                          <p:attrName>style.visibility</p:attrName>
                                        </p:attrNameLst>
                                      </p:cBhvr>
                                      <p:to>
                                        <p:strVal val="visible"/>
                                      </p:to>
                                    </p:set>
                                    <p:animEffect transition="in" filter="fade">
                                      <p:cBhvr>
                                        <p:cTn id="6" dur="450"/>
                                        <p:tgtEl>
                                          <p:spTgt spid="13"/>
                                        </p:tgtEl>
                                      </p:cBhvr>
                                    </p:animEffect>
                                  </p:childTnLst>
                                </p:cTn>
                              </p:par>
                            </p:childTnLst>
                          </p:cTn>
                        </p:par>
                      </p:childTnLst>
                    </p:cTn>
                  </p:par>
                  <p:par>
                    <p:cTn id="12" fill="hold">
                      <p:stCondLst>
                        <p:cond delay="0"/>
                      </p:stCondLst>
                      <p:childTnLst>
                        <p:par>
                          <p:cTn id="13" fill="hold">
                            <p:stCondLst>
                              <p:cond delay="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childTnLst>
                    </p:cTn>
                  </p:par>
                  <p:par>
                    <p:cTn id="20" fill="hold">
                      <p:stCondLst>
                        <p:cond delay="0"/>
                      </p:stCondLst>
                      <p:childTnLst>
                        <p:par>
                          <p:cTn id="21" fill="hold">
                            <p:stCondLst>
                              <p:cond delay="0"/>
                            </p:stCondLst>
                            <p:childTnLst>
                              <p:par>
                                <p:cTn id="14" presetID="10" presetClass="entr" presetSubtype="0" fill="hold" grpId="0" nodeType="afterEffect">
                                  <p:stCondLst>
                                    <p:cond delay="4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50"/>
                                        <p:tgtEl>
                                          <p:spTgt spid="16"/>
                                        </p:tgtEl>
                                      </p:cBhvr>
                                    </p:animEffect>
                                  </p:childTnLst>
                                </p:cTn>
                              </p:par>
                              <p:par>
                                <p:cTn id="17" presetID="10" presetClass="entr" presetSubtype="0" fill="hold" grpId="0" nodeType="withEffect">
                                  <p:stCondLst>
                                    <p:cond delay="53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MODEL EVALUATION AND PERFORMANCE · Internal validity metrics, since no ground-truth labels exist</a:t>
            </a:r>
          </a:p>
          <a:p>
            <a:pPr algn="l">
              <a:spcBef>
                <a:spcPts val="200"/>
              </a:spcBef>
              <a:defRPr>
                <a:latin typeface="Times New Roman"/>
              </a:defRPr>
            </a:pPr>
            <a:r>
              <a:rPr sz="2500" b="1">
                <a:solidFill>
                  <a:srgbClr val="FFFFFF"/>
                </a:solidFill>
                <a:latin typeface="Georgia"/>
              </a:rPr>
              <a:t>K = 2 wins on every internal validity metric</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2 / 3</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REN SIYU</a:t>
            </a:r>
          </a:p>
        </p:txBody>
      </p:sp>
      <p:sp>
        <p:nvSpPr>
          <p:cNvPr id="12" name="TextBox 11"/>
          <p:cNvSpPr txBox="1"/>
          <p:nvPr/>
        </p:nvSpPr>
        <p:spPr>
          <a:xfrm>
            <a:off x="7818120" y="6492240"/>
            <a:ext cx="2743200" cy="292608"/>
          </a:xfrm>
          <a:prstGeom prst="rect">
            <a:avLst/>
          </a:prstGeom>
          <a:noFill/>
          <a:ln>
            <a:noFill/>
          </a:ln>
          <a:effectLst/>
        </p:spPr>
        <p:txBody>
          <a:bodyPr wrap="square" anchor="ctr" lIns="45720" rIns="45720" tIns="18288" bIns="18288">
            <a:spAutoFit/>
          </a:bodyPr>
          <a:lstStyle/>
          <a:p>
            <a:pPr algn="r">
              <a:defRPr>
                <a:latin typeface="Times New Roman"/>
              </a:defRPr>
            </a:pPr>
            <a:r>
              <a:rPr sz="1300" b="0">
                <a:solidFill>
                  <a:srgbClr val="6E7672"/>
                </a:solidFill>
                <a:latin typeface="Times New Roman"/>
              </a:rPr>
              <a:t>[5]</a:t>
            </a:r>
          </a:p>
        </p:txBody>
      </p:sp>
      <p:sp>
        <p:nvSpPr>
          <p:cNvPr id="13" name="TextBox 12"/>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16</a:t>
            </a:r>
          </a:p>
        </p:txBody>
      </p:sp>
      <p:graphicFrame>
        <p:nvGraphicFramePr>
          <p:cNvPr id="14" name="Table 13"/>
          <p:cNvGraphicFramePr>
            <a:graphicFrameLocks noGrp="1"/>
          </p:cNvGraphicFramePr>
          <p:nvPr/>
        </p:nvGraphicFramePr>
        <p:xfrm>
          <a:off x="457200" y="1188720"/>
          <a:ext cx="6446520" cy="4114800"/>
        </p:xfrm>
        <a:graphic>
          <a:graphicData uri="http://schemas.openxmlformats.org/drawingml/2006/table">
            <a:tbl>
              <a:tblPr firstRow="1" bandRow="1">
                <a:tableStyleId>{5C22544A-7EE6-4342-B048-85BDC9FD1C3A}</a:tableStyleId>
              </a:tblPr>
              <a:tblGrid>
                <a:gridCol w="640080"/>
                <a:gridCol w="1451610"/>
                <a:gridCol w="1451610"/>
                <a:gridCol w="1451610"/>
                <a:gridCol w="1451610"/>
              </a:tblGrid>
              <a:tr h="514350">
                <a:tc>
                  <a:txBody>
                    <a:bodyPr/>
                    <a:lstStyle/>
                    <a:p>
                      <a:pPr algn="ctr">
                        <a:defRPr>
                          <a:latin typeface="Times New Roman"/>
                        </a:defRPr>
                      </a:pPr>
                      <a:r>
                        <a:rPr sz="1300" b="1">
                          <a:solidFill>
                            <a:srgbClr val="FFFFFF"/>
                          </a:solidFill>
                          <a:latin typeface="Times New Roman"/>
                        </a:rPr>
                        <a:t>K</a:t>
                      </a:r>
                    </a:p>
                  </a:txBody>
                  <a:tcPr>
                    <a:solidFill>
                      <a:srgbClr val="252B30"/>
                    </a:solidFill>
                  </a:tcPr>
                </a:tc>
                <a:tc>
                  <a:txBody>
                    <a:bodyPr/>
                    <a:lstStyle/>
                    <a:p>
                      <a:pPr algn="ctr">
                        <a:defRPr>
                          <a:latin typeface="Times New Roman"/>
                        </a:defRPr>
                      </a:pPr>
                      <a:r>
                        <a:rPr sz="1300" b="1">
                          <a:solidFill>
                            <a:srgbClr val="FFFFFF"/>
                          </a:solidFill>
                          <a:latin typeface="Times New Roman"/>
                        </a:rPr>
                        <a:t>Inertia (lower)</a:t>
                      </a:r>
                    </a:p>
                  </a:txBody>
                  <a:tcPr>
                    <a:solidFill>
                      <a:srgbClr val="252B30"/>
                    </a:solidFill>
                  </a:tcPr>
                </a:tc>
                <a:tc>
                  <a:txBody>
                    <a:bodyPr/>
                    <a:lstStyle/>
                    <a:p>
                      <a:pPr algn="ctr">
                        <a:defRPr>
                          <a:latin typeface="Times New Roman"/>
                        </a:defRPr>
                      </a:pPr>
                      <a:r>
                        <a:rPr sz="1300" b="1">
                          <a:solidFill>
                            <a:srgbClr val="FFFFFF"/>
                          </a:solidFill>
                          <a:latin typeface="Times New Roman"/>
                        </a:rPr>
                        <a:t>Silhouette (higher)</a:t>
                      </a:r>
                    </a:p>
                  </a:txBody>
                  <a:tcPr>
                    <a:solidFill>
                      <a:srgbClr val="252B30"/>
                    </a:solidFill>
                  </a:tcPr>
                </a:tc>
                <a:tc>
                  <a:txBody>
                    <a:bodyPr/>
                    <a:lstStyle/>
                    <a:p>
                      <a:pPr algn="ctr">
                        <a:defRPr>
                          <a:latin typeface="Times New Roman"/>
                        </a:defRPr>
                      </a:pPr>
                      <a:r>
                        <a:rPr sz="1300" b="1">
                          <a:solidFill>
                            <a:srgbClr val="FFFFFF"/>
                          </a:solidFill>
                          <a:latin typeface="Times New Roman"/>
                        </a:rPr>
                        <a:t>Davies-Bouldin (lower)</a:t>
                      </a:r>
                    </a:p>
                  </a:txBody>
                  <a:tcPr>
                    <a:solidFill>
                      <a:srgbClr val="252B30"/>
                    </a:solidFill>
                  </a:tcPr>
                </a:tc>
                <a:tc>
                  <a:txBody>
                    <a:bodyPr/>
                    <a:lstStyle/>
                    <a:p>
                      <a:pPr algn="ctr">
                        <a:defRPr>
                          <a:latin typeface="Times New Roman"/>
                        </a:defRPr>
                      </a:pPr>
                      <a:r>
                        <a:rPr sz="1300" b="1">
                          <a:solidFill>
                            <a:srgbClr val="FFFFFF"/>
                          </a:solidFill>
                          <a:latin typeface="Times New Roman"/>
                        </a:rPr>
                        <a:t>Calinski-Harabasz (higher)</a:t>
                      </a:r>
                    </a:p>
                  </a:txBody>
                  <a:tcPr>
                    <a:solidFill>
                      <a:srgbClr val="252B30"/>
                    </a:solidFill>
                  </a:tcPr>
                </a:tc>
              </a:tr>
              <a:tr h="514350">
                <a:tc>
                  <a:txBody>
                    <a:bodyPr/>
                    <a:lstStyle/>
                    <a:p>
                      <a:pPr algn="ctr">
                        <a:defRPr>
                          <a:latin typeface="Times New Roman"/>
                        </a:defRPr>
                      </a:pPr>
                      <a:r>
                        <a:rPr sz="1300" b="1">
                          <a:solidFill>
                            <a:srgbClr val="FFFFFF"/>
                          </a:solidFill>
                          <a:latin typeface="Times New Roman"/>
                        </a:rPr>
                        <a:t>2</a:t>
                      </a:r>
                    </a:p>
                  </a:txBody>
                  <a:tcPr>
                    <a:solidFill>
                      <a:srgbClr val="2F5248"/>
                    </a:solidFill>
                  </a:tcPr>
                </a:tc>
                <a:tc>
                  <a:txBody>
                    <a:bodyPr/>
                    <a:lstStyle/>
                    <a:p>
                      <a:pPr algn="ctr">
                        <a:defRPr>
                          <a:latin typeface="Times New Roman"/>
                        </a:defRPr>
                      </a:pPr>
                      <a:r>
                        <a:rPr sz="1300" b="1">
                          <a:solidFill>
                            <a:srgbClr val="FFFFFF"/>
                          </a:solidFill>
                          <a:latin typeface="Times New Roman"/>
                        </a:rPr>
                        <a:t>1675.8</a:t>
                      </a:r>
                    </a:p>
                  </a:txBody>
                  <a:tcPr>
                    <a:solidFill>
                      <a:srgbClr val="2F5248"/>
                    </a:solidFill>
                  </a:tcPr>
                </a:tc>
                <a:tc>
                  <a:txBody>
                    <a:bodyPr/>
                    <a:lstStyle/>
                    <a:p>
                      <a:pPr algn="ctr">
                        <a:defRPr>
                          <a:latin typeface="Times New Roman"/>
                        </a:defRPr>
                      </a:pPr>
                      <a:r>
                        <a:rPr sz="1300" b="1">
                          <a:solidFill>
                            <a:srgbClr val="FFFFFF"/>
                          </a:solidFill>
                          <a:latin typeface="Times New Roman"/>
                        </a:rPr>
                        <a:t>0.486</a:t>
                      </a:r>
                    </a:p>
                  </a:txBody>
                  <a:tcPr>
                    <a:solidFill>
                      <a:srgbClr val="2F5248"/>
                    </a:solidFill>
                  </a:tcPr>
                </a:tc>
                <a:tc>
                  <a:txBody>
                    <a:bodyPr/>
                    <a:lstStyle/>
                    <a:p>
                      <a:pPr algn="ctr">
                        <a:defRPr>
                          <a:latin typeface="Times New Roman"/>
                        </a:defRPr>
                      </a:pPr>
                      <a:r>
                        <a:rPr sz="1300" b="1">
                          <a:solidFill>
                            <a:srgbClr val="FFFFFF"/>
                          </a:solidFill>
                          <a:latin typeface="Times New Roman"/>
                        </a:rPr>
                        <a:t>0.865</a:t>
                      </a:r>
                    </a:p>
                  </a:txBody>
                  <a:tcPr>
                    <a:solidFill>
                      <a:srgbClr val="2F5248"/>
                    </a:solidFill>
                  </a:tcPr>
                </a:tc>
                <a:tc>
                  <a:txBody>
                    <a:bodyPr/>
                    <a:lstStyle/>
                    <a:p>
                      <a:pPr algn="ctr">
                        <a:defRPr>
                          <a:latin typeface="Times New Roman"/>
                        </a:defRPr>
                      </a:pPr>
                      <a:r>
                        <a:rPr sz="1300" b="1">
                          <a:solidFill>
                            <a:srgbClr val="FFFFFF"/>
                          </a:solidFill>
                          <a:latin typeface="Times New Roman"/>
                        </a:rPr>
                        <a:t>98.3</a:t>
                      </a:r>
                    </a:p>
                  </a:txBody>
                  <a:tcPr>
                    <a:solidFill>
                      <a:srgbClr val="2F5248"/>
                    </a:solidFill>
                  </a:tcPr>
                </a:tc>
              </a:tr>
              <a:tr h="514350">
                <a:tc>
                  <a:txBody>
                    <a:bodyPr/>
                    <a:lstStyle/>
                    <a:p>
                      <a:pPr algn="ctr">
                        <a:defRPr>
                          <a:latin typeface="Times New Roman"/>
                        </a:defRPr>
                      </a:pPr>
                      <a:r>
                        <a:rPr sz="1300" b="0">
                          <a:solidFill>
                            <a:srgbClr val="252B30"/>
                          </a:solidFill>
                          <a:latin typeface="Times New Roman"/>
                        </a:rPr>
                        <a:t>3</a:t>
                      </a:r>
                    </a:p>
                  </a:txBody>
                  <a:tcPr>
                    <a:solidFill>
                      <a:srgbClr val="FAFBFA"/>
                    </a:solidFill>
                  </a:tcPr>
                </a:tc>
                <a:tc>
                  <a:txBody>
                    <a:bodyPr/>
                    <a:lstStyle/>
                    <a:p>
                      <a:pPr algn="ctr">
                        <a:defRPr>
                          <a:latin typeface="Times New Roman"/>
                        </a:defRPr>
                      </a:pPr>
                      <a:r>
                        <a:rPr sz="1300" b="0">
                          <a:solidFill>
                            <a:srgbClr val="252B30"/>
                          </a:solidFill>
                          <a:latin typeface="Times New Roman"/>
                        </a:rPr>
                        <a:t>1296.4</a:t>
                      </a:r>
                    </a:p>
                  </a:txBody>
                  <a:tcPr>
                    <a:solidFill>
                      <a:srgbClr val="FAFBFA"/>
                    </a:solidFill>
                  </a:tcPr>
                </a:tc>
                <a:tc>
                  <a:txBody>
                    <a:bodyPr/>
                    <a:lstStyle/>
                    <a:p>
                      <a:pPr algn="ctr">
                        <a:defRPr>
                          <a:latin typeface="Times New Roman"/>
                        </a:defRPr>
                      </a:pPr>
                      <a:r>
                        <a:rPr sz="1300" b="0">
                          <a:solidFill>
                            <a:srgbClr val="252B30"/>
                          </a:solidFill>
                          <a:latin typeface="Times New Roman"/>
                        </a:rPr>
                        <a:t>0.361</a:t>
                      </a:r>
                    </a:p>
                  </a:txBody>
                  <a:tcPr>
                    <a:solidFill>
                      <a:srgbClr val="FAFBFA"/>
                    </a:solidFill>
                  </a:tcPr>
                </a:tc>
                <a:tc>
                  <a:txBody>
                    <a:bodyPr/>
                    <a:lstStyle/>
                    <a:p>
                      <a:pPr algn="ctr">
                        <a:defRPr>
                          <a:latin typeface="Times New Roman"/>
                        </a:defRPr>
                      </a:pPr>
                      <a:r>
                        <a:rPr sz="1300" b="0">
                          <a:solidFill>
                            <a:srgbClr val="252B30"/>
                          </a:solidFill>
                          <a:latin typeface="Times New Roman"/>
                        </a:rPr>
                        <a:t>0.969</a:t>
                      </a:r>
                    </a:p>
                  </a:txBody>
                  <a:tcPr>
                    <a:solidFill>
                      <a:srgbClr val="FAFBFA"/>
                    </a:solidFill>
                  </a:tcPr>
                </a:tc>
                <a:tc>
                  <a:txBody>
                    <a:bodyPr/>
                    <a:lstStyle/>
                    <a:p>
                      <a:pPr algn="ctr">
                        <a:defRPr>
                          <a:latin typeface="Times New Roman"/>
                        </a:defRPr>
                      </a:pPr>
                      <a:r>
                        <a:rPr sz="1300" b="0">
                          <a:solidFill>
                            <a:srgbClr val="252B30"/>
                          </a:solidFill>
                          <a:latin typeface="Times New Roman"/>
                        </a:rPr>
                        <a:t>91.0</a:t>
                      </a:r>
                    </a:p>
                  </a:txBody>
                  <a:tcPr>
                    <a:solidFill>
                      <a:srgbClr val="FAFBFA"/>
                    </a:solidFill>
                  </a:tcPr>
                </a:tc>
              </a:tr>
              <a:tr h="514350">
                <a:tc>
                  <a:txBody>
                    <a:bodyPr/>
                    <a:lstStyle/>
                    <a:p>
                      <a:pPr algn="ctr">
                        <a:defRPr>
                          <a:latin typeface="Times New Roman"/>
                        </a:defRPr>
                      </a:pPr>
                      <a:r>
                        <a:rPr sz="1300" b="0">
                          <a:solidFill>
                            <a:srgbClr val="252B30"/>
                          </a:solidFill>
                          <a:latin typeface="Times New Roman"/>
                        </a:rPr>
                        <a:t>4</a:t>
                      </a:r>
                    </a:p>
                  </a:txBody>
                  <a:tcPr>
                    <a:solidFill>
                      <a:srgbClr val="FFFFFF"/>
                    </a:solidFill>
                  </a:tcPr>
                </a:tc>
                <a:tc>
                  <a:txBody>
                    <a:bodyPr/>
                    <a:lstStyle/>
                    <a:p>
                      <a:pPr algn="ctr">
                        <a:defRPr>
                          <a:latin typeface="Times New Roman"/>
                        </a:defRPr>
                      </a:pPr>
                      <a:r>
                        <a:rPr sz="1300" b="0">
                          <a:solidFill>
                            <a:srgbClr val="252B30"/>
                          </a:solidFill>
                          <a:latin typeface="Times New Roman"/>
                        </a:rPr>
                        <a:t>1064.7</a:t>
                      </a:r>
                    </a:p>
                  </a:txBody>
                  <a:tcPr>
                    <a:solidFill>
                      <a:srgbClr val="FFFFFF"/>
                    </a:solidFill>
                  </a:tcPr>
                </a:tc>
                <a:tc>
                  <a:txBody>
                    <a:bodyPr/>
                    <a:lstStyle/>
                    <a:p>
                      <a:pPr algn="ctr">
                        <a:defRPr>
                          <a:latin typeface="Times New Roman"/>
                        </a:defRPr>
                      </a:pPr>
                      <a:r>
                        <a:rPr sz="1300" b="0">
                          <a:solidFill>
                            <a:srgbClr val="252B30"/>
                          </a:solidFill>
                          <a:latin typeface="Times New Roman"/>
                        </a:rPr>
                        <a:t>0.271</a:t>
                      </a:r>
                    </a:p>
                  </a:txBody>
                  <a:tcPr>
                    <a:solidFill>
                      <a:srgbClr val="FFFFFF"/>
                    </a:solidFill>
                  </a:tcPr>
                </a:tc>
                <a:tc>
                  <a:txBody>
                    <a:bodyPr/>
                    <a:lstStyle/>
                    <a:p>
                      <a:pPr algn="ctr">
                        <a:defRPr>
                          <a:latin typeface="Times New Roman"/>
                        </a:defRPr>
                      </a:pPr>
                      <a:r>
                        <a:rPr sz="1300" b="0">
                          <a:solidFill>
                            <a:srgbClr val="252B30"/>
                          </a:solidFill>
                          <a:latin typeface="Times New Roman"/>
                        </a:rPr>
                        <a:t>1.168</a:t>
                      </a:r>
                    </a:p>
                  </a:txBody>
                  <a:tcPr>
                    <a:solidFill>
                      <a:srgbClr val="FFFFFF"/>
                    </a:solidFill>
                  </a:tcPr>
                </a:tc>
                <a:tc>
                  <a:txBody>
                    <a:bodyPr/>
                    <a:lstStyle/>
                    <a:p>
                      <a:pPr algn="ctr">
                        <a:defRPr>
                          <a:latin typeface="Times New Roman"/>
                        </a:defRPr>
                      </a:pPr>
                      <a:r>
                        <a:rPr sz="1300" b="0">
                          <a:solidFill>
                            <a:srgbClr val="252B30"/>
                          </a:solidFill>
                          <a:latin typeface="Times New Roman"/>
                        </a:rPr>
                        <a:t>87.2</a:t>
                      </a:r>
                    </a:p>
                  </a:txBody>
                  <a:tcPr>
                    <a:solidFill>
                      <a:srgbClr val="FFFFFF"/>
                    </a:solidFill>
                  </a:tcPr>
                </a:tc>
              </a:tr>
              <a:tr h="514350">
                <a:tc>
                  <a:txBody>
                    <a:bodyPr/>
                    <a:lstStyle/>
                    <a:p>
                      <a:pPr algn="ctr">
                        <a:defRPr>
                          <a:latin typeface="Times New Roman"/>
                        </a:defRPr>
                      </a:pPr>
                      <a:r>
                        <a:rPr sz="1300" b="0">
                          <a:solidFill>
                            <a:srgbClr val="252B30"/>
                          </a:solidFill>
                          <a:latin typeface="Times New Roman"/>
                        </a:rPr>
                        <a:t>5</a:t>
                      </a:r>
                    </a:p>
                  </a:txBody>
                  <a:tcPr>
                    <a:solidFill>
                      <a:srgbClr val="FAFBFA"/>
                    </a:solidFill>
                  </a:tcPr>
                </a:tc>
                <a:tc>
                  <a:txBody>
                    <a:bodyPr/>
                    <a:lstStyle/>
                    <a:p>
                      <a:pPr algn="ctr">
                        <a:defRPr>
                          <a:latin typeface="Times New Roman"/>
                        </a:defRPr>
                      </a:pPr>
                      <a:r>
                        <a:rPr sz="1300" b="0">
                          <a:solidFill>
                            <a:srgbClr val="252B30"/>
                          </a:solidFill>
                          <a:latin typeface="Times New Roman"/>
                        </a:rPr>
                        <a:t>915.9</a:t>
                      </a:r>
                    </a:p>
                  </a:txBody>
                  <a:tcPr>
                    <a:solidFill>
                      <a:srgbClr val="FAFBFA"/>
                    </a:solidFill>
                  </a:tcPr>
                </a:tc>
                <a:tc>
                  <a:txBody>
                    <a:bodyPr/>
                    <a:lstStyle/>
                    <a:p>
                      <a:pPr algn="ctr">
                        <a:defRPr>
                          <a:latin typeface="Times New Roman"/>
                        </a:defRPr>
                      </a:pPr>
                      <a:r>
                        <a:rPr sz="1300" b="0">
                          <a:solidFill>
                            <a:srgbClr val="252B30"/>
                          </a:solidFill>
                          <a:latin typeface="Times New Roman"/>
                        </a:rPr>
                        <a:t>0.278</a:t>
                      </a:r>
                    </a:p>
                  </a:txBody>
                  <a:tcPr>
                    <a:solidFill>
                      <a:srgbClr val="FAFBFA"/>
                    </a:solidFill>
                  </a:tcPr>
                </a:tc>
                <a:tc>
                  <a:txBody>
                    <a:bodyPr/>
                    <a:lstStyle/>
                    <a:p>
                      <a:pPr algn="ctr">
                        <a:defRPr>
                          <a:latin typeface="Times New Roman"/>
                        </a:defRPr>
                      </a:pPr>
                      <a:r>
                        <a:rPr sz="1300" b="0">
                          <a:solidFill>
                            <a:srgbClr val="252B30"/>
                          </a:solidFill>
                          <a:latin typeface="Times New Roman"/>
                        </a:rPr>
                        <a:t>1.086</a:t>
                      </a:r>
                    </a:p>
                  </a:txBody>
                  <a:tcPr>
                    <a:solidFill>
                      <a:srgbClr val="FAFBFA"/>
                    </a:solidFill>
                  </a:tcPr>
                </a:tc>
                <a:tc>
                  <a:txBody>
                    <a:bodyPr/>
                    <a:lstStyle/>
                    <a:p>
                      <a:pPr algn="ctr">
                        <a:defRPr>
                          <a:latin typeface="Times New Roman"/>
                        </a:defRPr>
                      </a:pPr>
                      <a:r>
                        <a:rPr sz="1300" b="0">
                          <a:solidFill>
                            <a:srgbClr val="252B30"/>
                          </a:solidFill>
                          <a:latin typeface="Times New Roman"/>
                        </a:rPr>
                        <a:t>83.2</a:t>
                      </a:r>
                    </a:p>
                  </a:txBody>
                  <a:tcPr>
                    <a:solidFill>
                      <a:srgbClr val="FAFBFA"/>
                    </a:solidFill>
                  </a:tcPr>
                </a:tc>
              </a:tr>
              <a:tr h="514350">
                <a:tc>
                  <a:txBody>
                    <a:bodyPr/>
                    <a:lstStyle/>
                    <a:p>
                      <a:pPr algn="ctr">
                        <a:defRPr>
                          <a:latin typeface="Times New Roman"/>
                        </a:defRPr>
                      </a:pPr>
                      <a:r>
                        <a:rPr sz="1300" b="0">
                          <a:solidFill>
                            <a:srgbClr val="252B30"/>
                          </a:solidFill>
                          <a:latin typeface="Times New Roman"/>
                        </a:rPr>
                        <a:t>6</a:t>
                      </a:r>
                    </a:p>
                  </a:txBody>
                  <a:tcPr>
                    <a:solidFill>
                      <a:srgbClr val="FFFFFF"/>
                    </a:solidFill>
                  </a:tcPr>
                </a:tc>
                <a:tc>
                  <a:txBody>
                    <a:bodyPr/>
                    <a:lstStyle/>
                    <a:p>
                      <a:pPr algn="ctr">
                        <a:defRPr>
                          <a:latin typeface="Times New Roman"/>
                        </a:defRPr>
                      </a:pPr>
                      <a:r>
                        <a:rPr sz="1300" b="0">
                          <a:solidFill>
                            <a:srgbClr val="252B30"/>
                          </a:solidFill>
                          <a:latin typeface="Times New Roman"/>
                        </a:rPr>
                        <a:t>782.4</a:t>
                      </a:r>
                    </a:p>
                  </a:txBody>
                  <a:tcPr>
                    <a:solidFill>
                      <a:srgbClr val="FFFFFF"/>
                    </a:solidFill>
                  </a:tcPr>
                </a:tc>
                <a:tc>
                  <a:txBody>
                    <a:bodyPr/>
                    <a:lstStyle/>
                    <a:p>
                      <a:pPr algn="ctr">
                        <a:defRPr>
                          <a:latin typeface="Times New Roman"/>
                        </a:defRPr>
                      </a:pPr>
                      <a:r>
                        <a:rPr sz="1300" b="0">
                          <a:solidFill>
                            <a:srgbClr val="252B30"/>
                          </a:solidFill>
                          <a:latin typeface="Times New Roman"/>
                        </a:rPr>
                        <a:t>0.283</a:t>
                      </a:r>
                    </a:p>
                  </a:txBody>
                  <a:tcPr>
                    <a:solidFill>
                      <a:srgbClr val="FFFFFF"/>
                    </a:solidFill>
                  </a:tcPr>
                </a:tc>
                <a:tc>
                  <a:txBody>
                    <a:bodyPr/>
                    <a:lstStyle/>
                    <a:p>
                      <a:pPr algn="ctr">
                        <a:defRPr>
                          <a:latin typeface="Times New Roman"/>
                        </a:defRPr>
                      </a:pPr>
                      <a:r>
                        <a:rPr sz="1300" b="0">
                          <a:solidFill>
                            <a:srgbClr val="252B30"/>
                          </a:solidFill>
                          <a:latin typeface="Times New Roman"/>
                        </a:rPr>
                        <a:t>1.004</a:t>
                      </a:r>
                    </a:p>
                  </a:txBody>
                  <a:tcPr>
                    <a:solidFill>
                      <a:srgbClr val="FFFFFF"/>
                    </a:solidFill>
                  </a:tcPr>
                </a:tc>
                <a:tc>
                  <a:txBody>
                    <a:bodyPr/>
                    <a:lstStyle/>
                    <a:p>
                      <a:pPr algn="ctr">
                        <a:defRPr>
                          <a:latin typeface="Times New Roman"/>
                        </a:defRPr>
                      </a:pPr>
                      <a:r>
                        <a:rPr sz="1300" b="0">
                          <a:solidFill>
                            <a:srgbClr val="252B30"/>
                          </a:solidFill>
                          <a:latin typeface="Times New Roman"/>
                        </a:rPr>
                        <a:t>83.9</a:t>
                      </a:r>
                    </a:p>
                  </a:txBody>
                  <a:tcPr>
                    <a:solidFill>
                      <a:srgbClr val="FFFFFF"/>
                    </a:solidFill>
                  </a:tcPr>
                </a:tc>
              </a:tr>
              <a:tr h="514350">
                <a:tc>
                  <a:txBody>
                    <a:bodyPr/>
                    <a:lstStyle/>
                    <a:p>
                      <a:pPr algn="ctr">
                        <a:defRPr>
                          <a:latin typeface="Times New Roman"/>
                        </a:defRPr>
                      </a:pPr>
                      <a:r>
                        <a:rPr sz="1300" b="0">
                          <a:solidFill>
                            <a:srgbClr val="252B30"/>
                          </a:solidFill>
                          <a:latin typeface="Times New Roman"/>
                        </a:rPr>
                        <a:t>7</a:t>
                      </a:r>
                    </a:p>
                  </a:txBody>
                  <a:tcPr>
                    <a:solidFill>
                      <a:srgbClr val="FAFBFA"/>
                    </a:solidFill>
                  </a:tcPr>
                </a:tc>
                <a:tc>
                  <a:txBody>
                    <a:bodyPr/>
                    <a:lstStyle/>
                    <a:p>
                      <a:pPr algn="ctr">
                        <a:defRPr>
                          <a:latin typeface="Times New Roman"/>
                        </a:defRPr>
                      </a:pPr>
                      <a:r>
                        <a:rPr sz="1300" b="0">
                          <a:solidFill>
                            <a:srgbClr val="252B30"/>
                          </a:solidFill>
                          <a:latin typeface="Times New Roman"/>
                        </a:rPr>
                        <a:t>700.6</a:t>
                      </a:r>
                    </a:p>
                  </a:txBody>
                  <a:tcPr>
                    <a:solidFill>
                      <a:srgbClr val="FAFBFA"/>
                    </a:solidFill>
                  </a:tcPr>
                </a:tc>
                <a:tc>
                  <a:txBody>
                    <a:bodyPr/>
                    <a:lstStyle/>
                    <a:p>
                      <a:pPr algn="ctr">
                        <a:defRPr>
                          <a:latin typeface="Times New Roman"/>
                        </a:defRPr>
                      </a:pPr>
                      <a:r>
                        <a:rPr sz="1300" b="0">
                          <a:solidFill>
                            <a:srgbClr val="252B30"/>
                          </a:solidFill>
                          <a:latin typeface="Times New Roman"/>
                        </a:rPr>
                        <a:t>0.265</a:t>
                      </a:r>
                    </a:p>
                  </a:txBody>
                  <a:tcPr>
                    <a:solidFill>
                      <a:srgbClr val="FAFBFA"/>
                    </a:solidFill>
                  </a:tcPr>
                </a:tc>
                <a:tc>
                  <a:txBody>
                    <a:bodyPr/>
                    <a:lstStyle/>
                    <a:p>
                      <a:pPr algn="ctr">
                        <a:defRPr>
                          <a:latin typeface="Times New Roman"/>
                        </a:defRPr>
                      </a:pPr>
                      <a:r>
                        <a:rPr sz="1300" b="0">
                          <a:solidFill>
                            <a:srgbClr val="252B30"/>
                          </a:solidFill>
                          <a:latin typeface="Times New Roman"/>
                        </a:rPr>
                        <a:t>1.071</a:t>
                      </a:r>
                    </a:p>
                  </a:txBody>
                  <a:tcPr>
                    <a:solidFill>
                      <a:srgbClr val="FAFBFA"/>
                    </a:solidFill>
                  </a:tcPr>
                </a:tc>
                <a:tc>
                  <a:txBody>
                    <a:bodyPr/>
                    <a:lstStyle/>
                    <a:p>
                      <a:pPr algn="ctr">
                        <a:defRPr>
                          <a:latin typeface="Times New Roman"/>
                        </a:defRPr>
                      </a:pPr>
                      <a:r>
                        <a:rPr sz="1300" b="0">
                          <a:solidFill>
                            <a:srgbClr val="252B30"/>
                          </a:solidFill>
                          <a:latin typeface="Times New Roman"/>
                        </a:rPr>
                        <a:t>81.3</a:t>
                      </a:r>
                    </a:p>
                  </a:txBody>
                  <a:tcPr>
                    <a:solidFill>
                      <a:srgbClr val="FAFBFA"/>
                    </a:solidFill>
                  </a:tcPr>
                </a:tc>
              </a:tr>
              <a:tr h="514350">
                <a:tc>
                  <a:txBody>
                    <a:bodyPr/>
                    <a:lstStyle/>
                    <a:p>
                      <a:pPr algn="ctr">
                        <a:defRPr>
                          <a:latin typeface="Times New Roman"/>
                        </a:defRPr>
                      </a:pPr>
                      <a:r>
                        <a:rPr sz="1300" b="0">
                          <a:solidFill>
                            <a:srgbClr val="252B30"/>
                          </a:solidFill>
                          <a:latin typeface="Times New Roman"/>
                        </a:rPr>
                        <a:t>8</a:t>
                      </a:r>
                    </a:p>
                  </a:txBody>
                  <a:tcPr>
                    <a:solidFill>
                      <a:srgbClr val="FFFFFF"/>
                    </a:solidFill>
                  </a:tcPr>
                </a:tc>
                <a:tc>
                  <a:txBody>
                    <a:bodyPr/>
                    <a:lstStyle/>
                    <a:p>
                      <a:pPr algn="ctr">
                        <a:defRPr>
                          <a:latin typeface="Times New Roman"/>
                        </a:defRPr>
                      </a:pPr>
                      <a:r>
                        <a:rPr sz="1300" b="0">
                          <a:solidFill>
                            <a:srgbClr val="252B30"/>
                          </a:solidFill>
                          <a:latin typeface="Times New Roman"/>
                        </a:rPr>
                        <a:t>647.4</a:t>
                      </a:r>
                    </a:p>
                  </a:txBody>
                  <a:tcPr>
                    <a:solidFill>
                      <a:srgbClr val="FFFFFF"/>
                    </a:solidFill>
                  </a:tcPr>
                </a:tc>
                <a:tc>
                  <a:txBody>
                    <a:bodyPr/>
                    <a:lstStyle/>
                    <a:p>
                      <a:pPr algn="ctr">
                        <a:defRPr>
                          <a:latin typeface="Times New Roman"/>
                        </a:defRPr>
                      </a:pPr>
                      <a:r>
                        <a:rPr sz="1300" b="0">
                          <a:solidFill>
                            <a:srgbClr val="252B30"/>
                          </a:solidFill>
                          <a:latin typeface="Times New Roman"/>
                        </a:rPr>
                        <a:t>0.263</a:t>
                      </a:r>
                    </a:p>
                  </a:txBody>
                  <a:tcPr>
                    <a:solidFill>
                      <a:srgbClr val="FFFFFF"/>
                    </a:solidFill>
                  </a:tcPr>
                </a:tc>
                <a:tc>
                  <a:txBody>
                    <a:bodyPr/>
                    <a:lstStyle/>
                    <a:p>
                      <a:pPr algn="ctr">
                        <a:defRPr>
                          <a:latin typeface="Times New Roman"/>
                        </a:defRPr>
                      </a:pPr>
                      <a:r>
                        <a:rPr sz="1300" b="0">
                          <a:solidFill>
                            <a:srgbClr val="252B30"/>
                          </a:solidFill>
                          <a:latin typeface="Times New Roman"/>
                        </a:rPr>
                        <a:t>1.045</a:t>
                      </a:r>
                    </a:p>
                  </a:txBody>
                  <a:tcPr>
                    <a:solidFill>
                      <a:srgbClr val="FFFFFF"/>
                    </a:solidFill>
                  </a:tcPr>
                </a:tc>
                <a:tc>
                  <a:txBody>
                    <a:bodyPr/>
                    <a:lstStyle/>
                    <a:p>
                      <a:pPr algn="ctr">
                        <a:defRPr>
                          <a:latin typeface="Times New Roman"/>
                        </a:defRPr>
                      </a:pPr>
                      <a:r>
                        <a:rPr sz="1300" b="0">
                          <a:solidFill>
                            <a:srgbClr val="252B30"/>
                          </a:solidFill>
                          <a:latin typeface="Times New Roman"/>
                        </a:rPr>
                        <a:t>77.2</a:t>
                      </a:r>
                    </a:p>
                  </a:txBody>
                  <a:tcPr>
                    <a:solidFill>
                      <a:srgbClr val="FFFFFF"/>
                    </a:solidFill>
                  </a:tcPr>
                </a:tc>
              </a:tr>
            </a:tbl>
          </a:graphicData>
        </a:graphic>
      </p:graphicFrame>
      <p:sp>
        <p:nvSpPr>
          <p:cNvPr id="15" name="TextBox 14"/>
          <p:cNvSpPr txBox="1"/>
          <p:nvPr/>
        </p:nvSpPr>
        <p:spPr>
          <a:xfrm>
            <a:off x="457200" y="5394960"/>
            <a:ext cx="6446520" cy="45720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Highlighted row: K = 2 wins Silhouette, Davies-Bouldin and Calinski-Harabasz simultaneously.</a:t>
            </a:r>
          </a:p>
        </p:txBody>
      </p:sp>
      <p:sp>
        <p:nvSpPr>
          <p:cNvPr id="16" name="anim_135"/>
          <p:cNvSpPr/>
          <p:nvPr/>
        </p:nvSpPr>
        <p:spPr>
          <a:xfrm>
            <a:off x="7178040" y="1188720"/>
            <a:ext cx="420624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7" name="anim_136"/>
          <p:cNvSpPr txBox="1"/>
          <p:nvPr/>
        </p:nvSpPr>
        <p:spPr>
          <a:xfrm>
            <a:off x="7342631" y="1261872"/>
            <a:ext cx="3931920" cy="7498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4F6E96"/>
                </a:solidFill>
                <a:latin typeface="Times New Roman"/>
              </a:rPr>
              <a:t>SILHOUETTE</a:t>
            </a:r>
          </a:p>
          <a:p>
            <a:pPr algn="l">
              <a:defRPr>
                <a:latin typeface="Times New Roman"/>
              </a:defRPr>
            </a:pPr>
            <a:r>
              <a:rPr sz="1300" b="0">
                <a:solidFill>
                  <a:srgbClr val="252B30"/>
                </a:solidFill>
                <a:latin typeface="Times New Roman"/>
              </a:rPr>
              <a:t>Rewards clusters that are internally compact and well separated from neighbours.</a:t>
            </a:r>
          </a:p>
        </p:txBody>
      </p:sp>
      <p:sp>
        <p:nvSpPr>
          <p:cNvPr id="18" name="anim_137"/>
          <p:cNvSpPr/>
          <p:nvPr/>
        </p:nvSpPr>
        <p:spPr>
          <a:xfrm>
            <a:off x="7178040" y="2176272"/>
            <a:ext cx="420624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9" name="anim_138"/>
          <p:cNvSpPr txBox="1"/>
          <p:nvPr/>
        </p:nvSpPr>
        <p:spPr>
          <a:xfrm>
            <a:off x="7342631" y="2249424"/>
            <a:ext cx="3931920" cy="7498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4F6E96"/>
                </a:solidFill>
                <a:latin typeface="Times New Roman"/>
              </a:rPr>
              <a:t>DAVIES-BOULDIN</a:t>
            </a:r>
          </a:p>
          <a:p>
            <a:pPr algn="l">
              <a:defRPr>
                <a:latin typeface="Times New Roman"/>
              </a:defRPr>
            </a:pPr>
            <a:r>
              <a:rPr sz="1300" b="0">
                <a:solidFill>
                  <a:srgbClr val="252B30"/>
                </a:solidFill>
                <a:latin typeface="Times New Roman"/>
              </a:rPr>
              <a:t>Penalises overlap between cluster pairs; lower means cleaner separation.</a:t>
            </a:r>
          </a:p>
        </p:txBody>
      </p:sp>
      <p:sp>
        <p:nvSpPr>
          <p:cNvPr id="20" name="anim_139"/>
          <p:cNvSpPr/>
          <p:nvPr/>
        </p:nvSpPr>
        <p:spPr>
          <a:xfrm>
            <a:off x="7178040" y="3163824"/>
            <a:ext cx="420624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1" name="anim_140"/>
          <p:cNvSpPr txBox="1"/>
          <p:nvPr/>
        </p:nvSpPr>
        <p:spPr>
          <a:xfrm>
            <a:off x="7342631" y="3236976"/>
            <a:ext cx="3931920" cy="7498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4F6E96"/>
                </a:solidFill>
                <a:latin typeface="Times New Roman"/>
              </a:rPr>
              <a:t>CALINSKI-HARABASZ</a:t>
            </a:r>
          </a:p>
          <a:p>
            <a:pPr algn="l">
              <a:defRPr>
                <a:latin typeface="Times New Roman"/>
              </a:defRPr>
            </a:pPr>
            <a:r>
              <a:rPr sz="1300" b="0">
                <a:solidFill>
                  <a:srgbClr val="252B30"/>
                </a:solidFill>
                <a:latin typeface="Times New Roman"/>
              </a:rPr>
              <a:t>Compares between-cluster with within-cluster dispersion; higher is better.</a:t>
            </a:r>
          </a:p>
        </p:txBody>
      </p:sp>
      <p:sp>
        <p:nvSpPr>
          <p:cNvPr id="22" name="anim_141"/>
          <p:cNvSpPr/>
          <p:nvPr/>
        </p:nvSpPr>
        <p:spPr>
          <a:xfrm>
            <a:off x="7178040" y="4206240"/>
            <a:ext cx="4206240" cy="1463040"/>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3" name="anim_142"/>
          <p:cNvSpPr txBox="1"/>
          <p:nvPr/>
        </p:nvSpPr>
        <p:spPr>
          <a:xfrm>
            <a:off x="7342631" y="4334256"/>
            <a:ext cx="3931920" cy="128016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NO SUPERVISED ACCURACY</a:t>
            </a:r>
          </a:p>
          <a:p>
            <a:pPr algn="l">
              <a:spcBef>
                <a:spcPts val="400"/>
              </a:spcBef>
              <a:defRPr>
                <a:latin typeface="Times New Roman"/>
              </a:defRPr>
            </a:pPr>
            <a:r>
              <a:rPr sz="1300" b="0">
                <a:solidFill>
                  <a:srgbClr val="252B30"/>
                </a:solidFill>
                <a:latin typeface="Times New Roman"/>
              </a:rPr>
              <a:t>Accuracy, precision, recall, F1, ROC and confusion matrices require ground-truth labels. Pathways have none - evaluation therefore uses internal validity plus stability.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0"/>
                      </p:stCondLst>
                      <p:childTnLst>
                        <p:par>
                          <p:cTn id="11"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6"/>
                                        </p:tgtEl>
                                        <p:attrNameLst>
                                          <p:attrName>style.visibility</p:attrName>
                                        </p:attrNameLst>
                                      </p:cBhvr>
                                      <p:to>
                                        <p:strVal val="visible"/>
                                      </p:to>
                                    </p:set>
                                    <p:animEffect transition="in" filter="fade">
                                      <p:cBhvr>
                                        <p:cTn id="6" dur="450"/>
                                        <p:tgtEl>
                                          <p:spTgt spid="16"/>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50"/>
                                        <p:tgtEl>
                                          <p:spTgt spid="17"/>
                                        </p:tgtEl>
                                      </p:cBhvr>
                                    </p:animEffect>
                                  </p:childTnLst>
                                </p:cTn>
                              </p:par>
                            </p:childTnLst>
                          </p:cTn>
                        </p:par>
                      </p:childTnLst>
                    </p:cTn>
                  </p:par>
                  <p:par>
                    <p:cTn id="18" fill="hold">
                      <p:stCondLst>
                        <p:cond delay="0"/>
                      </p:stCondLst>
                      <p:childTnLst>
                        <p:par>
                          <p:cTn id="19" fill="hold">
                            <p:stCondLst>
                              <p:cond delay="0"/>
                            </p:stCondLst>
                            <p:childTnLst>
                              <p:par>
                                <p:cTn id="12" presetID="10" presetClass="entr" presetSubtype="0" fill="hold" grpId="0" nodeType="afterEffect">
                                  <p:stCondLst>
                                    <p:cond delay="4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50"/>
                                        <p:tgtEl>
                                          <p:spTgt spid="18"/>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50"/>
                                        <p:tgtEl>
                                          <p:spTgt spid="19"/>
                                        </p:tgtEl>
                                      </p:cBhvr>
                                    </p:animEffect>
                                  </p:childTnLst>
                                </p:cTn>
                              </p:par>
                            </p:childTnLst>
                          </p:cTn>
                        </p:par>
                      </p:childTnLst>
                    </p:cTn>
                  </p:par>
                  <p:par>
                    <p:cTn id="26" fill="hold">
                      <p:stCondLst>
                        <p:cond delay="0"/>
                      </p:stCondLst>
                      <p:childTnLst>
                        <p:par>
                          <p:cTn id="27" fill="hold">
                            <p:stCondLst>
                              <p:cond delay="0"/>
                            </p:stCondLst>
                            <p:childTnLst>
                              <p:par>
                                <p:cTn id="20" presetID="10" presetClass="entr" presetSubtype="0" fill="hold" grpId="0" nodeType="afterEffect">
                                  <p:stCondLst>
                                    <p:cond delay="40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50"/>
                                        <p:tgtEl>
                                          <p:spTgt spid="20"/>
                                        </p:tgtEl>
                                      </p:cBhvr>
                                    </p:animEffect>
                                  </p:childTnLst>
                                </p:cTn>
                              </p:par>
                              <p:par>
                                <p:cTn id="23" presetID="10" presetClass="entr" presetSubtype="0" fill="hold" grpId="0" nodeType="withEffect">
                                  <p:stCondLst>
                                    <p:cond delay="53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450"/>
                                        <p:tgtEl>
                                          <p:spTgt spid="21"/>
                                        </p:tgtEl>
                                      </p:cBhvr>
                                    </p:animEffect>
                                  </p:childTnLst>
                                </p:cTn>
                              </p:par>
                            </p:childTnLst>
                          </p:cTn>
                        </p:par>
                      </p:childTnLst>
                    </p:cTn>
                  </p:par>
                  <p:par>
                    <p:cTn id="34" fill="hold">
                      <p:stCondLst>
                        <p:cond delay="0"/>
                      </p:stCondLst>
                      <p:childTnLst>
                        <p:par>
                          <p:cTn id="35" fill="hold">
                            <p:stCondLst>
                              <p:cond delay="0"/>
                            </p:stCondLst>
                            <p:childTnLst>
                              <p:par>
                                <p:cTn id="28" presetID="10" presetClass="entr" presetSubtype="0" fill="hold" grpId="0" nodeType="afterEffect">
                                  <p:stCondLst>
                                    <p:cond delay="40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450"/>
                                        <p:tgtEl>
                                          <p:spTgt spid="22"/>
                                        </p:tgtEl>
                                      </p:cBhvr>
                                    </p:animEffect>
                                  </p:childTnLst>
                                </p:cTn>
                              </p:par>
                              <p:par>
                                <p:cTn id="31" presetID="10" presetClass="entr" presetSubtype="0" fill="hold" grpId="0" nodeType="withEffect">
                                  <p:stCondLst>
                                    <p:cond delay="53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MODEL EVALUATION AND PERFORMANCE · Resampling stability and membership confidence</a:t>
            </a:r>
          </a:p>
          <a:p>
            <a:pPr algn="l">
              <a:spcBef>
                <a:spcPts val="200"/>
              </a:spcBef>
              <a:defRPr>
                <a:latin typeface="Times New Roman"/>
              </a:defRPr>
            </a:pPr>
            <a:r>
              <a:rPr sz="2300" b="1">
                <a:solidFill>
                  <a:srgbClr val="FFFFFF"/>
                </a:solidFill>
                <a:latin typeface="Georgia"/>
              </a:rPr>
              <a:t>The split survives resampling; ten stay uncertain</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3 / 3</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REN SIYU</a:t>
            </a:r>
          </a:p>
        </p:txBody>
      </p:sp>
      <p:sp>
        <p:nvSpPr>
          <p:cNvPr id="12" name="TextBox 11"/>
          <p:cNvSpPr txBox="1"/>
          <p:nvPr/>
        </p:nvSpPr>
        <p:spPr>
          <a:xfrm>
            <a:off x="7818120" y="6492240"/>
            <a:ext cx="2743200" cy="292608"/>
          </a:xfrm>
          <a:prstGeom prst="rect">
            <a:avLst/>
          </a:prstGeom>
          <a:noFill/>
          <a:ln>
            <a:noFill/>
          </a:ln>
          <a:effectLst/>
        </p:spPr>
        <p:txBody>
          <a:bodyPr wrap="square" anchor="ctr" lIns="45720" rIns="45720" tIns="18288" bIns="18288">
            <a:spAutoFit/>
          </a:bodyPr>
          <a:lstStyle/>
          <a:p>
            <a:pPr algn="r">
              <a:defRPr>
                <a:latin typeface="Times New Roman"/>
              </a:defRPr>
            </a:pPr>
            <a:r>
              <a:rPr sz="1300" b="0">
                <a:solidFill>
                  <a:srgbClr val="6E7672"/>
                </a:solidFill>
                <a:latin typeface="Times New Roman"/>
              </a:rPr>
              <a:t>[6]</a:t>
            </a:r>
          </a:p>
        </p:txBody>
      </p:sp>
      <p:sp>
        <p:nvSpPr>
          <p:cNvPr id="13" name="TextBox 12"/>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17</a:t>
            </a:r>
          </a:p>
        </p:txBody>
      </p:sp>
      <p:pic>
        <p:nvPicPr>
          <p:cNvPr id="14" name="anim_143" descr="fig_stability_gmm.png"/>
          <p:cNvPicPr>
            <a:picLocks noChangeAspect="1"/>
          </p:cNvPicPr>
          <p:nvPr/>
        </p:nvPicPr>
        <p:blipFill>
          <a:blip r:embed="rId3"/>
          <a:stretch>
            <a:fillRect/>
          </a:stretch>
        </p:blipFill>
        <p:spPr>
          <a:xfrm>
            <a:off x="256032" y="1154973"/>
            <a:ext cx="8183879" cy="3158165"/>
          </a:xfrm>
          <a:prstGeom prst="rect">
            <a:avLst/>
          </a:prstGeom>
        </p:spPr>
      </p:pic>
      <p:sp>
        <p:nvSpPr>
          <p:cNvPr id="15" name="anim_144"/>
          <p:cNvSpPr txBox="1"/>
          <p:nvPr/>
        </p:nvSpPr>
        <p:spPr>
          <a:xfrm>
            <a:off x="457200" y="4626864"/>
            <a:ext cx="8046720" cy="329184"/>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Left: 100 refits on 80% country subsamples - median Adjusted Rand Index 0.965 (minimum 0.778). Right: GMM soft membership on the same feature space.</a:t>
            </a:r>
          </a:p>
        </p:txBody>
      </p:sp>
      <p:sp>
        <p:nvSpPr>
          <p:cNvPr id="16" name="TextBox 15"/>
          <p:cNvSpPr txBox="1"/>
          <p:nvPr/>
        </p:nvSpPr>
        <p:spPr>
          <a:xfrm>
            <a:off x="8595360" y="1115568"/>
            <a:ext cx="320040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BOUNDARY COUNTRIES</a:t>
            </a:r>
          </a:p>
        </p:txBody>
      </p:sp>
      <p:sp>
        <p:nvSpPr>
          <p:cNvPr id="17" name="anim_145"/>
          <p:cNvSpPr/>
          <p:nvPr/>
        </p:nvSpPr>
        <p:spPr>
          <a:xfrm>
            <a:off x="8595360" y="1426464"/>
            <a:ext cx="2788920" cy="283464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8" name="anim_146"/>
          <p:cNvSpPr txBox="1"/>
          <p:nvPr/>
        </p:nvSpPr>
        <p:spPr>
          <a:xfrm>
            <a:off x="8759952" y="1536192"/>
            <a:ext cx="2468880" cy="265176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BE7F4E"/>
                </a:solidFill>
                <a:latin typeface="Times New Roman"/>
              </a:rPr>
              <a:t>GMM confidence below 0.70:</a:t>
            </a:r>
          </a:p>
          <a:p>
            <a:pPr algn="l">
              <a:spcBef>
                <a:spcPts val="400"/>
              </a:spcBef>
              <a:defRPr>
                <a:latin typeface="Times New Roman"/>
              </a:defRPr>
            </a:pPr>
            <a:r>
              <a:rPr sz="1300" b="0">
                <a:solidFill>
                  <a:srgbClr val="252B30"/>
                </a:solidFill>
                <a:latin typeface="Times New Roman"/>
              </a:rPr>
              <a:t>South Korea 0.51 · Guatemala 0.53 · Trinidad &amp; Tobago 0.56 · Sri Lanka 0.61 · Estonia 0.63 · Venezuela 0.65 · Oman 0.66 · Jordan 0.66 · Madagascar 0.67 · Azerbaijan 0.68</a:t>
            </a:r>
          </a:p>
          <a:p>
            <a:pPr algn="l">
              <a:spcBef>
                <a:spcPts val="600"/>
              </a:spcBef>
              <a:defRPr>
                <a:latin typeface="Times New Roman"/>
              </a:defRPr>
            </a:pPr>
            <a:r>
              <a:rPr sz="1300" b="1">
                <a:solidFill>
                  <a:srgbClr val="2F5248"/>
                </a:solidFill>
                <a:latin typeface="Times New Roman"/>
              </a:rPr>
              <a:t>Not a third pathway - membership to be confirmed with more data.</a:t>
            </a:r>
          </a:p>
        </p:txBody>
      </p:sp>
      <p:sp>
        <p:nvSpPr>
          <p:cNvPr id="19" name="anim_147"/>
          <p:cNvSpPr/>
          <p:nvPr/>
        </p:nvSpPr>
        <p:spPr>
          <a:xfrm>
            <a:off x="457200" y="5138928"/>
            <a:ext cx="1092708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0" name="anim_148"/>
          <p:cNvSpPr txBox="1"/>
          <p:nvPr/>
        </p:nvSpPr>
        <p:spPr>
          <a:xfrm>
            <a:off x="658368" y="5230368"/>
            <a:ext cx="10515600" cy="731520"/>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2F5248"/>
                </a:solidFill>
                <a:latin typeface="Times New Roman"/>
              </a:rPr>
              <a:t>Verdict: </a:t>
            </a:r>
            <a:r>
              <a:rPr sz="1450" b="0">
                <a:solidFill>
                  <a:srgbClr val="252B30"/>
                </a:solidFill>
                <a:latin typeface="Times New Roman"/>
              </a:rPr>
              <a:t>the two-pathway macro structure is stable (ARI close to 1 on most refits), and the only genuine uncertainty is a small, known boundary set - exactly the countries a monitoring programme should track more closely.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0"/>
                      </p:stCondLst>
                      <p:childTnLst>
                        <p:par>
                          <p:cTn id="11"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4"/>
                                        </p:tgtEl>
                                        <p:attrNameLst>
                                          <p:attrName>style.visibility</p:attrName>
                                        </p:attrNameLst>
                                      </p:cBhvr>
                                      <p:to>
                                        <p:strVal val="visible"/>
                                      </p:to>
                                    </p:set>
                                    <p:animEffect transition="in" filter="fade">
                                      <p:cBhvr>
                                        <p:cTn id="6" dur="450"/>
                                        <p:tgtEl>
                                          <p:spTgt spid="14"/>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5"/>
                                        </p:tgtEl>
                                        <p:attrNameLst>
                                          <p:attrName>style.visibility</p:attrName>
                                        </p:attrNameLst>
                                      </p:cBhvr>
                                      <p:to>
                                        <p:strVal val="visible"/>
                                      </p:to>
                                    </p:set>
                                    <p:animEffect transition="in" filter="fade">
                                      <p:cBhvr>
                                        <p:cTn id="9" dur="450"/>
                                        <p:tgtEl>
                                          <p:spTgt spid="15"/>
                                        </p:tgtEl>
                                      </p:cBhvr>
                                    </p:animEffect>
                                  </p:childTnLst>
                                </p:cTn>
                              </p:par>
                            </p:childTnLst>
                          </p:cTn>
                        </p:par>
                      </p:childTnLst>
                    </p:cTn>
                  </p:par>
                  <p:par>
                    <p:cTn id="18" fill="hold">
                      <p:stCondLst>
                        <p:cond delay="0"/>
                      </p:stCondLst>
                      <p:childTnLst>
                        <p:par>
                          <p:cTn id="19" fill="hold">
                            <p:stCondLst>
                              <p:cond delay="0"/>
                            </p:stCondLst>
                            <p:childTnLst>
                              <p:par>
                                <p:cTn id="12" presetID="10" presetClass="entr" presetSubtype="0" fill="hold" grpId="0" nodeType="afterEffect">
                                  <p:stCondLst>
                                    <p:cond delay="40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50"/>
                                        <p:tgtEl>
                                          <p:spTgt spid="17"/>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50"/>
                                        <p:tgtEl>
                                          <p:spTgt spid="18"/>
                                        </p:tgtEl>
                                      </p:cBhvr>
                                    </p:animEffect>
                                  </p:childTnLst>
                                </p:cTn>
                              </p:par>
                            </p:childTnLst>
                          </p:cTn>
                        </p:par>
                      </p:childTnLst>
                    </p:cTn>
                  </p:par>
                  <p:par>
                    <p:cTn id="26" fill="hold">
                      <p:stCondLst>
                        <p:cond delay="0"/>
                      </p:stCondLst>
                      <p:childTnLst>
                        <p:par>
                          <p:cTn id="27" fill="hold">
                            <p:stCondLst>
                              <p:cond delay="0"/>
                            </p:stCondLst>
                            <p:childTnLst>
                              <p:par>
                                <p:cTn id="20" presetID="10" presetClass="entr" presetSubtype="0" fill="hold" grpId="0" nodeType="afterEffect">
                                  <p:stCondLst>
                                    <p:cond delay="4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50"/>
                                        <p:tgtEl>
                                          <p:spTgt spid="19"/>
                                        </p:tgtEl>
                                      </p:cBhvr>
                                    </p:animEffect>
                                  </p:childTnLst>
                                </p:cTn>
                              </p:par>
                              <p:par>
                                <p:cTn id="23" presetID="10" presetClass="entr" presetSubtype="0" fill="hold" grpId="0" nodeType="withEffect">
                                  <p:stCondLst>
                                    <p:cond delay="53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VISUAL STORYTELLING · What kind of emission patterns did the model find?</a:t>
            </a:r>
          </a:p>
          <a:p>
            <a:pPr algn="l">
              <a:spcBef>
                <a:spcPts val="200"/>
              </a:spcBef>
              <a:defRPr>
                <a:latin typeface="Times New Roman"/>
              </a:defRPr>
            </a:pPr>
            <a:r>
              <a:rPr sz="2100" b="1">
                <a:solidFill>
                  <a:srgbClr val="FFFFFF"/>
                </a:solidFill>
                <a:latin typeface="Georgia"/>
              </a:rPr>
              <a:t>One rising total conceals two different transition pressures</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1 / 4</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REN SIYU</a:t>
            </a:r>
          </a:p>
        </p:txBody>
      </p:sp>
      <p:sp>
        <p:nvSpPr>
          <p:cNvPr id="12" name="TextBox 11"/>
          <p:cNvSpPr txBox="1"/>
          <p:nvPr/>
        </p:nvSpPr>
        <p:spPr>
          <a:xfrm>
            <a:off x="7818120" y="6492240"/>
            <a:ext cx="2743200" cy="292608"/>
          </a:xfrm>
          <a:prstGeom prst="rect">
            <a:avLst/>
          </a:prstGeom>
          <a:noFill/>
          <a:ln>
            <a:noFill/>
          </a:ln>
          <a:effectLst/>
        </p:spPr>
        <p:txBody>
          <a:bodyPr wrap="square" anchor="ctr" lIns="45720" rIns="45720" tIns="18288" bIns="18288">
            <a:spAutoFit/>
          </a:bodyPr>
          <a:lstStyle/>
          <a:p>
            <a:pPr algn="r">
              <a:defRPr>
                <a:latin typeface="Times New Roman"/>
              </a:defRPr>
            </a:pPr>
            <a:r>
              <a:rPr sz="1300" b="0">
                <a:solidFill>
                  <a:srgbClr val="6E7672"/>
                </a:solidFill>
                <a:latin typeface="Times New Roman"/>
              </a:rPr>
              <a:t>[1] [2]</a:t>
            </a:r>
          </a:p>
        </p:txBody>
      </p:sp>
      <p:sp>
        <p:nvSpPr>
          <p:cNvPr id="13" name="TextBox 12"/>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18</a:t>
            </a:r>
          </a:p>
        </p:txBody>
      </p:sp>
      <p:pic>
        <p:nvPicPr>
          <p:cNvPr id="14" name="anim_149" descr="fig_pathway_profiles.png"/>
          <p:cNvPicPr>
            <a:picLocks noChangeAspect="1"/>
          </p:cNvPicPr>
          <p:nvPr/>
        </p:nvPicPr>
        <p:blipFill>
          <a:blip r:embed="rId3"/>
          <a:stretch>
            <a:fillRect/>
          </a:stretch>
        </p:blipFill>
        <p:spPr>
          <a:xfrm>
            <a:off x="256032" y="941041"/>
            <a:ext cx="11704320" cy="2744781"/>
          </a:xfrm>
          <a:prstGeom prst="rect">
            <a:avLst/>
          </a:prstGeom>
        </p:spPr>
      </p:pic>
      <p:sp>
        <p:nvSpPr>
          <p:cNvPr id="15" name="anim_150"/>
          <p:cNvSpPr txBox="1"/>
          <p:nvPr/>
        </p:nvSpPr>
        <p:spPr>
          <a:xfrm>
            <a:off x="475488" y="3749039"/>
            <a:ext cx="11247120" cy="329184"/>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6E7672"/>
                </a:solidFill>
                <a:latin typeface="Times New Roman"/>
              </a:rPr>
              <a:t>Shares use 2017-2021 emissions of the 193 modelled countries; the 10 boundary countries stay inside their pathway, not a third group.</a:t>
            </a:r>
          </a:p>
        </p:txBody>
      </p:sp>
      <p:sp>
        <p:nvSpPr>
          <p:cNvPr id="16" name="anim_151"/>
          <p:cNvSpPr/>
          <p:nvPr/>
        </p:nvSpPr>
        <p:spPr>
          <a:xfrm>
            <a:off x="457200" y="4041648"/>
            <a:ext cx="5440680" cy="2121408"/>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7" name="anim_152"/>
          <p:cNvSpPr/>
          <p:nvPr/>
        </p:nvSpPr>
        <p:spPr>
          <a:xfrm>
            <a:off x="457200" y="4041648"/>
            <a:ext cx="5440680" cy="82296"/>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8" name="anim_153"/>
          <p:cNvSpPr txBox="1"/>
          <p:nvPr/>
        </p:nvSpPr>
        <p:spPr>
          <a:xfrm>
            <a:off x="621792" y="4187952"/>
            <a:ext cx="3657600" cy="384048"/>
          </a:xfrm>
          <a:prstGeom prst="rect">
            <a:avLst/>
          </a:prstGeom>
          <a:noFill/>
          <a:ln>
            <a:noFill/>
          </a:ln>
          <a:effectLst/>
        </p:spPr>
        <p:txBody>
          <a:bodyPr wrap="square" anchor="t" lIns="45720" rIns="45720" tIns="18288" bIns="18288">
            <a:spAutoFit/>
          </a:bodyPr>
          <a:lstStyle/>
          <a:p>
            <a:pPr algn="l">
              <a:defRPr>
                <a:latin typeface="Times New Roman"/>
              </a:defRPr>
            </a:pPr>
            <a:r>
              <a:rPr sz="1650" b="1">
                <a:solidFill>
                  <a:srgbClr val="252B30"/>
                </a:solidFill>
                <a:latin typeface="Times New Roman"/>
              </a:rPr>
              <a:t>Rapid-growth pathway</a:t>
            </a:r>
          </a:p>
        </p:txBody>
      </p:sp>
      <p:sp>
        <p:nvSpPr>
          <p:cNvPr id="19" name="anim_154"/>
          <p:cNvSpPr txBox="1"/>
          <p:nvPr/>
        </p:nvSpPr>
        <p:spPr>
          <a:xfrm>
            <a:off x="4297680" y="4142232"/>
            <a:ext cx="1417320" cy="457200"/>
          </a:xfrm>
          <a:prstGeom prst="rect">
            <a:avLst/>
          </a:prstGeom>
          <a:noFill/>
          <a:ln>
            <a:noFill/>
          </a:ln>
          <a:effectLst/>
        </p:spPr>
        <p:txBody>
          <a:bodyPr wrap="square" anchor="t" lIns="45720" rIns="45720" tIns="18288" bIns="18288">
            <a:spAutoFit/>
          </a:bodyPr>
          <a:lstStyle/>
          <a:p>
            <a:pPr algn="r">
              <a:defRPr>
                <a:latin typeface="Times New Roman"/>
              </a:defRPr>
            </a:pPr>
            <a:r>
              <a:rPr sz="2500" b="1">
                <a:solidFill>
                  <a:srgbClr val="BE7F4E"/>
                </a:solidFill>
                <a:latin typeface="Times New Roman"/>
              </a:rPr>
              <a:t>24</a:t>
            </a:r>
            <a:r>
              <a:rPr sz="1300" b="0">
                <a:solidFill>
                  <a:srgbClr val="6E7672"/>
                </a:solidFill>
                <a:latin typeface="Times New Roman"/>
              </a:rPr>
              <a:t> countries</a:t>
            </a:r>
          </a:p>
        </p:txBody>
      </p:sp>
      <p:sp>
        <p:nvSpPr>
          <p:cNvPr id="20" name="anim_155"/>
          <p:cNvSpPr txBox="1"/>
          <p:nvPr/>
        </p:nvSpPr>
        <p:spPr>
          <a:xfrm>
            <a:off x="621792" y="4590288"/>
            <a:ext cx="51206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BE7F4E"/>
                </a:solidFill>
                <a:latin typeface="Times New Roman"/>
              </a:rPr>
              <a:t>Lower base, fast recent growth, late peak - potential future additional emissions if recent patterns persist.</a:t>
            </a:r>
          </a:p>
        </p:txBody>
      </p:sp>
      <p:sp>
        <p:nvSpPr>
          <p:cNvPr id="21" name="anim_156"/>
          <p:cNvSpPr/>
          <p:nvPr/>
        </p:nvSpPr>
        <p:spPr>
          <a:xfrm>
            <a:off x="621792"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2" name="anim_157"/>
          <p:cNvSpPr txBox="1"/>
          <p:nvPr/>
        </p:nvSpPr>
        <p:spPr>
          <a:xfrm>
            <a:off x="658368" y="5056632"/>
            <a:ext cx="1207008" cy="292608"/>
          </a:xfrm>
          <a:prstGeom prst="rect">
            <a:avLst/>
          </a:prstGeom>
          <a:noFill/>
          <a:ln>
            <a:noFill/>
          </a:ln>
          <a:effectLst/>
        </p:spPr>
        <p:txBody>
          <a:bodyPr wrap="square" anchor="t" lIns="45720" rIns="45720" tIns="18288" bIns="18288">
            <a:spAutoFit/>
          </a:bodyPr>
          <a:lstStyle/>
          <a:p>
            <a:pPr algn="ctr">
              <a:defRPr>
                <a:latin typeface="Times New Roman"/>
              </a:defRPr>
            </a:pPr>
            <a:r>
              <a:rPr sz="1500" b="1">
                <a:solidFill>
                  <a:srgbClr val="BE7F4E"/>
                </a:solidFill>
                <a:latin typeface="Times New Roman"/>
              </a:rPr>
              <a:t>1.49 t</a:t>
            </a:r>
          </a:p>
        </p:txBody>
      </p:sp>
      <p:sp>
        <p:nvSpPr>
          <p:cNvPr id="23" name="anim_158"/>
          <p:cNvSpPr txBox="1"/>
          <p:nvPr/>
        </p:nvSpPr>
        <p:spPr>
          <a:xfrm>
            <a:off x="658368" y="5349240"/>
            <a:ext cx="1207008" cy="438912"/>
          </a:xfrm>
          <a:prstGeom prst="rect">
            <a:avLst/>
          </a:prstGeom>
          <a:noFill/>
          <a:ln>
            <a:noFill/>
          </a:ln>
          <a:effectLst/>
        </p:spPr>
        <p:txBody>
          <a:bodyPr wrap="square" anchor="t" lIns="45720" rIns="45720" tIns="18288" bIns="18288">
            <a:spAutoFit/>
          </a:bodyPr>
          <a:lstStyle/>
          <a:p>
            <a:pPr algn="ctr">
              <a:defRPr>
                <a:latin typeface="Times New Roman"/>
              </a:defRPr>
            </a:pPr>
            <a:r>
              <a:rPr sz="1250" b="0">
                <a:solidFill>
                  <a:srgbClr val="252B30"/>
                </a:solidFill>
                <a:latin typeface="Times New Roman"/>
              </a:rPr>
              <a:t>CO2 per person</a:t>
            </a:r>
          </a:p>
        </p:txBody>
      </p:sp>
      <p:sp>
        <p:nvSpPr>
          <p:cNvPr id="24" name="anim_159"/>
          <p:cNvSpPr/>
          <p:nvPr/>
        </p:nvSpPr>
        <p:spPr>
          <a:xfrm>
            <a:off x="1938528"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5" name="anim_160"/>
          <p:cNvSpPr txBox="1"/>
          <p:nvPr/>
        </p:nvSpPr>
        <p:spPr>
          <a:xfrm>
            <a:off x="1975104" y="5056632"/>
            <a:ext cx="1207008" cy="292608"/>
          </a:xfrm>
          <a:prstGeom prst="rect">
            <a:avLst/>
          </a:prstGeom>
          <a:noFill/>
          <a:ln>
            <a:noFill/>
          </a:ln>
          <a:effectLst/>
        </p:spPr>
        <p:txBody>
          <a:bodyPr wrap="none" anchor="t" lIns="45720" rIns="45720" tIns="18288" bIns="18288">
            <a:spAutoFit/>
          </a:bodyPr>
          <a:lstStyle/>
          <a:p>
            <a:pPr algn="ctr">
              <a:defRPr>
                <a:latin typeface="Times New Roman"/>
              </a:defRPr>
            </a:pPr>
            <a:r>
              <a:rPr sz="1500" b="1">
                <a:solidFill>
                  <a:srgbClr val="BE7F4E"/>
                </a:solidFill>
                <a:latin typeface="Times New Roman"/>
              </a:rPr>
              <a:t>+2.78%</a:t>
            </a:r>
          </a:p>
        </p:txBody>
      </p:sp>
      <p:sp>
        <p:nvSpPr>
          <p:cNvPr id="26" name="anim_161"/>
          <p:cNvSpPr txBox="1"/>
          <p:nvPr/>
        </p:nvSpPr>
        <p:spPr>
          <a:xfrm>
            <a:off x="1975104" y="5349240"/>
            <a:ext cx="1207008" cy="438912"/>
          </a:xfrm>
          <a:prstGeom prst="rect">
            <a:avLst/>
          </a:prstGeom>
          <a:noFill/>
          <a:ln>
            <a:noFill/>
          </a:ln>
          <a:effectLst/>
        </p:spPr>
        <p:txBody>
          <a:bodyPr wrap="square" anchor="t" lIns="45720" rIns="45720" tIns="18288" bIns="18288">
            <a:spAutoFit/>
          </a:bodyPr>
          <a:lstStyle/>
          <a:p>
            <a:pPr algn="ctr">
              <a:defRPr>
                <a:latin typeface="Times New Roman"/>
              </a:defRPr>
            </a:pPr>
            <a:r>
              <a:rPr sz="1250" b="0">
                <a:solidFill>
                  <a:srgbClr val="252B30"/>
                </a:solidFill>
                <a:latin typeface="Times New Roman"/>
              </a:rPr>
              <a:t>recent growth per year</a:t>
            </a:r>
          </a:p>
        </p:txBody>
      </p:sp>
      <p:sp>
        <p:nvSpPr>
          <p:cNvPr id="27" name="anim_162"/>
          <p:cNvSpPr/>
          <p:nvPr/>
        </p:nvSpPr>
        <p:spPr>
          <a:xfrm>
            <a:off x="3255264"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8" name="anim_163"/>
          <p:cNvSpPr txBox="1"/>
          <p:nvPr/>
        </p:nvSpPr>
        <p:spPr>
          <a:xfrm>
            <a:off x="3291840" y="5056632"/>
            <a:ext cx="1207008" cy="292608"/>
          </a:xfrm>
          <a:prstGeom prst="rect">
            <a:avLst/>
          </a:prstGeom>
          <a:noFill/>
          <a:ln>
            <a:noFill/>
          </a:ln>
          <a:effectLst/>
        </p:spPr>
        <p:txBody>
          <a:bodyPr wrap="none" anchor="t" lIns="45720" rIns="45720" tIns="18288" bIns="18288">
            <a:spAutoFit/>
          </a:bodyPr>
          <a:lstStyle/>
          <a:p>
            <a:pPr algn="ctr">
              <a:defRPr>
                <a:latin typeface="Times New Roman"/>
              </a:defRPr>
            </a:pPr>
            <a:r>
              <a:rPr sz="1500" b="1">
                <a:solidFill>
                  <a:srgbClr val="BE7F4E"/>
                </a:solidFill>
                <a:latin typeface="Times New Roman"/>
              </a:rPr>
              <a:t>2018</a:t>
            </a:r>
          </a:p>
        </p:txBody>
      </p:sp>
      <p:sp>
        <p:nvSpPr>
          <p:cNvPr id="29" name="anim_164"/>
          <p:cNvSpPr txBox="1"/>
          <p:nvPr/>
        </p:nvSpPr>
        <p:spPr>
          <a:xfrm>
            <a:off x="3291840" y="5349240"/>
            <a:ext cx="1207008" cy="438912"/>
          </a:xfrm>
          <a:prstGeom prst="rect">
            <a:avLst/>
          </a:prstGeom>
          <a:noFill/>
          <a:ln>
            <a:noFill/>
          </a:ln>
          <a:effectLst/>
        </p:spPr>
        <p:txBody>
          <a:bodyPr wrap="square" anchor="t" lIns="45720" rIns="45720" tIns="18288" bIns="18288">
            <a:spAutoFit/>
          </a:bodyPr>
          <a:lstStyle/>
          <a:p>
            <a:pPr algn="ctr">
              <a:defRPr>
                <a:latin typeface="Times New Roman"/>
              </a:defRPr>
            </a:pPr>
            <a:r>
              <a:rPr sz="1250" b="0">
                <a:solidFill>
                  <a:srgbClr val="252B30"/>
                </a:solidFill>
                <a:latin typeface="Times New Roman"/>
              </a:rPr>
              <a:t>median peak year</a:t>
            </a:r>
          </a:p>
        </p:txBody>
      </p:sp>
      <p:sp>
        <p:nvSpPr>
          <p:cNvPr id="30" name="anim_165"/>
          <p:cNvSpPr/>
          <p:nvPr/>
        </p:nvSpPr>
        <p:spPr>
          <a:xfrm>
            <a:off x="4572000"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1" name="anim_166"/>
          <p:cNvSpPr txBox="1"/>
          <p:nvPr/>
        </p:nvSpPr>
        <p:spPr>
          <a:xfrm>
            <a:off x="4608576" y="5056632"/>
            <a:ext cx="1207008" cy="292608"/>
          </a:xfrm>
          <a:prstGeom prst="rect">
            <a:avLst/>
          </a:prstGeom>
          <a:noFill/>
          <a:ln>
            <a:noFill/>
          </a:ln>
          <a:effectLst/>
        </p:spPr>
        <p:txBody>
          <a:bodyPr wrap="none" anchor="t" lIns="45720" rIns="45720" tIns="18288" bIns="18288">
            <a:spAutoFit/>
          </a:bodyPr>
          <a:lstStyle/>
          <a:p>
            <a:pPr algn="ctr">
              <a:defRPr>
                <a:latin typeface="Times New Roman"/>
              </a:defRPr>
            </a:pPr>
            <a:r>
              <a:rPr sz="1500" b="1">
                <a:solidFill>
                  <a:srgbClr val="BE7F4E"/>
                </a:solidFill>
                <a:latin typeface="Times New Roman"/>
              </a:rPr>
              <a:t>7.8%</a:t>
            </a:r>
          </a:p>
        </p:txBody>
      </p:sp>
      <p:sp>
        <p:nvSpPr>
          <p:cNvPr id="32" name="anim_167"/>
          <p:cNvSpPr txBox="1"/>
          <p:nvPr/>
        </p:nvSpPr>
        <p:spPr>
          <a:xfrm>
            <a:off x="4608576" y="5349240"/>
            <a:ext cx="1207008" cy="438912"/>
          </a:xfrm>
          <a:prstGeom prst="rect">
            <a:avLst/>
          </a:prstGeom>
          <a:noFill/>
          <a:ln>
            <a:noFill/>
          </a:ln>
          <a:effectLst/>
        </p:spPr>
        <p:txBody>
          <a:bodyPr wrap="square" anchor="t" lIns="45720" rIns="45720" tIns="18288" bIns="18288">
            <a:spAutoFit/>
          </a:bodyPr>
          <a:lstStyle/>
          <a:p>
            <a:pPr algn="ctr">
              <a:defRPr>
                <a:latin typeface="Times New Roman"/>
              </a:defRPr>
            </a:pPr>
            <a:r>
              <a:rPr sz="1250" b="0">
                <a:solidFill>
                  <a:srgbClr val="252B30"/>
                </a:solidFill>
                <a:latin typeface="Times New Roman"/>
              </a:rPr>
              <a:t>share of 2017-21 emissions</a:t>
            </a:r>
          </a:p>
        </p:txBody>
      </p:sp>
      <p:sp>
        <p:nvSpPr>
          <p:cNvPr id="33" name="anim_168"/>
          <p:cNvSpPr txBox="1"/>
          <p:nvPr/>
        </p:nvSpPr>
        <p:spPr>
          <a:xfrm>
            <a:off x="621792" y="5852160"/>
            <a:ext cx="5120640" cy="310896"/>
          </a:xfrm>
          <a:prstGeom prst="rect">
            <a:avLst/>
          </a:prstGeom>
          <a:noFill/>
          <a:ln>
            <a:noFill/>
          </a:ln>
          <a:effectLst/>
        </p:spPr>
        <p:txBody>
          <a:bodyPr wrap="square" anchor="t" lIns="45720" rIns="45720" tIns="18288" bIns="18288">
            <a:spAutoFit/>
          </a:bodyPr>
          <a:lstStyle/>
          <a:p>
            <a:pPr algn="l">
              <a:defRPr>
                <a:latin typeface="Times New Roman"/>
              </a:defRPr>
            </a:pPr>
            <a:r>
              <a:rPr sz="1300" b="1">
                <a:solidFill>
                  <a:srgbClr val="6E7672"/>
                </a:solidFill>
                <a:latin typeface="Times New Roman"/>
              </a:rPr>
              <a:t>Median country shares  </a:t>
            </a:r>
            <a:r>
              <a:rPr sz="1300" b="1">
                <a:solidFill>
                  <a:srgbClr val="252B30"/>
                </a:solidFill>
                <a:latin typeface="Times New Roman"/>
              </a:rPr>
              <a:t>coal 38% · gas 2%</a:t>
            </a:r>
            <a:r>
              <a:rPr sz="1300" b="0">
                <a:solidFill>
                  <a:srgbClr val="252B30"/>
                </a:solidFill>
                <a:latin typeface="Times New Roman"/>
              </a:rPr>
              <a:t>   </a:t>
            </a:r>
            <a:r>
              <a:rPr sz="1300" b="0">
                <a:solidFill>
                  <a:srgbClr val="252B30"/>
                </a:solidFill>
                <a:latin typeface="Times New Roman"/>
              </a:rPr>
              <a:t>e.g. Vietnam, Bangladesh</a:t>
            </a:r>
          </a:p>
        </p:txBody>
      </p:sp>
      <p:sp>
        <p:nvSpPr>
          <p:cNvPr id="34" name="anim_169"/>
          <p:cNvSpPr/>
          <p:nvPr/>
        </p:nvSpPr>
        <p:spPr>
          <a:xfrm>
            <a:off x="5943600" y="4041648"/>
            <a:ext cx="5440680" cy="2121408"/>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5" name="anim_170"/>
          <p:cNvSpPr/>
          <p:nvPr/>
        </p:nvSpPr>
        <p:spPr>
          <a:xfrm>
            <a:off x="5943600" y="4041648"/>
            <a:ext cx="5440680" cy="82296"/>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6" name="anim_171"/>
          <p:cNvSpPr txBox="1"/>
          <p:nvPr/>
        </p:nvSpPr>
        <p:spPr>
          <a:xfrm>
            <a:off x="6108192" y="4187952"/>
            <a:ext cx="3657600" cy="384048"/>
          </a:xfrm>
          <a:prstGeom prst="rect">
            <a:avLst/>
          </a:prstGeom>
          <a:noFill/>
          <a:ln>
            <a:noFill/>
          </a:ln>
          <a:effectLst/>
        </p:spPr>
        <p:txBody>
          <a:bodyPr wrap="square" anchor="t" lIns="45720" rIns="45720" tIns="18288" bIns="18288">
            <a:spAutoFit/>
          </a:bodyPr>
          <a:lstStyle/>
          <a:p>
            <a:pPr algn="l">
              <a:defRPr>
                <a:latin typeface="Times New Roman"/>
              </a:defRPr>
            </a:pPr>
            <a:r>
              <a:rPr sz="1650" b="1">
                <a:solidFill>
                  <a:srgbClr val="252B30"/>
                </a:solidFill>
                <a:latin typeface="Times New Roman"/>
              </a:rPr>
              <a:t>Plateauing / slowdown pathway</a:t>
            </a:r>
          </a:p>
        </p:txBody>
      </p:sp>
      <p:sp>
        <p:nvSpPr>
          <p:cNvPr id="37" name="anim_172"/>
          <p:cNvSpPr txBox="1"/>
          <p:nvPr/>
        </p:nvSpPr>
        <p:spPr>
          <a:xfrm>
            <a:off x="9784080" y="4142232"/>
            <a:ext cx="1417320" cy="457200"/>
          </a:xfrm>
          <a:prstGeom prst="rect">
            <a:avLst/>
          </a:prstGeom>
          <a:noFill/>
          <a:ln>
            <a:noFill/>
          </a:ln>
          <a:effectLst/>
        </p:spPr>
        <p:txBody>
          <a:bodyPr wrap="square" anchor="t" lIns="45720" rIns="45720" tIns="18288" bIns="18288">
            <a:spAutoFit/>
          </a:bodyPr>
          <a:lstStyle/>
          <a:p>
            <a:pPr algn="r">
              <a:defRPr>
                <a:latin typeface="Times New Roman"/>
              </a:defRPr>
            </a:pPr>
            <a:r>
              <a:rPr sz="2500" b="1">
                <a:solidFill>
                  <a:srgbClr val="4F6E96"/>
                </a:solidFill>
                <a:latin typeface="Times New Roman"/>
              </a:rPr>
              <a:t>169</a:t>
            </a:r>
            <a:r>
              <a:rPr sz="1300" b="0">
                <a:solidFill>
                  <a:srgbClr val="6E7672"/>
                </a:solidFill>
                <a:latin typeface="Times New Roman"/>
              </a:rPr>
              <a:t> countries</a:t>
            </a:r>
          </a:p>
        </p:txBody>
      </p:sp>
      <p:sp>
        <p:nvSpPr>
          <p:cNvPr id="38" name="anim_173"/>
          <p:cNvSpPr txBox="1"/>
          <p:nvPr/>
        </p:nvSpPr>
        <p:spPr>
          <a:xfrm>
            <a:off x="6108192" y="4590288"/>
            <a:ext cx="5120640" cy="38404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4F6E96"/>
                </a:solidFill>
                <a:latin typeface="Times New Roman"/>
              </a:rPr>
              <a:t>Growth has flattened or turned down - yet this pathway still carries almost all of the current emissions burden.</a:t>
            </a:r>
          </a:p>
        </p:txBody>
      </p:sp>
      <p:sp>
        <p:nvSpPr>
          <p:cNvPr id="39" name="anim_174"/>
          <p:cNvSpPr/>
          <p:nvPr/>
        </p:nvSpPr>
        <p:spPr>
          <a:xfrm>
            <a:off x="6108192"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0" name="anim_175"/>
          <p:cNvSpPr txBox="1"/>
          <p:nvPr/>
        </p:nvSpPr>
        <p:spPr>
          <a:xfrm>
            <a:off x="6144768" y="5056632"/>
            <a:ext cx="1207008" cy="292608"/>
          </a:xfrm>
          <a:prstGeom prst="rect">
            <a:avLst/>
          </a:prstGeom>
          <a:noFill/>
          <a:ln>
            <a:noFill/>
          </a:ln>
          <a:effectLst/>
        </p:spPr>
        <p:txBody>
          <a:bodyPr wrap="square" anchor="t" lIns="45720" rIns="45720" tIns="18288" bIns="18288">
            <a:spAutoFit/>
          </a:bodyPr>
          <a:lstStyle/>
          <a:p>
            <a:pPr algn="ctr">
              <a:defRPr>
                <a:latin typeface="Times New Roman"/>
              </a:defRPr>
            </a:pPr>
            <a:r>
              <a:rPr sz="1500" b="1">
                <a:solidFill>
                  <a:srgbClr val="4F6E96"/>
                </a:solidFill>
                <a:latin typeface="Times New Roman"/>
              </a:rPr>
              <a:t>3.19 t</a:t>
            </a:r>
          </a:p>
        </p:txBody>
      </p:sp>
      <p:sp>
        <p:nvSpPr>
          <p:cNvPr id="41" name="anim_176"/>
          <p:cNvSpPr txBox="1"/>
          <p:nvPr/>
        </p:nvSpPr>
        <p:spPr>
          <a:xfrm>
            <a:off x="6144768" y="5349240"/>
            <a:ext cx="1207008" cy="438912"/>
          </a:xfrm>
          <a:prstGeom prst="rect">
            <a:avLst/>
          </a:prstGeom>
          <a:noFill/>
          <a:ln>
            <a:noFill/>
          </a:ln>
          <a:effectLst/>
        </p:spPr>
        <p:txBody>
          <a:bodyPr wrap="square" anchor="t" lIns="45720" rIns="45720" tIns="18288" bIns="18288">
            <a:spAutoFit/>
          </a:bodyPr>
          <a:lstStyle/>
          <a:p>
            <a:pPr algn="ctr">
              <a:defRPr>
                <a:latin typeface="Times New Roman"/>
              </a:defRPr>
            </a:pPr>
            <a:r>
              <a:rPr sz="1250" b="0">
                <a:solidFill>
                  <a:srgbClr val="252B30"/>
                </a:solidFill>
                <a:latin typeface="Times New Roman"/>
              </a:rPr>
              <a:t>CO2 per person</a:t>
            </a:r>
          </a:p>
        </p:txBody>
      </p:sp>
      <p:sp>
        <p:nvSpPr>
          <p:cNvPr id="42" name="anim_177"/>
          <p:cNvSpPr/>
          <p:nvPr/>
        </p:nvSpPr>
        <p:spPr>
          <a:xfrm>
            <a:off x="7424927"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3" name="anim_178"/>
          <p:cNvSpPr txBox="1"/>
          <p:nvPr/>
        </p:nvSpPr>
        <p:spPr>
          <a:xfrm>
            <a:off x="7461503" y="5056632"/>
            <a:ext cx="1207008" cy="292608"/>
          </a:xfrm>
          <a:prstGeom prst="rect">
            <a:avLst/>
          </a:prstGeom>
          <a:noFill/>
          <a:ln>
            <a:noFill/>
          </a:ln>
          <a:effectLst/>
        </p:spPr>
        <p:txBody>
          <a:bodyPr wrap="none" anchor="t" lIns="45720" rIns="45720" tIns="18288" bIns="18288">
            <a:spAutoFit/>
          </a:bodyPr>
          <a:lstStyle/>
          <a:p>
            <a:pPr algn="ctr">
              <a:defRPr>
                <a:latin typeface="Times New Roman"/>
              </a:defRPr>
            </a:pPr>
            <a:r>
              <a:rPr sz="1500" b="1">
                <a:solidFill>
                  <a:srgbClr val="4F6E96"/>
                </a:solidFill>
                <a:latin typeface="Times New Roman"/>
              </a:rPr>
              <a:t>-0.26%</a:t>
            </a:r>
          </a:p>
        </p:txBody>
      </p:sp>
      <p:sp>
        <p:nvSpPr>
          <p:cNvPr id="44" name="anim_179"/>
          <p:cNvSpPr txBox="1"/>
          <p:nvPr/>
        </p:nvSpPr>
        <p:spPr>
          <a:xfrm>
            <a:off x="7461503" y="5349240"/>
            <a:ext cx="1207008" cy="438912"/>
          </a:xfrm>
          <a:prstGeom prst="rect">
            <a:avLst/>
          </a:prstGeom>
          <a:noFill/>
          <a:ln>
            <a:noFill/>
          </a:ln>
          <a:effectLst/>
        </p:spPr>
        <p:txBody>
          <a:bodyPr wrap="square" anchor="t" lIns="45720" rIns="45720" tIns="18288" bIns="18288">
            <a:spAutoFit/>
          </a:bodyPr>
          <a:lstStyle/>
          <a:p>
            <a:pPr algn="ctr">
              <a:defRPr>
                <a:latin typeface="Times New Roman"/>
              </a:defRPr>
            </a:pPr>
            <a:r>
              <a:rPr sz="1250" b="0">
                <a:solidFill>
                  <a:srgbClr val="252B30"/>
                </a:solidFill>
                <a:latin typeface="Times New Roman"/>
              </a:rPr>
              <a:t>recent growth per year</a:t>
            </a:r>
          </a:p>
        </p:txBody>
      </p:sp>
      <p:sp>
        <p:nvSpPr>
          <p:cNvPr id="45" name="anim_180"/>
          <p:cNvSpPr/>
          <p:nvPr/>
        </p:nvSpPr>
        <p:spPr>
          <a:xfrm>
            <a:off x="8741663"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6" name="anim_181"/>
          <p:cNvSpPr txBox="1"/>
          <p:nvPr/>
        </p:nvSpPr>
        <p:spPr>
          <a:xfrm>
            <a:off x="8778239" y="5056632"/>
            <a:ext cx="1207008" cy="292608"/>
          </a:xfrm>
          <a:prstGeom prst="rect">
            <a:avLst/>
          </a:prstGeom>
          <a:noFill/>
          <a:ln>
            <a:noFill/>
          </a:ln>
          <a:effectLst/>
        </p:spPr>
        <p:txBody>
          <a:bodyPr wrap="none" anchor="t" lIns="45720" rIns="45720" tIns="18288" bIns="18288">
            <a:spAutoFit/>
          </a:bodyPr>
          <a:lstStyle/>
          <a:p>
            <a:pPr algn="ctr">
              <a:defRPr>
                <a:latin typeface="Times New Roman"/>
              </a:defRPr>
            </a:pPr>
            <a:r>
              <a:rPr sz="1500" b="1">
                <a:solidFill>
                  <a:srgbClr val="4F6E96"/>
                </a:solidFill>
                <a:latin typeface="Times New Roman"/>
              </a:rPr>
              <a:t>2009</a:t>
            </a:r>
          </a:p>
        </p:txBody>
      </p:sp>
      <p:sp>
        <p:nvSpPr>
          <p:cNvPr id="47" name="anim_182"/>
          <p:cNvSpPr txBox="1"/>
          <p:nvPr/>
        </p:nvSpPr>
        <p:spPr>
          <a:xfrm>
            <a:off x="8778239" y="5349240"/>
            <a:ext cx="1207008" cy="438912"/>
          </a:xfrm>
          <a:prstGeom prst="rect">
            <a:avLst/>
          </a:prstGeom>
          <a:noFill/>
          <a:ln>
            <a:noFill/>
          </a:ln>
          <a:effectLst/>
        </p:spPr>
        <p:txBody>
          <a:bodyPr wrap="square" anchor="t" lIns="45720" rIns="45720" tIns="18288" bIns="18288">
            <a:spAutoFit/>
          </a:bodyPr>
          <a:lstStyle/>
          <a:p>
            <a:pPr algn="ctr">
              <a:defRPr>
                <a:latin typeface="Times New Roman"/>
              </a:defRPr>
            </a:pPr>
            <a:r>
              <a:rPr sz="1250" b="0">
                <a:solidFill>
                  <a:srgbClr val="252B30"/>
                </a:solidFill>
                <a:latin typeface="Times New Roman"/>
              </a:rPr>
              <a:t>median peak year</a:t>
            </a:r>
          </a:p>
        </p:txBody>
      </p:sp>
      <p:sp>
        <p:nvSpPr>
          <p:cNvPr id="48" name="anim_183"/>
          <p:cNvSpPr/>
          <p:nvPr/>
        </p:nvSpPr>
        <p:spPr>
          <a:xfrm>
            <a:off x="10058399"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49" name="anim_184"/>
          <p:cNvSpPr txBox="1"/>
          <p:nvPr/>
        </p:nvSpPr>
        <p:spPr>
          <a:xfrm>
            <a:off x="10094975" y="5056632"/>
            <a:ext cx="1207008" cy="292608"/>
          </a:xfrm>
          <a:prstGeom prst="rect">
            <a:avLst/>
          </a:prstGeom>
          <a:noFill/>
          <a:ln>
            <a:noFill/>
          </a:ln>
          <a:effectLst/>
        </p:spPr>
        <p:txBody>
          <a:bodyPr wrap="none" anchor="t" lIns="45720" rIns="45720" tIns="18288" bIns="18288">
            <a:spAutoFit/>
          </a:bodyPr>
          <a:lstStyle/>
          <a:p>
            <a:pPr algn="ctr">
              <a:defRPr>
                <a:latin typeface="Times New Roman"/>
              </a:defRPr>
            </a:pPr>
            <a:r>
              <a:rPr sz="1500" b="1">
                <a:solidFill>
                  <a:srgbClr val="4F6E96"/>
                </a:solidFill>
                <a:latin typeface="Times New Roman"/>
              </a:rPr>
              <a:t>92.2%</a:t>
            </a:r>
          </a:p>
        </p:txBody>
      </p:sp>
      <p:sp>
        <p:nvSpPr>
          <p:cNvPr id="50" name="anim_185"/>
          <p:cNvSpPr txBox="1"/>
          <p:nvPr/>
        </p:nvSpPr>
        <p:spPr>
          <a:xfrm>
            <a:off x="10094975" y="5349240"/>
            <a:ext cx="1207008" cy="438912"/>
          </a:xfrm>
          <a:prstGeom prst="rect">
            <a:avLst/>
          </a:prstGeom>
          <a:noFill/>
          <a:ln>
            <a:noFill/>
          </a:ln>
          <a:effectLst/>
        </p:spPr>
        <p:txBody>
          <a:bodyPr wrap="square" anchor="t" lIns="45720" rIns="45720" tIns="18288" bIns="18288">
            <a:spAutoFit/>
          </a:bodyPr>
          <a:lstStyle/>
          <a:p>
            <a:pPr algn="ctr">
              <a:defRPr>
                <a:latin typeface="Times New Roman"/>
              </a:defRPr>
            </a:pPr>
            <a:r>
              <a:rPr sz="1250" b="0">
                <a:solidFill>
                  <a:srgbClr val="252B30"/>
                </a:solidFill>
                <a:latin typeface="Times New Roman"/>
              </a:rPr>
              <a:t>share of 2017-21 emissions</a:t>
            </a:r>
          </a:p>
        </p:txBody>
      </p:sp>
      <p:sp>
        <p:nvSpPr>
          <p:cNvPr id="51" name="anim_186"/>
          <p:cNvSpPr txBox="1"/>
          <p:nvPr/>
        </p:nvSpPr>
        <p:spPr>
          <a:xfrm>
            <a:off x="6108192" y="5852160"/>
            <a:ext cx="5120640" cy="310896"/>
          </a:xfrm>
          <a:prstGeom prst="rect">
            <a:avLst/>
          </a:prstGeom>
          <a:noFill/>
          <a:ln>
            <a:noFill/>
          </a:ln>
          <a:effectLst/>
        </p:spPr>
        <p:txBody>
          <a:bodyPr wrap="square" anchor="t" lIns="45720" rIns="45720" tIns="18288" bIns="18288">
            <a:spAutoFit/>
          </a:bodyPr>
          <a:lstStyle/>
          <a:p>
            <a:pPr algn="l">
              <a:defRPr>
                <a:latin typeface="Times New Roman"/>
              </a:defRPr>
            </a:pPr>
            <a:r>
              <a:rPr sz="1300" b="1">
                <a:solidFill>
                  <a:srgbClr val="6E7672"/>
                </a:solidFill>
                <a:latin typeface="Times New Roman"/>
              </a:rPr>
              <a:t>Median country shares  </a:t>
            </a:r>
            <a:r>
              <a:rPr sz="1300" b="1">
                <a:solidFill>
                  <a:srgbClr val="252B30"/>
                </a:solidFill>
                <a:latin typeface="Times New Roman"/>
              </a:rPr>
              <a:t>coal 1% · gas 11%</a:t>
            </a:r>
            <a:r>
              <a:rPr sz="1300" b="0">
                <a:solidFill>
                  <a:srgbClr val="252B30"/>
                </a:solidFill>
                <a:latin typeface="Times New Roman"/>
              </a:rPr>
              <a:t>   </a:t>
            </a:r>
            <a:r>
              <a:rPr sz="1300" b="0">
                <a:solidFill>
                  <a:srgbClr val="252B30"/>
                </a:solidFill>
                <a:latin typeface="Times New Roman"/>
              </a:rPr>
              <a:t>e.g. China, United States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0"/>
                      </p:stCondLst>
                      <p:childTnLst>
                        <p:par>
                          <p:cTn id="11"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4"/>
                                        </p:tgtEl>
                                        <p:attrNameLst>
                                          <p:attrName>style.visibility</p:attrName>
                                        </p:attrNameLst>
                                      </p:cBhvr>
                                      <p:to>
                                        <p:strVal val="visible"/>
                                      </p:to>
                                    </p:set>
                                    <p:animEffect transition="in" filter="fade">
                                      <p:cBhvr>
                                        <p:cTn id="6" dur="450"/>
                                        <p:tgtEl>
                                          <p:spTgt spid="14"/>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5"/>
                                        </p:tgtEl>
                                        <p:attrNameLst>
                                          <p:attrName>style.visibility</p:attrName>
                                        </p:attrNameLst>
                                      </p:cBhvr>
                                      <p:to>
                                        <p:strVal val="visible"/>
                                      </p:to>
                                    </p:set>
                                    <p:animEffect transition="in" filter="fade">
                                      <p:cBhvr>
                                        <p:cTn id="9" dur="450"/>
                                        <p:tgtEl>
                                          <p:spTgt spid="15"/>
                                        </p:tgtEl>
                                      </p:cBhvr>
                                    </p:animEffect>
                                  </p:childTnLst>
                                </p:cTn>
                              </p:par>
                            </p:childTnLst>
                          </p:cTn>
                        </p:par>
                      </p:childTnLst>
                    </p:cTn>
                  </p:par>
                  <p:par>
                    <p:cTn id="27" fill="hold">
                      <p:stCondLst>
                        <p:cond delay="0"/>
                      </p:stCondLst>
                      <p:childTnLst>
                        <p:par>
                          <p:cTn id="28" fill="hold">
                            <p:stCondLst>
                              <p:cond delay="0"/>
                            </p:stCondLst>
                            <p:childTnLst>
                              <p:par>
                                <p:cTn id="12" presetID="10" presetClass="entr" presetSubtype="0" fill="hold" grpId="0" nodeType="afterEffect">
                                  <p:stCondLst>
                                    <p:cond delay="4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66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79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92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childTnLst>
                          </p:cTn>
                        </p:par>
                      </p:childTnLst>
                    </p:cTn>
                  </p:par>
                  <p:par>
                    <p:cTn id="38" fill="hold">
                      <p:stCondLst>
                        <p:cond delay="0"/>
                      </p:stCondLst>
                      <p:childTnLst>
                        <p:par>
                          <p:cTn id="39" fill="hold">
                            <p:stCondLst>
                              <p:cond delay="0"/>
                            </p:stCondLst>
                            <p:childTnLst>
                              <p:par>
                                <p:cTn id="29" presetID="10" presetClass="entr" presetSubtype="0" fill="hold" grpId="0" nodeType="afterEffect">
                                  <p:stCondLst>
                                    <p:cond delay="4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grpId="0" nodeType="withEffect">
                                  <p:stCondLst>
                                    <p:cond delay="53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childTnLst>
                          </p:cTn>
                        </p:par>
                      </p:childTnLst>
                    </p:cTn>
                  </p:par>
                  <p:par>
                    <p:cTn id="49" fill="hold">
                      <p:stCondLst>
                        <p:cond delay="0"/>
                      </p:stCondLst>
                      <p:childTnLst>
                        <p:par>
                          <p:cTn id="50" fill="hold">
                            <p:stCondLst>
                              <p:cond delay="0"/>
                            </p:stCondLst>
                            <p:childTnLst>
                              <p:par>
                                <p:cTn id="40" presetID="10" presetClass="entr" presetSubtype="0" fill="hold" grpId="0" nodeType="afterEffect">
                                  <p:stCondLst>
                                    <p:cond delay="4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50"/>
                                        <p:tgtEl>
                                          <p:spTgt spid="24"/>
                                        </p:tgtEl>
                                      </p:cBhvr>
                                    </p:animEffect>
                                  </p:childTnLst>
                                </p:cTn>
                              </p:par>
                              <p:par>
                                <p:cTn id="43" presetID="10" presetClass="entr" presetSubtype="0" fill="hold" grpId="0" nodeType="withEffect">
                                  <p:stCondLst>
                                    <p:cond delay="53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50"/>
                                        <p:tgtEl>
                                          <p:spTgt spid="25"/>
                                        </p:tgtEl>
                                      </p:cBhvr>
                                    </p:animEffect>
                                  </p:childTnLst>
                                </p:cTn>
                              </p:par>
                              <p:par>
                                <p:cTn id="46" presetID="10" presetClass="entr" presetSubtype="0" fill="hold" grpId="0" nodeType="withEffect">
                                  <p:stCondLst>
                                    <p:cond delay="66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50"/>
                                        <p:tgtEl>
                                          <p:spTgt spid="26"/>
                                        </p:tgtEl>
                                      </p:cBhvr>
                                    </p:animEffect>
                                  </p:childTnLst>
                                </p:cTn>
                              </p:par>
                            </p:childTnLst>
                          </p:cTn>
                        </p:par>
                      </p:childTnLst>
                    </p:cTn>
                  </p:par>
                  <p:par>
                    <p:cTn id="60" fill="hold">
                      <p:stCondLst>
                        <p:cond delay="0"/>
                      </p:stCondLst>
                      <p:childTnLst>
                        <p:par>
                          <p:cTn id="61" fill="hold">
                            <p:stCondLst>
                              <p:cond delay="0"/>
                            </p:stCondLst>
                            <p:childTnLst>
                              <p:par>
                                <p:cTn id="51" presetID="10" presetClass="entr" presetSubtype="0" fill="hold" grpId="0" nodeType="afterEffect">
                                  <p:stCondLst>
                                    <p:cond delay="40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450"/>
                                        <p:tgtEl>
                                          <p:spTgt spid="27"/>
                                        </p:tgtEl>
                                      </p:cBhvr>
                                    </p:animEffect>
                                  </p:childTnLst>
                                </p:cTn>
                              </p:par>
                              <p:par>
                                <p:cTn id="54" presetID="10" presetClass="entr" presetSubtype="0" fill="hold" grpId="0" nodeType="withEffect">
                                  <p:stCondLst>
                                    <p:cond delay="53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450"/>
                                        <p:tgtEl>
                                          <p:spTgt spid="28"/>
                                        </p:tgtEl>
                                      </p:cBhvr>
                                    </p:animEffect>
                                  </p:childTnLst>
                                </p:cTn>
                              </p:par>
                              <p:par>
                                <p:cTn id="57" presetID="10" presetClass="entr" presetSubtype="0" fill="hold" grpId="0" nodeType="withEffect">
                                  <p:stCondLst>
                                    <p:cond delay="66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50"/>
                                        <p:tgtEl>
                                          <p:spTgt spid="29"/>
                                        </p:tgtEl>
                                      </p:cBhvr>
                                    </p:animEffect>
                                  </p:childTnLst>
                                </p:cTn>
                              </p:par>
                            </p:childTnLst>
                          </p:cTn>
                        </p:par>
                      </p:childTnLst>
                    </p:cTn>
                  </p:par>
                  <p:par>
                    <p:cTn id="71" fill="hold">
                      <p:stCondLst>
                        <p:cond delay="0"/>
                      </p:stCondLst>
                      <p:childTnLst>
                        <p:par>
                          <p:cTn id="72" fill="hold">
                            <p:stCondLst>
                              <p:cond delay="0"/>
                            </p:stCondLst>
                            <p:childTnLst>
                              <p:par>
                                <p:cTn id="62" presetID="10" presetClass="entr" presetSubtype="0" fill="hold" grpId="0" nodeType="afterEffect">
                                  <p:stCondLst>
                                    <p:cond delay="40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50"/>
                                        <p:tgtEl>
                                          <p:spTgt spid="30"/>
                                        </p:tgtEl>
                                      </p:cBhvr>
                                    </p:animEffect>
                                  </p:childTnLst>
                                </p:cTn>
                              </p:par>
                              <p:par>
                                <p:cTn id="65" presetID="10" presetClass="entr" presetSubtype="0" fill="hold" grpId="0" nodeType="withEffect">
                                  <p:stCondLst>
                                    <p:cond delay="53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50"/>
                                        <p:tgtEl>
                                          <p:spTgt spid="31"/>
                                        </p:tgtEl>
                                      </p:cBhvr>
                                    </p:animEffect>
                                  </p:childTnLst>
                                </p:cTn>
                              </p:par>
                              <p:par>
                                <p:cTn id="68" presetID="10" presetClass="entr" presetSubtype="0" fill="hold" grpId="0" nodeType="withEffect">
                                  <p:stCondLst>
                                    <p:cond delay="66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50"/>
                                        <p:tgtEl>
                                          <p:spTgt spid="32"/>
                                        </p:tgtEl>
                                      </p:cBhvr>
                                    </p:animEffect>
                                  </p:childTnLst>
                                </p:cTn>
                              </p:par>
                            </p:childTnLst>
                          </p:cTn>
                        </p:par>
                      </p:childTnLst>
                    </p:cTn>
                  </p:par>
                  <p:par>
                    <p:cTn id="76" fill="hold">
                      <p:stCondLst>
                        <p:cond delay="0"/>
                      </p:stCondLst>
                      <p:childTnLst>
                        <p:par>
                          <p:cTn id="77" fill="hold">
                            <p:stCondLst>
                              <p:cond delay="0"/>
                            </p:stCondLst>
                            <p:childTnLst>
                              <p:par>
                                <p:cTn id="73" presetID="10" presetClass="entr" presetSubtype="0" fill="hold" grpId="0" nodeType="afterEffect">
                                  <p:stCondLst>
                                    <p:cond delay="40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450"/>
                                        <p:tgtEl>
                                          <p:spTgt spid="33"/>
                                        </p:tgtEl>
                                      </p:cBhvr>
                                    </p:animEffect>
                                  </p:childTnLst>
                                </p:cTn>
                              </p:par>
                            </p:childTnLst>
                          </p:cTn>
                        </p:par>
                      </p:childTnLst>
                    </p:cTn>
                  </p:par>
                  <p:par>
                    <p:cTn id="93" fill="hold">
                      <p:stCondLst>
                        <p:cond delay="0"/>
                      </p:stCondLst>
                      <p:childTnLst>
                        <p:par>
                          <p:cTn id="94" fill="hold">
                            <p:stCondLst>
                              <p:cond delay="0"/>
                            </p:stCondLst>
                            <p:childTnLst>
                              <p:par>
                                <p:cTn id="78" presetID="10" presetClass="entr" presetSubtype="0" fill="hold" grpId="0" nodeType="afterEffect">
                                  <p:stCondLst>
                                    <p:cond delay="40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450"/>
                                        <p:tgtEl>
                                          <p:spTgt spid="34"/>
                                        </p:tgtEl>
                                      </p:cBhvr>
                                    </p:animEffect>
                                  </p:childTnLst>
                                </p:cTn>
                              </p:par>
                              <p:par>
                                <p:cTn id="81" presetID="10" presetClass="entr" presetSubtype="0" fill="hold" grpId="0" nodeType="withEffect">
                                  <p:stCondLst>
                                    <p:cond delay="53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450"/>
                                        <p:tgtEl>
                                          <p:spTgt spid="35"/>
                                        </p:tgtEl>
                                      </p:cBhvr>
                                    </p:animEffect>
                                  </p:childTnLst>
                                </p:cTn>
                              </p:par>
                              <p:par>
                                <p:cTn id="84" presetID="10" presetClass="entr" presetSubtype="0" fill="hold" grpId="0" nodeType="withEffect">
                                  <p:stCondLst>
                                    <p:cond delay="66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450"/>
                                        <p:tgtEl>
                                          <p:spTgt spid="36"/>
                                        </p:tgtEl>
                                      </p:cBhvr>
                                    </p:animEffect>
                                  </p:childTnLst>
                                </p:cTn>
                              </p:par>
                              <p:par>
                                <p:cTn id="87" presetID="10" presetClass="entr" presetSubtype="0" fill="hold" grpId="0" nodeType="withEffect">
                                  <p:stCondLst>
                                    <p:cond delay="79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450"/>
                                        <p:tgtEl>
                                          <p:spTgt spid="37"/>
                                        </p:tgtEl>
                                      </p:cBhvr>
                                    </p:animEffect>
                                  </p:childTnLst>
                                </p:cTn>
                              </p:par>
                              <p:par>
                                <p:cTn id="90" presetID="10" presetClass="entr" presetSubtype="0" fill="hold" grpId="0" nodeType="withEffect">
                                  <p:stCondLst>
                                    <p:cond delay="920"/>
                                  </p:stCondLst>
                                  <p:childTnLst>
                                    <p:set>
                                      <p:cBhvr>
                                        <p:cTn id="91" dur="1" fill="hold">
                                          <p:stCondLst>
                                            <p:cond delay="0"/>
                                          </p:stCondLst>
                                        </p:cTn>
                                        <p:tgtEl>
                                          <p:spTgt spid="38"/>
                                        </p:tgtEl>
                                        <p:attrNameLst>
                                          <p:attrName>style.visibility</p:attrName>
                                        </p:attrNameLst>
                                      </p:cBhvr>
                                      <p:to>
                                        <p:strVal val="visible"/>
                                      </p:to>
                                    </p:set>
                                    <p:animEffect transition="in" filter="fade">
                                      <p:cBhvr>
                                        <p:cTn id="92" dur="450"/>
                                        <p:tgtEl>
                                          <p:spTgt spid="38"/>
                                        </p:tgtEl>
                                      </p:cBhvr>
                                    </p:animEffect>
                                  </p:childTnLst>
                                </p:cTn>
                              </p:par>
                            </p:childTnLst>
                          </p:cTn>
                        </p:par>
                      </p:childTnLst>
                    </p:cTn>
                  </p:par>
                  <p:par>
                    <p:cTn id="104" fill="hold">
                      <p:stCondLst>
                        <p:cond delay="0"/>
                      </p:stCondLst>
                      <p:childTnLst>
                        <p:par>
                          <p:cTn id="105" fill="hold">
                            <p:stCondLst>
                              <p:cond delay="0"/>
                            </p:stCondLst>
                            <p:childTnLst>
                              <p:par>
                                <p:cTn id="95" presetID="10" presetClass="entr" presetSubtype="0" fill="hold" grpId="0" nodeType="afterEffect">
                                  <p:stCondLst>
                                    <p:cond delay="400"/>
                                  </p:stCondLst>
                                  <p:childTnLst>
                                    <p:set>
                                      <p:cBhvr>
                                        <p:cTn id="96" dur="1" fill="hold">
                                          <p:stCondLst>
                                            <p:cond delay="0"/>
                                          </p:stCondLst>
                                        </p:cTn>
                                        <p:tgtEl>
                                          <p:spTgt spid="39"/>
                                        </p:tgtEl>
                                        <p:attrNameLst>
                                          <p:attrName>style.visibility</p:attrName>
                                        </p:attrNameLst>
                                      </p:cBhvr>
                                      <p:to>
                                        <p:strVal val="visible"/>
                                      </p:to>
                                    </p:set>
                                    <p:animEffect transition="in" filter="fade">
                                      <p:cBhvr>
                                        <p:cTn id="97" dur="450"/>
                                        <p:tgtEl>
                                          <p:spTgt spid="39"/>
                                        </p:tgtEl>
                                      </p:cBhvr>
                                    </p:animEffect>
                                  </p:childTnLst>
                                </p:cTn>
                              </p:par>
                              <p:par>
                                <p:cTn id="98" presetID="10" presetClass="entr" presetSubtype="0" fill="hold" grpId="0" nodeType="withEffect">
                                  <p:stCondLst>
                                    <p:cond delay="530"/>
                                  </p:stCondLst>
                                  <p:childTnLst>
                                    <p:set>
                                      <p:cBhvr>
                                        <p:cTn id="99" dur="1" fill="hold">
                                          <p:stCondLst>
                                            <p:cond delay="0"/>
                                          </p:stCondLst>
                                        </p:cTn>
                                        <p:tgtEl>
                                          <p:spTgt spid="40"/>
                                        </p:tgtEl>
                                        <p:attrNameLst>
                                          <p:attrName>style.visibility</p:attrName>
                                        </p:attrNameLst>
                                      </p:cBhvr>
                                      <p:to>
                                        <p:strVal val="visible"/>
                                      </p:to>
                                    </p:set>
                                    <p:animEffect transition="in" filter="fade">
                                      <p:cBhvr>
                                        <p:cTn id="100" dur="450"/>
                                        <p:tgtEl>
                                          <p:spTgt spid="40"/>
                                        </p:tgtEl>
                                      </p:cBhvr>
                                    </p:animEffect>
                                  </p:childTnLst>
                                </p:cTn>
                              </p:par>
                              <p:par>
                                <p:cTn id="101" presetID="10" presetClass="entr" presetSubtype="0" fill="hold" grpId="0" nodeType="withEffect">
                                  <p:stCondLst>
                                    <p:cond delay="66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3" dur="450"/>
                                        <p:tgtEl>
                                          <p:spTgt spid="41"/>
                                        </p:tgtEl>
                                      </p:cBhvr>
                                    </p:animEffect>
                                  </p:childTnLst>
                                </p:cTn>
                              </p:par>
                            </p:childTnLst>
                          </p:cTn>
                        </p:par>
                      </p:childTnLst>
                    </p:cTn>
                  </p:par>
                  <p:par>
                    <p:cTn id="115" fill="hold">
                      <p:stCondLst>
                        <p:cond delay="0"/>
                      </p:stCondLst>
                      <p:childTnLst>
                        <p:par>
                          <p:cTn id="116" fill="hold">
                            <p:stCondLst>
                              <p:cond delay="0"/>
                            </p:stCondLst>
                            <p:childTnLst>
                              <p:par>
                                <p:cTn id="106" presetID="10" presetClass="entr" presetSubtype="0" fill="hold" grpId="0" nodeType="afterEffect">
                                  <p:stCondLst>
                                    <p:cond delay="400"/>
                                  </p:stCondLst>
                                  <p:childTnLst>
                                    <p:set>
                                      <p:cBhvr>
                                        <p:cTn id="107" dur="1" fill="hold">
                                          <p:stCondLst>
                                            <p:cond delay="0"/>
                                          </p:stCondLst>
                                        </p:cTn>
                                        <p:tgtEl>
                                          <p:spTgt spid="42"/>
                                        </p:tgtEl>
                                        <p:attrNameLst>
                                          <p:attrName>style.visibility</p:attrName>
                                        </p:attrNameLst>
                                      </p:cBhvr>
                                      <p:to>
                                        <p:strVal val="visible"/>
                                      </p:to>
                                    </p:set>
                                    <p:animEffect transition="in" filter="fade">
                                      <p:cBhvr>
                                        <p:cTn id="108" dur="450"/>
                                        <p:tgtEl>
                                          <p:spTgt spid="42"/>
                                        </p:tgtEl>
                                      </p:cBhvr>
                                    </p:animEffect>
                                  </p:childTnLst>
                                </p:cTn>
                              </p:par>
                              <p:par>
                                <p:cTn id="109" presetID="10" presetClass="entr" presetSubtype="0" fill="hold" grpId="0" nodeType="withEffect">
                                  <p:stCondLst>
                                    <p:cond delay="53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11" dur="450"/>
                                        <p:tgtEl>
                                          <p:spTgt spid="43"/>
                                        </p:tgtEl>
                                      </p:cBhvr>
                                    </p:animEffect>
                                  </p:childTnLst>
                                </p:cTn>
                              </p:par>
                              <p:par>
                                <p:cTn id="112" presetID="10" presetClass="entr" presetSubtype="0" fill="hold" grpId="0" nodeType="withEffect">
                                  <p:stCondLst>
                                    <p:cond delay="660"/>
                                  </p:stCondLst>
                                  <p:childTnLst>
                                    <p:set>
                                      <p:cBhvr>
                                        <p:cTn id="113" dur="1" fill="hold">
                                          <p:stCondLst>
                                            <p:cond delay="0"/>
                                          </p:stCondLst>
                                        </p:cTn>
                                        <p:tgtEl>
                                          <p:spTgt spid="44"/>
                                        </p:tgtEl>
                                        <p:attrNameLst>
                                          <p:attrName>style.visibility</p:attrName>
                                        </p:attrNameLst>
                                      </p:cBhvr>
                                      <p:to>
                                        <p:strVal val="visible"/>
                                      </p:to>
                                    </p:set>
                                    <p:animEffect transition="in" filter="fade">
                                      <p:cBhvr>
                                        <p:cTn id="114" dur="450"/>
                                        <p:tgtEl>
                                          <p:spTgt spid="44"/>
                                        </p:tgtEl>
                                      </p:cBhvr>
                                    </p:animEffect>
                                  </p:childTnLst>
                                </p:cTn>
                              </p:par>
                            </p:childTnLst>
                          </p:cTn>
                        </p:par>
                      </p:childTnLst>
                    </p:cTn>
                  </p:par>
                  <p:par>
                    <p:cTn id="126" fill="hold">
                      <p:stCondLst>
                        <p:cond delay="0"/>
                      </p:stCondLst>
                      <p:childTnLst>
                        <p:par>
                          <p:cTn id="127" fill="hold">
                            <p:stCondLst>
                              <p:cond delay="0"/>
                            </p:stCondLst>
                            <p:childTnLst>
                              <p:par>
                                <p:cTn id="117" presetID="10" presetClass="entr" presetSubtype="0" fill="hold" grpId="0" nodeType="afterEffect">
                                  <p:stCondLst>
                                    <p:cond delay="40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50"/>
                                        <p:tgtEl>
                                          <p:spTgt spid="45"/>
                                        </p:tgtEl>
                                      </p:cBhvr>
                                    </p:animEffect>
                                  </p:childTnLst>
                                </p:cTn>
                              </p:par>
                              <p:par>
                                <p:cTn id="120" presetID="10" presetClass="entr" presetSubtype="0" fill="hold" grpId="0" nodeType="withEffect">
                                  <p:stCondLst>
                                    <p:cond delay="53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50"/>
                                        <p:tgtEl>
                                          <p:spTgt spid="46"/>
                                        </p:tgtEl>
                                      </p:cBhvr>
                                    </p:animEffect>
                                  </p:childTnLst>
                                </p:cTn>
                              </p:par>
                              <p:par>
                                <p:cTn id="123" presetID="10" presetClass="entr" presetSubtype="0" fill="hold" grpId="0" nodeType="withEffect">
                                  <p:stCondLst>
                                    <p:cond delay="66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450"/>
                                        <p:tgtEl>
                                          <p:spTgt spid="47"/>
                                        </p:tgtEl>
                                      </p:cBhvr>
                                    </p:animEffect>
                                  </p:childTnLst>
                                </p:cTn>
                              </p:par>
                            </p:childTnLst>
                          </p:cTn>
                        </p:par>
                      </p:childTnLst>
                    </p:cTn>
                  </p:par>
                  <p:par>
                    <p:cTn id="137" fill="hold">
                      <p:stCondLst>
                        <p:cond delay="0"/>
                      </p:stCondLst>
                      <p:childTnLst>
                        <p:par>
                          <p:cTn id="138" fill="hold">
                            <p:stCondLst>
                              <p:cond delay="0"/>
                            </p:stCondLst>
                            <p:childTnLst>
                              <p:par>
                                <p:cTn id="128" presetID="10" presetClass="entr" presetSubtype="0" fill="hold" grpId="0" nodeType="afterEffect">
                                  <p:stCondLst>
                                    <p:cond delay="400"/>
                                  </p:stCondLst>
                                  <p:childTnLst>
                                    <p:set>
                                      <p:cBhvr>
                                        <p:cTn id="129" dur="1" fill="hold">
                                          <p:stCondLst>
                                            <p:cond delay="0"/>
                                          </p:stCondLst>
                                        </p:cTn>
                                        <p:tgtEl>
                                          <p:spTgt spid="48"/>
                                        </p:tgtEl>
                                        <p:attrNameLst>
                                          <p:attrName>style.visibility</p:attrName>
                                        </p:attrNameLst>
                                      </p:cBhvr>
                                      <p:to>
                                        <p:strVal val="visible"/>
                                      </p:to>
                                    </p:set>
                                    <p:animEffect transition="in" filter="fade">
                                      <p:cBhvr>
                                        <p:cTn id="130" dur="450"/>
                                        <p:tgtEl>
                                          <p:spTgt spid="48"/>
                                        </p:tgtEl>
                                      </p:cBhvr>
                                    </p:animEffect>
                                  </p:childTnLst>
                                </p:cTn>
                              </p:par>
                              <p:par>
                                <p:cTn id="131" presetID="10" presetClass="entr" presetSubtype="0" fill="hold" grpId="0" nodeType="withEffect">
                                  <p:stCondLst>
                                    <p:cond delay="530"/>
                                  </p:stCondLst>
                                  <p:childTnLst>
                                    <p:set>
                                      <p:cBhvr>
                                        <p:cTn id="132" dur="1" fill="hold">
                                          <p:stCondLst>
                                            <p:cond delay="0"/>
                                          </p:stCondLst>
                                        </p:cTn>
                                        <p:tgtEl>
                                          <p:spTgt spid="49"/>
                                        </p:tgtEl>
                                        <p:attrNameLst>
                                          <p:attrName>style.visibility</p:attrName>
                                        </p:attrNameLst>
                                      </p:cBhvr>
                                      <p:to>
                                        <p:strVal val="visible"/>
                                      </p:to>
                                    </p:set>
                                    <p:animEffect transition="in" filter="fade">
                                      <p:cBhvr>
                                        <p:cTn id="133" dur="450"/>
                                        <p:tgtEl>
                                          <p:spTgt spid="49"/>
                                        </p:tgtEl>
                                      </p:cBhvr>
                                    </p:animEffect>
                                  </p:childTnLst>
                                </p:cTn>
                              </p:par>
                              <p:par>
                                <p:cTn id="134" presetID="10" presetClass="entr" presetSubtype="0" fill="hold" grpId="0" nodeType="withEffect">
                                  <p:stCondLst>
                                    <p:cond delay="660"/>
                                  </p:stCondLst>
                                  <p:childTnLst>
                                    <p:set>
                                      <p:cBhvr>
                                        <p:cTn id="135" dur="1" fill="hold">
                                          <p:stCondLst>
                                            <p:cond delay="0"/>
                                          </p:stCondLst>
                                        </p:cTn>
                                        <p:tgtEl>
                                          <p:spTgt spid="50"/>
                                        </p:tgtEl>
                                        <p:attrNameLst>
                                          <p:attrName>style.visibility</p:attrName>
                                        </p:attrNameLst>
                                      </p:cBhvr>
                                      <p:to>
                                        <p:strVal val="visible"/>
                                      </p:to>
                                    </p:set>
                                    <p:animEffect transition="in" filter="fade">
                                      <p:cBhvr>
                                        <p:cTn id="136" dur="450"/>
                                        <p:tgtEl>
                                          <p:spTgt spid="50"/>
                                        </p:tgtEl>
                                      </p:cBhvr>
                                    </p:animEffect>
                                  </p:childTnLst>
                                </p:cTn>
                              </p:par>
                            </p:childTnLst>
                          </p:cTn>
                        </p:par>
                      </p:childTnLst>
                    </p:cTn>
                  </p:par>
                  <p:par>
                    <p:cTn id="142" fill="hold">
                      <p:stCondLst>
                        <p:cond delay="0"/>
                      </p:stCondLst>
                      <p:childTnLst>
                        <p:par>
                          <p:cTn id="143" fill="hold">
                            <p:stCondLst>
                              <p:cond delay="0"/>
                            </p:stCondLst>
                            <p:childTnLst>
                              <p:par>
                                <p:cTn id="139" presetID="10" presetClass="entr" presetSubtype="0" fill="hold" grpId="0" nodeType="afterEffect">
                                  <p:stCondLst>
                                    <p:cond delay="400"/>
                                  </p:stCondLst>
                                  <p:childTnLst>
                                    <p:set>
                                      <p:cBhvr>
                                        <p:cTn id="140" dur="1" fill="hold">
                                          <p:stCondLst>
                                            <p:cond delay="0"/>
                                          </p:stCondLst>
                                        </p:cTn>
                                        <p:tgtEl>
                                          <p:spTgt spid="51"/>
                                        </p:tgtEl>
                                        <p:attrNameLst>
                                          <p:attrName>style.visibility</p:attrName>
                                        </p:attrNameLst>
                                      </p:cBhvr>
                                      <p:to>
                                        <p:strVal val="visible"/>
                                      </p:to>
                                    </p:set>
                                    <p:animEffect transition="in" filter="fade">
                                      <p:cBhvr>
                                        <p:cTn id="141" dur="4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VISUAL STORYTELLING · Why ranking countries by one number misleads</a:t>
            </a:r>
          </a:p>
          <a:p>
            <a:pPr algn="l">
              <a:spcBef>
                <a:spcPts val="200"/>
              </a:spcBef>
              <a:defRPr>
                <a:latin typeface="Times New Roman"/>
              </a:defRPr>
            </a:pPr>
            <a:r>
              <a:rPr sz="2100" b="1">
                <a:solidFill>
                  <a:srgbClr val="FFFFFF"/>
                </a:solidFill>
                <a:latin typeface="Georgia"/>
              </a:rPr>
              <a:t>Current burden and future pressure require different lenses</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2 / 4</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REYIZA RESIBIEKE</a:t>
            </a:r>
          </a:p>
        </p:txBody>
      </p:sp>
      <p:sp>
        <p:nvSpPr>
          <p:cNvPr id="12" name="TextBox 11"/>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19</a:t>
            </a:r>
          </a:p>
        </p:txBody>
      </p:sp>
      <p:pic>
        <p:nvPicPr>
          <p:cNvPr id="13" name="anim_187" descr="fig_burden_growth.png"/>
          <p:cNvPicPr>
            <a:picLocks noChangeAspect="1"/>
          </p:cNvPicPr>
          <p:nvPr/>
        </p:nvPicPr>
        <p:blipFill>
          <a:blip r:embed="rId3"/>
          <a:stretch>
            <a:fillRect/>
          </a:stretch>
        </p:blipFill>
        <p:spPr>
          <a:xfrm>
            <a:off x="256032" y="956054"/>
            <a:ext cx="8549640" cy="5028187"/>
          </a:xfrm>
          <a:prstGeom prst="rect">
            <a:avLst/>
          </a:prstGeom>
        </p:spPr>
      </p:pic>
      <p:sp>
        <p:nvSpPr>
          <p:cNvPr id="14" name="TextBox 13"/>
          <p:cNvSpPr txBox="1"/>
          <p:nvPr/>
        </p:nvSpPr>
        <p:spPr>
          <a:xfrm>
            <a:off x="8851392" y="1115568"/>
            <a:ext cx="274320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WHY ONE LENS FAILS</a:t>
            </a:r>
          </a:p>
        </p:txBody>
      </p:sp>
      <p:sp>
        <p:nvSpPr>
          <p:cNvPr id="15" name="anim_188"/>
          <p:cNvSpPr/>
          <p:nvPr/>
        </p:nvSpPr>
        <p:spPr>
          <a:xfrm>
            <a:off x="8851392" y="1444752"/>
            <a:ext cx="2560320" cy="201168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6" name="anim_189"/>
          <p:cNvSpPr txBox="1"/>
          <p:nvPr/>
        </p:nvSpPr>
        <p:spPr>
          <a:xfrm>
            <a:off x="9015984" y="1554480"/>
            <a:ext cx="2240280" cy="182880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BE7F4E"/>
                </a:solidFill>
                <a:latin typeface="Times New Roman"/>
              </a:rPr>
              <a:t>Rank by emissions only </a:t>
            </a:r>
          </a:p>
          <a:p>
            <a:pPr algn="l">
              <a:defRPr>
                <a:latin typeface="Times New Roman"/>
              </a:defRPr>
            </a:pPr>
            <a:r>
              <a:rPr sz="1300" b="0">
                <a:solidFill>
                  <a:srgbClr val="252B30"/>
                </a:solidFill>
                <a:latin typeface="Times New Roman"/>
              </a:rPr>
              <a:t>and you watch China, the US and India while missing small-base, fast-growing, late-peak countries in the upper left.</a:t>
            </a:r>
          </a:p>
        </p:txBody>
      </p:sp>
      <p:sp>
        <p:nvSpPr>
          <p:cNvPr id="17" name="anim_190"/>
          <p:cNvSpPr/>
          <p:nvPr/>
        </p:nvSpPr>
        <p:spPr>
          <a:xfrm>
            <a:off x="8851392" y="3611880"/>
            <a:ext cx="2560320" cy="201168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8" name="anim_191"/>
          <p:cNvSpPr txBox="1"/>
          <p:nvPr/>
        </p:nvSpPr>
        <p:spPr>
          <a:xfrm>
            <a:off x="9015984" y="3721608"/>
            <a:ext cx="2240280" cy="182880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4F6E96"/>
                </a:solidFill>
                <a:latin typeface="Times New Roman"/>
              </a:rPr>
              <a:t>Rank by growth only </a:t>
            </a:r>
          </a:p>
          <a:p>
            <a:pPr algn="l">
              <a:defRPr>
                <a:latin typeface="Times New Roman"/>
              </a:defRPr>
            </a:pPr>
            <a:r>
              <a:rPr sz="1300" b="0">
                <a:solidFill>
                  <a:srgbClr val="252B30"/>
                </a:solidFill>
                <a:latin typeface="Times New Roman"/>
              </a:rPr>
              <a:t>and you overrate small economies while underrating the plateauing majors that hold 92.2% of 2017-21 emissions.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0"/>
                      </p:stCondLst>
                      <p:childTnLst>
                        <p:par>
                          <p:cTn id="8"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3"/>
                                        </p:tgtEl>
                                        <p:attrNameLst>
                                          <p:attrName>style.visibility</p:attrName>
                                        </p:attrNameLst>
                                      </p:cBhvr>
                                      <p:to>
                                        <p:strVal val="visible"/>
                                      </p:to>
                                    </p:set>
                                    <p:animEffect transition="in" filter="fade">
                                      <p:cBhvr>
                                        <p:cTn id="6" dur="450"/>
                                        <p:tgtEl>
                                          <p:spTgt spid="13"/>
                                        </p:tgtEl>
                                      </p:cBhvr>
                                    </p:animEffect>
                                  </p:childTnLst>
                                </p:cTn>
                              </p:par>
                            </p:childTnLst>
                          </p:cTn>
                        </p:par>
                      </p:childTnLst>
                    </p:cTn>
                  </p:par>
                  <p:par>
                    <p:cTn id="15" fill="hold">
                      <p:stCondLst>
                        <p:cond delay="0"/>
                      </p:stCondLst>
                      <p:childTnLst>
                        <p:par>
                          <p:cTn id="16" fill="hold">
                            <p:stCondLst>
                              <p:cond delay="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53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childTnLst>
                          </p:cTn>
                        </p:par>
                      </p:childTnLst>
                    </p:cTn>
                  </p:par>
                  <p:par>
                    <p:cTn id="23" fill="hold">
                      <p:stCondLst>
                        <p:cond delay="0"/>
                      </p:stCondLst>
                      <p:childTnLst>
                        <p:par>
                          <p:cTn id="24" fill="hold">
                            <p:stCondLst>
                              <p:cond delay="0"/>
                            </p:stCondLst>
                            <p:childTnLst>
                              <p:par>
                                <p:cTn id="17" presetID="10" presetClass="entr" presetSubtype="0" fill="hold" grpId="0" nodeType="afterEffect">
                                  <p:stCondLst>
                                    <p:cond delay="4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par>
                                <p:cTn id="20" presetID="10" presetClass="entr" presetSubtype="0" fill="hold" grpId="0" nodeType="withEffect">
                                  <p:stCondLst>
                                    <p:cond delay="53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VISUAL STORYTELLING · Where each emission pattern is located</a:t>
            </a:r>
          </a:p>
          <a:p>
            <a:pPr algn="l">
              <a:spcBef>
                <a:spcPts val="200"/>
              </a:spcBef>
              <a:defRPr>
                <a:latin typeface="Times New Roman"/>
              </a:defRPr>
            </a:pPr>
            <a:r>
              <a:rPr sz="2500" b="1">
                <a:solidFill>
                  <a:srgbClr val="FFFFFF"/>
                </a:solidFill>
                <a:latin typeface="Georgia"/>
              </a:rPr>
              <a:t>Transition pressures are geographically uneven</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3 / 4</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SHEN RUITING</a:t>
            </a:r>
          </a:p>
        </p:txBody>
      </p:sp>
      <p:sp>
        <p:nvSpPr>
          <p:cNvPr id="12" name="TextBox 11"/>
          <p:cNvSpPr txBox="1"/>
          <p:nvPr/>
        </p:nvSpPr>
        <p:spPr>
          <a:xfrm>
            <a:off x="7818120" y="6492240"/>
            <a:ext cx="2743200" cy="292608"/>
          </a:xfrm>
          <a:prstGeom prst="rect">
            <a:avLst/>
          </a:prstGeom>
          <a:noFill/>
          <a:ln>
            <a:noFill/>
          </a:ln>
          <a:effectLst/>
        </p:spPr>
        <p:txBody>
          <a:bodyPr wrap="square" anchor="ctr" lIns="45720" rIns="45720" tIns="18288" bIns="18288">
            <a:spAutoFit/>
          </a:bodyPr>
          <a:lstStyle/>
          <a:p>
            <a:pPr algn="r">
              <a:defRPr>
                <a:latin typeface="Times New Roman"/>
              </a:defRPr>
            </a:pPr>
            <a:r>
              <a:rPr sz="1300" b="0">
                <a:solidFill>
                  <a:srgbClr val="6E7672"/>
                </a:solidFill>
                <a:latin typeface="Times New Roman"/>
              </a:rPr>
              <a:t>[1] [3]</a:t>
            </a:r>
          </a:p>
        </p:txBody>
      </p:sp>
      <p:sp>
        <p:nvSpPr>
          <p:cNvPr id="13" name="TextBox 12"/>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20</a:t>
            </a:r>
          </a:p>
        </p:txBody>
      </p:sp>
      <p:pic>
        <p:nvPicPr>
          <p:cNvPr id="14" name="anim_192" descr="fig_pathway_map.png"/>
          <p:cNvPicPr>
            <a:picLocks noChangeAspect="1"/>
          </p:cNvPicPr>
          <p:nvPr/>
        </p:nvPicPr>
        <p:blipFill>
          <a:blip r:embed="rId3"/>
          <a:stretch>
            <a:fillRect/>
          </a:stretch>
        </p:blipFill>
        <p:spPr>
          <a:xfrm>
            <a:off x="274320" y="939422"/>
            <a:ext cx="11658600" cy="4823706"/>
          </a:xfrm>
          <a:prstGeom prst="rect">
            <a:avLst/>
          </a:prstGeom>
        </p:spPr>
      </p:pic>
      <p:sp>
        <p:nvSpPr>
          <p:cNvPr id="15" name="anim_193"/>
          <p:cNvSpPr txBox="1"/>
          <p:nvPr/>
        </p:nvSpPr>
        <p:spPr>
          <a:xfrm>
            <a:off x="566928" y="5815584"/>
            <a:ext cx="10881360" cy="402336"/>
          </a:xfrm>
          <a:prstGeom prst="rect">
            <a:avLst/>
          </a:prstGeom>
          <a:noFill/>
          <a:ln>
            <a:noFill/>
          </a:ln>
          <a:effectLst/>
        </p:spPr>
        <p:txBody>
          <a:bodyPr wrap="square" anchor="t" lIns="45720" rIns="45720" tIns="18288" bIns="18288">
            <a:spAutoFit/>
          </a:bodyPr>
          <a:lstStyle/>
          <a:p>
            <a:pPr algn="l">
              <a:defRPr>
                <a:latin typeface="Times New Roman"/>
              </a:defRPr>
            </a:pPr>
            <a:r>
              <a:rPr sz="1500" b="1">
                <a:solidFill>
                  <a:srgbClr val="2F5248"/>
                </a:solidFill>
                <a:latin typeface="Times New Roman"/>
              </a:rPr>
              <a:t>The map locates monitoring tasks, not judgement: </a:t>
            </a:r>
            <a:r>
              <a:rPr sz="1500" b="0">
                <a:solidFill>
                  <a:srgbClr val="252B30"/>
                </a:solidFill>
                <a:latin typeface="Times New Roman"/>
              </a:rPr>
              <a:t>rapid-growth pressure clusters in South and Southeast Asia; dark outlines flag the 10 boundary countries.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0"/>
                      </p:stCondLst>
                      <p:childTnLst>
                        <p:par>
                          <p:cTn id="8"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4"/>
                                        </p:tgtEl>
                                        <p:attrNameLst>
                                          <p:attrName>style.visibility</p:attrName>
                                        </p:attrNameLst>
                                      </p:cBhvr>
                                      <p:to>
                                        <p:strVal val="visible"/>
                                      </p:to>
                                    </p:set>
                                    <p:animEffect transition="in" filter="fade">
                                      <p:cBhvr>
                                        <p:cTn id="6" dur="450"/>
                                        <p:tgtEl>
                                          <p:spTgt spid="14"/>
                                        </p:tgtEl>
                                      </p:cBhvr>
                                    </p:animEffect>
                                  </p:childTnLst>
                                </p:cTn>
                              </p:par>
                            </p:childTnLst>
                          </p:cTn>
                        </p:par>
                      </p:childTnLst>
                    </p:cTn>
                  </p:par>
                  <p:par>
                    <p:cTn id="12" fill="hold">
                      <p:stCondLst>
                        <p:cond delay="0"/>
                      </p:stCondLst>
                      <p:childTnLst>
                        <p:par>
                          <p:cTn id="13" fill="hold">
                            <p:stCondLst>
                              <p:cond delay="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VISUAL STORYTELLING · How limited monitoring attention should be allocated</a:t>
            </a:r>
          </a:p>
          <a:p>
            <a:pPr algn="l">
              <a:spcBef>
                <a:spcPts val="200"/>
              </a:spcBef>
              <a:defRPr>
                <a:latin typeface="Times New Roman"/>
              </a:defRPr>
            </a:pPr>
            <a:r>
              <a:rPr sz="2300" b="1">
                <a:solidFill>
                  <a:srgbClr val="FFFFFF"/>
                </a:solidFill>
                <a:latin typeface="Georgia"/>
              </a:rPr>
              <a:t>Where emissions head decides where monitoring goes</a:t>
            </a:r>
          </a:p>
        </p:txBody>
      </p:sp>
      <p:sp>
        <p:nvSpPr>
          <p:cNvPr id="10" name="TextBox 9"/>
          <p:cNvSpPr txBox="1"/>
          <p:nvPr/>
        </p:nvSpPr>
        <p:spPr>
          <a:xfrm>
            <a:off x="10469880" y="274320"/>
            <a:ext cx="1417320" cy="329184"/>
          </a:xfrm>
          <a:prstGeom prst="rect">
            <a:avLst/>
          </a:prstGeom>
          <a:noFill/>
          <a:ln>
            <a:noFill/>
          </a:ln>
          <a:effectLst/>
        </p:spPr>
        <p:txBody>
          <a:bodyPr wrap="square" anchor="t" lIns="45720" rIns="45720" tIns="18288" bIns="18288">
            <a:spAutoFit/>
          </a:bodyPr>
          <a:lstStyle/>
          <a:p>
            <a:pPr algn="r">
              <a:defRPr>
                <a:latin typeface="Times New Roman"/>
              </a:defRPr>
            </a:pPr>
            <a:r>
              <a:rPr sz="1400" b="1">
                <a:solidFill>
                  <a:srgbClr val="D3E3D6"/>
                </a:solidFill>
                <a:latin typeface="Times New Roman"/>
              </a:rPr>
              <a:t>4 / 4</a:t>
            </a:r>
          </a:p>
        </p:txBody>
      </p:sp>
      <p:sp>
        <p:nvSpPr>
          <p:cNvPr id="11" name="TextBox 10"/>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SHEN RUITING</a:t>
            </a:r>
          </a:p>
        </p:txBody>
      </p:sp>
      <p:sp>
        <p:nvSpPr>
          <p:cNvPr id="12" name="TextBox 11"/>
          <p:cNvSpPr txBox="1"/>
          <p:nvPr/>
        </p:nvSpPr>
        <p:spPr>
          <a:xfrm>
            <a:off x="7818120" y="6492240"/>
            <a:ext cx="2743200" cy="292608"/>
          </a:xfrm>
          <a:prstGeom prst="rect">
            <a:avLst/>
          </a:prstGeom>
          <a:noFill/>
          <a:ln>
            <a:noFill/>
          </a:ln>
          <a:effectLst/>
        </p:spPr>
        <p:txBody>
          <a:bodyPr wrap="square" anchor="ctr" lIns="45720" rIns="45720" tIns="18288" bIns="18288">
            <a:spAutoFit/>
          </a:bodyPr>
          <a:lstStyle/>
          <a:p>
            <a:pPr algn="r">
              <a:defRPr>
                <a:latin typeface="Times New Roman"/>
              </a:defRPr>
            </a:pPr>
            <a:r>
              <a:rPr sz="1300" b="0">
                <a:solidFill>
                  <a:srgbClr val="6E7672"/>
                </a:solidFill>
                <a:latin typeface="Times New Roman"/>
              </a:rPr>
              <a:t>[3]</a:t>
            </a:r>
          </a:p>
        </p:txBody>
      </p:sp>
      <p:sp>
        <p:nvSpPr>
          <p:cNvPr id="13" name="TextBox 12"/>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21</a:t>
            </a:r>
          </a:p>
        </p:txBody>
      </p:sp>
      <p:pic>
        <p:nvPicPr>
          <p:cNvPr id="14" name="anim_194" descr="fig_pathway_centroids.png"/>
          <p:cNvPicPr>
            <a:picLocks noChangeAspect="1"/>
          </p:cNvPicPr>
          <p:nvPr/>
        </p:nvPicPr>
        <p:blipFill>
          <a:blip r:embed="rId3"/>
          <a:stretch>
            <a:fillRect/>
          </a:stretch>
        </p:blipFill>
        <p:spPr>
          <a:xfrm>
            <a:off x="423731" y="886968"/>
            <a:ext cx="7811904" cy="3977639"/>
          </a:xfrm>
          <a:prstGeom prst="rect">
            <a:avLst/>
          </a:prstGeom>
        </p:spPr>
      </p:pic>
      <p:sp>
        <p:nvSpPr>
          <p:cNvPr id="15" name="anim_195"/>
          <p:cNvSpPr/>
          <p:nvPr/>
        </p:nvSpPr>
        <p:spPr>
          <a:xfrm>
            <a:off x="457200" y="4828032"/>
            <a:ext cx="2404872" cy="932688"/>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6" name="anim_196"/>
          <p:cNvSpPr txBox="1"/>
          <p:nvPr/>
        </p:nvSpPr>
        <p:spPr>
          <a:xfrm>
            <a:off x="603504" y="4864608"/>
            <a:ext cx="2103120" cy="347472"/>
          </a:xfrm>
          <a:prstGeom prst="rect">
            <a:avLst/>
          </a:prstGeom>
          <a:noFill/>
          <a:ln>
            <a:noFill/>
          </a:ln>
          <a:effectLst/>
        </p:spPr>
        <p:txBody>
          <a:bodyPr wrap="square" anchor="t" lIns="45720" rIns="45720" tIns="18288" bIns="18288">
            <a:spAutoFit/>
          </a:bodyPr>
          <a:lstStyle/>
          <a:p>
            <a:pPr algn="l">
              <a:defRPr>
                <a:latin typeface="Times New Roman"/>
              </a:defRPr>
            </a:pPr>
            <a:r>
              <a:rPr sz="1700" b="1">
                <a:solidFill>
                  <a:srgbClr val="4F6E96"/>
                </a:solidFill>
                <a:latin typeface="Times New Roman"/>
              </a:rPr>
              <a:t>15E to 44E</a:t>
            </a:r>
          </a:p>
        </p:txBody>
      </p:sp>
      <p:sp>
        <p:nvSpPr>
          <p:cNvPr id="17" name="anim_197"/>
          <p:cNvSpPr txBox="1"/>
          <p:nvPr/>
        </p:nvSpPr>
        <p:spPr>
          <a:xfrm>
            <a:off x="603504" y="5193792"/>
            <a:ext cx="2103120" cy="512064"/>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252B30"/>
                </a:solidFill>
                <a:latin typeface="Times New Roman"/>
              </a:rPr>
              <a:t>Centre of gravity of all 193 countries shifts east.</a:t>
            </a:r>
          </a:p>
        </p:txBody>
      </p:sp>
      <p:sp>
        <p:nvSpPr>
          <p:cNvPr id="18" name="anim_198"/>
          <p:cNvSpPr/>
          <p:nvPr/>
        </p:nvSpPr>
        <p:spPr>
          <a:xfrm>
            <a:off x="2944368" y="4828032"/>
            <a:ext cx="2404872" cy="932688"/>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9" name="anim_199"/>
          <p:cNvSpPr txBox="1"/>
          <p:nvPr/>
        </p:nvSpPr>
        <p:spPr>
          <a:xfrm>
            <a:off x="3090672" y="4864608"/>
            <a:ext cx="2103120" cy="347472"/>
          </a:xfrm>
          <a:prstGeom prst="rect">
            <a:avLst/>
          </a:prstGeom>
          <a:noFill/>
          <a:ln>
            <a:noFill/>
          </a:ln>
          <a:effectLst/>
        </p:spPr>
        <p:txBody>
          <a:bodyPr wrap="square" anchor="t" lIns="45720" rIns="45720" tIns="18288" bIns="18288">
            <a:spAutoFit/>
          </a:bodyPr>
          <a:lstStyle/>
          <a:p>
            <a:pPr algn="l">
              <a:defRPr>
                <a:latin typeface="Times New Roman"/>
              </a:defRPr>
            </a:pPr>
            <a:r>
              <a:rPr sz="1700" b="1">
                <a:solidFill>
                  <a:srgbClr val="BE7F4E"/>
                </a:solidFill>
                <a:latin typeface="Times New Roman"/>
              </a:rPr>
              <a:t>+198%</a:t>
            </a:r>
          </a:p>
        </p:txBody>
      </p:sp>
      <p:sp>
        <p:nvSpPr>
          <p:cNvPr id="20" name="anim_200"/>
          <p:cNvSpPr txBox="1"/>
          <p:nvPr/>
        </p:nvSpPr>
        <p:spPr>
          <a:xfrm>
            <a:off x="3090672" y="5193792"/>
            <a:ext cx="2103120" cy="512064"/>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252B30"/>
                </a:solidFill>
                <a:latin typeface="Times New Roman"/>
              </a:rPr>
              <a:t>Rapid-growth emissions since 1992; centre stays in South/Southeast Asia.</a:t>
            </a:r>
          </a:p>
        </p:txBody>
      </p:sp>
      <p:sp>
        <p:nvSpPr>
          <p:cNvPr id="21" name="anim_201"/>
          <p:cNvSpPr/>
          <p:nvPr/>
        </p:nvSpPr>
        <p:spPr>
          <a:xfrm>
            <a:off x="5431536" y="4828032"/>
            <a:ext cx="2404872" cy="932688"/>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2" name="anim_202"/>
          <p:cNvSpPr txBox="1"/>
          <p:nvPr/>
        </p:nvSpPr>
        <p:spPr>
          <a:xfrm>
            <a:off x="5577840" y="4864608"/>
            <a:ext cx="2103120" cy="347472"/>
          </a:xfrm>
          <a:prstGeom prst="rect">
            <a:avLst/>
          </a:prstGeom>
          <a:noFill/>
          <a:ln>
            <a:noFill/>
          </a:ln>
          <a:effectLst/>
        </p:spPr>
        <p:txBody>
          <a:bodyPr wrap="square" anchor="t" lIns="45720" rIns="45720" tIns="18288" bIns="18288">
            <a:spAutoFit/>
          </a:bodyPr>
          <a:lstStyle/>
          <a:p>
            <a:pPr algn="l">
              <a:defRPr>
                <a:latin typeface="Times New Roman"/>
              </a:defRPr>
            </a:pPr>
            <a:r>
              <a:rPr sz="1700" b="1">
                <a:solidFill>
                  <a:srgbClr val="4F6E96"/>
                </a:solidFill>
                <a:latin typeface="Times New Roman"/>
              </a:rPr>
              <a:t>+58%</a:t>
            </a:r>
          </a:p>
        </p:txBody>
      </p:sp>
      <p:sp>
        <p:nvSpPr>
          <p:cNvPr id="23" name="anim_203"/>
          <p:cNvSpPr txBox="1"/>
          <p:nvPr/>
        </p:nvSpPr>
        <p:spPr>
          <a:xfrm>
            <a:off x="5577840" y="5193792"/>
            <a:ext cx="2103120" cy="512064"/>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252B30"/>
                </a:solidFill>
                <a:latin typeface="Times New Roman"/>
              </a:rPr>
              <a:t>Plateauing emissions - 92.2% of 2017-21 emissions.</a:t>
            </a:r>
          </a:p>
        </p:txBody>
      </p:sp>
      <p:sp>
        <p:nvSpPr>
          <p:cNvPr id="24" name="anim_204"/>
          <p:cNvSpPr txBox="1"/>
          <p:nvPr/>
        </p:nvSpPr>
        <p:spPr>
          <a:xfrm>
            <a:off x="475488" y="5815584"/>
            <a:ext cx="7589520" cy="310896"/>
          </a:xfrm>
          <a:prstGeom prst="rect">
            <a:avLst/>
          </a:prstGeom>
          <a:noFill/>
          <a:ln>
            <a:noFill/>
          </a:ln>
          <a:effectLst/>
        </p:spPr>
        <p:txBody>
          <a:bodyPr wrap="square" anchor="t" lIns="45720" rIns="45720" tIns="18288" bIns="18288">
            <a:spAutoFit/>
          </a:bodyPr>
          <a:lstStyle/>
          <a:p>
            <a:pPr algn="l">
              <a:defRPr>
                <a:latin typeface="Times New Roman"/>
              </a:defRPr>
            </a:pPr>
            <a:r>
              <a:rPr sz="1300" b="1">
                <a:solidFill>
                  <a:srgbClr val="2F5248"/>
                </a:solidFill>
                <a:latin typeface="Times New Roman"/>
              </a:rPr>
              <a:t>Same symptom, different causes: </a:t>
            </a:r>
            <a:r>
              <a:rPr sz="1300" b="0">
                <a:solidFill>
                  <a:srgbClr val="6E7672"/>
                </a:solidFill>
                <a:latin typeface="Times New Roman"/>
              </a:rPr>
              <a:t>flat emissions can mean expansion, slow post-peak decline or a real fuel shift.</a:t>
            </a:r>
          </a:p>
        </p:txBody>
      </p:sp>
      <p:sp>
        <p:nvSpPr>
          <p:cNvPr id="25" name="TextBox 24"/>
          <p:cNvSpPr txBox="1"/>
          <p:nvPr/>
        </p:nvSpPr>
        <p:spPr>
          <a:xfrm>
            <a:off x="8522208" y="1005840"/>
            <a:ext cx="365760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MONITORING PRIORITIES</a:t>
            </a:r>
          </a:p>
        </p:txBody>
      </p:sp>
      <p:sp>
        <p:nvSpPr>
          <p:cNvPr id="26" name="anim_205"/>
          <p:cNvSpPr/>
          <p:nvPr/>
        </p:nvSpPr>
        <p:spPr>
          <a:xfrm>
            <a:off x="8522208" y="1325880"/>
            <a:ext cx="3063240" cy="1536192"/>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7" name="anim_206"/>
          <p:cNvSpPr/>
          <p:nvPr/>
        </p:nvSpPr>
        <p:spPr>
          <a:xfrm>
            <a:off x="8522208" y="1325880"/>
            <a:ext cx="64008" cy="1536192"/>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28" name="anim_207"/>
          <p:cNvSpPr txBox="1"/>
          <p:nvPr/>
        </p:nvSpPr>
        <p:spPr>
          <a:xfrm>
            <a:off x="8714232" y="1380744"/>
            <a:ext cx="2743200" cy="365760"/>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BE7F4E"/>
                </a:solidFill>
                <a:latin typeface="Times New Roman"/>
              </a:rPr>
              <a:t>Rapid-growth pathway (24)</a:t>
            </a:r>
          </a:p>
        </p:txBody>
      </p:sp>
      <p:sp>
        <p:nvSpPr>
          <p:cNvPr id="29" name="anim_208"/>
          <p:cNvSpPr txBox="1"/>
          <p:nvPr/>
        </p:nvSpPr>
        <p:spPr>
          <a:xfrm>
            <a:off x="8714232" y="1746504"/>
            <a:ext cx="2743200" cy="105156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252B30"/>
                </a:solidFill>
                <a:latin typeface="Times New Roman"/>
              </a:rPr>
              <a:t>Watch: growth rate · fuel shares · peak timing</a:t>
            </a:r>
          </a:p>
          <a:p>
            <a:pPr algn="l">
              <a:spcBef>
                <a:spcPts val="400"/>
              </a:spcBef>
              <a:defRPr>
                <a:latin typeface="Times New Roman"/>
              </a:defRPr>
            </a:pPr>
            <a:r>
              <a:rPr sz="1350" b="0">
                <a:solidFill>
                  <a:srgbClr val="252B30"/>
                </a:solidFill>
                <a:latin typeface="Times New Roman"/>
              </a:rPr>
              <a:t>Progress = growth slows, high-carbon shares fall</a:t>
            </a:r>
          </a:p>
        </p:txBody>
      </p:sp>
      <p:sp>
        <p:nvSpPr>
          <p:cNvPr id="30" name="anim_209"/>
          <p:cNvSpPr/>
          <p:nvPr/>
        </p:nvSpPr>
        <p:spPr>
          <a:xfrm>
            <a:off x="8522208" y="2971800"/>
            <a:ext cx="3063240" cy="1536192"/>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1" name="anim_210"/>
          <p:cNvSpPr/>
          <p:nvPr/>
        </p:nvSpPr>
        <p:spPr>
          <a:xfrm>
            <a:off x="8522208" y="2971800"/>
            <a:ext cx="64008" cy="1536192"/>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32" name="anim_211"/>
          <p:cNvSpPr txBox="1"/>
          <p:nvPr/>
        </p:nvSpPr>
        <p:spPr>
          <a:xfrm>
            <a:off x="8714232" y="3026664"/>
            <a:ext cx="2743200" cy="365760"/>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4F6E96"/>
                </a:solidFill>
                <a:latin typeface="Times New Roman"/>
              </a:rPr>
              <a:t>Plateauing pathway (169)</a:t>
            </a:r>
          </a:p>
        </p:txBody>
      </p:sp>
      <p:sp>
        <p:nvSpPr>
          <p:cNvPr id="33" name="anim_212"/>
          <p:cNvSpPr txBox="1"/>
          <p:nvPr/>
        </p:nvSpPr>
        <p:spPr>
          <a:xfrm>
            <a:off x="8714232" y="3392424"/>
            <a:ext cx="2743200" cy="105156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252B30"/>
                </a:solidFill>
                <a:latin typeface="Times New Roman"/>
              </a:rPr>
              <a:t>Watch: total emissions · pace of decline</a:t>
            </a:r>
          </a:p>
          <a:p>
            <a:pPr algn="l">
              <a:spcBef>
                <a:spcPts val="400"/>
              </a:spcBef>
              <a:defRPr>
                <a:latin typeface="Times New Roman"/>
              </a:defRPr>
            </a:pPr>
            <a:r>
              <a:rPr sz="1350" b="0">
                <a:solidFill>
                  <a:srgbClr val="252B30"/>
                </a:solidFill>
                <a:latin typeface="Times New Roman"/>
              </a:rPr>
              <a:t>Progress = absolute emissions fall structurally</a:t>
            </a:r>
          </a:p>
        </p:txBody>
      </p:sp>
      <p:sp>
        <p:nvSpPr>
          <p:cNvPr id="34" name="anim_213"/>
          <p:cNvSpPr/>
          <p:nvPr/>
        </p:nvSpPr>
        <p:spPr>
          <a:xfrm>
            <a:off x="8522208" y="4617720"/>
            <a:ext cx="3063240" cy="1536192"/>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5" name="anim_214"/>
          <p:cNvSpPr/>
          <p:nvPr/>
        </p:nvSpPr>
        <p:spPr>
          <a:xfrm>
            <a:off x="8522208" y="4617720"/>
            <a:ext cx="64008" cy="1536192"/>
          </a:xfrm>
          <a:prstGeom prst="rect">
            <a:avLst/>
          </a:prstGeom>
          <a:solidFill>
            <a:srgbClr val="6E767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36" name="anim_215"/>
          <p:cNvSpPr txBox="1"/>
          <p:nvPr/>
        </p:nvSpPr>
        <p:spPr>
          <a:xfrm>
            <a:off x="8714232" y="4672583"/>
            <a:ext cx="2743200" cy="365760"/>
          </a:xfrm>
          <a:prstGeom prst="rect">
            <a:avLst/>
          </a:prstGeom>
          <a:noFill/>
          <a:ln>
            <a:noFill/>
          </a:ln>
          <a:effectLst/>
        </p:spPr>
        <p:txBody>
          <a:bodyPr wrap="square" anchor="t" lIns="45720" rIns="45720" tIns="18288" bIns="18288">
            <a:spAutoFit/>
          </a:bodyPr>
          <a:lstStyle/>
          <a:p>
            <a:pPr algn="l">
              <a:defRPr>
                <a:latin typeface="Times New Roman"/>
              </a:defRPr>
            </a:pPr>
            <a:r>
              <a:rPr sz="1450" b="1">
                <a:solidFill>
                  <a:srgbClr val="6E7672"/>
                </a:solidFill>
                <a:latin typeface="Times New Roman"/>
              </a:rPr>
              <a:t>Boundary countries (10)</a:t>
            </a:r>
          </a:p>
        </p:txBody>
      </p:sp>
      <p:sp>
        <p:nvSpPr>
          <p:cNvPr id="37" name="anim_216"/>
          <p:cNvSpPr txBox="1"/>
          <p:nvPr/>
        </p:nvSpPr>
        <p:spPr>
          <a:xfrm>
            <a:off x="8714232" y="5038344"/>
            <a:ext cx="2743200" cy="105156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252B30"/>
                </a:solidFill>
                <a:latin typeface="Times New Roman"/>
              </a:rPr>
              <a:t>Watch: data completeness · membership stability</a:t>
            </a:r>
          </a:p>
          <a:p>
            <a:pPr algn="l">
              <a:spcBef>
                <a:spcPts val="400"/>
              </a:spcBef>
              <a:defRPr>
                <a:latin typeface="Times New Roman"/>
              </a:defRPr>
            </a:pPr>
            <a:r>
              <a:rPr sz="1350" b="0">
                <a:solidFill>
                  <a:srgbClr val="252B30"/>
                </a:solidFill>
                <a:latin typeface="Times New Roman"/>
              </a:rPr>
              <a:t>Progress = pathway membership stabilises with better data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0"/>
                      </p:stCondLst>
                      <p:childTnLst>
                        <p:par>
                          <p:cTn id="8"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4"/>
                                        </p:tgtEl>
                                        <p:attrNameLst>
                                          <p:attrName>style.visibility</p:attrName>
                                        </p:attrNameLst>
                                      </p:cBhvr>
                                      <p:to>
                                        <p:strVal val="visible"/>
                                      </p:to>
                                    </p:set>
                                    <p:animEffect transition="in" filter="fade">
                                      <p:cBhvr>
                                        <p:cTn id="6" dur="450"/>
                                        <p:tgtEl>
                                          <p:spTgt spid="14"/>
                                        </p:tgtEl>
                                      </p:cBhvr>
                                    </p:animEffect>
                                  </p:childTnLst>
                                </p:cTn>
                              </p:par>
                            </p:childTnLst>
                          </p:cTn>
                        </p:par>
                      </p:childTnLst>
                    </p:cTn>
                  </p:par>
                  <p:par>
                    <p:cTn id="18" fill="hold">
                      <p:stCondLst>
                        <p:cond delay="0"/>
                      </p:stCondLst>
                      <p:childTnLst>
                        <p:par>
                          <p:cTn id="19" fill="hold">
                            <p:stCondLst>
                              <p:cond delay="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53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66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childTnLst>
                          </p:cTn>
                        </p:par>
                      </p:childTnLst>
                    </p:cTn>
                  </p:par>
                  <p:par>
                    <p:cTn id="29" fill="hold">
                      <p:stCondLst>
                        <p:cond delay="0"/>
                      </p:stCondLst>
                      <p:childTnLst>
                        <p:par>
                          <p:cTn id="30" fill="hold">
                            <p:stCondLst>
                              <p:cond delay="0"/>
                            </p:stCondLst>
                            <p:childTnLst>
                              <p:par>
                                <p:cTn id="20" presetID="10" presetClass="entr" presetSubtype="0" fill="hold" grpId="0" nodeType="afterEffect">
                                  <p:stCondLst>
                                    <p:cond delay="4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par>
                                <p:cTn id="23" presetID="10" presetClass="entr" presetSubtype="0" fill="hold" grpId="0" nodeType="withEffect">
                                  <p:stCondLst>
                                    <p:cond delay="53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50"/>
                                        <p:tgtEl>
                                          <p:spTgt spid="19"/>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50"/>
                                        <p:tgtEl>
                                          <p:spTgt spid="20"/>
                                        </p:tgtEl>
                                      </p:cBhvr>
                                    </p:animEffect>
                                  </p:childTnLst>
                                </p:cTn>
                              </p:par>
                            </p:childTnLst>
                          </p:cTn>
                        </p:par>
                      </p:childTnLst>
                    </p:cTn>
                  </p:par>
                  <p:par>
                    <p:cTn id="40" fill="hold">
                      <p:stCondLst>
                        <p:cond delay="0"/>
                      </p:stCondLst>
                      <p:childTnLst>
                        <p:par>
                          <p:cTn id="41" fill="hold">
                            <p:stCondLst>
                              <p:cond delay="0"/>
                            </p:stCondLst>
                            <p:childTnLst>
                              <p:par>
                                <p:cTn id="31" presetID="10" presetClass="entr" presetSubtype="0" fill="hold" grpId="0" nodeType="afterEffect">
                                  <p:stCondLst>
                                    <p:cond delay="40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50"/>
                                        <p:tgtEl>
                                          <p:spTgt spid="21"/>
                                        </p:tgtEl>
                                      </p:cBhvr>
                                    </p:animEffect>
                                  </p:childTnLst>
                                </p:cTn>
                              </p:par>
                              <p:par>
                                <p:cTn id="34" presetID="10" presetClass="entr" presetSubtype="0" fill="hold" grpId="0" nodeType="withEffect">
                                  <p:stCondLst>
                                    <p:cond delay="53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50"/>
                                        <p:tgtEl>
                                          <p:spTgt spid="22"/>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50"/>
                                        <p:tgtEl>
                                          <p:spTgt spid="23"/>
                                        </p:tgtEl>
                                      </p:cBhvr>
                                    </p:animEffect>
                                  </p:childTnLst>
                                </p:cTn>
                              </p:par>
                            </p:childTnLst>
                          </p:cTn>
                        </p:par>
                      </p:childTnLst>
                    </p:cTn>
                  </p:par>
                  <p:par>
                    <p:cTn id="45" fill="hold">
                      <p:stCondLst>
                        <p:cond delay="0"/>
                      </p:stCondLst>
                      <p:childTnLst>
                        <p:par>
                          <p:cTn id="46" fill="hold">
                            <p:stCondLst>
                              <p:cond delay="0"/>
                            </p:stCondLst>
                            <p:childTnLst>
                              <p:par>
                                <p:cTn id="42" presetID="10" presetClass="entr" presetSubtype="0" fill="hold" grpId="0" nodeType="afterEffect">
                                  <p:stCondLst>
                                    <p:cond delay="40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childTnLst>
                          </p:cTn>
                        </p:par>
                      </p:childTnLst>
                    </p:cTn>
                  </p:par>
                  <p:par>
                    <p:cTn id="59" fill="hold">
                      <p:stCondLst>
                        <p:cond delay="0"/>
                      </p:stCondLst>
                      <p:childTnLst>
                        <p:par>
                          <p:cTn id="60" fill="hold">
                            <p:stCondLst>
                              <p:cond delay="0"/>
                            </p:stCondLst>
                            <p:childTnLst>
                              <p:par>
                                <p:cTn id="47" presetID="10" presetClass="entr" presetSubtype="0" fill="hold" grpId="0" nodeType="afterEffect">
                                  <p:stCondLst>
                                    <p:cond delay="40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par>
                                <p:cTn id="50" presetID="10" presetClass="entr" presetSubtype="0" fill="hold" grpId="0" nodeType="withEffect">
                                  <p:stCondLst>
                                    <p:cond delay="53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50"/>
                                        <p:tgtEl>
                                          <p:spTgt spid="27"/>
                                        </p:tgtEl>
                                      </p:cBhvr>
                                    </p:animEffect>
                                  </p:childTnLst>
                                </p:cTn>
                              </p:par>
                              <p:par>
                                <p:cTn id="53" presetID="10" presetClass="entr" presetSubtype="0" fill="hold" grpId="0" nodeType="withEffect">
                                  <p:stCondLst>
                                    <p:cond delay="66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50"/>
                                        <p:tgtEl>
                                          <p:spTgt spid="28"/>
                                        </p:tgtEl>
                                      </p:cBhvr>
                                    </p:animEffect>
                                  </p:childTnLst>
                                </p:cTn>
                              </p:par>
                              <p:par>
                                <p:cTn id="56" presetID="10" presetClass="entr" presetSubtype="0" fill="hold" grpId="0" nodeType="withEffect">
                                  <p:stCondLst>
                                    <p:cond delay="79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50"/>
                                        <p:tgtEl>
                                          <p:spTgt spid="29"/>
                                        </p:tgtEl>
                                      </p:cBhvr>
                                    </p:animEffect>
                                  </p:childTnLst>
                                </p:cTn>
                              </p:par>
                            </p:childTnLst>
                          </p:cTn>
                        </p:par>
                      </p:childTnLst>
                    </p:cTn>
                  </p:par>
                  <p:par>
                    <p:cTn id="73" fill="hold">
                      <p:stCondLst>
                        <p:cond delay="0"/>
                      </p:stCondLst>
                      <p:childTnLst>
                        <p:par>
                          <p:cTn id="74" fill="hold">
                            <p:stCondLst>
                              <p:cond delay="0"/>
                            </p:stCondLst>
                            <p:childTnLst>
                              <p:par>
                                <p:cTn id="61" presetID="10" presetClass="entr" presetSubtype="0" fill="hold" grpId="0" nodeType="afterEffect">
                                  <p:stCondLst>
                                    <p:cond delay="40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450"/>
                                        <p:tgtEl>
                                          <p:spTgt spid="30"/>
                                        </p:tgtEl>
                                      </p:cBhvr>
                                    </p:animEffect>
                                  </p:childTnLst>
                                </p:cTn>
                              </p:par>
                              <p:par>
                                <p:cTn id="64" presetID="10" presetClass="entr" presetSubtype="0" fill="hold" grpId="0" nodeType="withEffect">
                                  <p:stCondLst>
                                    <p:cond delay="53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450"/>
                                        <p:tgtEl>
                                          <p:spTgt spid="31"/>
                                        </p:tgtEl>
                                      </p:cBhvr>
                                    </p:animEffect>
                                  </p:childTnLst>
                                </p:cTn>
                              </p:par>
                              <p:par>
                                <p:cTn id="67" presetID="10" presetClass="entr" presetSubtype="0" fill="hold" grpId="0" nodeType="withEffect">
                                  <p:stCondLst>
                                    <p:cond delay="66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450"/>
                                        <p:tgtEl>
                                          <p:spTgt spid="32"/>
                                        </p:tgtEl>
                                      </p:cBhvr>
                                    </p:animEffect>
                                  </p:childTnLst>
                                </p:cTn>
                              </p:par>
                              <p:par>
                                <p:cTn id="70" presetID="10" presetClass="entr" presetSubtype="0" fill="hold" grpId="0" nodeType="withEffect">
                                  <p:stCondLst>
                                    <p:cond delay="79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450"/>
                                        <p:tgtEl>
                                          <p:spTgt spid="33"/>
                                        </p:tgtEl>
                                      </p:cBhvr>
                                    </p:animEffect>
                                  </p:childTnLst>
                                </p:cTn>
                              </p:par>
                            </p:childTnLst>
                          </p:cTn>
                        </p:par>
                      </p:childTnLst>
                    </p:cTn>
                  </p:par>
                  <p:par>
                    <p:cTn id="87" fill="hold">
                      <p:stCondLst>
                        <p:cond delay="0"/>
                      </p:stCondLst>
                      <p:childTnLst>
                        <p:par>
                          <p:cTn id="88" fill="hold">
                            <p:stCondLst>
                              <p:cond delay="0"/>
                            </p:stCondLst>
                            <p:childTnLst>
                              <p:par>
                                <p:cTn id="75" presetID="10" presetClass="entr" presetSubtype="0" fill="hold" grpId="0" nodeType="afterEffect">
                                  <p:stCondLst>
                                    <p:cond delay="40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450"/>
                                        <p:tgtEl>
                                          <p:spTgt spid="34"/>
                                        </p:tgtEl>
                                      </p:cBhvr>
                                    </p:animEffect>
                                  </p:childTnLst>
                                </p:cTn>
                              </p:par>
                              <p:par>
                                <p:cTn id="78" presetID="10" presetClass="entr" presetSubtype="0" fill="hold" grpId="0" nodeType="withEffect">
                                  <p:stCondLst>
                                    <p:cond delay="53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450"/>
                                        <p:tgtEl>
                                          <p:spTgt spid="35"/>
                                        </p:tgtEl>
                                      </p:cBhvr>
                                    </p:animEffect>
                                  </p:childTnLst>
                                </p:cTn>
                              </p:par>
                              <p:par>
                                <p:cTn id="81" presetID="10" presetClass="entr" presetSubtype="0" fill="hold" grpId="0" nodeType="withEffect">
                                  <p:stCondLst>
                                    <p:cond delay="66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450"/>
                                        <p:tgtEl>
                                          <p:spTgt spid="36"/>
                                        </p:tgtEl>
                                      </p:cBhvr>
                                    </p:animEffect>
                                  </p:childTnLst>
                                </p:cTn>
                              </p:par>
                              <p:par>
                                <p:cTn id="84" presetID="10" presetClass="entr" presetSubtype="0" fill="hold" grpId="0" nodeType="withEffect">
                                  <p:stCondLst>
                                    <p:cond delay="790"/>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1300" b="1">
                <a:solidFill>
                  <a:srgbClr val="D3E3D6"/>
                </a:solidFill>
                <a:latin typeface="Georgia"/>
              </a:rPr>
              <a:t>CONCLUSIONS · What this investigation changes for climate monitoring</a:t>
            </a:r>
          </a:p>
          <a:p>
            <a:pPr algn="l">
              <a:spcBef>
                <a:spcPts val="200"/>
              </a:spcBef>
              <a:defRPr>
                <a:latin typeface="Times New Roman"/>
              </a:defRPr>
            </a:pPr>
            <a:r>
              <a:rPr sz="2300" b="1">
                <a:solidFill>
                  <a:srgbClr val="FFFFFF"/>
                </a:solidFill>
                <a:latin typeface="Georgia"/>
              </a:rPr>
              <a:t>From one emission total to pathway-specific monitoring</a:t>
            </a:r>
          </a:p>
        </p:txBody>
      </p:sp>
      <p:sp>
        <p:nvSpPr>
          <p:cNvPr id="10" name="TextBox 9"/>
          <p:cNvSpPr txBox="1"/>
          <p:nvPr/>
        </p:nvSpPr>
        <p:spPr>
          <a:xfrm>
            <a:off x="1572768" y="6492240"/>
            <a:ext cx="6400800" cy="292608"/>
          </a:xfrm>
          <a:prstGeom prst="rect">
            <a:avLst/>
          </a:prstGeom>
          <a:noFill/>
          <a:ln>
            <a:noFill/>
          </a:ln>
          <a:effectLst/>
        </p:spPr>
        <p:txBody>
          <a:bodyPr wrap="square" anchor="ctr" lIns="45720" rIns="45720" tIns="18288" bIns="18288">
            <a:spAutoFit/>
          </a:bodyPr>
          <a:lstStyle/>
          <a:p>
            <a:pPr algn="l">
              <a:defRPr>
                <a:latin typeface="Times New Roman"/>
              </a:defRPr>
            </a:pPr>
            <a:r>
              <a:rPr sz="1300" b="1">
                <a:solidFill>
                  <a:srgbClr val="6E7672"/>
                </a:solidFill>
                <a:latin typeface="Times New Roman"/>
              </a:rPr>
              <a:t>Responsible: GROUP 30 - ALL MEMBERS</a:t>
            </a:r>
          </a:p>
        </p:txBody>
      </p:sp>
      <p:sp>
        <p:nvSpPr>
          <p:cNvPr id="11" name="TextBox 10"/>
          <p:cNvSpPr txBox="1"/>
          <p:nvPr/>
        </p:nvSpPr>
        <p:spPr>
          <a:xfrm>
            <a:off x="11201400" y="6492240"/>
            <a:ext cx="749808" cy="292608"/>
          </a:xfrm>
          <a:prstGeom prst="rect">
            <a:avLst/>
          </a:prstGeom>
          <a:noFill/>
          <a:ln>
            <a:noFill/>
          </a:ln>
          <a:effectLst/>
        </p:spPr>
        <p:txBody>
          <a:bodyPr wrap="square" anchor="ctr" lIns="45720" rIns="45720" tIns="18288" bIns="18288">
            <a:spAutoFit/>
          </a:bodyPr>
          <a:lstStyle/>
          <a:p>
            <a:pPr algn="r">
              <a:defRPr>
                <a:latin typeface="Times New Roman"/>
              </a:defRPr>
            </a:pPr>
            <a:r>
              <a:rPr sz="1400" b="0">
                <a:solidFill>
                  <a:srgbClr val="6E7672"/>
                </a:solidFill>
                <a:latin typeface="Times New Roman"/>
              </a:rPr>
              <a:t>22</a:t>
            </a:r>
          </a:p>
        </p:txBody>
      </p:sp>
      <p:sp>
        <p:nvSpPr>
          <p:cNvPr id="12" name="anim_217"/>
          <p:cNvSpPr/>
          <p:nvPr/>
        </p:nvSpPr>
        <p:spPr>
          <a:xfrm>
            <a:off x="457200" y="1188720"/>
            <a:ext cx="3566160" cy="214884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3" name="anim_218"/>
          <p:cNvSpPr/>
          <p:nvPr/>
        </p:nvSpPr>
        <p:spPr>
          <a:xfrm>
            <a:off x="457200" y="1188720"/>
            <a:ext cx="3566160" cy="91440"/>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4" name="anim_219"/>
          <p:cNvSpPr txBox="1"/>
          <p:nvPr/>
        </p:nvSpPr>
        <p:spPr>
          <a:xfrm>
            <a:off x="621792" y="1353312"/>
            <a:ext cx="3246120" cy="32004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4F6E96"/>
                </a:solidFill>
                <a:latin typeface="Times New Roman"/>
              </a:rPr>
              <a:t>CURRENT BURDEN</a:t>
            </a:r>
          </a:p>
        </p:txBody>
      </p:sp>
      <p:sp>
        <p:nvSpPr>
          <p:cNvPr id="15" name="anim_220"/>
          <p:cNvSpPr txBox="1"/>
          <p:nvPr/>
        </p:nvSpPr>
        <p:spPr>
          <a:xfrm>
            <a:off x="621792" y="1700784"/>
            <a:ext cx="3246120" cy="804672"/>
          </a:xfrm>
          <a:prstGeom prst="rect">
            <a:avLst/>
          </a:prstGeom>
          <a:noFill/>
          <a:ln>
            <a:noFill/>
          </a:ln>
          <a:effectLst/>
        </p:spPr>
        <p:txBody>
          <a:bodyPr wrap="square" anchor="t" lIns="45720" rIns="45720" tIns="18288" bIns="18288">
            <a:spAutoFit/>
          </a:bodyPr>
          <a:lstStyle/>
          <a:p>
            <a:pPr algn="l">
              <a:defRPr>
                <a:latin typeface="Times New Roman"/>
              </a:defRPr>
            </a:pPr>
            <a:r>
              <a:rPr sz="1400" b="1">
                <a:solidFill>
                  <a:srgbClr val="252B30"/>
                </a:solidFill>
                <a:latin typeface="Times New Roman"/>
              </a:rPr>
              <a:t>The 169-country plateauing pathway holds 92.2% of 2017-2021 sample emissions</a:t>
            </a:r>
          </a:p>
        </p:txBody>
      </p:sp>
      <p:sp>
        <p:nvSpPr>
          <p:cNvPr id="16" name="anim_221"/>
          <p:cNvSpPr txBox="1"/>
          <p:nvPr/>
        </p:nvSpPr>
        <p:spPr>
          <a:xfrm>
            <a:off x="621792" y="2523744"/>
            <a:ext cx="3246120" cy="77724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252B30"/>
                </a:solidFill>
                <a:latin typeface="Times New Roman"/>
              </a:rPr>
              <a:t>Push the plateau into absolute decline - this is the short-term mitigation lever.</a:t>
            </a:r>
          </a:p>
        </p:txBody>
      </p:sp>
      <p:sp>
        <p:nvSpPr>
          <p:cNvPr id="17" name="anim_222"/>
          <p:cNvSpPr/>
          <p:nvPr/>
        </p:nvSpPr>
        <p:spPr>
          <a:xfrm>
            <a:off x="4142232" y="1188720"/>
            <a:ext cx="3566160" cy="214884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8" name="anim_223"/>
          <p:cNvSpPr/>
          <p:nvPr/>
        </p:nvSpPr>
        <p:spPr>
          <a:xfrm>
            <a:off x="4142232" y="1188720"/>
            <a:ext cx="3566160" cy="91440"/>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9" name="anim_224"/>
          <p:cNvSpPr txBox="1"/>
          <p:nvPr/>
        </p:nvSpPr>
        <p:spPr>
          <a:xfrm>
            <a:off x="4306824" y="1353312"/>
            <a:ext cx="3246120" cy="32004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BE7F4E"/>
                </a:solidFill>
                <a:latin typeface="Times New Roman"/>
              </a:rPr>
              <a:t>FUTURE PRESSURE</a:t>
            </a:r>
          </a:p>
        </p:txBody>
      </p:sp>
      <p:sp>
        <p:nvSpPr>
          <p:cNvPr id="20" name="anim_225"/>
          <p:cNvSpPr txBox="1"/>
          <p:nvPr/>
        </p:nvSpPr>
        <p:spPr>
          <a:xfrm>
            <a:off x="4306824" y="1700784"/>
            <a:ext cx="3246120" cy="804672"/>
          </a:xfrm>
          <a:prstGeom prst="rect">
            <a:avLst/>
          </a:prstGeom>
          <a:noFill/>
          <a:ln>
            <a:noFill/>
          </a:ln>
          <a:effectLst/>
        </p:spPr>
        <p:txBody>
          <a:bodyPr wrap="square" anchor="t" lIns="45720" rIns="45720" tIns="18288" bIns="18288">
            <a:spAutoFit/>
          </a:bodyPr>
          <a:lstStyle/>
          <a:p>
            <a:pPr algn="l">
              <a:defRPr>
                <a:latin typeface="Times New Roman"/>
              </a:defRPr>
            </a:pPr>
            <a:r>
              <a:rPr sz="1400" b="1">
                <a:solidFill>
                  <a:srgbClr val="252B30"/>
                </a:solidFill>
                <a:latin typeface="Times New Roman"/>
              </a:rPr>
              <a:t>The 24-country rapid-growth pathway: fast growth, late peaks, +198% since 1992</a:t>
            </a:r>
          </a:p>
        </p:txBody>
      </p:sp>
      <p:sp>
        <p:nvSpPr>
          <p:cNvPr id="21" name="anim_226"/>
          <p:cNvSpPr txBox="1"/>
          <p:nvPr/>
        </p:nvSpPr>
        <p:spPr>
          <a:xfrm>
            <a:off x="4306824" y="2523744"/>
            <a:ext cx="3246120" cy="77724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252B30"/>
                </a:solidFill>
                <a:latin typeface="Times New Roman"/>
              </a:rPr>
              <a:t>Track growth and lock-in signals now, before today's growth becomes tomorrow's burden.</a:t>
            </a:r>
          </a:p>
        </p:txBody>
      </p:sp>
      <p:sp>
        <p:nvSpPr>
          <p:cNvPr id="22" name="anim_227"/>
          <p:cNvSpPr/>
          <p:nvPr/>
        </p:nvSpPr>
        <p:spPr>
          <a:xfrm>
            <a:off x="7827264" y="1188720"/>
            <a:ext cx="3566160" cy="214884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3" name="anim_228"/>
          <p:cNvSpPr/>
          <p:nvPr/>
        </p:nvSpPr>
        <p:spPr>
          <a:xfrm>
            <a:off x="7827264" y="1188720"/>
            <a:ext cx="3566160" cy="91440"/>
          </a:xfrm>
          <a:prstGeom prst="rect">
            <a:avLst/>
          </a:prstGeom>
          <a:solidFill>
            <a:srgbClr val="6E76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4" name="anim_229"/>
          <p:cNvSpPr txBox="1"/>
          <p:nvPr/>
        </p:nvSpPr>
        <p:spPr>
          <a:xfrm>
            <a:off x="7991856" y="1353312"/>
            <a:ext cx="3246120" cy="320040"/>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6E7672"/>
                </a:solidFill>
                <a:latin typeface="Times New Roman"/>
              </a:rPr>
              <a:t>BOUNDARY UNCERTAINTY</a:t>
            </a:r>
          </a:p>
        </p:txBody>
      </p:sp>
      <p:sp>
        <p:nvSpPr>
          <p:cNvPr id="25" name="anim_230"/>
          <p:cNvSpPr txBox="1"/>
          <p:nvPr/>
        </p:nvSpPr>
        <p:spPr>
          <a:xfrm>
            <a:off x="7991856" y="1700784"/>
            <a:ext cx="3246120" cy="804672"/>
          </a:xfrm>
          <a:prstGeom prst="rect">
            <a:avLst/>
          </a:prstGeom>
          <a:noFill/>
          <a:ln>
            <a:noFill/>
          </a:ln>
          <a:effectLst/>
        </p:spPr>
        <p:txBody>
          <a:bodyPr wrap="square" anchor="t" lIns="45720" rIns="45720" tIns="18288" bIns="18288">
            <a:spAutoFit/>
          </a:bodyPr>
          <a:lstStyle/>
          <a:p>
            <a:pPr algn="l">
              <a:defRPr>
                <a:latin typeface="Times New Roman"/>
              </a:defRPr>
            </a:pPr>
            <a:r>
              <a:rPr sz="1400" b="1">
                <a:solidFill>
                  <a:srgbClr val="252B30"/>
                </a:solidFill>
                <a:latin typeface="Times New Roman"/>
              </a:rPr>
              <a:t>10 low-confidence countries identified by soft membership</a:t>
            </a:r>
          </a:p>
        </p:txBody>
      </p:sp>
      <p:sp>
        <p:nvSpPr>
          <p:cNvPr id="26" name="anim_231"/>
          <p:cNvSpPr txBox="1"/>
          <p:nvPr/>
        </p:nvSpPr>
        <p:spPr>
          <a:xfrm>
            <a:off x="7991856" y="2523744"/>
            <a:ext cx="3246120" cy="777240"/>
          </a:xfrm>
          <a:prstGeom prst="rect">
            <a:avLst/>
          </a:prstGeom>
          <a:noFill/>
          <a:ln>
            <a:noFill/>
          </a:ln>
          <a:effectLst/>
        </p:spPr>
        <p:txBody>
          <a:bodyPr wrap="square" anchor="t" lIns="45720" rIns="45720" tIns="18288" bIns="18288">
            <a:spAutoFit/>
          </a:bodyPr>
          <a:lstStyle/>
          <a:p>
            <a:pPr algn="l">
              <a:defRPr>
                <a:latin typeface="Times New Roman"/>
              </a:defRPr>
            </a:pPr>
            <a:r>
              <a:rPr sz="1350" b="0">
                <a:solidFill>
                  <a:srgbClr val="252B30"/>
                </a:solidFill>
                <a:latin typeface="Times New Roman"/>
              </a:rPr>
              <a:t>Observe them more frequently instead of forcing a fixed classification.</a:t>
            </a:r>
          </a:p>
        </p:txBody>
      </p:sp>
      <p:sp>
        <p:nvSpPr>
          <p:cNvPr id="27" name="anim_232"/>
          <p:cNvSpPr/>
          <p:nvPr/>
        </p:nvSpPr>
        <p:spPr>
          <a:xfrm>
            <a:off x="457200" y="3584448"/>
            <a:ext cx="10936224" cy="96926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28" name="anim_233"/>
          <p:cNvSpPr txBox="1"/>
          <p:nvPr/>
        </p:nvSpPr>
        <p:spPr>
          <a:xfrm>
            <a:off x="658368" y="3675887"/>
            <a:ext cx="10515600" cy="841248"/>
          </a:xfrm>
          <a:prstGeom prst="rect">
            <a:avLst/>
          </a:prstGeom>
          <a:noFill/>
          <a:ln>
            <a:noFill/>
          </a:ln>
          <a:effectLst/>
        </p:spPr>
        <p:txBody>
          <a:bodyPr wrap="square" anchor="t" lIns="45720" rIns="45720" tIns="18288" bIns="18288">
            <a:spAutoFit/>
          </a:bodyPr>
          <a:lstStyle/>
          <a:p>
            <a:pPr algn="l">
              <a:defRPr>
                <a:latin typeface="Times New Roman"/>
              </a:defRPr>
            </a:pPr>
            <a:r>
              <a:rPr sz="1500" b="1">
                <a:solidFill>
                  <a:srgbClr val="4F6E96"/>
                </a:solidFill>
                <a:latin typeface="Times New Roman"/>
              </a:rPr>
              <a:t>What is novel here: </a:t>
            </a:r>
            <a:r>
              <a:rPr sz="1500" b="0">
                <a:solidFill>
                  <a:srgbClr val="252B30"/>
                </a:solidFill>
                <a:latin typeface="Times New Roman"/>
              </a:rPr>
              <a:t>an 11-feature trajectory profile (level · direction · timing · fuel shift) that makes 30 years of history comparable per country, and a stability-checked K = 2 screen used as a monitoring tool - not as another league table.</a:t>
            </a:r>
          </a:p>
        </p:txBody>
      </p:sp>
      <p:sp>
        <p:nvSpPr>
          <p:cNvPr id="29" name="anim_234"/>
          <p:cNvSpPr/>
          <p:nvPr/>
        </p:nvSpPr>
        <p:spPr>
          <a:xfrm>
            <a:off x="457200" y="4681728"/>
            <a:ext cx="10936224" cy="969264"/>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0" name="anim_235"/>
          <p:cNvSpPr txBox="1"/>
          <p:nvPr/>
        </p:nvSpPr>
        <p:spPr>
          <a:xfrm>
            <a:off x="658368" y="4773168"/>
            <a:ext cx="10515600" cy="841248"/>
          </a:xfrm>
          <a:prstGeom prst="rect">
            <a:avLst/>
          </a:prstGeom>
          <a:noFill/>
          <a:ln>
            <a:noFill/>
          </a:ln>
          <a:effectLst/>
        </p:spPr>
        <p:txBody>
          <a:bodyPr wrap="square" anchor="t" lIns="45720" rIns="45720" tIns="18288" bIns="18288">
            <a:spAutoFit/>
          </a:bodyPr>
          <a:lstStyle/>
          <a:p>
            <a:pPr algn="l">
              <a:defRPr>
                <a:latin typeface="Times New Roman"/>
              </a:defRPr>
            </a:pPr>
            <a:r>
              <a:rPr sz="1500" b="1">
                <a:solidFill>
                  <a:srgbClr val="2F5248"/>
                </a:solidFill>
                <a:latin typeface="Times New Roman"/>
              </a:rPr>
              <a:t>Honest limits: </a:t>
            </a:r>
            <a:r>
              <a:rPr sz="1500" b="0">
                <a:solidFill>
                  <a:srgbClr val="252B30"/>
                </a:solidFill>
                <a:latin typeface="Times New Roman"/>
              </a:rPr>
              <a:t>pathways are empirical patterns in 1992-2021, not causes, forecasts or policy verdicts; with no policy or economic variables in the panel, the model prioritises deeper investigation - it does not replace it.</a:t>
            </a:r>
          </a:p>
        </p:txBody>
      </p:sp>
      <p:sp>
        <p:nvSpPr>
          <p:cNvPr id="31" name="Rectangle 30"/>
          <p:cNvSpPr/>
          <p:nvPr/>
        </p:nvSpPr>
        <p:spPr>
          <a:xfrm>
            <a:off x="5029200" y="5797296"/>
            <a:ext cx="2130552" cy="32004"/>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2" name="anim_236"/>
          <p:cNvSpPr txBox="1"/>
          <p:nvPr/>
        </p:nvSpPr>
        <p:spPr>
          <a:xfrm>
            <a:off x="457200" y="5888736"/>
            <a:ext cx="11274552" cy="365760"/>
          </a:xfrm>
          <a:prstGeom prst="rect">
            <a:avLst/>
          </a:prstGeom>
          <a:noFill/>
          <a:ln>
            <a:noFill/>
          </a:ln>
          <a:effectLst/>
        </p:spPr>
        <p:txBody>
          <a:bodyPr wrap="square" anchor="t" lIns="45720" rIns="45720" tIns="18288" bIns="18288">
            <a:spAutoFit/>
          </a:bodyPr>
          <a:lstStyle/>
          <a:p>
            <a:pPr algn="ctr">
              <a:defRPr>
                <a:latin typeface="Times New Roman"/>
              </a:defRPr>
            </a:pPr>
            <a:r>
              <a:rPr sz="1450" b="1">
                <a:solidFill>
                  <a:srgbClr val="2F5248"/>
                </a:solidFill>
                <a:latin typeface="Times New Roman"/>
              </a:rPr>
              <a:t>The purpose is not to rank countries, but to identify where different transition pressures require different monitoring priorities.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0"/>
                      </p:stCondLst>
                      <p:childTnLst>
                        <p:par>
                          <p:cTn id="20"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50"/>
                                        <p:tgtEl>
                                          <p:spTgt spid="12"/>
                                        </p:tgtEl>
                                      </p:cBhvr>
                                    </p:animEffect>
                                  </p:childTnLst>
                                </p:cTn>
                              </p:par>
                              <p:par>
                                <p:cTn id="7" presetID="10" presetClass="entr" presetSubtype="0" fill="hold" grpId="0" nodeType="withEffect">
                                  <p:stCondLst>
                                    <p:cond delay="53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450"/>
                                        <p:tgtEl>
                                          <p:spTgt spid="13"/>
                                        </p:tgtEl>
                                      </p:cBhvr>
                                    </p:animEffect>
                                  </p:childTnLst>
                                </p:cTn>
                              </p:par>
                              <p:par>
                                <p:cTn id="10" presetID="10" presetClass="entr" presetSubtype="0" fill="hold" grpId="0" nodeType="withEffect">
                                  <p:stCondLst>
                                    <p:cond delay="66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50"/>
                                        <p:tgtEl>
                                          <p:spTgt spid="14"/>
                                        </p:tgtEl>
                                      </p:cBhvr>
                                    </p:animEffect>
                                  </p:childTnLst>
                                </p:cTn>
                              </p:par>
                              <p:par>
                                <p:cTn id="13" presetID="10" presetClass="entr" presetSubtype="0" fill="hold" grpId="0" nodeType="withEffect">
                                  <p:stCondLst>
                                    <p:cond delay="79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50"/>
                                        <p:tgtEl>
                                          <p:spTgt spid="15"/>
                                        </p:tgtEl>
                                      </p:cBhvr>
                                    </p:animEffect>
                                  </p:childTnLst>
                                </p:cTn>
                              </p:par>
                              <p:par>
                                <p:cTn id="16" presetID="10" presetClass="entr" presetSubtype="0" fill="hold" grpId="0" nodeType="withEffect">
                                  <p:stCondLst>
                                    <p:cond delay="92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450"/>
                                        <p:tgtEl>
                                          <p:spTgt spid="16"/>
                                        </p:tgtEl>
                                      </p:cBhvr>
                                    </p:animEffect>
                                  </p:childTnLst>
                                </p:cTn>
                              </p:par>
                            </p:childTnLst>
                          </p:cTn>
                        </p:par>
                      </p:childTnLst>
                    </p:cTn>
                  </p:par>
                  <p:par>
                    <p:cTn id="36" fill="hold">
                      <p:stCondLst>
                        <p:cond delay="0"/>
                      </p:stCondLst>
                      <p:childTnLst>
                        <p:par>
                          <p:cTn id="37" fill="hold">
                            <p:stCondLst>
                              <p:cond delay="0"/>
                            </p:stCondLst>
                            <p:childTnLst>
                              <p:par>
                                <p:cTn id="21" presetID="10" presetClass="entr" presetSubtype="0" fill="hold" grpId="0" nodeType="afterEffect">
                                  <p:stCondLst>
                                    <p:cond delay="40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53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66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0" presetID="10" presetClass="entr" presetSubtype="0" fill="hold" grpId="0" nodeType="withEffect">
                                  <p:stCondLst>
                                    <p:cond delay="79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3" presetID="10" presetClass="entr" presetSubtype="0" fill="hold" grpId="0" nodeType="withEffect">
                                  <p:stCondLst>
                                    <p:cond delay="92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childTnLst>
                          </p:cTn>
                        </p:par>
                      </p:childTnLst>
                    </p:cTn>
                  </p:par>
                  <p:par>
                    <p:cTn id="53" fill="hold">
                      <p:stCondLst>
                        <p:cond delay="0"/>
                      </p:stCondLst>
                      <p:childTnLst>
                        <p:par>
                          <p:cTn id="54" fill="hold">
                            <p:stCondLst>
                              <p:cond delay="0"/>
                            </p:stCondLst>
                            <p:childTnLst>
                              <p:par>
                                <p:cTn id="38" presetID="10" presetClass="entr" presetSubtype="0" fill="hold" grpId="0" nodeType="afterEffect">
                                  <p:stCondLst>
                                    <p:cond delay="40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50"/>
                                        <p:tgtEl>
                                          <p:spTgt spid="22"/>
                                        </p:tgtEl>
                                      </p:cBhvr>
                                    </p:animEffect>
                                  </p:childTnLst>
                                </p:cTn>
                              </p:par>
                              <p:par>
                                <p:cTn id="41" presetID="10" presetClass="entr" presetSubtype="0" fill="hold" grpId="0" nodeType="withEffect">
                                  <p:stCondLst>
                                    <p:cond delay="53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50"/>
                                        <p:tgtEl>
                                          <p:spTgt spid="23"/>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50"/>
                                        <p:tgtEl>
                                          <p:spTgt spid="24"/>
                                        </p:tgtEl>
                                      </p:cBhvr>
                                    </p:animEffect>
                                  </p:childTnLst>
                                </p:cTn>
                              </p:par>
                              <p:par>
                                <p:cTn id="47" presetID="10" presetClass="entr" presetSubtype="0" fill="hold" grpId="0" nodeType="withEffect">
                                  <p:stCondLst>
                                    <p:cond delay="79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50"/>
                                        <p:tgtEl>
                                          <p:spTgt spid="25"/>
                                        </p:tgtEl>
                                      </p:cBhvr>
                                    </p:animEffect>
                                  </p:childTnLst>
                                </p:cTn>
                              </p:par>
                              <p:par>
                                <p:cTn id="50" presetID="10" presetClass="entr" presetSubtype="0" fill="hold" grpId="0" nodeType="withEffect">
                                  <p:stCondLst>
                                    <p:cond delay="92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50"/>
                                        <p:tgtEl>
                                          <p:spTgt spid="26"/>
                                        </p:tgtEl>
                                      </p:cBhvr>
                                    </p:animEffect>
                                  </p:childTnLst>
                                </p:cTn>
                              </p:par>
                            </p:childTnLst>
                          </p:cTn>
                        </p:par>
                      </p:childTnLst>
                    </p:cTn>
                  </p:par>
                  <p:par>
                    <p:cTn id="61" fill="hold">
                      <p:stCondLst>
                        <p:cond delay="0"/>
                      </p:stCondLst>
                      <p:childTnLst>
                        <p:par>
                          <p:cTn id="62" fill="hold">
                            <p:stCondLst>
                              <p:cond delay="0"/>
                            </p:stCondLst>
                            <p:childTnLst>
                              <p:par>
                                <p:cTn id="55" presetID="10" presetClass="entr" presetSubtype="0" fill="hold" grpId="0" nodeType="afterEffect">
                                  <p:stCondLst>
                                    <p:cond delay="40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50"/>
                                        <p:tgtEl>
                                          <p:spTgt spid="27"/>
                                        </p:tgtEl>
                                      </p:cBhvr>
                                    </p:animEffect>
                                  </p:childTnLst>
                                </p:cTn>
                              </p:par>
                              <p:par>
                                <p:cTn id="58" presetID="10" presetClass="entr" presetSubtype="0" fill="hold" grpId="0" nodeType="withEffect">
                                  <p:stCondLst>
                                    <p:cond delay="53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50"/>
                                        <p:tgtEl>
                                          <p:spTgt spid="28"/>
                                        </p:tgtEl>
                                      </p:cBhvr>
                                    </p:animEffect>
                                  </p:childTnLst>
                                </p:cTn>
                              </p:par>
                            </p:childTnLst>
                          </p:cTn>
                        </p:par>
                      </p:childTnLst>
                    </p:cTn>
                  </p:par>
                  <p:par>
                    <p:cTn id="69" fill="hold">
                      <p:stCondLst>
                        <p:cond delay="0"/>
                      </p:stCondLst>
                      <p:childTnLst>
                        <p:par>
                          <p:cTn id="70" fill="hold">
                            <p:stCondLst>
                              <p:cond delay="0"/>
                            </p:stCondLst>
                            <p:childTnLst>
                              <p:par>
                                <p:cTn id="63" presetID="10" presetClass="entr" presetSubtype="0" fill="hold" grpId="0" nodeType="afterEffect">
                                  <p:stCondLst>
                                    <p:cond delay="40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50"/>
                                        <p:tgtEl>
                                          <p:spTgt spid="29"/>
                                        </p:tgtEl>
                                      </p:cBhvr>
                                    </p:animEffect>
                                  </p:childTnLst>
                                </p:cTn>
                              </p:par>
                              <p:par>
                                <p:cTn id="66" presetID="10" presetClass="entr" presetSubtype="0" fill="hold" grpId="0" nodeType="withEffect">
                                  <p:stCondLst>
                                    <p:cond delay="53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450"/>
                                        <p:tgtEl>
                                          <p:spTgt spid="30"/>
                                        </p:tgtEl>
                                      </p:cBhvr>
                                    </p:animEffect>
                                  </p:childTnLst>
                                </p:cTn>
                              </p:par>
                            </p:childTnLst>
                          </p:cTn>
                        </p:par>
                      </p:childTnLst>
                    </p:cTn>
                  </p:par>
                  <p:par>
                    <p:cTn id="74" fill="hold">
                      <p:stCondLst>
                        <p:cond delay="0"/>
                      </p:stCondLst>
                      <p:childTnLst>
                        <p:par>
                          <p:cTn id="75" fill="hold">
                            <p:stCondLst>
                              <p:cond delay="0"/>
                            </p:stCondLst>
                            <p:childTnLst>
                              <p:par>
                                <p:cTn id="71" presetID="10" presetClass="entr" presetSubtype="0" fill="hold" grpId="0" nodeType="afterEffect">
                                  <p:stCondLst>
                                    <p:cond delay="40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6" name="Picture 5" descr="ntu_logo.png"/>
          <p:cNvPicPr>
            <a:picLocks noChangeAspect="1"/>
          </p:cNvPicPr>
          <p:nvPr/>
        </p:nvPicPr>
        <p:blipFill>
          <a:blip r:embed="rId2"/>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384048" y="27432"/>
            <a:ext cx="9966960" cy="822960"/>
          </a:xfrm>
          <a:prstGeom prst="rect">
            <a:avLst/>
          </a:prstGeom>
          <a:noFill/>
          <a:ln>
            <a:noFill/>
          </a:ln>
          <a:effectLst/>
        </p:spPr>
        <p:txBody>
          <a:bodyPr wrap="square" anchor="ctr" lIns="0" tIns="0" bIns="0">
            <a:spAutoFit/>
          </a:bodyPr>
          <a:lstStyle/>
          <a:p>
            <a:pPr algn="l">
              <a:defRPr>
                <a:latin typeface="Times New Roman"/>
              </a:defRPr>
            </a:pPr>
            <a:r>
              <a:rPr sz="2500" b="1">
                <a:solidFill>
                  <a:srgbClr val="FFFFFF"/>
                </a:solidFill>
                <a:latin typeface="Georgia"/>
              </a:rPr>
              <a:t>Acknowledgements</a:t>
            </a:r>
          </a:p>
        </p:txBody>
      </p:sp>
      <p:sp>
        <p:nvSpPr>
          <p:cNvPr id="10" name="TextBox 9"/>
          <p:cNvSpPr txBox="1"/>
          <p:nvPr/>
        </p:nvSpPr>
        <p:spPr>
          <a:xfrm>
            <a:off x="777240" y="1133856"/>
            <a:ext cx="6766560" cy="914400"/>
          </a:xfrm>
          <a:prstGeom prst="rect">
            <a:avLst/>
          </a:prstGeom>
          <a:noFill/>
          <a:ln>
            <a:noFill/>
          </a:ln>
          <a:effectLst/>
        </p:spPr>
        <p:txBody>
          <a:bodyPr wrap="square" anchor="t" lIns="45720" rIns="45720" tIns="18288" bIns="18288">
            <a:spAutoFit/>
          </a:bodyPr>
          <a:lstStyle/>
          <a:p>
            <a:pPr algn="l">
              <a:defRPr>
                <a:latin typeface="Times New Roman"/>
              </a:defRPr>
            </a:pPr>
            <a:r>
              <a:rPr sz="3000" b="1">
                <a:solidFill>
                  <a:srgbClr val="252B30"/>
                </a:solidFill>
                <a:latin typeface="Georgia"/>
              </a:rPr>
              <a:t>Thank you</a:t>
            </a:r>
          </a:p>
          <a:p>
            <a:pPr algn="l">
              <a:spcBef>
                <a:spcPts val="600"/>
              </a:spcBef>
              <a:defRPr>
                <a:latin typeface="Times New Roman"/>
              </a:defRPr>
            </a:pPr>
            <a:r>
              <a:rPr sz="1700" b="0">
                <a:solidFill>
                  <a:srgbClr val="6E7672"/>
                </a:solidFill>
                <a:latin typeface="Times New Roman"/>
              </a:rPr>
              <a:t>for your attention and questions.</a:t>
            </a:r>
          </a:p>
        </p:txBody>
      </p:sp>
      <p:sp>
        <p:nvSpPr>
          <p:cNvPr id="11" name="Rectangle 10"/>
          <p:cNvSpPr/>
          <p:nvPr/>
        </p:nvSpPr>
        <p:spPr>
          <a:xfrm>
            <a:off x="777240" y="2212848"/>
            <a:ext cx="1371600" cy="41148"/>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2" name="Rectangle 11"/>
          <p:cNvSpPr/>
          <p:nvPr/>
        </p:nvSpPr>
        <p:spPr>
          <a:xfrm>
            <a:off x="777240" y="2395728"/>
            <a:ext cx="64008" cy="60350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13" name="TextBox 12"/>
          <p:cNvSpPr txBox="1"/>
          <p:nvPr/>
        </p:nvSpPr>
        <p:spPr>
          <a:xfrm>
            <a:off x="987552" y="2395728"/>
            <a:ext cx="6035040" cy="603504"/>
          </a:xfrm>
          <a:prstGeom prst="rect">
            <a:avLst/>
          </a:prstGeom>
          <a:noFill/>
          <a:ln>
            <a:noFill/>
          </a:ln>
          <a:effectLst/>
        </p:spPr>
        <p:txBody>
          <a:bodyPr wrap="square" anchor="t" lIns="45720" rIns="45720" tIns="18288" bIns="18288">
            <a:spAutoFit/>
          </a:bodyPr>
          <a:lstStyle/>
          <a:p>
            <a:pPr algn="l">
              <a:defRPr>
                <a:latin typeface="Times New Roman"/>
              </a:defRPr>
            </a:pPr>
            <a:r>
              <a:rPr sz="1400" b="1">
                <a:solidFill>
                  <a:srgbClr val="2F5248"/>
                </a:solidFill>
                <a:latin typeface="Times New Roman"/>
              </a:rPr>
              <a:t>Course</a:t>
            </a:r>
          </a:p>
          <a:p>
            <a:pPr algn="l">
              <a:defRPr>
                <a:latin typeface="Times New Roman"/>
              </a:defRPr>
            </a:pPr>
            <a:r>
              <a:rPr sz="1300" b="0">
                <a:solidFill>
                  <a:srgbClr val="252B30"/>
                </a:solidFill>
                <a:latin typeface="Times New Roman"/>
              </a:rPr>
              <a:t>CA6002 AI UX &amp; Data Visualisation Design Principles, NTU.</a:t>
            </a:r>
          </a:p>
        </p:txBody>
      </p:sp>
      <p:sp>
        <p:nvSpPr>
          <p:cNvPr id="14" name="Rectangle 13"/>
          <p:cNvSpPr/>
          <p:nvPr/>
        </p:nvSpPr>
        <p:spPr>
          <a:xfrm>
            <a:off x="777240" y="3054096"/>
            <a:ext cx="64008" cy="60350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15" name="TextBox 14"/>
          <p:cNvSpPr txBox="1"/>
          <p:nvPr/>
        </p:nvSpPr>
        <p:spPr>
          <a:xfrm>
            <a:off x="987552" y="3054096"/>
            <a:ext cx="6035040" cy="603504"/>
          </a:xfrm>
          <a:prstGeom prst="rect">
            <a:avLst/>
          </a:prstGeom>
          <a:noFill/>
          <a:ln>
            <a:noFill/>
          </a:ln>
          <a:effectLst/>
        </p:spPr>
        <p:txBody>
          <a:bodyPr wrap="square" anchor="t" lIns="45720" rIns="45720" tIns="18288" bIns="18288">
            <a:spAutoFit/>
          </a:bodyPr>
          <a:lstStyle/>
          <a:p>
            <a:pPr algn="l">
              <a:defRPr>
                <a:latin typeface="Times New Roman"/>
              </a:defRPr>
            </a:pPr>
            <a:r>
              <a:rPr sz="1400" b="1">
                <a:solidFill>
                  <a:srgbClr val="2F5248"/>
                </a:solidFill>
                <a:latin typeface="Times New Roman"/>
              </a:rPr>
              <a:t>Open-source tools</a:t>
            </a:r>
          </a:p>
          <a:p>
            <a:pPr algn="l">
              <a:defRPr>
                <a:latin typeface="Times New Roman"/>
              </a:defRPr>
            </a:pPr>
            <a:r>
              <a:rPr sz="1300" b="0">
                <a:solidFill>
                  <a:srgbClr val="252B30"/>
                </a:solidFill>
                <a:latin typeface="Times New Roman"/>
              </a:rPr>
              <a:t>Python, pandas, scikit-learn, matplotlib, GeoPandas, python-pptx.</a:t>
            </a:r>
          </a:p>
        </p:txBody>
      </p:sp>
      <p:sp>
        <p:nvSpPr>
          <p:cNvPr id="16" name="Rectangle 15"/>
          <p:cNvSpPr/>
          <p:nvPr/>
        </p:nvSpPr>
        <p:spPr>
          <a:xfrm>
            <a:off x="777240" y="3712463"/>
            <a:ext cx="64008" cy="60350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a:latin typeface="Times New Roman"/>
              </a:defRPr>
            </a:pPr>
          </a:p>
        </p:txBody>
      </p:sp>
      <p:sp>
        <p:nvSpPr>
          <p:cNvPr id="17" name="TextBox 16"/>
          <p:cNvSpPr txBox="1"/>
          <p:nvPr/>
        </p:nvSpPr>
        <p:spPr>
          <a:xfrm>
            <a:off x="987552" y="3712463"/>
            <a:ext cx="6035040" cy="603504"/>
          </a:xfrm>
          <a:prstGeom prst="rect">
            <a:avLst/>
          </a:prstGeom>
          <a:noFill/>
          <a:ln>
            <a:noFill/>
          </a:ln>
          <a:effectLst/>
        </p:spPr>
        <p:txBody>
          <a:bodyPr wrap="square" anchor="t" lIns="45720" rIns="45720" tIns="18288" bIns="18288">
            <a:spAutoFit/>
          </a:bodyPr>
          <a:lstStyle/>
          <a:p>
            <a:pPr algn="l">
              <a:defRPr>
                <a:latin typeface="Times New Roman"/>
              </a:defRPr>
            </a:pPr>
            <a:r>
              <a:rPr sz="1400" b="1">
                <a:solidFill>
                  <a:srgbClr val="2F5248"/>
                </a:solidFill>
                <a:latin typeface="Times New Roman"/>
              </a:rPr>
              <a:t>Generative AI</a:t>
            </a:r>
          </a:p>
          <a:p>
            <a:pPr algn="l">
              <a:defRPr>
                <a:latin typeface="Times New Roman"/>
              </a:defRPr>
            </a:pPr>
            <a:r>
              <a:rPr sz="1300" b="0">
                <a:solidFill>
                  <a:srgbClr val="252B30"/>
                </a:solidFill>
                <a:latin typeface="Times New Roman"/>
              </a:rPr>
              <a:t>ChatGPT (OpenAI) assisted with Python plotting code; all data processing, results and interpretation are the group's own work.</a:t>
            </a:r>
          </a:p>
        </p:txBody>
      </p:sp>
      <p:pic>
        <p:nvPicPr>
          <p:cNvPr id="18" name="Picture 17" descr="fig_cover_art.png"/>
          <p:cNvPicPr>
            <a:picLocks noChangeAspect="1"/>
          </p:cNvPicPr>
          <p:nvPr/>
        </p:nvPicPr>
        <p:blipFill>
          <a:blip r:embed="rId3"/>
          <a:stretch>
            <a:fillRect/>
          </a:stretch>
        </p:blipFill>
        <p:spPr>
          <a:xfrm>
            <a:off x="7635240" y="1360976"/>
            <a:ext cx="4069080" cy="1676310"/>
          </a:xfrm>
          <a:prstGeom prst="rect">
            <a:avLst/>
          </a:prstGeom>
        </p:spPr>
      </p:pic>
      <p:sp>
        <p:nvSpPr>
          <p:cNvPr id="19" name="TextBox 18"/>
          <p:cNvSpPr txBox="1"/>
          <p:nvPr/>
        </p:nvSpPr>
        <p:spPr>
          <a:xfrm>
            <a:off x="7635240" y="3310128"/>
            <a:ext cx="4069080" cy="1005840"/>
          </a:xfrm>
          <a:prstGeom prst="rect">
            <a:avLst/>
          </a:prstGeom>
          <a:noFill/>
          <a:ln>
            <a:noFill/>
          </a:ln>
          <a:effectLst/>
        </p:spPr>
        <p:txBody>
          <a:bodyPr wrap="square" anchor="t" lIns="45720" rIns="45720" tIns="18288" bIns="18288">
            <a:spAutoFit/>
          </a:bodyPr>
          <a:lstStyle/>
          <a:p>
            <a:pPr algn="l">
              <a:defRPr>
                <a:latin typeface="Times New Roman"/>
              </a:defRPr>
            </a:pPr>
            <a:r>
              <a:rPr sz="1700" b="1">
                <a:solidFill>
                  <a:srgbClr val="2F5248"/>
                </a:solidFill>
                <a:latin typeface="Times New Roman"/>
              </a:rPr>
              <a:t>Group 30</a:t>
            </a:r>
          </a:p>
          <a:p>
            <a:pPr algn="l">
              <a:spcBef>
                <a:spcPts val="400"/>
              </a:spcBef>
              <a:defRPr>
                <a:latin typeface="Times New Roman"/>
              </a:defRPr>
            </a:pPr>
            <a:r>
              <a:rPr sz="1400" b="1">
                <a:solidFill>
                  <a:srgbClr val="252B30"/>
                </a:solidFill>
                <a:latin typeface="Times New Roman"/>
              </a:rPr>
              <a:t>RAN CHANGMING  ·  REN SIYU</a:t>
            </a:r>
          </a:p>
          <a:p>
            <a:pPr algn="l">
              <a:defRPr>
                <a:latin typeface="Times New Roman"/>
              </a:defRPr>
            </a:pPr>
            <a:r>
              <a:rPr sz="1400" b="1">
                <a:solidFill>
                  <a:srgbClr val="252B30"/>
                </a:solidFill>
                <a:latin typeface="Times New Roman"/>
              </a:rPr>
              <a:t>REYIZA RESIBIEKE  ·  SHEN RUITING</a:t>
            </a:r>
          </a:p>
        </p:txBody>
      </p:sp>
      <p:sp>
        <p:nvSpPr>
          <p:cNvPr id="20" name="TextBox 19"/>
          <p:cNvSpPr txBox="1"/>
          <p:nvPr/>
        </p:nvSpPr>
        <p:spPr>
          <a:xfrm>
            <a:off x="777240" y="4370832"/>
            <a:ext cx="3657600" cy="292608"/>
          </a:xfrm>
          <a:prstGeom prst="rect">
            <a:avLst/>
          </a:prstGeom>
          <a:noFill/>
          <a:ln>
            <a:noFill/>
          </a:ln>
          <a:effectLst/>
        </p:spPr>
        <p:txBody>
          <a:bodyPr wrap="square" anchor="t" lIns="45720" rIns="45720" tIns="18288" bIns="18288">
            <a:spAutoFit/>
          </a:bodyPr>
          <a:lstStyle/>
          <a:p>
            <a:pPr algn="l">
              <a:defRPr>
                <a:latin typeface="Times New Roman"/>
              </a:defRPr>
            </a:pPr>
            <a:r>
              <a:rPr sz="1350" b="1">
                <a:solidFill>
                  <a:srgbClr val="2F5248"/>
                </a:solidFill>
                <a:latin typeface="Times New Roman"/>
              </a:rPr>
              <a:t>REFERENCES</a:t>
            </a:r>
          </a:p>
        </p:txBody>
      </p:sp>
      <p:sp>
        <p:nvSpPr>
          <p:cNvPr id="21" name="TextBox 20"/>
          <p:cNvSpPr txBox="1"/>
          <p:nvPr/>
        </p:nvSpPr>
        <p:spPr>
          <a:xfrm>
            <a:off x="777240" y="4681728"/>
            <a:ext cx="384048" cy="457200"/>
          </a:xfrm>
          <a:prstGeom prst="rect">
            <a:avLst/>
          </a:prstGeom>
          <a:noFill/>
          <a:ln>
            <a:noFill/>
          </a:ln>
          <a:effectLst/>
        </p:spPr>
        <p:txBody>
          <a:bodyPr wrap="none" anchor="t" lIns="45720" rIns="45720" tIns="18288" bIns="18288">
            <a:spAutoFit/>
          </a:bodyPr>
          <a:lstStyle/>
          <a:p>
            <a:pPr algn="l">
              <a:defRPr>
                <a:latin typeface="Times New Roman"/>
              </a:defRPr>
            </a:pPr>
            <a:r>
              <a:rPr sz="1100" b="1">
                <a:solidFill>
                  <a:srgbClr val="2F5248"/>
                </a:solidFill>
                <a:latin typeface="Times New Roman"/>
              </a:rPr>
              <a:t>[1]</a:t>
            </a:r>
          </a:p>
        </p:txBody>
      </p:sp>
      <p:sp>
        <p:nvSpPr>
          <p:cNvPr id="22" name="TextBox 21"/>
          <p:cNvSpPr txBox="1"/>
          <p:nvPr/>
        </p:nvSpPr>
        <p:spPr>
          <a:xfrm>
            <a:off x="1161288" y="4681728"/>
            <a:ext cx="4709160" cy="457200"/>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6E7672"/>
                </a:solidFill>
                <a:latin typeface="Times New Roman"/>
              </a:rPr>
              <a:t>Ritchie, H., Rosado, P. &amp; Roser, M. (2023). CO₂ and Greenhouse Gas Emissions. Our World in Data.</a:t>
            </a:r>
          </a:p>
        </p:txBody>
      </p:sp>
      <p:sp>
        <p:nvSpPr>
          <p:cNvPr id="23" name="TextBox 22"/>
          <p:cNvSpPr txBox="1"/>
          <p:nvPr/>
        </p:nvSpPr>
        <p:spPr>
          <a:xfrm>
            <a:off x="777240" y="5212080"/>
            <a:ext cx="384048" cy="457200"/>
          </a:xfrm>
          <a:prstGeom prst="rect">
            <a:avLst/>
          </a:prstGeom>
          <a:noFill/>
          <a:ln>
            <a:noFill/>
          </a:ln>
          <a:effectLst/>
        </p:spPr>
        <p:txBody>
          <a:bodyPr wrap="none" anchor="t" lIns="45720" rIns="45720" tIns="18288" bIns="18288">
            <a:spAutoFit/>
          </a:bodyPr>
          <a:lstStyle/>
          <a:p>
            <a:pPr algn="l">
              <a:defRPr>
                <a:latin typeface="Times New Roman"/>
              </a:defRPr>
            </a:pPr>
            <a:r>
              <a:rPr sz="1100" b="1">
                <a:solidFill>
                  <a:srgbClr val="2F5248"/>
                </a:solidFill>
                <a:latin typeface="Times New Roman"/>
              </a:rPr>
              <a:t>[2]</a:t>
            </a:r>
          </a:p>
        </p:txBody>
      </p:sp>
      <p:sp>
        <p:nvSpPr>
          <p:cNvPr id="24" name="TextBox 23"/>
          <p:cNvSpPr txBox="1"/>
          <p:nvPr/>
        </p:nvSpPr>
        <p:spPr>
          <a:xfrm>
            <a:off x="1161288" y="5212080"/>
            <a:ext cx="4709160" cy="457200"/>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6E7672"/>
                </a:solidFill>
                <a:latin typeface="Times New Roman"/>
              </a:rPr>
              <a:t>Friedlingstein, P. et al. (2022). Global Carbon Budget 2022. Earth Syst. Sci. Data, 14(11), 4811-4900.</a:t>
            </a:r>
          </a:p>
        </p:txBody>
      </p:sp>
      <p:sp>
        <p:nvSpPr>
          <p:cNvPr id="25" name="TextBox 24"/>
          <p:cNvSpPr txBox="1"/>
          <p:nvPr/>
        </p:nvSpPr>
        <p:spPr>
          <a:xfrm>
            <a:off x="777240" y="5742432"/>
            <a:ext cx="384048" cy="457200"/>
          </a:xfrm>
          <a:prstGeom prst="rect">
            <a:avLst/>
          </a:prstGeom>
          <a:noFill/>
          <a:ln>
            <a:noFill/>
          </a:ln>
          <a:effectLst/>
        </p:spPr>
        <p:txBody>
          <a:bodyPr wrap="none" anchor="t" lIns="45720" rIns="45720" tIns="18288" bIns="18288">
            <a:spAutoFit/>
          </a:bodyPr>
          <a:lstStyle/>
          <a:p>
            <a:pPr algn="l">
              <a:defRPr>
                <a:latin typeface="Times New Roman"/>
              </a:defRPr>
            </a:pPr>
            <a:r>
              <a:rPr sz="1100" b="1">
                <a:solidFill>
                  <a:srgbClr val="2F5248"/>
                </a:solidFill>
                <a:latin typeface="Times New Roman"/>
              </a:rPr>
              <a:t>[3]</a:t>
            </a:r>
          </a:p>
        </p:txBody>
      </p:sp>
      <p:sp>
        <p:nvSpPr>
          <p:cNvPr id="26" name="TextBox 25"/>
          <p:cNvSpPr txBox="1"/>
          <p:nvPr/>
        </p:nvSpPr>
        <p:spPr>
          <a:xfrm>
            <a:off x="1161288" y="5742432"/>
            <a:ext cx="4709160" cy="457200"/>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6E7672"/>
                </a:solidFill>
                <a:latin typeface="Times New Roman"/>
              </a:rPr>
              <a:t>Natural Earth. Admin 0 - Countries, 1:110m Cultural Vectors (public domain).</a:t>
            </a:r>
          </a:p>
        </p:txBody>
      </p:sp>
      <p:sp>
        <p:nvSpPr>
          <p:cNvPr id="27" name="TextBox 26"/>
          <p:cNvSpPr txBox="1"/>
          <p:nvPr/>
        </p:nvSpPr>
        <p:spPr>
          <a:xfrm>
            <a:off x="6172200" y="4681728"/>
            <a:ext cx="384048" cy="457200"/>
          </a:xfrm>
          <a:prstGeom prst="rect">
            <a:avLst/>
          </a:prstGeom>
          <a:noFill/>
          <a:ln>
            <a:noFill/>
          </a:ln>
          <a:effectLst/>
        </p:spPr>
        <p:txBody>
          <a:bodyPr wrap="none" anchor="t" lIns="45720" rIns="45720" tIns="18288" bIns="18288">
            <a:spAutoFit/>
          </a:bodyPr>
          <a:lstStyle/>
          <a:p>
            <a:pPr algn="l">
              <a:defRPr>
                <a:latin typeface="Times New Roman"/>
              </a:defRPr>
            </a:pPr>
            <a:r>
              <a:rPr sz="1100" b="1">
                <a:solidFill>
                  <a:srgbClr val="2F5248"/>
                </a:solidFill>
                <a:latin typeface="Times New Roman"/>
              </a:rPr>
              <a:t>[4]</a:t>
            </a:r>
          </a:p>
        </p:txBody>
      </p:sp>
      <p:sp>
        <p:nvSpPr>
          <p:cNvPr id="28" name="TextBox 27"/>
          <p:cNvSpPr txBox="1"/>
          <p:nvPr/>
        </p:nvSpPr>
        <p:spPr>
          <a:xfrm>
            <a:off x="6556248" y="4681728"/>
            <a:ext cx="4709160" cy="457200"/>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6E7672"/>
                </a:solidFill>
                <a:latin typeface="Times New Roman"/>
              </a:rPr>
              <a:t>Pedregosa, F. et al. (2011). Scikit-learn: Machine Learning in Python. JMLR, 12, 2825-2830.</a:t>
            </a:r>
          </a:p>
        </p:txBody>
      </p:sp>
      <p:sp>
        <p:nvSpPr>
          <p:cNvPr id="29" name="TextBox 28"/>
          <p:cNvSpPr txBox="1"/>
          <p:nvPr/>
        </p:nvSpPr>
        <p:spPr>
          <a:xfrm>
            <a:off x="6172200" y="5212080"/>
            <a:ext cx="384048" cy="457200"/>
          </a:xfrm>
          <a:prstGeom prst="rect">
            <a:avLst/>
          </a:prstGeom>
          <a:noFill/>
          <a:ln>
            <a:noFill/>
          </a:ln>
          <a:effectLst/>
        </p:spPr>
        <p:txBody>
          <a:bodyPr wrap="none" anchor="t" lIns="45720" rIns="45720" tIns="18288" bIns="18288">
            <a:spAutoFit/>
          </a:bodyPr>
          <a:lstStyle/>
          <a:p>
            <a:pPr algn="l">
              <a:defRPr>
                <a:latin typeface="Times New Roman"/>
              </a:defRPr>
            </a:pPr>
            <a:r>
              <a:rPr sz="1100" b="1">
                <a:solidFill>
                  <a:srgbClr val="2F5248"/>
                </a:solidFill>
                <a:latin typeface="Times New Roman"/>
              </a:rPr>
              <a:t>[5]</a:t>
            </a:r>
          </a:p>
        </p:txBody>
      </p:sp>
      <p:sp>
        <p:nvSpPr>
          <p:cNvPr id="30" name="TextBox 29"/>
          <p:cNvSpPr txBox="1"/>
          <p:nvPr/>
        </p:nvSpPr>
        <p:spPr>
          <a:xfrm>
            <a:off x="6556248" y="5212080"/>
            <a:ext cx="4709160" cy="457200"/>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6E7672"/>
                </a:solidFill>
                <a:latin typeface="Times New Roman"/>
              </a:rPr>
              <a:t>Rousseeuw, P. J. (1987). Silhouettes: a graphical aid to cluster analysis. J. Comput. Appl. Math., 20, 53-65.</a:t>
            </a:r>
          </a:p>
        </p:txBody>
      </p:sp>
      <p:sp>
        <p:nvSpPr>
          <p:cNvPr id="31" name="TextBox 30"/>
          <p:cNvSpPr txBox="1"/>
          <p:nvPr/>
        </p:nvSpPr>
        <p:spPr>
          <a:xfrm>
            <a:off x="6172200" y="5742432"/>
            <a:ext cx="384048" cy="457200"/>
          </a:xfrm>
          <a:prstGeom prst="rect">
            <a:avLst/>
          </a:prstGeom>
          <a:noFill/>
          <a:ln>
            <a:noFill/>
          </a:ln>
          <a:effectLst/>
        </p:spPr>
        <p:txBody>
          <a:bodyPr wrap="none" anchor="t" lIns="45720" rIns="45720" tIns="18288" bIns="18288">
            <a:spAutoFit/>
          </a:bodyPr>
          <a:lstStyle/>
          <a:p>
            <a:pPr algn="l">
              <a:defRPr>
                <a:latin typeface="Times New Roman"/>
              </a:defRPr>
            </a:pPr>
            <a:r>
              <a:rPr sz="1100" b="1">
                <a:solidFill>
                  <a:srgbClr val="2F5248"/>
                </a:solidFill>
                <a:latin typeface="Times New Roman"/>
              </a:rPr>
              <a:t>[6]</a:t>
            </a:r>
          </a:p>
        </p:txBody>
      </p:sp>
      <p:sp>
        <p:nvSpPr>
          <p:cNvPr id="32" name="TextBox 31"/>
          <p:cNvSpPr txBox="1"/>
          <p:nvPr/>
        </p:nvSpPr>
        <p:spPr>
          <a:xfrm>
            <a:off x="6556248" y="5742432"/>
            <a:ext cx="4709160" cy="457200"/>
          </a:xfrm>
          <a:prstGeom prst="rect">
            <a:avLst/>
          </a:prstGeom>
          <a:noFill/>
          <a:ln>
            <a:noFill/>
          </a:ln>
          <a:effectLst/>
        </p:spPr>
        <p:txBody>
          <a:bodyPr wrap="square" anchor="t" lIns="45720" rIns="45720" tIns="18288" bIns="18288">
            <a:spAutoFit/>
          </a:bodyPr>
          <a:lstStyle/>
          <a:p>
            <a:pPr algn="l">
              <a:defRPr>
                <a:latin typeface="Times New Roman"/>
              </a:defRPr>
            </a:pPr>
            <a:r>
              <a:rPr sz="1300" b="0">
                <a:solidFill>
                  <a:srgbClr val="6E7672"/>
                </a:solidFill>
                <a:latin typeface="Times New Roman"/>
              </a:rPr>
              <a:t>Hubert, L. &amp; Arabie, P. (1985). Comparing partitions. J. Classification, 2, 193-218.</a:t>
            </a:r>
          </a:p>
        </p:txBody>
      </p:sp>
    </p:spTree>
  </p:cSld>
  <p:clrMapOvr>
    <a:masterClrMapping/>
  </p:clrMapOvr>
  <p:transition spd="med">
    <p:fade/>
  </p:transition>
</p:sld>
</file>

<file path=ppt/tags/tag1.xml><?xml version="1.0" encoding="utf-8"?>
<p:tagLst xmlns:p="http://schemas.openxmlformats.org/presentationml/2006/main">
  <p:tag name="commondata" val="eyJoZGlkIjoiZGQ0MGQwMzljZTE0ZTg5YjY4YTg1OTEzZmNiZWMxM2IifQ=="/>
  <p:tag name="resource_record_key" val="{&quot;13&quot;:[202096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13408</Words>
  <Application>WPS 演示</Application>
  <PresentationFormat>Converted Presentation</PresentationFormat>
  <Paragraphs>790</Paragraphs>
  <Slides>22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宋体</vt:lpstr>
      <vt:lpstr>Wingdings</vt:lpstr>
      <vt:lpstr>Arial</vt:lpstr>
      <vt:lpstr>Arial Narrow</vt:lpstr>
      <vt:lpstr>微软雅黑</vt:lpstr>
      <vt:lpstr>Arial Unicode MS</vt:lpstr>
      <vt:lpstr>Calibri Light</vt:lpstr>
      <vt:lpstr>Calibri</vt:lpstr>
      <vt:lpstr>等线</vt:lpstr>
      <vt:lpstr>Office Theme</vt:lpstr>
      <vt:lpstr>AI UX &amp; Data Visualisation Design Principles (CA6002)</vt:lpstr>
      <vt:lpstr>Contents</vt:lpstr>
      <vt:lpstr>Emissions kept rising — but not along one shared path</vt:lpstr>
      <vt:lpstr>Two sources create one traceable emissions panel</vt:lpstr>
      <vt:lpstr>A controlled left join keeps the OWID backbone intact</vt:lpstr>
      <vt:lpstr>Total CO2 grew nearly five times faster than per person</vt:lpstr>
      <vt:lpstr>Long-term growth differs from recent momentum</vt:lpstr>
      <vt:lpstr>A small set of countries drives most 2021 emissions</vt:lpstr>
      <vt:lpstr>Total burden and per-capita intensity tell different stories</vt:lpstr>
      <vt:lpstr>Fuel dependence is geographically uneven</vt:lpstr>
      <vt:lpstr>From 213 territories to 193 comparable country profiles</vt:lpstr>
      <vt:lpstr>Eleven features describe level, direction, timing and fuel shift</vt:lpstr>
      <vt:lpstr>A fixed pipeline turns 30-year histories into two pathways</vt:lpstr>
      <vt:lpstr>All three validity metrics rank K = 2 first</vt:lpstr>
      <vt:lpstr>Two pathways separate cleanly in reduced feature space</vt:lpstr>
      <vt:lpstr>K = 2 leads on separation, overlap and between-cluster distance</vt:lpstr>
      <vt:lpstr>The split survives resampling — ten countries stay uncertain</vt:lpstr>
      <vt:lpstr>One rising total conceals two different transition pressures</vt:lpstr>
      <vt:lpstr>Current burden and future pressure require different lenses</vt:lpstr>
      <vt:lpstr>Transition pressures are geographically uneven</vt:lpstr>
      <vt:lpstr>Different pathways require different monitoring priorities</vt:lpstr>
      <vt:lpstr>From one emission total to pathway-specific monitoring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UX &amp; Data Visualisation Design Principles (CA6002)</dc:title>
  <dc:creator>Walnut Exporter</dc:creator>
  <cp:lastModifiedBy>沈瑞庭</cp:lastModifiedBy>
  <cp:revision>3</cp:revision>
  <dcterms:created xsi:type="dcterms:W3CDTF">2026-08-30T06:44:00Z</dcterms:created>
  <dcterms:modified xsi:type="dcterms:W3CDTF">2026-08-30T07:09:48Z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946010AEEC8C418DAEFDEEC71A2EAEFC_12</vt:lpwstr>
  </property>
  <property fmtid="{D5CDD505-2E9C-101B-9397-08002B2CF9AE}" pid="3" name="KSOProductBuildVer">
    <vt:lpwstr>2052-12.1.0.18276</vt:lpwstr>
  </property>
</Properties>
</file>