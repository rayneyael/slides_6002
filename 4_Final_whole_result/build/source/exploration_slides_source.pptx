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7"/>
    <p:sldId id="257" r:id="rId8"/>
    <p:sldId id="258" r:id="rId9"/>
    <p:sldId id="259" r:id="rId10"/>
    <p:sldId id="260" r:id="rId11"/>
    <p:sldId id="261" r:id="rId12"/>
    <p:sldId id="262" r:id="rId13"/>
  </p:sldIdLst>
  <p:sldSz cx="12192000" cy="6858000"/>
  <p:notesSz cx="6858000" cy="9144000"/>
  <p:custDataLst>
    <p:tags r:id="rId2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4" Type="http://schemas.openxmlformats.org/officeDocument/2006/relationships/notesMaster" Target="notesMasters/notesMaster1.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ableStyles" Target="tableStyles.xml"/><Relationship Id="rId2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slide establishes the provenance of the analytical panel. OWID is the backbone because it provides consistent country-year coverage for population, total CO₂ and per-capita emissions. Global Carbon Budget 2022 (v27) is used only to supplement coal, oil and gas components when those fields are missing in OWID. The visual separates the roles of the two sources and makes the no-overwrite rule explicit. This improves traceability but does not make the sources conceptually identical; definitions and coverage can still vary by entity and year. Generative AI supported slide composition and wording; the source data and calculations were checked against the project README.</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Our World in Data CO₂ Data; Global Carbon Budget 2022 (v27); Final_data/README.md.</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process diagram explains how the sources become an analysis-ready panel. We restrict the study to 1992–2021, retain valid ISO rows and harmonise ISO-3 and year keys. A left join keeps the OWID backbone, while GCB values fill only missing fuel components. We then remove records without required core or growth fields, derive fuel shares and quality flags, and verify key uniqueness. The result contains 6,378 country-year rows, 213 entities, 30 years and 22 fields; 50.8% of rows receive at least one supplemented fuel value. The panel is intentionally unbalanced. Generative AI supported composition; the workflow and counts follow the project README.</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Final_data/README.md and the merged country-year panel.</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The paired line charts are appropriate because they compare change through time while preserving the distinct units of total and per-capita emissions. From 1992 to 2021, aggregate CO₂ increased from 21.97 to 35.98 Gt, a 63.8% rise. Per-capita emissions increased from about 4.00 to 4.53 tonnes per person, or 13.3%. The contrast shows that growth in global scale was much stronger than growth in individual intensity. Separate vertical scales prevent the smaller per-capita series from being visually flattened. These are panel aggregates rather than a causal decomposition. Generative AI supported placement and explanatory wording; the temporal chart was supplied by the teammate responsible for temporal analysis.</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1992–2021; temporal analysis figure supplied by REYIZA RESIBIEKE.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scatter plot separates two temporal dimensions for each country: the x-axis is the long-term log trend, and the y-axis is the recent trend minus the long-term trend. Countries in the upper-right combine sustained growth with recent acceleration; countries in the lower-right still have positive long-run growth but are slowing relative to that baseline. Filled and outlined squares distinguish the direction of the per-capita trend. The examples illustrate why one start-to-end change cannot represent timing and momentum simultaneously. Extreme values and short or incomplete series require caution. Generative AI supported slide composition; the plotted temporal results were supplied by the teammate responsible for temporal analysis.</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temporal trend figure supplied by REYIZA RESIBIEKE.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The treemap is suited to a part-to-whole question: rectangle area encodes each country’s share of 2021 total CO₂, while colour groups countries by region. Asia accounts for 59.8% of the total, China alone for 31.4%, and the twenty largest emitters together for 81.2%. This concentration means that global totals are driven by a relatively small set of countries, but area does not express per-capita responsibility or historical contribution. Very small countries are intentionally unlabeled because the available area is insufficient. Generative AI supported slide composition and wording; the underlying visualization was created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project treemap figure.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map combines two complementary encodings. Land colour represents per-capita CO₂, while vertical bars represent total national emissions; reading both avoids treating national scale and individual intensity as the same concept. China dominates total emissions, whereas Qatar is a high-intensity example despite a much smaller national total. Of 213 entities in the panel, 169 match Natural Earth 110m polygons, covering approximately 99.6% of mapped emissions. Small islands and territories may therefore be absent from land fill. Bar height is comparative rather than a literal geographic measurement. Generative AI supported slide composition; the map was generated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Natural Earth 110m; project scale-versus-intensity map.</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map shows the dominant fossil-fuel component for each country in 2021: coal, oil or gas. The pie charts add the actual three-fuel shares for selected major emitters, preventing a single dominant-fuel label from hiding mixed national structures. Coal dependence is prominent across much of Asia, oil dominates many countries in Africa, the Middle East and the Americas, and gas is prominent in Russia and parts of Central Asia. Fuel shares describe composition, not total magnitude, and coverage varies across small entities. Generative AI supported slide composition and wording; the map was generated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project dominant-fuel map.</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p:txBody>
          <a:bodyPr/>
          <a:lstStyle/>
          <a:p>
            <a:fld id="{54D28968-2D6D-48A2-B9D0-F55DF243ED4A}"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228C1780-0C29-4D1C-AB97-38613CB3A71B}"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1E6AE7E8-3716-469C-989E-87A700822FC8}"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6C0DE861-2440-4F5E-88B3-6FDE4E57ECD4}"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a:xfrm>
            <a:off x="839788" y="365125"/>
            <a:ext cx="10515600" cy="1325563"/>
          </a:xfrm>
        </p:spPr>
        <p:txBody>
          <a:bodyPr/>
          <a:lstStyle/>
          <a:p>
            <a:r>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1F805EA7-111E-4CDD-9BA2-5013606D53E8}" type="datetime1">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A16C0091-ECFB-4ECB-BB63-5B53D407EE7E}" type="datetime1">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B1DFA363-8673-4E94-B192-6D142E51F388}" type="datetime1">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C2ADB4DB-8147-4901-B0BF-07F7F41BD534}"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546F6B78-6B32-470A-8391-BA66CA49170D}"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6FCA152-08ED-4419-B653-34979455CF6A}"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463BF55D-C37F-422E-A25A-70054E1EEFAD}"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C552A40C-D177-43C1-8C81-1F22F41E983D}" type="datetime1">
              <a:rPr/>
            </a:fld>
            <a:endParaRPr/>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55F2AC1-5349-40F4-976A-E0D325BAD41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27" name="Rectangle 26"/>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Slide Number Placeholder 4"/>
          <p:cNvSpPr>
            <a:spLocks noGrp="1"/>
          </p:cNvSpPr>
          <p:nvPr>
            <p:ph type="sldNum" idx="12"/>
          </p:nvPr>
        </p:nvSpPr>
        <p:spPr>
          <a:xfrm>
            <a:off x="11561522" y="6356350"/>
            <a:ext cx="518786" cy="362485"/>
          </a:xfrm>
          <a:ln/>
        </p:spPr>
        <p:txBody>
          <a:bodyPr/>
          <a:lstStyle/>
          <a:p>
            <a:pPr marL="0" marR="0" lvl="0" indent="0" algn="r" defTabSz="914400">
              <a:lnSpc>
                <a:spcPct val="100000"/>
              </a:lnSpc>
              <a:spcBef>
                <a:spcPts val="0"/>
              </a:spcBef>
              <a:spcAft>
                <a:spcPts val="0"/>
              </a:spcAft>
              <a:buClrTx/>
              <a:buSzTx/>
              <a:buFontTx/>
              <a:buNone/>
              <a:defRPr>
                <a:latin typeface="Times New Roman"/>
              </a:defRPr>
            </a:pPr>
            <a:fld id="{E2598689-54C9-18A7-3A19-ED76AA08988F}"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4" name="TextBox 3"/>
          <p:cNvSpPr>
            <a:spLocks noGrp="1"/>
          </p:cNvSpPr>
          <p:nvPr/>
        </p:nvSpPr>
        <p:spPr>
          <a:xfrm>
            <a:off x="1993900" y="6234075"/>
            <a:ext cx="9194800" cy="533248"/>
          </a:xfrm>
          <a:prstGeom prst="rect">
            <a:avLst/>
          </a:prstGeom>
          <a:noFill/>
          <a:ln/>
        </p:spPr>
        <p:txBody>
          <a:bodyPr wrap="square">
            <a:noAutofit/>
          </a:bodyPr>
          <a:lstStyle/>
          <a:p>
            <a:pPr marL="0" marR="0" lvl="0" indent="0" algn="l" defTabSz="914400">
              <a:lnSpc>
                <a:spcPct val="100000"/>
              </a:lnSpc>
              <a:spcBef>
                <a:spcPts val="0"/>
              </a:spcBef>
              <a:spcAft>
                <a:spcPts val="0"/>
              </a:spcAft>
              <a:buClrTx/>
              <a:buSzTx/>
              <a:buFontTx/>
              <a:buNone/>
              <a:defRPr>
                <a:latin typeface="Times New Roman"/>
              </a:defRPr>
            </a:pPr>
            <a:r>
              <a:rPr sz="1200" b="1" i="0" u="none" cap="none" spc="0">
                <a:ln>
                  <a:noFill/>
                </a:ln>
                <a:solidFill>
                  <a:srgbClr val="25313C"/>
                </a:solidFill>
                <a:latin typeface="Times New Roman" panose="020B0604020202020204"/>
                <a:ea typeface="Times New Roman" panose="020B0604020202020204"/>
                <a:cs typeface="Times New Roman" panose="020B0604020202020204"/>
              </a:rPr>
              <a:t>Responsible: Shen Ruiting</a:t>
            </a:r>
            <a:endParaRPr sz="900" b="1" i="0" u="none" cap="none" spc="0">
              <a:ln>
                <a:noFill/>
              </a:ln>
              <a:solidFill>
                <a:srgbClr val="25313C"/>
              </a:solidFill>
              <a:latin typeface="Times New Roman" panose="020B0604020202020204"/>
              <a:ea typeface="Times New Roman" panose="020B0604020202020204"/>
              <a:cs typeface="Times New Roman" panose="020B0604020202020204"/>
            </a:endParaRPr>
          </a:p>
        </p:txBody>
      </p:sp>
      <p:sp>
        <p:nvSpPr>
          <p:cNvPr id="6" name="矩形 5"/>
          <p:cNvSpPr>
            <a:spLocks noGrp="1"/>
          </p:cNvSpPr>
          <p:nvPr/>
        </p:nvSpPr>
        <p:spPr>
          <a:xfrm>
            <a:off x="400050" y="1028700"/>
            <a:ext cx="2381250" cy="266700"/>
          </a:xfrm>
          <a:prstGeom prst="rect">
            <a:avLst/>
          </a:prstGeom>
          <a:solidFill>
            <a:srgbClr val="FFFFFF"/>
          </a:solidFill>
          <a:ln w="0">
            <a:solidFill>
              <a:srgbClr val="FFFFFF"/>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SOURCE ROLES</a:t>
            </a:r>
          </a:p>
        </p:txBody>
      </p:sp>
      <p:sp>
        <p:nvSpPr>
          <p:cNvPr id="7" name="圆角矩形 6"/>
          <p:cNvSpPr>
            <a:spLocks noGrp="1"/>
          </p:cNvSpPr>
          <p:nvPr/>
        </p:nvSpPr>
        <p:spPr>
          <a:xfrm>
            <a:off x="400050" y="1381125"/>
            <a:ext cx="5219700" cy="2724150"/>
          </a:xfrm>
          <a:prstGeom prst="roundRect">
            <a:avLst>
              <a:gd name="adj" fmla="val 2797"/>
            </a:avLst>
          </a:prstGeom>
          <a:solidFill>
            <a:srgbClr val="ECEFF4"/>
          </a:solidFill>
          <a:ln w="19050">
            <a:solidFill>
              <a:srgbClr val="4F6E96"/>
            </a:solidFill>
            <a:prstDash val="solid"/>
          </a:ln>
        </p:spPr>
        <p:txBody>
          <a:bodyPr/>
          <a:p>
            <a:pPr>
              <a:defRPr>
                <a:latin typeface="Times New Roman"/>
              </a:defRPr>
            </a:pPr>
          </a:p>
        </p:txBody>
      </p:sp>
      <p:sp>
        <p:nvSpPr>
          <p:cNvPr id="8" name="矩形 7"/>
          <p:cNvSpPr>
            <a:spLocks noGrp="1"/>
          </p:cNvSpPr>
          <p:nvPr/>
        </p:nvSpPr>
        <p:spPr>
          <a:xfrm>
            <a:off x="647700" y="1571625"/>
            <a:ext cx="3333750" cy="400050"/>
          </a:xfrm>
          <a:prstGeom prst="rect">
            <a:avLst/>
          </a:prstGeom>
          <a:solidFill>
            <a:srgbClr val="ECEFF4"/>
          </a:solidFill>
          <a:ln w="0">
            <a:solidFill>
              <a:srgbClr val="ECEFF4"/>
            </a:solidFill>
            <a:prstDash val="solid"/>
          </a:ln>
        </p:spPr>
        <p:txBody>
          <a:bodyPr anchor="ctr"/>
          <a:lstStyle/>
          <a:p>
            <a:pPr algn="l">
              <a:defRPr sz="195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OWID CO2 Data</a:t>
            </a:r>
          </a:p>
        </p:txBody>
      </p:sp>
      <p:sp>
        <p:nvSpPr>
          <p:cNvPr id="9" name="矩形 8"/>
          <p:cNvSpPr>
            <a:spLocks noGrp="1"/>
          </p:cNvSpPr>
          <p:nvPr/>
        </p:nvSpPr>
        <p:spPr>
          <a:xfrm>
            <a:off x="4095750" y="1600200"/>
            <a:ext cx="1257300" cy="285750"/>
          </a:xfrm>
          <a:prstGeom prst="rect">
            <a:avLst/>
          </a:prstGeom>
          <a:solidFill>
            <a:srgbClr val="4F6E96"/>
          </a:solidFill>
          <a:ln w="0">
            <a:solidFill>
              <a:srgbClr val="4F6E96"/>
            </a:solidFill>
            <a:prstDash val="solid"/>
          </a:ln>
        </p:spPr>
        <p:txBody>
          <a:bodyPr anchor="ctr"/>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PRIMARY BACKBONE</a:t>
            </a:r>
          </a:p>
        </p:txBody>
      </p:sp>
      <p:sp>
        <p:nvSpPr>
          <p:cNvPr id="10" name="矩形 9"/>
          <p:cNvSpPr>
            <a:spLocks noGrp="1"/>
          </p:cNvSpPr>
          <p:nvPr/>
        </p:nvSpPr>
        <p:spPr>
          <a:xfrm>
            <a:off x="647700" y="2114550"/>
            <a:ext cx="4429125" cy="361950"/>
          </a:xfrm>
          <a:prstGeom prst="rect">
            <a:avLst/>
          </a:prstGeom>
          <a:solidFill>
            <a:srgbClr val="ECEFF4"/>
          </a:solidFill>
          <a:ln w="0">
            <a:solidFill>
              <a:srgbClr val="ECEFF4"/>
            </a:solidFill>
            <a:prstDash val="solid"/>
          </a:ln>
        </p:spPr>
        <p:txBody>
          <a:bodyPr anchor="ctr"/>
          <a:lstStyle/>
          <a:p>
            <a:pPr algn="l">
              <a:defRPr sz="14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1992–2021 country-year coverage</a:t>
            </a:r>
          </a:p>
        </p:txBody>
      </p:sp>
      <p:sp>
        <p:nvSpPr>
          <p:cNvPr id="11" name="矩形 10"/>
          <p:cNvSpPr>
            <a:spLocks noGrp="1"/>
          </p:cNvSpPr>
          <p:nvPr/>
        </p:nvSpPr>
        <p:spPr>
          <a:xfrm>
            <a:off x="647700" y="2571750"/>
            <a:ext cx="4429125" cy="876300"/>
          </a:xfrm>
          <a:prstGeom prst="rect">
            <a:avLst/>
          </a:prstGeom>
          <a:solidFill>
            <a:srgbClr val="ECEFF4"/>
          </a:solidFill>
          <a:ln w="0">
            <a:solidFill>
              <a:srgbClr val="ECEFF4"/>
            </a:solidFill>
            <a:prstDash val="solid"/>
          </a:ln>
        </p:spPr>
        <p:txBody>
          <a:bodyPr anchor="t"/>
          <a:lstStyle/>
          <a:p>
            <a:pPr algn="l">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Population · total CO2 · CO2 per person</a:t>
            </a:r>
          </a:p>
          <a:p>
            <a:pPr algn="l">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Consistent identifiers and broad historical coverage</a:t>
            </a:r>
          </a:p>
        </p:txBody>
      </p:sp>
      <p:sp>
        <p:nvSpPr>
          <p:cNvPr id="12" name="矩形 11"/>
          <p:cNvSpPr>
            <a:spLocks noGrp="1"/>
          </p:cNvSpPr>
          <p:nvPr/>
        </p:nvSpPr>
        <p:spPr>
          <a:xfrm>
            <a:off x="647700" y="3600450"/>
            <a:ext cx="4429125" cy="304800"/>
          </a:xfrm>
          <a:prstGeom prst="rect">
            <a:avLst/>
          </a:prstGeom>
          <a:solidFill>
            <a:srgbClr val="ECEFF4"/>
          </a:solidFill>
          <a:ln w="0">
            <a:solidFill>
              <a:srgbClr val="ECEFF4"/>
            </a:solidFill>
            <a:prstDash val="solid"/>
          </a:ln>
        </p:spPr>
        <p:txBody>
          <a:bodyPr anchor="ctr"/>
          <a:lstStyle/>
          <a:p>
            <a:pPr algn="l">
              <a:defRPr sz="12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Defines which rows remain in the final panel</a:t>
            </a:r>
          </a:p>
        </p:txBody>
      </p:sp>
      <p:sp>
        <p:nvSpPr>
          <p:cNvPr id="13" name="圆角矩形 12"/>
          <p:cNvSpPr>
            <a:spLocks noGrp="1"/>
          </p:cNvSpPr>
          <p:nvPr/>
        </p:nvSpPr>
        <p:spPr>
          <a:xfrm>
            <a:off x="5953125" y="1381125"/>
            <a:ext cx="5219700" cy="2724150"/>
          </a:xfrm>
          <a:prstGeom prst="roundRect">
            <a:avLst>
              <a:gd name="adj" fmla="val 2797"/>
            </a:avLst>
          </a:prstGeom>
          <a:solidFill>
            <a:srgbClr val="F7F1EA"/>
          </a:solidFill>
          <a:ln w="19050">
            <a:solidFill>
              <a:srgbClr val="BE7F4E"/>
            </a:solidFill>
            <a:prstDash val="solid"/>
          </a:ln>
        </p:spPr>
        <p:txBody>
          <a:bodyPr/>
          <a:p>
            <a:pPr>
              <a:defRPr>
                <a:latin typeface="Times New Roman"/>
              </a:defRPr>
            </a:pPr>
          </a:p>
        </p:txBody>
      </p:sp>
      <p:sp>
        <p:nvSpPr>
          <p:cNvPr id="14" name="矩形 13"/>
          <p:cNvSpPr>
            <a:spLocks noGrp="1"/>
          </p:cNvSpPr>
          <p:nvPr/>
        </p:nvSpPr>
        <p:spPr>
          <a:xfrm>
            <a:off x="6200775" y="1571625"/>
            <a:ext cx="3619500" cy="400050"/>
          </a:xfrm>
          <a:prstGeom prst="rect">
            <a:avLst/>
          </a:prstGeom>
          <a:solidFill>
            <a:srgbClr val="F7F1EA"/>
          </a:solidFill>
          <a:ln w="0">
            <a:solidFill>
              <a:srgbClr val="F7F1EA"/>
            </a:solidFill>
            <a:prstDash val="solid"/>
          </a:ln>
        </p:spPr>
        <p:txBody>
          <a:bodyPr anchor="ctr"/>
          <a:lstStyle/>
          <a:p>
            <a:pPr algn="l">
              <a:defRPr sz="1575" b="1" i="0">
                <a:solidFill>
                  <a:srgbClr val="5F1118"/>
                </a:solidFill>
                <a:latin typeface="Times New Roman" panose="020B0604020202020204"/>
                <a:ea typeface="Times New Roman" panose="020B0604020202020204"/>
                <a:cs typeface="Times New Roman" panose="020B0604020202020204"/>
              </a:defRPr>
            </a:pPr>
            <a:r>
              <a:rPr>
                <a:solidFill/>
                <a:latin typeface="Times New Roman"/>
              </a:rPr>
              <a:t>Global Carbon Budget 2022 (v27)</a:t>
            </a:r>
          </a:p>
        </p:txBody>
      </p:sp>
      <p:sp>
        <p:nvSpPr>
          <p:cNvPr id="15" name="矩形 14"/>
          <p:cNvSpPr>
            <a:spLocks noGrp="1"/>
          </p:cNvSpPr>
          <p:nvPr/>
        </p:nvSpPr>
        <p:spPr>
          <a:xfrm>
            <a:off x="9906000" y="1600200"/>
            <a:ext cx="1000125" cy="285750"/>
          </a:xfrm>
          <a:prstGeom prst="rect">
            <a:avLst/>
          </a:prstGeom>
          <a:solidFill>
            <a:srgbClr val="BE7F4E"/>
          </a:solidFill>
          <a:ln w="0">
            <a:solidFill>
              <a:srgbClr val="BE7F4E"/>
            </a:solidFill>
            <a:prstDash val="solid"/>
          </a:ln>
        </p:spPr>
        <p:txBody>
          <a:bodyPr anchor="ctr"/>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SUPPLEMENT</a:t>
            </a:r>
          </a:p>
        </p:txBody>
      </p:sp>
      <p:sp>
        <p:nvSpPr>
          <p:cNvPr id="16" name="矩形 15"/>
          <p:cNvSpPr>
            <a:spLocks noGrp="1"/>
          </p:cNvSpPr>
          <p:nvPr/>
        </p:nvSpPr>
        <p:spPr>
          <a:xfrm>
            <a:off x="6200775" y="2114550"/>
            <a:ext cx="4429125" cy="361950"/>
          </a:xfrm>
          <a:prstGeom prst="rect">
            <a:avLst/>
          </a:prstGeom>
          <a:solidFill>
            <a:srgbClr val="F7F1EA"/>
          </a:solidFill>
          <a:ln w="0">
            <a:solidFill>
              <a:srgbClr val="F7F1EA"/>
            </a:solidFill>
            <a:prstDash val="solid"/>
          </a:ln>
        </p:spPr>
        <p:txBody>
          <a:bodyPr anchor="ctr"/>
          <a:lstStyle/>
          <a:p>
            <a:pPr algn="l">
              <a:defRPr sz="14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Fuel-component detail</a:t>
            </a:r>
          </a:p>
        </p:txBody>
      </p:sp>
      <p:sp>
        <p:nvSpPr>
          <p:cNvPr id="17" name="矩形 16"/>
          <p:cNvSpPr>
            <a:spLocks noGrp="1"/>
          </p:cNvSpPr>
          <p:nvPr/>
        </p:nvSpPr>
        <p:spPr>
          <a:xfrm>
            <a:off x="6200775" y="2571750"/>
            <a:ext cx="4429125" cy="876300"/>
          </a:xfrm>
          <a:prstGeom prst="rect">
            <a:avLst/>
          </a:prstGeom>
          <a:solidFill>
            <a:srgbClr val="F7F1EA"/>
          </a:solidFill>
          <a:ln w="0">
            <a:solidFill>
              <a:srgbClr val="F7F1EA"/>
            </a:solidFill>
            <a:prstDash val="solid"/>
          </a:ln>
        </p:spPr>
        <p:txBody>
          <a:bodyPr anchor="t"/>
          <a:lstStyle/>
          <a:p>
            <a:pPr algn="l">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Coal CO2 · oil CO2 · gas CO2</a:t>
            </a:r>
          </a:p>
          <a:p>
            <a:pPr algn="l">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Used only where the OWID component is missing</a:t>
            </a:r>
          </a:p>
        </p:txBody>
      </p:sp>
      <p:sp>
        <p:nvSpPr>
          <p:cNvPr id="18" name="矩形 17"/>
          <p:cNvSpPr>
            <a:spLocks noGrp="1"/>
          </p:cNvSpPr>
          <p:nvPr/>
        </p:nvSpPr>
        <p:spPr>
          <a:xfrm>
            <a:off x="6200775" y="3600450"/>
            <a:ext cx="4429125" cy="304800"/>
          </a:xfrm>
          <a:prstGeom prst="rect">
            <a:avLst/>
          </a:prstGeom>
          <a:solidFill>
            <a:srgbClr val="F7F1EA"/>
          </a:solidFill>
          <a:ln w="0">
            <a:solidFill>
              <a:srgbClr val="F7F1EA"/>
            </a:solidFill>
            <a:prstDash val="solid"/>
          </a:ln>
        </p:spPr>
        <p:txBody>
          <a:bodyPr anchor="ctr"/>
          <a:lstStyle/>
          <a:p>
            <a:pPr algn="l">
              <a:defRPr sz="1200" b="1" i="0">
                <a:solidFill>
                  <a:srgbClr val="5F1118"/>
                </a:solidFill>
                <a:latin typeface="Times New Roman" panose="020B0604020202020204"/>
                <a:ea typeface="Times New Roman" panose="020B0604020202020204"/>
                <a:cs typeface="Times New Roman" panose="020B0604020202020204"/>
              </a:defRPr>
            </a:pPr>
            <a:r>
              <a:rPr>
                <a:solidFill/>
                <a:latin typeface="Times New Roman"/>
              </a:rPr>
              <a:t>Adds composition without redefining the backbone</a:t>
            </a:r>
          </a:p>
        </p:txBody>
      </p:sp>
      <p:sp>
        <p:nvSpPr>
          <p:cNvPr id="19" name="圆角矩形 18"/>
          <p:cNvSpPr>
            <a:spLocks noGrp="1"/>
          </p:cNvSpPr>
          <p:nvPr/>
        </p:nvSpPr>
        <p:spPr>
          <a:xfrm>
            <a:off x="1200150" y="4457700"/>
            <a:ext cx="9172575" cy="1123950"/>
          </a:xfrm>
          <a:prstGeom prst="roundRect">
            <a:avLst>
              <a:gd name="adj" fmla="val 6780"/>
            </a:avLst>
          </a:prstGeom>
          <a:solidFill>
            <a:srgbClr val="FAFBFA"/>
          </a:solidFill>
          <a:ln w="12383">
            <a:solidFill>
              <a:srgbClr val="D5DED6"/>
            </a:solidFill>
            <a:prstDash val="solid"/>
          </a:ln>
        </p:spPr>
        <p:txBody>
          <a:bodyPr/>
          <a:p>
            <a:pPr>
              <a:defRPr>
                <a:latin typeface="Times New Roman"/>
              </a:defRPr>
            </a:pPr>
          </a:p>
        </p:txBody>
      </p:sp>
      <p:sp>
        <p:nvSpPr>
          <p:cNvPr id="20" name="矩形 19"/>
          <p:cNvSpPr>
            <a:spLocks noGrp="1"/>
          </p:cNvSpPr>
          <p:nvPr/>
        </p:nvSpPr>
        <p:spPr>
          <a:xfrm>
            <a:off x="1428750" y="4629150"/>
            <a:ext cx="1714500" cy="266700"/>
          </a:xfrm>
          <a:prstGeom prst="rect">
            <a:avLst/>
          </a:prstGeom>
          <a:solidFill>
            <a:srgbClr val="FAFBFA"/>
          </a:solidFill>
          <a:ln w="0">
            <a:solidFill>
              <a:srgbClr val="FAFBFA"/>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MERGE PRINCIPLE</a:t>
            </a:r>
          </a:p>
        </p:txBody>
      </p:sp>
      <p:sp>
        <p:nvSpPr>
          <p:cNvPr id="21" name="矩形 20"/>
          <p:cNvSpPr>
            <a:spLocks noGrp="1"/>
          </p:cNvSpPr>
          <p:nvPr/>
        </p:nvSpPr>
        <p:spPr>
          <a:xfrm>
            <a:off x="1428750" y="4972050"/>
            <a:ext cx="2143125" cy="361950"/>
          </a:xfrm>
          <a:prstGeom prst="rect">
            <a:avLst/>
          </a:prstGeom>
          <a:solidFill>
            <a:srgbClr val="FAFBFA"/>
          </a:solidFill>
          <a:ln w="0">
            <a:solidFill>
              <a:srgbClr val="FAFBFA"/>
            </a:solidFill>
            <a:prstDash val="solid"/>
          </a:ln>
        </p:spPr>
        <p:txBody>
          <a:bodyPr anchor="ctr"/>
          <a:lstStyle/>
          <a:p>
            <a:pPr algn="ctr">
              <a:defRPr sz="1425"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Retain OWID rows</a:t>
            </a:r>
          </a:p>
        </p:txBody>
      </p:sp>
      <p:sp>
        <p:nvSpPr>
          <p:cNvPr id="22" name="矩形 21"/>
          <p:cNvSpPr>
            <a:spLocks noGrp="1"/>
          </p:cNvSpPr>
          <p:nvPr/>
        </p:nvSpPr>
        <p:spPr>
          <a:xfrm>
            <a:off x="3619500" y="4972050"/>
            <a:ext cx="381000" cy="361950"/>
          </a:xfrm>
          <a:prstGeom prst="rect">
            <a:avLst/>
          </a:prstGeom>
          <a:solidFill>
            <a:srgbClr val="FAFBFA"/>
          </a:solidFill>
          <a:ln w="0">
            <a:solidFill>
              <a:srgbClr val="FAFBFA"/>
            </a:solidFill>
            <a:prstDash val="solid"/>
          </a:ln>
        </p:spPr>
        <p:txBody>
          <a:bodyPr anchor="ctr"/>
          <a:lstStyle/>
          <a:p>
            <a:pPr algn="ctr">
              <a:defRPr sz="1950" b="1"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a:t>
            </a:r>
          </a:p>
        </p:txBody>
      </p:sp>
      <p:sp>
        <p:nvSpPr>
          <p:cNvPr id="23" name="矩形 22"/>
          <p:cNvSpPr>
            <a:spLocks noGrp="1"/>
          </p:cNvSpPr>
          <p:nvPr/>
        </p:nvSpPr>
        <p:spPr>
          <a:xfrm>
            <a:off x="4048125" y="4972050"/>
            <a:ext cx="2667000" cy="361950"/>
          </a:xfrm>
          <a:prstGeom prst="rect">
            <a:avLst/>
          </a:prstGeom>
          <a:solidFill>
            <a:srgbClr val="FAFBFA"/>
          </a:solidFill>
          <a:ln w="0">
            <a:solidFill>
              <a:srgbClr val="FAFBFA"/>
            </a:solidFill>
            <a:prstDash val="solid"/>
          </a:ln>
        </p:spPr>
        <p:txBody>
          <a:bodyPr anchor="ctr"/>
          <a:lstStyle/>
          <a:p>
            <a:pPr algn="ctr">
              <a:defRPr sz="1425" b="1" i="0">
                <a:solidFill>
                  <a:srgbClr val="ED7D31"/>
                </a:solidFill>
                <a:latin typeface="Times New Roman" panose="020B0604020202020204"/>
                <a:ea typeface="Times New Roman" panose="020B0604020202020204"/>
                <a:cs typeface="Times New Roman" panose="020B0604020202020204"/>
              </a:defRPr>
            </a:pPr>
            <a:r>
              <a:rPr>
                <a:solidFill/>
                <a:latin typeface="Times New Roman"/>
              </a:rPr>
              <a:t>Fill missing fuel fields</a:t>
            </a:r>
          </a:p>
        </p:txBody>
      </p:sp>
      <p:sp>
        <p:nvSpPr>
          <p:cNvPr id="24" name="矩形 23"/>
          <p:cNvSpPr>
            <a:spLocks noGrp="1"/>
          </p:cNvSpPr>
          <p:nvPr/>
        </p:nvSpPr>
        <p:spPr>
          <a:xfrm>
            <a:off x="6762750" y="4972050"/>
            <a:ext cx="381000" cy="361950"/>
          </a:xfrm>
          <a:prstGeom prst="rect">
            <a:avLst/>
          </a:prstGeom>
          <a:solidFill>
            <a:srgbClr val="FAFBFA"/>
          </a:solidFill>
          <a:ln w="0">
            <a:solidFill>
              <a:srgbClr val="FAFBFA"/>
            </a:solidFill>
            <a:prstDash val="solid"/>
          </a:ln>
        </p:spPr>
        <p:txBody>
          <a:bodyPr anchor="ctr"/>
          <a:lstStyle/>
          <a:p>
            <a:pPr algn="ctr">
              <a:defRPr sz="1950" b="1"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a:t>
            </a:r>
          </a:p>
        </p:txBody>
      </p:sp>
      <p:sp>
        <p:nvSpPr>
          <p:cNvPr id="25" name="矩形 24"/>
          <p:cNvSpPr>
            <a:spLocks noGrp="1"/>
          </p:cNvSpPr>
          <p:nvPr/>
        </p:nvSpPr>
        <p:spPr>
          <a:xfrm>
            <a:off x="7191375" y="4972050"/>
            <a:ext cx="2952750" cy="361950"/>
          </a:xfrm>
          <a:prstGeom prst="rect">
            <a:avLst/>
          </a:prstGeom>
          <a:solidFill>
            <a:srgbClr val="FAFBFA"/>
          </a:solidFill>
          <a:ln w="0">
            <a:solidFill>
              <a:srgbClr val="FAFBFA"/>
            </a:solidFill>
            <a:prstDash val="solid"/>
          </a:ln>
        </p:spPr>
        <p:txBody>
          <a:bodyPr anchor="ctr"/>
          <a:lstStyle/>
          <a:p>
            <a:pPr algn="ctr">
              <a:defRPr sz="1425"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Never overwrite observed values</a:t>
            </a:r>
          </a:p>
        </p:txBody>
      </p:sp>
      <p:sp>
        <p:nvSpPr>
          <p:cNvPr id="28" name="Rectangle 27"/>
          <p:cNvSpPr/>
          <p:nvPr/>
        </p:nvSpPr>
        <p:spPr>
          <a:xfrm>
            <a:off x="0" y="0"/>
            <a:ext cx="12192000" cy="841248"/>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9" name="Rectangle 28"/>
          <p:cNvSpPr/>
          <p:nvPr/>
        </p:nvSpPr>
        <p:spPr>
          <a:xfrm>
            <a:off x="0" y="841248"/>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0" name="TextBox 29"/>
          <p:cNvSpPr txBox="1"/>
          <p:nvPr/>
        </p:nvSpPr>
        <p:spPr>
          <a:xfrm>
            <a:off x="384048" y="45720"/>
            <a:ext cx="9966960" cy="749808"/>
          </a:xfrm>
          <a:prstGeom prst="rect">
            <a:avLst/>
          </a:prstGeom>
          <a:noFill/>
          <a:ln>
            <a:noFill/>
          </a:ln>
          <a:effectLst/>
        </p:spPr>
        <p:txBody>
          <a:bodyPr wrap="square" anchor="ctr" lIns="0" tIns="0" bIns="0">
            <a:spAutoFit/>
          </a:bodyPr>
          <a:lstStyle/>
          <a:p>
            <a:pPr algn="l">
              <a:defRPr>
                <a:latin typeface="Times New Roman"/>
              </a:defRPr>
            </a:pPr>
            <a:r>
              <a:rPr sz="1350" b="1">
                <a:solidFill>
                  <a:srgbClr val="D3E3D6"/>
                </a:solidFill>
                <a:latin typeface="Georgia"/>
              </a:rPr>
              <a:t>EXPLORATION OF DATASET:  </a:t>
            </a:r>
            <a:r>
              <a:rPr sz="2000" b="1">
                <a:solidFill>
                  <a:srgbClr val="FFFFFF"/>
                </a:solidFill>
                <a:latin typeface="Georgia"/>
              </a:rPr>
              <a:t>Two sources create one traceable emissions panel</a:t>
            </a:r>
          </a:p>
        </p:txBody>
      </p:sp>
      <p:sp>
        <p:nvSpPr>
          <p:cNvPr id="31" name="TextBox 30"/>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1 / 7</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67" name="Rectangle 66"/>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Slide Number Placeholder 4"/>
          <p:cNvSpPr>
            <a:spLocks noGrp="1"/>
          </p:cNvSpPr>
          <p:nvPr>
            <p:ph type="sldNum" idx="12"/>
          </p:nvPr>
        </p:nvSpPr>
        <p:spPr>
          <a:xfrm>
            <a:off x="11561522" y="6356350"/>
            <a:ext cx="518786" cy="362485"/>
          </a:xfrm>
          <a:ln/>
        </p:spPr>
        <p:txBody>
          <a:bodyPr/>
          <a:lstStyle/>
          <a:p>
            <a:pPr marL="0" marR="0" lvl="0" indent="0" algn="r" defTabSz="914400">
              <a:lnSpc>
                <a:spcPct val="100000"/>
              </a:lnSpc>
              <a:spcBef>
                <a:spcPts val="0"/>
              </a:spcBef>
              <a:spcAft>
                <a:spcPts val="0"/>
              </a:spcAft>
              <a:buClrTx/>
              <a:buSzTx/>
              <a:buFontTx/>
              <a:buNone/>
              <a:defRPr>
                <a:latin typeface="Times New Roman"/>
              </a:defRPr>
            </a:pPr>
            <a:fld id="{202359C0-8A7A-196E-DD58-8E6569619F09}"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4" name="TextBox 3"/>
          <p:cNvSpPr>
            <a:spLocks noGrp="1"/>
          </p:cNvSpPr>
          <p:nvPr/>
        </p:nvSpPr>
        <p:spPr>
          <a:xfrm>
            <a:off x="1993900" y="6234075"/>
            <a:ext cx="9194800" cy="533248"/>
          </a:xfrm>
          <a:prstGeom prst="rect">
            <a:avLst/>
          </a:prstGeom>
          <a:noFill/>
          <a:ln/>
        </p:spPr>
        <p:txBody>
          <a:bodyPr wrap="square">
            <a:noAutofit/>
          </a:bodyPr>
          <a:lstStyle/>
          <a:p>
            <a:pPr marL="0" marR="0" lvl="0" indent="0" algn="l" defTabSz="914400">
              <a:lnSpc>
                <a:spcPct val="100000"/>
              </a:lnSpc>
              <a:spcBef>
                <a:spcPts val="0"/>
              </a:spcBef>
              <a:spcAft>
                <a:spcPts val="0"/>
              </a:spcAft>
              <a:buClrTx/>
              <a:buSzTx/>
              <a:buFontTx/>
              <a:buNone/>
              <a:defRPr>
                <a:latin typeface="Times New Roman"/>
              </a:defRPr>
            </a:pPr>
            <a:r>
              <a:rPr sz="1200" b="1" i="0" u="none" cap="none" spc="0">
                <a:ln>
                  <a:noFill/>
                </a:ln>
                <a:solidFill>
                  <a:srgbClr val="25313C"/>
                </a:solidFill>
                <a:latin typeface="Times New Roman" panose="020B0604020202020204"/>
                <a:ea typeface="Times New Roman" panose="020B0604020202020204"/>
                <a:cs typeface="Times New Roman" panose="020B0604020202020204"/>
              </a:rPr>
              <a:t>Responsible: Shen Ruiting</a:t>
            </a:r>
            <a:endParaRPr sz="900" b="1" i="0" u="none" cap="none" spc="0">
              <a:ln>
                <a:noFill/>
              </a:ln>
              <a:solidFill>
                <a:srgbClr val="25313C"/>
              </a:solidFill>
              <a:latin typeface="Times New Roman" panose="020B0604020202020204"/>
              <a:ea typeface="Times New Roman" panose="020B0604020202020204"/>
              <a:cs typeface="Times New Roman" panose="020B0604020202020204"/>
            </a:endParaRPr>
          </a:p>
        </p:txBody>
      </p:sp>
      <p:sp>
        <p:nvSpPr>
          <p:cNvPr id="6" name="矩形 5"/>
          <p:cNvSpPr>
            <a:spLocks noGrp="1"/>
          </p:cNvSpPr>
          <p:nvPr/>
        </p:nvSpPr>
        <p:spPr>
          <a:xfrm>
            <a:off x="400050" y="1028700"/>
            <a:ext cx="2857500" cy="266700"/>
          </a:xfrm>
          <a:prstGeom prst="rect">
            <a:avLst/>
          </a:prstGeom>
          <a:solidFill>
            <a:srgbClr val="FFFFFF"/>
          </a:solidFill>
          <a:ln w="0">
            <a:solidFill>
              <a:srgbClr val="FFFFFF"/>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CONDITIONING WORKFLOW</a:t>
            </a:r>
          </a:p>
        </p:txBody>
      </p:sp>
      <p:sp>
        <p:nvSpPr>
          <p:cNvPr id="7" name="圆角矩形 6"/>
          <p:cNvSpPr>
            <a:spLocks noGrp="1"/>
          </p:cNvSpPr>
          <p:nvPr/>
        </p:nvSpPr>
        <p:spPr>
          <a:xfrm>
            <a:off x="476250" y="1524000"/>
            <a:ext cx="2247900" cy="1562100"/>
          </a:xfrm>
          <a:prstGeom prst="roundRect">
            <a:avLst>
              <a:gd name="adj" fmla="val 4878"/>
            </a:avLst>
          </a:prstGeom>
          <a:solidFill>
            <a:srgbClr val="ECEFF4"/>
          </a:solidFill>
          <a:ln w="19050">
            <a:solidFill>
              <a:srgbClr val="4F6E96"/>
            </a:solidFill>
            <a:prstDash val="solid"/>
          </a:ln>
        </p:spPr>
        <p:txBody>
          <a:bodyPr/>
          <a:p>
            <a:pPr>
              <a:defRPr>
                <a:latin typeface="Times New Roman"/>
              </a:defRPr>
            </a:pPr>
          </a:p>
        </p:txBody>
      </p:sp>
      <p:sp>
        <p:nvSpPr>
          <p:cNvPr id="8" name="椭圆 7"/>
          <p:cNvSpPr>
            <a:spLocks noGrp="1"/>
          </p:cNvSpPr>
          <p:nvPr/>
        </p:nvSpPr>
        <p:spPr>
          <a:xfrm>
            <a:off x="628650" y="1676400"/>
            <a:ext cx="428625" cy="381000"/>
          </a:xfrm>
          <a:prstGeom prst="ellipse">
            <a:avLst/>
          </a:prstGeom>
          <a:solidFill>
            <a:srgbClr val="4F6E96"/>
          </a:solidFill>
          <a:ln w="0">
            <a:solidFill>
              <a:srgbClr val="4F6E96"/>
            </a:solidFill>
            <a:prstDash val="solid"/>
          </a:ln>
        </p:spPr>
        <p:txBody>
          <a:bodyPr anchor="ctr"/>
          <a:lstStyle/>
          <a:p>
            <a:pPr algn="ctr">
              <a:defRPr sz="1125"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1</a:t>
            </a:r>
          </a:p>
        </p:txBody>
      </p:sp>
      <p:sp>
        <p:nvSpPr>
          <p:cNvPr id="9" name="矩形 8"/>
          <p:cNvSpPr>
            <a:spLocks noGrp="1"/>
          </p:cNvSpPr>
          <p:nvPr/>
        </p:nvSpPr>
        <p:spPr>
          <a:xfrm>
            <a:off x="1143000" y="1657350"/>
            <a:ext cx="1381125" cy="419100"/>
          </a:xfrm>
          <a:prstGeom prst="rect">
            <a:avLst/>
          </a:prstGeom>
          <a:solidFill>
            <a:srgbClr val="ECEFF4"/>
          </a:solidFill>
          <a:ln w="0">
            <a:solidFill>
              <a:srgbClr val="ECEFF4"/>
            </a:solidFill>
            <a:prstDash val="solid"/>
          </a:ln>
        </p:spPr>
        <p:txBody>
          <a:bodyPr anchor="ctr"/>
          <a:lstStyle/>
          <a:p>
            <a:pPr algn="l">
              <a:defRPr sz="17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Scope</a:t>
            </a:r>
          </a:p>
        </p:txBody>
      </p:sp>
      <p:sp>
        <p:nvSpPr>
          <p:cNvPr id="10" name="矩形 9"/>
          <p:cNvSpPr>
            <a:spLocks noGrp="1"/>
          </p:cNvSpPr>
          <p:nvPr/>
        </p:nvSpPr>
        <p:spPr>
          <a:xfrm>
            <a:off x="685800" y="2190750"/>
            <a:ext cx="1828800" cy="666750"/>
          </a:xfrm>
          <a:prstGeom prst="rect">
            <a:avLst/>
          </a:prstGeom>
          <a:solidFill>
            <a:srgbClr val="ECEFF4"/>
          </a:solidFill>
          <a:ln w="0">
            <a:solidFill>
              <a:srgbClr val="ECEFF4"/>
            </a:solidFill>
            <a:prstDash val="solid"/>
          </a:ln>
        </p:spPr>
        <p:txBody>
          <a:bodyPr anchor="ctr"/>
          <a:lstStyle/>
          <a:p>
            <a:pPr algn="ctr">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1992–2021</a:t>
            </a:r>
          </a:p>
          <a:p>
            <a:pPr algn="ctr">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valid ISO rows</a:t>
            </a:r>
          </a:p>
        </p:txBody>
      </p:sp>
      <p:sp>
        <p:nvSpPr>
          <p:cNvPr id="11" name="圆角矩形 10"/>
          <p:cNvSpPr>
            <a:spLocks noGrp="1"/>
          </p:cNvSpPr>
          <p:nvPr/>
        </p:nvSpPr>
        <p:spPr>
          <a:xfrm>
            <a:off x="3314700" y="1524000"/>
            <a:ext cx="2247900" cy="1562100"/>
          </a:xfrm>
          <a:prstGeom prst="roundRect">
            <a:avLst>
              <a:gd name="adj" fmla="val 4878"/>
            </a:avLst>
          </a:prstGeom>
          <a:solidFill>
            <a:srgbClr val="F6F2E4"/>
          </a:solidFill>
          <a:ln w="19050">
            <a:solidFill>
              <a:srgbClr val="8A6E42"/>
            </a:solidFill>
            <a:prstDash val="solid"/>
          </a:ln>
        </p:spPr>
        <p:txBody>
          <a:bodyPr/>
          <a:p>
            <a:pPr>
              <a:defRPr>
                <a:latin typeface="Times New Roman"/>
              </a:defRPr>
            </a:pPr>
          </a:p>
        </p:txBody>
      </p:sp>
      <p:sp>
        <p:nvSpPr>
          <p:cNvPr id="12" name="椭圆 11"/>
          <p:cNvSpPr>
            <a:spLocks noGrp="1"/>
          </p:cNvSpPr>
          <p:nvPr/>
        </p:nvSpPr>
        <p:spPr>
          <a:xfrm>
            <a:off x="3467100" y="1676400"/>
            <a:ext cx="428625" cy="381000"/>
          </a:xfrm>
          <a:prstGeom prst="ellipse">
            <a:avLst/>
          </a:prstGeom>
          <a:solidFill>
            <a:srgbClr val="8A6E42"/>
          </a:solidFill>
          <a:ln w="0">
            <a:solidFill>
              <a:srgbClr val="8A6E42"/>
            </a:solidFill>
            <a:prstDash val="solid"/>
          </a:ln>
        </p:spPr>
        <p:txBody>
          <a:bodyPr anchor="ctr"/>
          <a:lstStyle/>
          <a:p>
            <a:pPr algn="ctr">
              <a:defRPr sz="1125"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2</a:t>
            </a:r>
          </a:p>
        </p:txBody>
      </p:sp>
      <p:sp>
        <p:nvSpPr>
          <p:cNvPr id="13" name="矩形 12"/>
          <p:cNvSpPr>
            <a:spLocks noGrp="1"/>
          </p:cNvSpPr>
          <p:nvPr/>
        </p:nvSpPr>
        <p:spPr>
          <a:xfrm>
            <a:off x="3981450" y="1657350"/>
            <a:ext cx="1381125" cy="419100"/>
          </a:xfrm>
          <a:prstGeom prst="rect">
            <a:avLst/>
          </a:prstGeom>
          <a:solidFill>
            <a:srgbClr val="F6F2E4"/>
          </a:solidFill>
          <a:ln w="0">
            <a:solidFill>
              <a:srgbClr val="F6F2E4"/>
            </a:solidFill>
            <a:prstDash val="solid"/>
          </a:ln>
        </p:spPr>
        <p:txBody>
          <a:bodyPr anchor="ctr"/>
          <a:lstStyle/>
          <a:p>
            <a:pPr algn="l">
              <a:defRPr sz="17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Harmonise</a:t>
            </a:r>
          </a:p>
        </p:txBody>
      </p:sp>
      <p:sp>
        <p:nvSpPr>
          <p:cNvPr id="14" name="矩形 13"/>
          <p:cNvSpPr>
            <a:spLocks noGrp="1"/>
          </p:cNvSpPr>
          <p:nvPr/>
        </p:nvSpPr>
        <p:spPr>
          <a:xfrm>
            <a:off x="3524250" y="2190750"/>
            <a:ext cx="1828800" cy="666750"/>
          </a:xfrm>
          <a:prstGeom prst="rect">
            <a:avLst/>
          </a:prstGeom>
          <a:solidFill>
            <a:srgbClr val="F6F2E4"/>
          </a:solidFill>
          <a:ln w="0">
            <a:solidFill>
              <a:srgbClr val="F6F2E4"/>
            </a:solidFill>
            <a:prstDash val="solid"/>
          </a:ln>
        </p:spPr>
        <p:txBody>
          <a:bodyPr anchor="ctr"/>
          <a:lstStyle/>
          <a:p>
            <a:pPr algn="ctr">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ISO-3 + year</a:t>
            </a:r>
          </a:p>
          <a:p>
            <a:pPr algn="ctr">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units + names</a:t>
            </a:r>
          </a:p>
        </p:txBody>
      </p:sp>
      <p:sp>
        <p:nvSpPr>
          <p:cNvPr id="15" name="圆角矩形 14"/>
          <p:cNvSpPr>
            <a:spLocks noGrp="1"/>
          </p:cNvSpPr>
          <p:nvPr/>
        </p:nvSpPr>
        <p:spPr>
          <a:xfrm>
            <a:off x="6153150" y="1524000"/>
            <a:ext cx="2247900" cy="1562100"/>
          </a:xfrm>
          <a:prstGeom prst="roundRect">
            <a:avLst>
              <a:gd name="adj" fmla="val 4878"/>
            </a:avLst>
          </a:prstGeom>
          <a:solidFill>
            <a:srgbClr val="F7F1EA"/>
          </a:solidFill>
          <a:ln w="19050">
            <a:solidFill>
              <a:srgbClr val="BE7F4E"/>
            </a:solidFill>
            <a:prstDash val="solid"/>
          </a:ln>
        </p:spPr>
        <p:txBody>
          <a:bodyPr/>
          <a:p>
            <a:pPr>
              <a:defRPr>
                <a:latin typeface="Times New Roman"/>
              </a:defRPr>
            </a:pPr>
          </a:p>
        </p:txBody>
      </p:sp>
      <p:sp>
        <p:nvSpPr>
          <p:cNvPr id="16" name="椭圆 15"/>
          <p:cNvSpPr>
            <a:spLocks noGrp="1"/>
          </p:cNvSpPr>
          <p:nvPr/>
        </p:nvSpPr>
        <p:spPr>
          <a:xfrm>
            <a:off x="6305550" y="1676400"/>
            <a:ext cx="428625" cy="381000"/>
          </a:xfrm>
          <a:prstGeom prst="ellipse">
            <a:avLst/>
          </a:prstGeom>
          <a:solidFill>
            <a:srgbClr val="BE7F4E"/>
          </a:solidFill>
          <a:ln w="0">
            <a:solidFill>
              <a:srgbClr val="BE7F4E"/>
            </a:solidFill>
            <a:prstDash val="solid"/>
          </a:ln>
        </p:spPr>
        <p:txBody>
          <a:bodyPr anchor="ctr"/>
          <a:lstStyle/>
          <a:p>
            <a:pPr algn="ctr">
              <a:defRPr sz="1125"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3</a:t>
            </a:r>
          </a:p>
        </p:txBody>
      </p:sp>
      <p:sp>
        <p:nvSpPr>
          <p:cNvPr id="17" name="矩形 16"/>
          <p:cNvSpPr>
            <a:spLocks noGrp="1"/>
          </p:cNvSpPr>
          <p:nvPr/>
        </p:nvSpPr>
        <p:spPr>
          <a:xfrm>
            <a:off x="6819900" y="1657350"/>
            <a:ext cx="1381125" cy="419100"/>
          </a:xfrm>
          <a:prstGeom prst="rect">
            <a:avLst/>
          </a:prstGeom>
          <a:solidFill>
            <a:srgbClr val="F7F1EA"/>
          </a:solidFill>
          <a:ln w="0">
            <a:solidFill>
              <a:srgbClr val="F7F1EA"/>
            </a:solidFill>
            <a:prstDash val="solid"/>
          </a:ln>
        </p:spPr>
        <p:txBody>
          <a:bodyPr anchor="ctr"/>
          <a:lstStyle/>
          <a:p>
            <a:pPr algn="l">
              <a:defRPr sz="17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Left join</a:t>
            </a:r>
          </a:p>
        </p:txBody>
      </p:sp>
      <p:sp>
        <p:nvSpPr>
          <p:cNvPr id="18" name="矩形 17"/>
          <p:cNvSpPr>
            <a:spLocks noGrp="1"/>
          </p:cNvSpPr>
          <p:nvPr/>
        </p:nvSpPr>
        <p:spPr>
          <a:xfrm>
            <a:off x="6362700" y="2190750"/>
            <a:ext cx="1828800" cy="666750"/>
          </a:xfrm>
          <a:prstGeom prst="rect">
            <a:avLst/>
          </a:prstGeom>
          <a:solidFill>
            <a:srgbClr val="F7F1EA"/>
          </a:solidFill>
          <a:ln w="0">
            <a:solidFill>
              <a:srgbClr val="F7F1EA"/>
            </a:solidFill>
            <a:prstDash val="solid"/>
          </a:ln>
        </p:spPr>
        <p:txBody>
          <a:bodyPr anchor="ctr"/>
          <a:lstStyle/>
          <a:p>
            <a:pPr algn="ctr">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OWID → GCB</a:t>
            </a:r>
          </a:p>
          <a:p>
            <a:pPr algn="ctr">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fuel-only fill</a:t>
            </a:r>
          </a:p>
        </p:txBody>
      </p:sp>
      <p:sp>
        <p:nvSpPr>
          <p:cNvPr id="19" name="圆角矩形 18"/>
          <p:cNvSpPr>
            <a:spLocks noGrp="1"/>
          </p:cNvSpPr>
          <p:nvPr/>
        </p:nvSpPr>
        <p:spPr>
          <a:xfrm>
            <a:off x="8991600" y="1524000"/>
            <a:ext cx="2247900" cy="1562100"/>
          </a:xfrm>
          <a:prstGeom prst="roundRect">
            <a:avLst>
              <a:gd name="adj" fmla="val 4878"/>
            </a:avLst>
          </a:prstGeom>
          <a:solidFill>
            <a:srgbClr val="EEF4EC"/>
          </a:solidFill>
          <a:ln w="19050">
            <a:solidFill>
              <a:srgbClr val="6E8C74"/>
            </a:solidFill>
            <a:prstDash val="solid"/>
          </a:ln>
        </p:spPr>
        <p:txBody>
          <a:bodyPr/>
          <a:p>
            <a:pPr>
              <a:defRPr>
                <a:latin typeface="Times New Roman"/>
              </a:defRPr>
            </a:pPr>
          </a:p>
        </p:txBody>
      </p:sp>
      <p:sp>
        <p:nvSpPr>
          <p:cNvPr id="20" name="椭圆 19"/>
          <p:cNvSpPr>
            <a:spLocks noGrp="1"/>
          </p:cNvSpPr>
          <p:nvPr/>
        </p:nvSpPr>
        <p:spPr>
          <a:xfrm>
            <a:off x="9144000" y="1676400"/>
            <a:ext cx="428625" cy="381000"/>
          </a:xfrm>
          <a:prstGeom prst="ellipse">
            <a:avLst/>
          </a:prstGeom>
          <a:solidFill>
            <a:srgbClr val="6E8C74"/>
          </a:solidFill>
          <a:ln w="0">
            <a:solidFill>
              <a:srgbClr val="6E8C74"/>
            </a:solidFill>
            <a:prstDash val="solid"/>
          </a:ln>
        </p:spPr>
        <p:txBody>
          <a:bodyPr anchor="ctr"/>
          <a:lstStyle/>
          <a:p>
            <a:pPr algn="ctr">
              <a:defRPr sz="1125"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4</a:t>
            </a:r>
          </a:p>
        </p:txBody>
      </p:sp>
      <p:sp>
        <p:nvSpPr>
          <p:cNvPr id="21" name="矩形 20"/>
          <p:cNvSpPr>
            <a:spLocks noGrp="1"/>
          </p:cNvSpPr>
          <p:nvPr/>
        </p:nvSpPr>
        <p:spPr>
          <a:xfrm>
            <a:off x="9658350" y="1657350"/>
            <a:ext cx="1381125" cy="419100"/>
          </a:xfrm>
          <a:prstGeom prst="rect">
            <a:avLst/>
          </a:prstGeom>
          <a:solidFill>
            <a:srgbClr val="EEF4EC"/>
          </a:solidFill>
          <a:ln w="0">
            <a:solidFill>
              <a:srgbClr val="EEF4EC"/>
            </a:solidFill>
            <a:prstDash val="solid"/>
          </a:ln>
        </p:spPr>
        <p:txBody>
          <a:bodyPr anchor="ctr"/>
          <a:lstStyle/>
          <a:p>
            <a:pPr algn="l">
              <a:defRPr sz="17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Condition</a:t>
            </a:r>
          </a:p>
        </p:txBody>
      </p:sp>
      <p:sp>
        <p:nvSpPr>
          <p:cNvPr id="22" name="矩形 21"/>
          <p:cNvSpPr>
            <a:spLocks noGrp="1"/>
          </p:cNvSpPr>
          <p:nvPr/>
        </p:nvSpPr>
        <p:spPr>
          <a:xfrm>
            <a:off x="9201150" y="2190750"/>
            <a:ext cx="1828800" cy="666750"/>
          </a:xfrm>
          <a:prstGeom prst="rect">
            <a:avLst/>
          </a:prstGeom>
          <a:solidFill>
            <a:srgbClr val="EEF4EC"/>
          </a:solidFill>
          <a:ln w="0">
            <a:solidFill>
              <a:srgbClr val="EEF4EC"/>
            </a:solidFill>
            <a:prstDash val="solid"/>
          </a:ln>
        </p:spPr>
        <p:txBody>
          <a:bodyPr anchor="ctr"/>
          <a:lstStyle/>
          <a:p>
            <a:pPr algn="ctr">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core + growth</a:t>
            </a:r>
          </a:p>
          <a:p>
            <a:pPr algn="ctr">
              <a:defRPr sz="1275"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shares + flags</a:t>
            </a:r>
          </a:p>
        </p:txBody>
      </p:sp>
      <p:cxnSp>
        <p:nvCxnSpPr>
          <p:cNvPr id="63" name="直接箭头连接符 62"/>
          <p:cNvCxnSpPr>
            <a:stCxn id="7" idx="3"/>
            <a:endCxn id="11" idx="1"/>
          </p:cNvCxnSpPr>
          <p:nvPr/>
        </p:nvCxnSpPr>
        <p:spPr>
          <a:xfrm>
            <a:off x="2724150" y="2305050"/>
            <a:ext cx="590550" cy="0"/>
          </a:xfrm>
          <a:prstGeom prst="straightConnector1">
            <a:avLst/>
          </a:prstGeom>
          <a:ln w="23813">
            <a:solidFill>
              <a:srgbClr val="2F5248"/>
            </a:solidFill>
            <a:prstDash val="solid"/>
            <a:tailEnd type="arrow" w="med" len="med"/>
          </a:ln>
        </p:spPr>
      </p:cxnSp>
      <p:cxnSp>
        <p:nvCxnSpPr>
          <p:cNvPr id="64" name="直接箭头连接符 63"/>
          <p:cNvCxnSpPr>
            <a:stCxn id="11" idx="3"/>
            <a:endCxn id="15" idx="1"/>
          </p:cNvCxnSpPr>
          <p:nvPr/>
        </p:nvCxnSpPr>
        <p:spPr>
          <a:xfrm>
            <a:off x="5562600" y="2305050"/>
            <a:ext cx="590550" cy="0"/>
          </a:xfrm>
          <a:prstGeom prst="straightConnector1">
            <a:avLst/>
          </a:prstGeom>
          <a:ln w="23813">
            <a:solidFill>
              <a:srgbClr val="2F5248"/>
            </a:solidFill>
            <a:prstDash val="solid"/>
            <a:tailEnd type="arrow" w="med" len="med"/>
          </a:ln>
        </p:spPr>
      </p:cxnSp>
      <p:cxnSp>
        <p:nvCxnSpPr>
          <p:cNvPr id="65" name="直接箭头连接符 64"/>
          <p:cNvCxnSpPr>
            <a:stCxn id="15" idx="3"/>
            <a:endCxn id="19" idx="1"/>
          </p:cNvCxnSpPr>
          <p:nvPr/>
        </p:nvCxnSpPr>
        <p:spPr>
          <a:xfrm>
            <a:off x="8401050" y="2305050"/>
            <a:ext cx="590550" cy="0"/>
          </a:xfrm>
          <a:prstGeom prst="straightConnector1">
            <a:avLst/>
          </a:prstGeom>
          <a:ln w="23813">
            <a:solidFill>
              <a:srgbClr val="2F5248"/>
            </a:solidFill>
            <a:prstDash val="solid"/>
            <a:tailEnd type="arrow" w="med" len="med"/>
          </a:ln>
        </p:spPr>
      </p:cxnSp>
      <p:sp>
        <p:nvSpPr>
          <p:cNvPr id="26" name="矩形 25"/>
          <p:cNvSpPr>
            <a:spLocks noGrp="1"/>
          </p:cNvSpPr>
          <p:nvPr/>
        </p:nvSpPr>
        <p:spPr>
          <a:xfrm>
            <a:off x="476250" y="3133725"/>
            <a:ext cx="10763250" cy="228600"/>
          </a:xfrm>
          <a:prstGeom prst="rect">
            <a:avLst/>
          </a:prstGeom>
          <a:solidFill>
            <a:srgbClr val="FFFFFF"/>
          </a:solidFill>
          <a:ln w="0">
            <a:solidFill>
              <a:srgbClr val="FFFFFF"/>
            </a:solidFill>
            <a:prstDash val="solid"/>
          </a:ln>
        </p:spPr>
        <p:txBody>
          <a:bodyPr anchor="ctr"/>
          <a:lstStyle/>
          <a:p>
            <a:pPr algn="ctr">
              <a:defRPr sz="1000" b="1"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Final checks: unique country-year keys · consistent units · traceable source fields</a:t>
            </a:r>
          </a:p>
        </p:txBody>
      </p:sp>
      <p:sp>
        <p:nvSpPr>
          <p:cNvPr id="27" name="矩形 26"/>
          <p:cNvSpPr>
            <a:spLocks noGrp="1"/>
          </p:cNvSpPr>
          <p:nvPr/>
        </p:nvSpPr>
        <p:spPr>
          <a:xfrm>
            <a:off x="466725" y="3448050"/>
            <a:ext cx="2038350" cy="495300"/>
          </a:xfrm>
          <a:prstGeom prst="rect">
            <a:avLst/>
          </a:prstGeom>
          <a:solidFill>
            <a:srgbClr val="FFFFFF"/>
          </a:solidFill>
          <a:ln w="9525">
            <a:solidFill>
              <a:srgbClr val="D5DED6"/>
            </a:solidFill>
            <a:prstDash val="solid"/>
          </a:ln>
        </p:spPr>
        <p:txBody>
          <a:bodyPr anchor="ctr"/>
          <a:lstStyle/>
          <a:p>
            <a:pPr algn="ctr">
              <a:defRPr sz="21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6,378</a:t>
            </a:r>
          </a:p>
        </p:txBody>
      </p:sp>
      <p:sp>
        <p:nvSpPr>
          <p:cNvPr id="28" name="矩形 27"/>
          <p:cNvSpPr>
            <a:spLocks noGrp="1"/>
          </p:cNvSpPr>
          <p:nvPr/>
        </p:nvSpPr>
        <p:spPr>
          <a:xfrm>
            <a:off x="466725" y="3943350"/>
            <a:ext cx="2038350" cy="304800"/>
          </a:xfrm>
          <a:prstGeom prst="rect">
            <a:avLst/>
          </a:prstGeom>
          <a:solidFill>
            <a:srgbClr val="FFFFFF"/>
          </a:solidFill>
          <a:ln w="9525">
            <a:solidFill>
              <a:srgbClr val="D5DED6"/>
            </a:solidFill>
            <a:prstDash val="solid"/>
          </a:ln>
        </p:spPr>
        <p:txBody>
          <a:bodyPr anchor="ctr"/>
          <a:lstStyle/>
          <a:p>
            <a:pPr algn="ctr">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country-year rows</a:t>
            </a:r>
          </a:p>
        </p:txBody>
      </p:sp>
      <p:sp>
        <p:nvSpPr>
          <p:cNvPr id="29" name="矩形 28"/>
          <p:cNvSpPr>
            <a:spLocks noGrp="1"/>
          </p:cNvSpPr>
          <p:nvPr/>
        </p:nvSpPr>
        <p:spPr>
          <a:xfrm>
            <a:off x="2733675" y="3448050"/>
            <a:ext cx="2038350" cy="495300"/>
          </a:xfrm>
          <a:prstGeom prst="rect">
            <a:avLst/>
          </a:prstGeom>
          <a:solidFill>
            <a:srgbClr val="FFFFFF"/>
          </a:solidFill>
          <a:ln w="9525">
            <a:solidFill>
              <a:srgbClr val="D5DED6"/>
            </a:solidFill>
            <a:prstDash val="solid"/>
          </a:ln>
        </p:spPr>
        <p:txBody>
          <a:bodyPr anchor="ctr"/>
          <a:lstStyle/>
          <a:p>
            <a:pPr algn="ctr">
              <a:defRPr sz="21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213</a:t>
            </a:r>
          </a:p>
        </p:txBody>
      </p:sp>
      <p:sp>
        <p:nvSpPr>
          <p:cNvPr id="30" name="矩形 29"/>
          <p:cNvSpPr>
            <a:spLocks noGrp="1"/>
          </p:cNvSpPr>
          <p:nvPr/>
        </p:nvSpPr>
        <p:spPr>
          <a:xfrm>
            <a:off x="2733675" y="3943350"/>
            <a:ext cx="2038350" cy="304800"/>
          </a:xfrm>
          <a:prstGeom prst="rect">
            <a:avLst/>
          </a:prstGeom>
          <a:solidFill>
            <a:srgbClr val="FFFFFF"/>
          </a:solidFill>
          <a:ln w="9525">
            <a:solidFill>
              <a:srgbClr val="D5DED6"/>
            </a:solidFill>
            <a:prstDash val="solid"/>
          </a:ln>
        </p:spPr>
        <p:txBody>
          <a:bodyPr anchor="ctr"/>
          <a:lstStyle/>
          <a:p>
            <a:pPr algn="ctr">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ISO entities</a:t>
            </a:r>
          </a:p>
        </p:txBody>
      </p:sp>
      <p:sp>
        <p:nvSpPr>
          <p:cNvPr id="31" name="矩形 30"/>
          <p:cNvSpPr>
            <a:spLocks noGrp="1"/>
          </p:cNvSpPr>
          <p:nvPr/>
        </p:nvSpPr>
        <p:spPr>
          <a:xfrm>
            <a:off x="5000625" y="3448050"/>
            <a:ext cx="2038350" cy="495300"/>
          </a:xfrm>
          <a:prstGeom prst="rect">
            <a:avLst/>
          </a:prstGeom>
          <a:solidFill>
            <a:srgbClr val="FFFFFF"/>
          </a:solidFill>
          <a:ln w="9525">
            <a:solidFill>
              <a:srgbClr val="D5DED6"/>
            </a:solidFill>
            <a:prstDash val="solid"/>
          </a:ln>
        </p:spPr>
        <p:txBody>
          <a:bodyPr anchor="ctr"/>
          <a:lstStyle/>
          <a:p>
            <a:pPr algn="ctr">
              <a:defRPr sz="21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30</a:t>
            </a:r>
          </a:p>
        </p:txBody>
      </p:sp>
      <p:sp>
        <p:nvSpPr>
          <p:cNvPr id="32" name="矩形 31"/>
          <p:cNvSpPr>
            <a:spLocks noGrp="1"/>
          </p:cNvSpPr>
          <p:nvPr/>
        </p:nvSpPr>
        <p:spPr>
          <a:xfrm>
            <a:off x="5000625" y="3943350"/>
            <a:ext cx="2038350" cy="304800"/>
          </a:xfrm>
          <a:prstGeom prst="rect">
            <a:avLst/>
          </a:prstGeom>
          <a:solidFill>
            <a:srgbClr val="FFFFFF"/>
          </a:solidFill>
          <a:ln w="9525">
            <a:solidFill>
              <a:srgbClr val="D5DED6"/>
            </a:solidFill>
            <a:prstDash val="solid"/>
          </a:ln>
        </p:spPr>
        <p:txBody>
          <a:bodyPr anchor="ctr"/>
          <a:lstStyle/>
          <a:p>
            <a:pPr algn="ctr">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years</a:t>
            </a:r>
          </a:p>
        </p:txBody>
      </p:sp>
      <p:sp>
        <p:nvSpPr>
          <p:cNvPr id="33" name="矩形 32"/>
          <p:cNvSpPr>
            <a:spLocks noGrp="1"/>
          </p:cNvSpPr>
          <p:nvPr/>
        </p:nvSpPr>
        <p:spPr>
          <a:xfrm>
            <a:off x="7267575" y="3448050"/>
            <a:ext cx="2038350" cy="495300"/>
          </a:xfrm>
          <a:prstGeom prst="rect">
            <a:avLst/>
          </a:prstGeom>
          <a:solidFill>
            <a:srgbClr val="FFFFFF"/>
          </a:solidFill>
          <a:ln w="9525">
            <a:solidFill>
              <a:srgbClr val="D5DED6"/>
            </a:solidFill>
            <a:prstDash val="solid"/>
          </a:ln>
        </p:spPr>
        <p:txBody>
          <a:bodyPr anchor="ctr"/>
          <a:lstStyle/>
          <a:p>
            <a:pPr algn="ctr">
              <a:defRPr sz="21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22</a:t>
            </a:r>
          </a:p>
        </p:txBody>
      </p:sp>
      <p:sp>
        <p:nvSpPr>
          <p:cNvPr id="34" name="矩形 33"/>
          <p:cNvSpPr>
            <a:spLocks noGrp="1"/>
          </p:cNvSpPr>
          <p:nvPr/>
        </p:nvSpPr>
        <p:spPr>
          <a:xfrm>
            <a:off x="7267575" y="3943350"/>
            <a:ext cx="2038350" cy="304800"/>
          </a:xfrm>
          <a:prstGeom prst="rect">
            <a:avLst/>
          </a:prstGeom>
          <a:solidFill>
            <a:srgbClr val="FFFFFF"/>
          </a:solidFill>
          <a:ln w="9525">
            <a:solidFill>
              <a:srgbClr val="D5DED6"/>
            </a:solidFill>
            <a:prstDash val="solid"/>
          </a:ln>
        </p:spPr>
        <p:txBody>
          <a:bodyPr anchor="ctr"/>
          <a:lstStyle/>
          <a:p>
            <a:pPr algn="ctr">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fields</a:t>
            </a:r>
          </a:p>
        </p:txBody>
      </p:sp>
      <p:sp>
        <p:nvSpPr>
          <p:cNvPr id="35" name="矩形 34"/>
          <p:cNvSpPr>
            <a:spLocks noGrp="1"/>
          </p:cNvSpPr>
          <p:nvPr/>
        </p:nvSpPr>
        <p:spPr>
          <a:xfrm>
            <a:off x="9534525" y="3448050"/>
            <a:ext cx="2038350" cy="495300"/>
          </a:xfrm>
          <a:prstGeom prst="rect">
            <a:avLst/>
          </a:prstGeom>
          <a:solidFill>
            <a:srgbClr val="FFFFFF"/>
          </a:solidFill>
          <a:ln w="9525">
            <a:solidFill>
              <a:srgbClr val="D5DED6"/>
            </a:solidFill>
            <a:prstDash val="solid"/>
          </a:ln>
        </p:spPr>
        <p:txBody>
          <a:bodyPr anchor="ctr"/>
          <a:lstStyle/>
          <a:p>
            <a:pPr algn="ctr">
              <a:defRPr sz="2100" b="1" i="0">
                <a:solidFill>
                  <a:srgbClr val="ED7D31"/>
                </a:solidFill>
                <a:latin typeface="Times New Roman" panose="020B0604020202020204"/>
                <a:ea typeface="Times New Roman" panose="020B0604020202020204"/>
                <a:cs typeface="Times New Roman" panose="020B0604020202020204"/>
              </a:defRPr>
            </a:pPr>
            <a:r>
              <a:rPr>
                <a:solidFill/>
                <a:latin typeface="Times New Roman"/>
              </a:rPr>
              <a:t>50.8%</a:t>
            </a:r>
          </a:p>
        </p:txBody>
      </p:sp>
      <p:sp>
        <p:nvSpPr>
          <p:cNvPr id="36" name="矩形 35"/>
          <p:cNvSpPr>
            <a:spLocks noGrp="1"/>
          </p:cNvSpPr>
          <p:nvPr/>
        </p:nvSpPr>
        <p:spPr>
          <a:xfrm>
            <a:off x="9534525" y="3943350"/>
            <a:ext cx="2038350" cy="304800"/>
          </a:xfrm>
          <a:prstGeom prst="rect">
            <a:avLst/>
          </a:prstGeom>
          <a:solidFill>
            <a:srgbClr val="FFFFFF"/>
          </a:solidFill>
          <a:ln w="9525">
            <a:solidFill>
              <a:srgbClr val="D5DED6"/>
            </a:solidFill>
            <a:prstDash val="solid"/>
          </a:ln>
        </p:spPr>
        <p:txBody>
          <a:bodyPr anchor="ctr"/>
          <a:lstStyle/>
          <a:p>
            <a:pPr algn="ctr">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rows supplemented</a:t>
            </a:r>
          </a:p>
        </p:txBody>
      </p:sp>
      <p:sp>
        <p:nvSpPr>
          <p:cNvPr id="37" name="圆角矩形 36"/>
          <p:cNvSpPr>
            <a:spLocks noGrp="1"/>
          </p:cNvSpPr>
          <p:nvPr/>
        </p:nvSpPr>
        <p:spPr>
          <a:xfrm>
            <a:off x="476250" y="4572000"/>
            <a:ext cx="5314950" cy="971550"/>
          </a:xfrm>
          <a:prstGeom prst="roundRect">
            <a:avLst>
              <a:gd name="adj" fmla="val 7843"/>
            </a:avLst>
          </a:prstGeom>
          <a:solidFill>
            <a:srgbClr val="ECEFF4"/>
          </a:solidFill>
          <a:ln w="13335">
            <a:solidFill>
              <a:srgbClr val="4F6E96"/>
            </a:solidFill>
            <a:prstDash val="solid"/>
          </a:ln>
        </p:spPr>
        <p:txBody>
          <a:bodyPr/>
          <a:p>
            <a:pPr>
              <a:defRPr>
                <a:latin typeface="Times New Roman"/>
              </a:defRPr>
            </a:pPr>
          </a:p>
        </p:txBody>
      </p:sp>
      <p:sp>
        <p:nvSpPr>
          <p:cNvPr id="38" name="矩形 37"/>
          <p:cNvSpPr>
            <a:spLocks noGrp="1"/>
          </p:cNvSpPr>
          <p:nvPr/>
        </p:nvSpPr>
        <p:spPr>
          <a:xfrm>
            <a:off x="666750" y="4695825"/>
            <a:ext cx="1428750" cy="266700"/>
          </a:xfrm>
          <a:prstGeom prst="rect">
            <a:avLst/>
          </a:prstGeom>
          <a:solidFill>
            <a:srgbClr val="ECEFF4"/>
          </a:solidFill>
          <a:ln w="0">
            <a:solidFill>
              <a:srgbClr val="ECEFF4"/>
            </a:solidFill>
            <a:prstDash val="solid"/>
          </a:ln>
        </p:spPr>
        <p:txBody>
          <a:bodyPr anchor="ctr"/>
          <a:lstStyle/>
          <a:p>
            <a:pPr algn="l">
              <a:defRPr sz="10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STRENGTH</a:t>
            </a:r>
          </a:p>
        </p:txBody>
      </p:sp>
      <p:sp>
        <p:nvSpPr>
          <p:cNvPr id="39" name="矩形 38"/>
          <p:cNvSpPr>
            <a:spLocks noGrp="1"/>
          </p:cNvSpPr>
          <p:nvPr/>
        </p:nvSpPr>
        <p:spPr>
          <a:xfrm>
            <a:off x="666750" y="4991100"/>
            <a:ext cx="4905375" cy="400050"/>
          </a:xfrm>
          <a:prstGeom prst="rect">
            <a:avLst/>
          </a:prstGeom>
          <a:solidFill>
            <a:srgbClr val="ECEFF4"/>
          </a:solidFill>
          <a:ln w="0">
            <a:solidFill>
              <a:srgbClr val="ECEFF4"/>
            </a:solidFill>
            <a:prstDash val="solid"/>
          </a:ln>
        </p:spPr>
        <p:txBody>
          <a:bodyPr anchor="ctr"/>
          <a:lstStyle/>
          <a:p>
            <a:pPr algn="l">
              <a:defRPr sz="127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Traceable row retention and field-level supplementation</a:t>
            </a:r>
          </a:p>
        </p:txBody>
      </p:sp>
      <p:sp>
        <p:nvSpPr>
          <p:cNvPr id="40" name="圆角矩形 39"/>
          <p:cNvSpPr>
            <a:spLocks noGrp="1"/>
          </p:cNvSpPr>
          <p:nvPr/>
        </p:nvSpPr>
        <p:spPr>
          <a:xfrm>
            <a:off x="5981700" y="4572000"/>
            <a:ext cx="5257800" cy="971550"/>
          </a:xfrm>
          <a:prstGeom prst="roundRect">
            <a:avLst>
              <a:gd name="adj" fmla="val 7843"/>
            </a:avLst>
          </a:prstGeom>
          <a:solidFill>
            <a:srgbClr val="F6F2E4"/>
          </a:solidFill>
          <a:ln w="13335">
            <a:solidFill>
              <a:srgbClr val="A98A52"/>
            </a:solidFill>
            <a:prstDash val="solid"/>
          </a:ln>
        </p:spPr>
        <p:txBody>
          <a:bodyPr/>
          <a:p>
            <a:pPr>
              <a:defRPr>
                <a:latin typeface="Times New Roman"/>
              </a:defRPr>
            </a:pPr>
          </a:p>
        </p:txBody>
      </p:sp>
      <p:sp>
        <p:nvSpPr>
          <p:cNvPr id="41" name="矩形 40"/>
          <p:cNvSpPr>
            <a:spLocks noGrp="1"/>
          </p:cNvSpPr>
          <p:nvPr/>
        </p:nvSpPr>
        <p:spPr>
          <a:xfrm>
            <a:off x="6172200" y="4695825"/>
            <a:ext cx="1428750" cy="266700"/>
          </a:xfrm>
          <a:prstGeom prst="rect">
            <a:avLst/>
          </a:prstGeom>
          <a:solidFill>
            <a:srgbClr val="F6F2E4"/>
          </a:solidFill>
          <a:ln w="0">
            <a:solidFill>
              <a:srgbClr val="F6F2E4"/>
            </a:solidFill>
            <a:prstDash val="solid"/>
          </a:ln>
        </p:spPr>
        <p:txBody>
          <a:bodyPr anchor="ctr"/>
          <a:lstStyle/>
          <a:p>
            <a:pPr algn="l">
              <a:defRPr sz="1000" b="1" i="0">
                <a:solidFill>
                  <a:srgbClr val="825E00"/>
                </a:solidFill>
                <a:latin typeface="Times New Roman" panose="020B0604020202020204"/>
                <a:ea typeface="Times New Roman" panose="020B0604020202020204"/>
                <a:cs typeface="Times New Roman" panose="020B0604020202020204"/>
              </a:defRPr>
            </a:pPr>
            <a:r>
              <a:rPr>
                <a:solidFill/>
                <a:latin typeface="Times New Roman"/>
              </a:rPr>
              <a:t>LIMITATION</a:t>
            </a:r>
          </a:p>
        </p:txBody>
      </p:sp>
      <p:sp>
        <p:nvSpPr>
          <p:cNvPr id="42" name="矩形 41"/>
          <p:cNvSpPr>
            <a:spLocks noGrp="1"/>
          </p:cNvSpPr>
          <p:nvPr/>
        </p:nvSpPr>
        <p:spPr>
          <a:xfrm>
            <a:off x="6172200" y="4991100"/>
            <a:ext cx="4857750" cy="400050"/>
          </a:xfrm>
          <a:prstGeom prst="rect">
            <a:avLst/>
          </a:prstGeom>
          <a:solidFill>
            <a:srgbClr val="F6F2E4"/>
          </a:solidFill>
          <a:ln w="0">
            <a:solidFill>
              <a:srgbClr val="F6F2E4"/>
            </a:solidFill>
            <a:prstDash val="solid"/>
          </a:ln>
        </p:spPr>
        <p:txBody>
          <a:bodyPr anchor="ctr"/>
          <a:lstStyle/>
          <a:p>
            <a:pPr algn="l">
              <a:defRPr sz="127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Unbalanced country panel; coverage varies across small entities</a:t>
            </a:r>
          </a:p>
        </p:txBody>
      </p:sp>
      <p:sp>
        <p:nvSpPr>
          <p:cNvPr id="68" name="Rectangle 67"/>
          <p:cNvSpPr/>
          <p:nvPr/>
        </p:nvSpPr>
        <p:spPr>
          <a:xfrm>
            <a:off x="0" y="0"/>
            <a:ext cx="12192000" cy="841248"/>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9" name="Rectangle 68"/>
          <p:cNvSpPr/>
          <p:nvPr/>
        </p:nvSpPr>
        <p:spPr>
          <a:xfrm>
            <a:off x="0" y="841248"/>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0" name="TextBox 69"/>
          <p:cNvSpPr txBox="1"/>
          <p:nvPr/>
        </p:nvSpPr>
        <p:spPr>
          <a:xfrm>
            <a:off x="384048" y="45720"/>
            <a:ext cx="9966960" cy="749808"/>
          </a:xfrm>
          <a:prstGeom prst="rect">
            <a:avLst/>
          </a:prstGeom>
          <a:noFill/>
          <a:ln>
            <a:noFill/>
          </a:ln>
          <a:effectLst/>
        </p:spPr>
        <p:txBody>
          <a:bodyPr wrap="square" anchor="ctr" lIns="0" tIns="0" bIns="0">
            <a:spAutoFit/>
          </a:bodyPr>
          <a:lstStyle/>
          <a:p>
            <a:pPr algn="l">
              <a:defRPr>
                <a:latin typeface="Times New Roman"/>
              </a:defRPr>
            </a:pPr>
            <a:r>
              <a:rPr sz="1350" b="1">
                <a:solidFill>
                  <a:srgbClr val="D3E3D6"/>
                </a:solidFill>
                <a:latin typeface="Georgia"/>
              </a:rPr>
              <a:t>EXPLORATION OF DATASET:  </a:t>
            </a:r>
            <a:r>
              <a:rPr sz="2000" b="1">
                <a:solidFill>
                  <a:srgbClr val="FFFFFF"/>
                </a:solidFill>
                <a:latin typeface="Georgia"/>
              </a:rPr>
              <a:t>A controlled left join keeps the OWID backbone intact</a:t>
            </a:r>
          </a:p>
        </p:txBody>
      </p:sp>
      <p:sp>
        <p:nvSpPr>
          <p:cNvPr id="71" name="TextBox 70"/>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2 / 7</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24" name="Rectangle 23"/>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Slide Number Placeholder 4"/>
          <p:cNvSpPr>
            <a:spLocks noGrp="1"/>
          </p:cNvSpPr>
          <p:nvPr>
            <p:ph type="sldNum" idx="12"/>
          </p:nvPr>
        </p:nvSpPr>
        <p:spPr>
          <a:xfrm>
            <a:off x="11561522" y="6356350"/>
            <a:ext cx="518786" cy="362485"/>
          </a:xfrm>
          <a:ln/>
        </p:spPr>
        <p:txBody>
          <a:bodyPr/>
          <a:lstStyle/>
          <a:p>
            <a:pPr marL="0" marR="0" lvl="0" indent="0" algn="r" defTabSz="914400">
              <a:lnSpc>
                <a:spcPct val="100000"/>
              </a:lnSpc>
              <a:spcBef>
                <a:spcPts val="0"/>
              </a:spcBef>
              <a:spcAft>
                <a:spcPts val="0"/>
              </a:spcAft>
              <a:buClrTx/>
              <a:buSzTx/>
              <a:buFontTx/>
              <a:buNone/>
              <a:defRPr>
                <a:latin typeface="Times New Roman"/>
              </a:defRPr>
            </a:pPr>
            <a:fld id="{EFD6AB9A-5F9E-5F59-51AB-3C8734130965}"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4" name="TextBox 3"/>
          <p:cNvSpPr>
            <a:spLocks noGrp="1"/>
          </p:cNvSpPr>
          <p:nvPr/>
        </p:nvSpPr>
        <p:spPr>
          <a:xfrm>
            <a:off x="1993900" y="6234075"/>
            <a:ext cx="9194800" cy="533248"/>
          </a:xfrm>
          <a:prstGeom prst="rect">
            <a:avLst/>
          </a:prstGeom>
          <a:noFill/>
          <a:ln/>
        </p:spPr>
        <p:txBody>
          <a:bodyPr wrap="square">
            <a:noAutofit/>
          </a:bodyPr>
          <a:lstStyle/>
          <a:p>
            <a:pPr marL="0" marR="0" lvl="0" indent="0" algn="l" defTabSz="914400">
              <a:lnSpc>
                <a:spcPct val="100000"/>
              </a:lnSpc>
              <a:spcBef>
                <a:spcPts val="0"/>
              </a:spcBef>
              <a:spcAft>
                <a:spcPts val="0"/>
              </a:spcAft>
              <a:buClrTx/>
              <a:buSzTx/>
              <a:buFontTx/>
              <a:buNone/>
              <a:defRPr>
                <a:latin typeface="Times New Roman"/>
              </a:defRPr>
            </a:pPr>
            <a:r>
              <a:rPr sz="1200" b="1" i="0" u="none" cap="none" spc="0">
                <a:ln>
                  <a:noFill/>
                </a:ln>
                <a:solidFill>
                  <a:srgbClr val="25313C"/>
                </a:solidFill>
                <a:latin typeface="Times New Roman" panose="020B0604020202020204"/>
                <a:ea typeface="Times New Roman" panose="020B0604020202020204"/>
                <a:cs typeface="Times New Roman" panose="020B0604020202020204"/>
              </a:rPr>
              <a:t>Responsible: REYIZA RESIBIEKE</a:t>
            </a:r>
            <a:endParaRPr sz="900" b="1" i="0" u="none" cap="none" spc="0">
              <a:ln>
                <a:noFill/>
              </a:ln>
              <a:solidFill>
                <a:srgbClr val="25313C"/>
              </a:solidFill>
              <a:latin typeface="Times New Roman" panose="020B0604020202020204"/>
              <a:ea typeface="Times New Roman" panose="020B0604020202020204"/>
              <a:cs typeface="Times New Roman" panose="020B0604020202020204"/>
            </a:endParaRPr>
          </a:p>
        </p:txBody>
      </p:sp>
      <p:sp>
        <p:nvSpPr>
          <p:cNvPr id="6" name="圆角矩形 5"/>
          <p:cNvSpPr>
            <a:spLocks noGrp="1"/>
          </p:cNvSpPr>
          <p:nvPr/>
        </p:nvSpPr>
        <p:spPr>
          <a:xfrm>
            <a:off x="361950" y="1123950"/>
            <a:ext cx="7915275" cy="4514850"/>
          </a:xfrm>
          <a:prstGeom prst="roundRect">
            <a:avLst>
              <a:gd name="adj" fmla="val 1688"/>
            </a:avLst>
          </a:prstGeom>
          <a:solidFill>
            <a:srgbClr val="FAFBFA"/>
          </a:solidFill>
          <a:ln w="11430">
            <a:solidFill>
              <a:srgbClr val="D5DED6"/>
            </a:solidFill>
            <a:prstDash val="solid"/>
          </a:ln>
        </p:spPr>
        <p:txBody>
          <a:bodyPr/>
          <a:p>
            <a:pPr>
              <a:defRPr>
                <a:latin typeface="Times New Roman"/>
              </a:defRPr>
            </a:pPr>
          </a:p>
        </p:txBody>
      </p:sp>
      <p:pic>
        <p:nvPicPr>
          <p:cNvPr id="22" name="图片 21"/>
          <p:cNvPicPr>
            <a:picLocks noChangeAspect="1"/>
          </p:cNvPicPr>
          <p:nvPr/>
        </p:nvPicPr>
        <p:blipFill>
          <a:blip r:embed="rId2"/>
          <a:stretch>
            <a:fillRect/>
          </a:stretch>
        </p:blipFill>
        <p:spPr>
          <a:xfrm>
            <a:off x="494172" y="1162050"/>
            <a:ext cx="7650831" cy="4438650"/>
          </a:xfrm>
          <a:prstGeom prst="rect">
            <a:avLst/>
          </a:prstGeom>
          <a:ln/>
        </p:spPr>
      </p:pic>
      <p:sp>
        <p:nvSpPr>
          <p:cNvPr id="8" name="矩形 7"/>
          <p:cNvSpPr>
            <a:spLocks noGrp="1"/>
          </p:cNvSpPr>
          <p:nvPr/>
        </p:nvSpPr>
        <p:spPr>
          <a:xfrm>
            <a:off x="8572500" y="1143000"/>
            <a:ext cx="2190750" cy="266700"/>
          </a:xfrm>
          <a:prstGeom prst="rect">
            <a:avLst/>
          </a:prstGeom>
          <a:solidFill>
            <a:srgbClr val="FFFFFF"/>
          </a:solidFill>
          <a:ln w="0">
            <a:solidFill>
              <a:srgbClr val="FFFFFF"/>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1992 → 2021</a:t>
            </a:r>
          </a:p>
        </p:txBody>
      </p:sp>
      <p:sp>
        <p:nvSpPr>
          <p:cNvPr id="9" name="圆角矩形 8"/>
          <p:cNvSpPr>
            <a:spLocks noGrp="1"/>
          </p:cNvSpPr>
          <p:nvPr/>
        </p:nvSpPr>
        <p:spPr>
          <a:xfrm>
            <a:off x="8572500" y="1504950"/>
            <a:ext cx="2609850" cy="1123950"/>
          </a:xfrm>
          <a:prstGeom prst="roundRect">
            <a:avLst>
              <a:gd name="adj" fmla="val 10169"/>
            </a:avLst>
          </a:prstGeom>
          <a:solidFill>
            <a:srgbClr val="ECEFF4"/>
          </a:solidFill>
          <a:ln w="14288">
            <a:solidFill>
              <a:srgbClr val="4F6E96"/>
            </a:solidFill>
            <a:prstDash val="solid"/>
          </a:ln>
        </p:spPr>
        <p:txBody>
          <a:bodyPr/>
          <a:p>
            <a:pPr>
              <a:defRPr>
                <a:latin typeface="Times New Roman"/>
              </a:defRPr>
            </a:pPr>
          </a:p>
        </p:txBody>
      </p:sp>
      <p:sp>
        <p:nvSpPr>
          <p:cNvPr id="10" name="矩形 9"/>
          <p:cNvSpPr>
            <a:spLocks noGrp="1"/>
          </p:cNvSpPr>
          <p:nvPr/>
        </p:nvSpPr>
        <p:spPr>
          <a:xfrm>
            <a:off x="8705850" y="1600200"/>
            <a:ext cx="2343150" cy="514350"/>
          </a:xfrm>
          <a:prstGeom prst="rect">
            <a:avLst/>
          </a:prstGeom>
          <a:solidFill>
            <a:srgbClr val="ECEFF4"/>
          </a:solidFill>
          <a:ln w="0">
            <a:solidFill>
              <a:srgbClr val="ECEFF4"/>
            </a:solidFill>
            <a:prstDash val="solid"/>
          </a:ln>
        </p:spPr>
        <p:txBody>
          <a:bodyPr anchor="ctr"/>
          <a:lstStyle/>
          <a:p>
            <a:pPr algn="l">
              <a:defRPr sz="2550" b="1" i="0">
                <a:solidFill>
                  <a:srgbClr val="4472C4"/>
                </a:solidFill>
                <a:latin typeface="Times New Roman" panose="020B0604020202020204"/>
                <a:ea typeface="Times New Roman" panose="020B0604020202020204"/>
                <a:cs typeface="Times New Roman" panose="020B0604020202020204"/>
              </a:defRPr>
            </a:pPr>
            <a:r>
              <a:rPr>
                <a:solidFill/>
                <a:latin typeface="Times New Roman"/>
              </a:rPr>
              <a:t>+63.8%</a:t>
            </a:r>
          </a:p>
        </p:txBody>
      </p:sp>
      <p:sp>
        <p:nvSpPr>
          <p:cNvPr id="11" name="矩形 10"/>
          <p:cNvSpPr>
            <a:spLocks noGrp="1"/>
          </p:cNvSpPr>
          <p:nvPr/>
        </p:nvSpPr>
        <p:spPr>
          <a:xfrm>
            <a:off x="8705850" y="2114550"/>
            <a:ext cx="2343150" cy="381000"/>
          </a:xfrm>
          <a:prstGeom prst="rect">
            <a:avLst/>
          </a:prstGeom>
          <a:solidFill>
            <a:srgbClr val="ECEFF4"/>
          </a:solidFill>
          <a:ln w="0">
            <a:solidFill>
              <a:srgbClr val="ECEFF4"/>
            </a:solidFill>
            <a:prstDash val="solid"/>
          </a:ln>
        </p:spPr>
        <p:txBody>
          <a:bodyPr anchor="t"/>
          <a:lstStyle/>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Global total</a:t>
            </a:r>
          </a:p>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21.97 → 35.98 Gt</a:t>
            </a:r>
          </a:p>
        </p:txBody>
      </p:sp>
      <p:sp>
        <p:nvSpPr>
          <p:cNvPr id="12" name="圆角矩形 11"/>
          <p:cNvSpPr>
            <a:spLocks noGrp="1"/>
          </p:cNvSpPr>
          <p:nvPr/>
        </p:nvSpPr>
        <p:spPr>
          <a:xfrm>
            <a:off x="8572500" y="2819400"/>
            <a:ext cx="2609850" cy="1123950"/>
          </a:xfrm>
          <a:prstGeom prst="roundRect">
            <a:avLst>
              <a:gd name="adj" fmla="val 10169"/>
            </a:avLst>
          </a:prstGeom>
          <a:solidFill>
            <a:srgbClr val="F7F1EA"/>
          </a:solidFill>
          <a:ln w="14288">
            <a:solidFill>
              <a:srgbClr val="BE7F4E"/>
            </a:solidFill>
            <a:prstDash val="solid"/>
          </a:ln>
        </p:spPr>
        <p:txBody>
          <a:bodyPr/>
          <a:p>
            <a:pPr>
              <a:defRPr>
                <a:latin typeface="Times New Roman"/>
              </a:defRPr>
            </a:pPr>
          </a:p>
        </p:txBody>
      </p:sp>
      <p:sp>
        <p:nvSpPr>
          <p:cNvPr id="13" name="矩形 12"/>
          <p:cNvSpPr>
            <a:spLocks noGrp="1"/>
          </p:cNvSpPr>
          <p:nvPr/>
        </p:nvSpPr>
        <p:spPr>
          <a:xfrm>
            <a:off x="8705850" y="2914650"/>
            <a:ext cx="2343150" cy="514350"/>
          </a:xfrm>
          <a:prstGeom prst="rect">
            <a:avLst/>
          </a:prstGeom>
          <a:solidFill>
            <a:srgbClr val="F7F1EA"/>
          </a:solidFill>
          <a:ln w="0">
            <a:solidFill>
              <a:srgbClr val="F7F1EA"/>
            </a:solidFill>
            <a:prstDash val="solid"/>
          </a:ln>
        </p:spPr>
        <p:txBody>
          <a:bodyPr anchor="ctr"/>
          <a:lstStyle/>
          <a:p>
            <a:pPr algn="l">
              <a:defRPr sz="2550" b="1" i="0">
                <a:solidFill>
                  <a:srgbClr val="ED7D31"/>
                </a:solidFill>
                <a:latin typeface="Times New Roman" panose="020B0604020202020204"/>
                <a:ea typeface="Times New Roman" panose="020B0604020202020204"/>
                <a:cs typeface="Times New Roman" panose="020B0604020202020204"/>
              </a:defRPr>
            </a:pPr>
            <a:r>
              <a:rPr>
                <a:solidFill/>
                <a:latin typeface="Times New Roman"/>
              </a:rPr>
              <a:t>+13.3%</a:t>
            </a:r>
          </a:p>
        </p:txBody>
      </p:sp>
      <p:sp>
        <p:nvSpPr>
          <p:cNvPr id="14" name="矩形 13"/>
          <p:cNvSpPr>
            <a:spLocks noGrp="1"/>
          </p:cNvSpPr>
          <p:nvPr/>
        </p:nvSpPr>
        <p:spPr>
          <a:xfrm>
            <a:off x="8705850" y="3429000"/>
            <a:ext cx="2343150" cy="381000"/>
          </a:xfrm>
          <a:prstGeom prst="rect">
            <a:avLst/>
          </a:prstGeom>
          <a:solidFill>
            <a:srgbClr val="F7F1EA"/>
          </a:solidFill>
          <a:ln w="0">
            <a:solidFill>
              <a:srgbClr val="F7F1EA"/>
            </a:solidFill>
            <a:prstDash val="solid"/>
          </a:ln>
        </p:spPr>
        <p:txBody>
          <a:bodyPr anchor="t"/>
          <a:lstStyle/>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Per person</a:t>
            </a:r>
          </a:p>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4.00 → 4.53 t</a:t>
            </a:r>
          </a:p>
        </p:txBody>
      </p:sp>
      <p:sp>
        <p:nvSpPr>
          <p:cNvPr id="15" name="圆角矩形 14"/>
          <p:cNvSpPr>
            <a:spLocks noGrp="1"/>
          </p:cNvSpPr>
          <p:nvPr/>
        </p:nvSpPr>
        <p:spPr>
          <a:xfrm>
            <a:off x="8572500" y="4238625"/>
            <a:ext cx="2609850" cy="1362075"/>
          </a:xfrm>
          <a:prstGeom prst="roundRect">
            <a:avLst>
              <a:gd name="adj" fmla="val 5594"/>
            </a:avLst>
          </a:prstGeom>
          <a:solidFill>
            <a:srgbClr val="FAFBFA"/>
          </a:solidFill>
          <a:ln w="11430">
            <a:solidFill>
              <a:srgbClr val="D5DED6"/>
            </a:solidFill>
            <a:prstDash val="solid"/>
          </a:ln>
        </p:spPr>
        <p:txBody>
          <a:bodyPr/>
          <a:p>
            <a:pPr>
              <a:defRPr>
                <a:latin typeface="Times New Roman"/>
              </a:defRPr>
            </a:pPr>
          </a:p>
        </p:txBody>
      </p:sp>
      <p:sp>
        <p:nvSpPr>
          <p:cNvPr id="16" name="矩形 15"/>
          <p:cNvSpPr>
            <a:spLocks noGrp="1"/>
          </p:cNvSpPr>
          <p:nvPr/>
        </p:nvSpPr>
        <p:spPr>
          <a:xfrm>
            <a:off x="8743950" y="4343400"/>
            <a:ext cx="2095500" cy="266700"/>
          </a:xfrm>
          <a:prstGeom prst="rect">
            <a:avLst/>
          </a:prstGeom>
          <a:solidFill>
            <a:srgbClr val="FAFBFA"/>
          </a:solidFill>
          <a:ln w="0">
            <a:solidFill>
              <a:srgbClr val="FAFBFA"/>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INTERPRETATION</a:t>
            </a:r>
          </a:p>
        </p:txBody>
      </p:sp>
      <p:sp>
        <p:nvSpPr>
          <p:cNvPr id="17" name="矩形 16"/>
          <p:cNvSpPr>
            <a:spLocks noGrp="1"/>
          </p:cNvSpPr>
          <p:nvPr/>
        </p:nvSpPr>
        <p:spPr>
          <a:xfrm>
            <a:off x="8743950" y="4686300"/>
            <a:ext cx="2266950" cy="723900"/>
          </a:xfrm>
          <a:prstGeom prst="rect">
            <a:avLst/>
          </a:prstGeom>
          <a:solidFill>
            <a:srgbClr val="FAFBFA"/>
          </a:solidFill>
          <a:ln w="0">
            <a:solidFill>
              <a:srgbClr val="FAFBFA"/>
            </a:solidFill>
            <a:prstDash val="solid"/>
          </a:ln>
        </p:spPr>
        <p:txBody>
          <a:bodyPr anchor="t"/>
          <a:lstStyle/>
          <a:p>
            <a:pPr algn="l">
              <a:defRPr sz="127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Most growth came from scale, not equal growth in emissions intensity.</a:t>
            </a:r>
          </a:p>
        </p:txBody>
      </p:sp>
      <p:sp>
        <p:nvSpPr>
          <p:cNvPr id="25" name="Rectangle 24"/>
          <p:cNvSpPr/>
          <p:nvPr/>
        </p:nvSpPr>
        <p:spPr>
          <a:xfrm>
            <a:off x="0" y="0"/>
            <a:ext cx="12192000" cy="841248"/>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6" name="Rectangle 25"/>
          <p:cNvSpPr/>
          <p:nvPr/>
        </p:nvSpPr>
        <p:spPr>
          <a:xfrm>
            <a:off x="0" y="841248"/>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7" name="TextBox 26"/>
          <p:cNvSpPr txBox="1"/>
          <p:nvPr/>
        </p:nvSpPr>
        <p:spPr>
          <a:xfrm>
            <a:off x="384048" y="45720"/>
            <a:ext cx="9966960" cy="749808"/>
          </a:xfrm>
          <a:prstGeom prst="rect">
            <a:avLst/>
          </a:prstGeom>
          <a:noFill/>
          <a:ln>
            <a:noFill/>
          </a:ln>
          <a:effectLst/>
        </p:spPr>
        <p:txBody>
          <a:bodyPr wrap="square" anchor="ctr" lIns="0" tIns="0" bIns="0">
            <a:spAutoFit/>
          </a:bodyPr>
          <a:lstStyle/>
          <a:p>
            <a:pPr algn="l">
              <a:defRPr>
                <a:latin typeface="Times New Roman"/>
              </a:defRPr>
            </a:pPr>
            <a:r>
              <a:rPr sz="1350" b="1">
                <a:solidFill>
                  <a:srgbClr val="D3E3D6"/>
                </a:solidFill>
                <a:latin typeface="Georgia"/>
              </a:rPr>
              <a:t>EXPLORATION OF DATASET:  </a:t>
            </a:r>
            <a:r>
              <a:rPr sz="1800" b="1">
                <a:solidFill>
                  <a:srgbClr val="FFFFFF"/>
                </a:solidFill>
                <a:latin typeface="Georgia"/>
              </a:rPr>
              <a:t>Total CO2 grew nearly five times faster than per person</a:t>
            </a:r>
          </a:p>
        </p:txBody>
      </p:sp>
      <p:sp>
        <p:nvSpPr>
          <p:cNvPr id="28" name="TextBox 27"/>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3 / 7</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38" name="Rectangle 37"/>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Slide Number Placeholder 4"/>
          <p:cNvSpPr>
            <a:spLocks noGrp="1"/>
          </p:cNvSpPr>
          <p:nvPr>
            <p:ph type="sldNum" idx="12"/>
          </p:nvPr>
        </p:nvSpPr>
        <p:spPr>
          <a:xfrm>
            <a:off x="11561522" y="6356350"/>
            <a:ext cx="518786" cy="362485"/>
          </a:xfrm>
          <a:ln/>
        </p:spPr>
        <p:txBody>
          <a:bodyPr/>
          <a:lstStyle/>
          <a:p>
            <a:pPr marL="0" marR="0" lvl="0" indent="0" algn="r" defTabSz="914400">
              <a:lnSpc>
                <a:spcPct val="100000"/>
              </a:lnSpc>
              <a:spcBef>
                <a:spcPts val="0"/>
              </a:spcBef>
              <a:spcAft>
                <a:spcPts val="0"/>
              </a:spcAft>
              <a:buClrTx/>
              <a:buSzTx/>
              <a:buFontTx/>
              <a:buNone/>
              <a:defRPr>
                <a:latin typeface="Times New Roman"/>
              </a:defRPr>
            </a:pPr>
            <a:fld id="{EE5B3003-2C54-13C6-9832-7637201064DE}"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4" name="TextBox 3"/>
          <p:cNvSpPr>
            <a:spLocks noGrp="1"/>
          </p:cNvSpPr>
          <p:nvPr/>
        </p:nvSpPr>
        <p:spPr>
          <a:xfrm>
            <a:off x="1993900" y="6234075"/>
            <a:ext cx="9194800" cy="533248"/>
          </a:xfrm>
          <a:prstGeom prst="rect">
            <a:avLst/>
          </a:prstGeom>
          <a:noFill/>
          <a:ln/>
        </p:spPr>
        <p:txBody>
          <a:bodyPr wrap="square">
            <a:noAutofit/>
          </a:bodyPr>
          <a:lstStyle/>
          <a:p>
            <a:pPr marL="0" marR="0" lvl="0" indent="0" algn="l" defTabSz="914400">
              <a:lnSpc>
                <a:spcPct val="100000"/>
              </a:lnSpc>
              <a:spcBef>
                <a:spcPts val="0"/>
              </a:spcBef>
              <a:spcAft>
                <a:spcPts val="0"/>
              </a:spcAft>
              <a:buClrTx/>
              <a:buSzTx/>
              <a:buFontTx/>
              <a:buNone/>
              <a:defRPr>
                <a:latin typeface="Times New Roman"/>
              </a:defRPr>
            </a:pPr>
            <a:r>
              <a:rPr sz="1200" b="1" i="0" u="none" cap="none" spc="0">
                <a:ln>
                  <a:noFill/>
                </a:ln>
                <a:solidFill>
                  <a:srgbClr val="25313C"/>
                </a:solidFill>
                <a:latin typeface="Times New Roman" panose="020B0604020202020204"/>
                <a:ea typeface="Times New Roman" panose="020B0604020202020204"/>
                <a:cs typeface="Times New Roman" panose="020B0604020202020204"/>
              </a:rPr>
              <a:t>Responsible: REYIZA RESIBIEKE</a:t>
            </a:r>
            <a:endParaRPr sz="900" b="1" i="0" u="none" cap="none" spc="0">
              <a:ln>
                <a:noFill/>
              </a:ln>
              <a:solidFill>
                <a:srgbClr val="25313C"/>
              </a:solidFill>
              <a:latin typeface="Times New Roman" panose="020B0604020202020204"/>
              <a:ea typeface="Times New Roman" panose="020B0604020202020204"/>
              <a:cs typeface="Times New Roman" panose="020B0604020202020204"/>
            </a:endParaRPr>
          </a:p>
        </p:txBody>
      </p:sp>
      <p:sp>
        <p:nvSpPr>
          <p:cNvPr id="6" name="圆角矩形 5"/>
          <p:cNvSpPr>
            <a:spLocks noGrp="1"/>
          </p:cNvSpPr>
          <p:nvPr/>
        </p:nvSpPr>
        <p:spPr>
          <a:xfrm>
            <a:off x="400050" y="1181100"/>
            <a:ext cx="2628900" cy="4400550"/>
          </a:xfrm>
          <a:prstGeom prst="roundRect">
            <a:avLst>
              <a:gd name="adj" fmla="val 2899"/>
            </a:avLst>
          </a:prstGeom>
          <a:solidFill>
            <a:srgbClr val="FAFBFA"/>
          </a:solidFill>
          <a:ln w="11430">
            <a:solidFill>
              <a:srgbClr val="D5DED6"/>
            </a:solidFill>
            <a:prstDash val="solid"/>
          </a:ln>
        </p:spPr>
        <p:txBody>
          <a:bodyPr/>
          <a:p>
            <a:pPr>
              <a:defRPr>
                <a:latin typeface="Times New Roman"/>
              </a:defRPr>
            </a:pPr>
          </a:p>
        </p:txBody>
      </p:sp>
      <p:sp>
        <p:nvSpPr>
          <p:cNvPr id="7" name="矩形 6"/>
          <p:cNvSpPr>
            <a:spLocks noGrp="1"/>
          </p:cNvSpPr>
          <p:nvPr/>
        </p:nvSpPr>
        <p:spPr>
          <a:xfrm>
            <a:off x="590550" y="1352550"/>
            <a:ext cx="2095500" cy="266700"/>
          </a:xfrm>
          <a:prstGeom prst="rect">
            <a:avLst/>
          </a:prstGeom>
          <a:solidFill>
            <a:srgbClr val="FAFBFA"/>
          </a:solidFill>
          <a:ln w="0">
            <a:solidFill>
              <a:srgbClr val="FAFBFA"/>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HOW TO READ</a:t>
            </a:r>
          </a:p>
        </p:txBody>
      </p:sp>
      <p:sp>
        <p:nvSpPr>
          <p:cNvPr id="8" name="矩形 7"/>
          <p:cNvSpPr>
            <a:spLocks noGrp="1"/>
          </p:cNvSpPr>
          <p:nvPr/>
        </p:nvSpPr>
        <p:spPr>
          <a:xfrm>
            <a:off x="590550" y="1752600"/>
            <a:ext cx="361950" cy="400050"/>
          </a:xfrm>
          <a:prstGeom prst="rect">
            <a:avLst/>
          </a:prstGeom>
          <a:solidFill>
            <a:srgbClr val="4F6E96"/>
          </a:solidFill>
          <a:ln w="0">
            <a:solidFill>
              <a:srgbClr val="4F6E96"/>
            </a:solidFill>
            <a:prstDash val="solid"/>
          </a:ln>
        </p:spPr>
        <p:txBody>
          <a:bodyPr anchor="ctr"/>
          <a:lstStyle/>
          <a:p>
            <a:pPr algn="ctr">
              <a:defRPr sz="15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X</a:t>
            </a:r>
          </a:p>
        </p:txBody>
      </p:sp>
      <p:sp>
        <p:nvSpPr>
          <p:cNvPr id="9" name="矩形 8"/>
          <p:cNvSpPr>
            <a:spLocks noGrp="1"/>
          </p:cNvSpPr>
          <p:nvPr/>
        </p:nvSpPr>
        <p:spPr>
          <a:xfrm>
            <a:off x="1066800" y="1752600"/>
            <a:ext cx="1695450" cy="400050"/>
          </a:xfrm>
          <a:prstGeom prst="rect">
            <a:avLst/>
          </a:prstGeom>
          <a:solidFill>
            <a:srgbClr val="FAFBFA"/>
          </a:solidFill>
          <a:ln w="0">
            <a:solidFill>
              <a:srgbClr val="FAFBFA"/>
            </a:solidFill>
            <a:prstDash val="solid"/>
          </a:ln>
        </p:spPr>
        <p:txBody>
          <a:bodyPr anchor="ctr"/>
          <a:lstStyle/>
          <a:p>
            <a:pPr algn="l">
              <a:defRPr sz="127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Long-term log trend</a:t>
            </a:r>
          </a:p>
        </p:txBody>
      </p:sp>
      <p:sp>
        <p:nvSpPr>
          <p:cNvPr id="10" name="矩形 9"/>
          <p:cNvSpPr>
            <a:spLocks noGrp="1"/>
          </p:cNvSpPr>
          <p:nvPr/>
        </p:nvSpPr>
        <p:spPr>
          <a:xfrm>
            <a:off x="590550" y="2324100"/>
            <a:ext cx="361950" cy="400050"/>
          </a:xfrm>
          <a:prstGeom prst="rect">
            <a:avLst/>
          </a:prstGeom>
          <a:solidFill>
            <a:srgbClr val="BE7F4E"/>
          </a:solidFill>
          <a:ln w="0">
            <a:solidFill>
              <a:srgbClr val="BE7F4E"/>
            </a:solidFill>
            <a:prstDash val="solid"/>
          </a:ln>
        </p:spPr>
        <p:txBody>
          <a:bodyPr anchor="ctr"/>
          <a:lstStyle/>
          <a:p>
            <a:pPr algn="ctr">
              <a:defRPr sz="15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Y</a:t>
            </a:r>
          </a:p>
        </p:txBody>
      </p:sp>
      <p:sp>
        <p:nvSpPr>
          <p:cNvPr id="11" name="矩形 10"/>
          <p:cNvSpPr>
            <a:spLocks noGrp="1"/>
          </p:cNvSpPr>
          <p:nvPr/>
        </p:nvSpPr>
        <p:spPr>
          <a:xfrm>
            <a:off x="1066800" y="2266950"/>
            <a:ext cx="1695450" cy="514350"/>
          </a:xfrm>
          <a:prstGeom prst="rect">
            <a:avLst/>
          </a:prstGeom>
          <a:solidFill>
            <a:srgbClr val="FAFBFA"/>
          </a:solidFill>
          <a:ln w="0">
            <a:solidFill>
              <a:srgbClr val="FAFBFA"/>
            </a:solidFill>
            <a:prstDash val="solid"/>
          </a:ln>
        </p:spPr>
        <p:txBody>
          <a:bodyPr anchor="ctr"/>
          <a:lstStyle/>
          <a:p>
            <a:pPr algn="l">
              <a:defRPr sz="12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Recent minus long-term</a:t>
            </a:r>
          </a:p>
        </p:txBody>
      </p:sp>
      <p:sp>
        <p:nvSpPr>
          <p:cNvPr id="12" name="矩形 11"/>
          <p:cNvSpPr>
            <a:spLocks noGrp="1"/>
          </p:cNvSpPr>
          <p:nvPr/>
        </p:nvSpPr>
        <p:spPr>
          <a:xfrm>
            <a:off x="590550" y="3048000"/>
            <a:ext cx="323850" cy="323850"/>
          </a:xfrm>
          <a:prstGeom prst="rect">
            <a:avLst/>
          </a:prstGeom>
          <a:solidFill>
            <a:srgbClr val="FAFBFA"/>
          </a:solidFill>
          <a:ln w="0">
            <a:solidFill>
              <a:srgbClr val="FAFBFA"/>
            </a:solidFill>
            <a:prstDash val="solid"/>
          </a:ln>
        </p:spPr>
        <p:txBody>
          <a:bodyPr anchor="ctr"/>
          <a:lstStyle/>
          <a:p>
            <a:pPr algn="ctr">
              <a:defRPr sz="1500" b="0" i="0">
                <a:solidFill>
                  <a:srgbClr val="4472C4"/>
                </a:solidFill>
                <a:latin typeface="Times New Roman" panose="020B0604020202020204"/>
                <a:ea typeface="Times New Roman" panose="020B0604020202020204"/>
                <a:cs typeface="Times New Roman" panose="020B0604020202020204"/>
              </a:defRPr>
            </a:pPr>
            <a:r>
              <a:rPr>
                <a:solidFill/>
                <a:latin typeface="Times New Roman"/>
              </a:rPr>
              <a:t>■</a:t>
            </a:r>
          </a:p>
        </p:txBody>
      </p:sp>
      <p:sp>
        <p:nvSpPr>
          <p:cNvPr id="13" name="矩形 12"/>
          <p:cNvSpPr>
            <a:spLocks noGrp="1"/>
          </p:cNvSpPr>
          <p:nvPr/>
        </p:nvSpPr>
        <p:spPr>
          <a:xfrm>
            <a:off x="1000125" y="3000375"/>
            <a:ext cx="1762125" cy="400050"/>
          </a:xfrm>
          <a:prstGeom prst="rect">
            <a:avLst/>
          </a:prstGeom>
          <a:solidFill>
            <a:srgbClr val="FAFBFA"/>
          </a:solidFill>
          <a:ln w="0">
            <a:solidFill>
              <a:srgbClr val="FAFBFA"/>
            </a:solidFill>
            <a:prstDash val="solid"/>
          </a:ln>
        </p:spPr>
        <p:txBody>
          <a:bodyPr anchor="ctr"/>
          <a:lstStyle/>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Per-capita trend rising</a:t>
            </a:r>
          </a:p>
        </p:txBody>
      </p:sp>
      <p:sp>
        <p:nvSpPr>
          <p:cNvPr id="14" name="矩形 13"/>
          <p:cNvSpPr>
            <a:spLocks noGrp="1"/>
          </p:cNvSpPr>
          <p:nvPr/>
        </p:nvSpPr>
        <p:spPr>
          <a:xfrm>
            <a:off x="590550" y="3524250"/>
            <a:ext cx="323850" cy="323850"/>
          </a:xfrm>
          <a:prstGeom prst="rect">
            <a:avLst/>
          </a:prstGeom>
          <a:solidFill>
            <a:srgbClr val="FAFBFA"/>
          </a:solidFill>
          <a:ln w="0">
            <a:solidFill>
              <a:srgbClr val="FAFBFA"/>
            </a:solidFill>
            <a:prstDash val="solid"/>
          </a:ln>
        </p:spPr>
        <p:txBody>
          <a:bodyPr anchor="ctr"/>
          <a:lstStyle/>
          <a:p>
            <a:pPr algn="ctr">
              <a:defRPr sz="1650" b="0" i="0">
                <a:solidFill>
                  <a:srgbClr val="4472C4"/>
                </a:solidFill>
                <a:latin typeface="Times New Roman" panose="020B0604020202020204"/>
                <a:ea typeface="Times New Roman" panose="020B0604020202020204"/>
                <a:cs typeface="Times New Roman" panose="020B0604020202020204"/>
              </a:defRPr>
            </a:pPr>
            <a:r>
              <a:rPr>
                <a:solidFill/>
                <a:latin typeface="Times New Roman"/>
              </a:rPr>
              <a:t>□</a:t>
            </a:r>
          </a:p>
        </p:txBody>
      </p:sp>
      <p:sp>
        <p:nvSpPr>
          <p:cNvPr id="15" name="矩形 14"/>
          <p:cNvSpPr>
            <a:spLocks noGrp="1"/>
          </p:cNvSpPr>
          <p:nvPr/>
        </p:nvSpPr>
        <p:spPr>
          <a:xfrm>
            <a:off x="1000125" y="3476625"/>
            <a:ext cx="1762125" cy="400050"/>
          </a:xfrm>
          <a:prstGeom prst="rect">
            <a:avLst/>
          </a:prstGeom>
          <a:solidFill>
            <a:srgbClr val="FAFBFA"/>
          </a:solidFill>
          <a:ln w="0">
            <a:solidFill>
              <a:srgbClr val="FAFBFA"/>
            </a:solidFill>
            <a:prstDash val="solid"/>
          </a:ln>
        </p:spPr>
        <p:txBody>
          <a:bodyPr anchor="ctr"/>
          <a:lstStyle/>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Per-capita trend falling</a:t>
            </a:r>
          </a:p>
        </p:txBody>
      </p:sp>
      <p:sp>
        <p:nvSpPr>
          <p:cNvPr id="16" name="圆角矩形 15"/>
          <p:cNvSpPr>
            <a:spLocks noGrp="1"/>
          </p:cNvSpPr>
          <p:nvPr/>
        </p:nvSpPr>
        <p:spPr>
          <a:xfrm>
            <a:off x="590550" y="4171950"/>
            <a:ext cx="2247900" cy="1162050"/>
          </a:xfrm>
          <a:prstGeom prst="roundRect">
            <a:avLst>
              <a:gd name="adj" fmla="val 6557"/>
            </a:avLst>
          </a:prstGeom>
          <a:solidFill>
            <a:srgbClr val="ECEFF4"/>
          </a:solidFill>
          <a:ln w="11430">
            <a:solidFill>
              <a:srgbClr val="4F6E96"/>
            </a:solidFill>
            <a:prstDash val="solid"/>
          </a:ln>
        </p:spPr>
        <p:txBody>
          <a:bodyPr/>
          <a:p>
            <a:pPr>
              <a:defRPr>
                <a:latin typeface="Times New Roman"/>
              </a:defRPr>
            </a:pPr>
          </a:p>
        </p:txBody>
      </p:sp>
      <p:sp>
        <p:nvSpPr>
          <p:cNvPr id="17" name="矩形 16"/>
          <p:cNvSpPr>
            <a:spLocks noGrp="1"/>
          </p:cNvSpPr>
          <p:nvPr/>
        </p:nvSpPr>
        <p:spPr>
          <a:xfrm>
            <a:off x="762000" y="4343400"/>
            <a:ext cx="1905000" cy="800100"/>
          </a:xfrm>
          <a:prstGeom prst="rect">
            <a:avLst/>
          </a:prstGeom>
          <a:solidFill>
            <a:srgbClr val="ECEFF4"/>
          </a:solidFill>
          <a:ln w="0">
            <a:solidFill>
              <a:srgbClr val="ECEFF4"/>
            </a:solidFill>
            <a:prstDash val="solid"/>
          </a:ln>
        </p:spPr>
        <p:txBody>
          <a:bodyPr anchor="ctr"/>
          <a:lstStyle/>
          <a:p>
            <a:pPr algn="ctr">
              <a:defRPr sz="1275"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One endpoint change cannot capture both direction and momentum.</a:t>
            </a:r>
          </a:p>
        </p:txBody>
      </p:sp>
      <p:sp>
        <p:nvSpPr>
          <p:cNvPr id="18" name="圆角矩形 17"/>
          <p:cNvSpPr>
            <a:spLocks noGrp="1"/>
          </p:cNvSpPr>
          <p:nvPr/>
        </p:nvSpPr>
        <p:spPr>
          <a:xfrm>
            <a:off x="3238500" y="1143000"/>
            <a:ext cx="7991475" cy="4476750"/>
          </a:xfrm>
          <a:prstGeom prst="roundRect">
            <a:avLst>
              <a:gd name="adj" fmla="val 1702"/>
            </a:avLst>
          </a:prstGeom>
          <a:solidFill>
            <a:srgbClr val="FAFBFA"/>
          </a:solidFill>
          <a:ln w="11430">
            <a:solidFill>
              <a:srgbClr val="D5DED6"/>
            </a:solidFill>
            <a:prstDash val="solid"/>
          </a:ln>
        </p:spPr>
        <p:txBody>
          <a:bodyPr/>
          <a:p>
            <a:pPr>
              <a:defRPr>
                <a:latin typeface="Times New Roman"/>
              </a:defRPr>
            </a:pPr>
          </a:p>
        </p:txBody>
      </p:sp>
      <p:pic>
        <p:nvPicPr>
          <p:cNvPr id="36" name="图片 35"/>
          <p:cNvPicPr>
            <a:picLocks noChangeAspect="1"/>
          </p:cNvPicPr>
          <p:nvPr/>
        </p:nvPicPr>
        <p:blipFill>
          <a:blip r:embed="rId2"/>
          <a:stretch>
            <a:fillRect/>
          </a:stretch>
        </p:blipFill>
        <p:spPr>
          <a:xfrm>
            <a:off x="3917881" y="1181100"/>
            <a:ext cx="6632713" cy="4400550"/>
          </a:xfrm>
          <a:prstGeom prst="rect">
            <a:avLst/>
          </a:prstGeom>
          <a:ln/>
        </p:spPr>
      </p:pic>
      <p:sp>
        <p:nvSpPr>
          <p:cNvPr id="39" name="Rectangle 38"/>
          <p:cNvSpPr/>
          <p:nvPr/>
        </p:nvSpPr>
        <p:spPr>
          <a:xfrm>
            <a:off x="0" y="0"/>
            <a:ext cx="12192000" cy="841248"/>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0" name="Rectangle 39"/>
          <p:cNvSpPr/>
          <p:nvPr/>
        </p:nvSpPr>
        <p:spPr>
          <a:xfrm>
            <a:off x="0" y="841248"/>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1" name="TextBox 40"/>
          <p:cNvSpPr txBox="1"/>
          <p:nvPr/>
        </p:nvSpPr>
        <p:spPr>
          <a:xfrm>
            <a:off x="384048" y="45720"/>
            <a:ext cx="9966960" cy="749808"/>
          </a:xfrm>
          <a:prstGeom prst="rect">
            <a:avLst/>
          </a:prstGeom>
          <a:noFill/>
          <a:ln>
            <a:noFill/>
          </a:ln>
          <a:effectLst/>
        </p:spPr>
        <p:txBody>
          <a:bodyPr wrap="square" anchor="ctr" lIns="0" tIns="0" bIns="0">
            <a:spAutoFit/>
          </a:bodyPr>
          <a:lstStyle/>
          <a:p>
            <a:pPr algn="l">
              <a:defRPr>
                <a:latin typeface="Times New Roman"/>
              </a:defRPr>
            </a:pPr>
            <a:r>
              <a:rPr sz="1350" b="1">
                <a:solidFill>
                  <a:srgbClr val="D3E3D6"/>
                </a:solidFill>
                <a:latin typeface="Georgia"/>
              </a:rPr>
              <a:t>EXPLORATION OF DATASET:  </a:t>
            </a:r>
            <a:r>
              <a:rPr sz="2000" b="1">
                <a:solidFill>
                  <a:srgbClr val="FFFFFF"/>
                </a:solidFill>
                <a:latin typeface="Georgia"/>
              </a:rPr>
              <a:t>Long-term growth differs from recent momentum</a:t>
            </a:r>
          </a:p>
        </p:txBody>
      </p:sp>
      <p:sp>
        <p:nvSpPr>
          <p:cNvPr id="42" name="TextBox 41"/>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4 / 7</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24" name="Rectangle 23"/>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Slide Number Placeholder 4"/>
          <p:cNvSpPr>
            <a:spLocks noGrp="1"/>
          </p:cNvSpPr>
          <p:nvPr>
            <p:ph type="sldNum" idx="12"/>
          </p:nvPr>
        </p:nvSpPr>
        <p:spPr>
          <a:xfrm>
            <a:off x="11561522" y="6356350"/>
            <a:ext cx="518786" cy="362485"/>
          </a:xfrm>
          <a:ln/>
        </p:spPr>
        <p:txBody>
          <a:bodyPr/>
          <a:lstStyle/>
          <a:p>
            <a:pPr marL="0" marR="0" lvl="0" indent="0" algn="r" defTabSz="914400">
              <a:lnSpc>
                <a:spcPct val="100000"/>
              </a:lnSpc>
              <a:spcBef>
                <a:spcPts val="0"/>
              </a:spcBef>
              <a:spcAft>
                <a:spcPts val="0"/>
              </a:spcAft>
              <a:buClrTx/>
              <a:buSzTx/>
              <a:buFontTx/>
              <a:buNone/>
              <a:defRPr>
                <a:latin typeface="Times New Roman"/>
              </a:defRPr>
            </a:pPr>
            <a:fld id="{8C630A04-5A25-9E0C-9436-126091DB86B3}"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4" name="TextBox 3"/>
          <p:cNvSpPr>
            <a:spLocks noGrp="1"/>
          </p:cNvSpPr>
          <p:nvPr/>
        </p:nvSpPr>
        <p:spPr>
          <a:xfrm>
            <a:off x="1993900" y="6234075"/>
            <a:ext cx="9194800" cy="533248"/>
          </a:xfrm>
          <a:prstGeom prst="rect">
            <a:avLst/>
          </a:prstGeom>
          <a:noFill/>
          <a:ln/>
        </p:spPr>
        <p:txBody>
          <a:bodyPr wrap="square">
            <a:noAutofit/>
          </a:bodyPr>
          <a:lstStyle/>
          <a:p>
            <a:pPr marL="0" marR="0" lvl="0" indent="0" algn="l" defTabSz="914400">
              <a:lnSpc>
                <a:spcPct val="100000"/>
              </a:lnSpc>
              <a:spcBef>
                <a:spcPts val="0"/>
              </a:spcBef>
              <a:spcAft>
                <a:spcPts val="0"/>
              </a:spcAft>
              <a:buClrTx/>
              <a:buSzTx/>
              <a:buFontTx/>
              <a:buNone/>
              <a:defRPr>
                <a:latin typeface="Times New Roman"/>
              </a:defRPr>
            </a:pPr>
            <a:r>
              <a:rPr sz="1200" b="1" i="0" u="none" cap="none" spc="0">
                <a:ln>
                  <a:noFill/>
                </a:ln>
                <a:solidFill>
                  <a:srgbClr val="25313C"/>
                </a:solidFill>
                <a:latin typeface="Times New Roman" panose="020B0604020202020204"/>
                <a:ea typeface="Times New Roman" panose="020B0604020202020204"/>
                <a:cs typeface="Times New Roman" panose="020B0604020202020204"/>
              </a:rPr>
              <a:t>Responsible: Shen Ruiting</a:t>
            </a:r>
            <a:endParaRPr sz="900" b="1" i="0" u="none" cap="none" spc="0">
              <a:ln>
                <a:noFill/>
              </a:ln>
              <a:solidFill>
                <a:srgbClr val="25313C"/>
              </a:solidFill>
              <a:latin typeface="Times New Roman" panose="020B0604020202020204"/>
              <a:ea typeface="Times New Roman" panose="020B0604020202020204"/>
              <a:cs typeface="Times New Roman" panose="020B0604020202020204"/>
            </a:endParaRPr>
          </a:p>
        </p:txBody>
      </p:sp>
      <p:sp>
        <p:nvSpPr>
          <p:cNvPr id="6" name="圆角矩形 5"/>
          <p:cNvSpPr>
            <a:spLocks noGrp="1"/>
          </p:cNvSpPr>
          <p:nvPr/>
        </p:nvSpPr>
        <p:spPr>
          <a:xfrm>
            <a:off x="361950" y="1085850"/>
            <a:ext cx="8077200" cy="4610100"/>
          </a:xfrm>
          <a:prstGeom prst="roundRect">
            <a:avLst>
              <a:gd name="adj" fmla="val 1653"/>
            </a:avLst>
          </a:prstGeom>
          <a:solidFill>
            <a:srgbClr val="FAFBFA"/>
          </a:solidFill>
          <a:ln w="11430">
            <a:solidFill>
              <a:srgbClr val="D5DED6"/>
            </a:solidFill>
            <a:prstDash val="solid"/>
          </a:ln>
        </p:spPr>
        <p:txBody>
          <a:bodyPr/>
          <a:p>
            <a:pPr>
              <a:defRPr>
                <a:latin typeface="Times New Roman"/>
              </a:defRPr>
            </a:pPr>
          </a:p>
        </p:txBody>
      </p:sp>
      <p:pic>
        <p:nvPicPr>
          <p:cNvPr id="22" name="图片 21"/>
          <p:cNvPicPr>
            <a:picLocks noChangeAspect="1"/>
          </p:cNvPicPr>
          <p:nvPr/>
        </p:nvPicPr>
        <p:blipFill>
          <a:blip r:embed="rId2"/>
          <a:srcRect t="6582" b="6582"/>
          <a:stretch>
            <a:fillRect/>
          </a:stretch>
        </p:blipFill>
        <p:spPr>
          <a:xfrm>
            <a:off x="400050" y="1123950"/>
            <a:ext cx="8001000" cy="4533900"/>
          </a:xfrm>
          <a:prstGeom prst="rect">
            <a:avLst/>
          </a:prstGeom>
          <a:ln/>
        </p:spPr>
      </p:pic>
      <p:sp>
        <p:nvSpPr>
          <p:cNvPr id="8" name="矩形 7"/>
          <p:cNvSpPr>
            <a:spLocks noGrp="1"/>
          </p:cNvSpPr>
          <p:nvPr/>
        </p:nvSpPr>
        <p:spPr>
          <a:xfrm>
            <a:off x="8743950" y="1123950"/>
            <a:ext cx="2333625" cy="266700"/>
          </a:xfrm>
          <a:prstGeom prst="rect">
            <a:avLst/>
          </a:prstGeom>
          <a:solidFill>
            <a:srgbClr val="FFFFFF"/>
          </a:solidFill>
          <a:ln w="0">
            <a:solidFill>
              <a:srgbClr val="FFFFFF"/>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CONCENTRATION</a:t>
            </a:r>
          </a:p>
        </p:txBody>
      </p:sp>
      <p:sp>
        <p:nvSpPr>
          <p:cNvPr id="9" name="圆角矩形 8"/>
          <p:cNvSpPr>
            <a:spLocks noGrp="1"/>
          </p:cNvSpPr>
          <p:nvPr/>
        </p:nvSpPr>
        <p:spPr>
          <a:xfrm>
            <a:off x="8743950" y="1457325"/>
            <a:ext cx="2438400" cy="1123950"/>
          </a:xfrm>
          <a:prstGeom prst="roundRect">
            <a:avLst>
              <a:gd name="adj" fmla="val 10169"/>
            </a:avLst>
          </a:prstGeom>
          <a:solidFill>
            <a:srgbClr val="EEF4EC"/>
          </a:solidFill>
          <a:ln w="14288">
            <a:solidFill>
              <a:srgbClr val="2F5248"/>
            </a:solidFill>
            <a:prstDash val="solid"/>
          </a:ln>
        </p:spPr>
        <p:txBody>
          <a:bodyPr/>
          <a:p>
            <a:pPr>
              <a:defRPr>
                <a:latin typeface="Times New Roman"/>
              </a:defRPr>
            </a:pPr>
          </a:p>
        </p:txBody>
      </p:sp>
      <p:sp>
        <p:nvSpPr>
          <p:cNvPr id="10" name="矩形 9"/>
          <p:cNvSpPr>
            <a:spLocks noGrp="1"/>
          </p:cNvSpPr>
          <p:nvPr/>
        </p:nvSpPr>
        <p:spPr>
          <a:xfrm>
            <a:off x="8877300" y="1552575"/>
            <a:ext cx="2171700" cy="514350"/>
          </a:xfrm>
          <a:prstGeom prst="rect">
            <a:avLst/>
          </a:prstGeom>
          <a:solidFill>
            <a:srgbClr val="EEF4EC"/>
          </a:solidFill>
          <a:ln w="0">
            <a:solidFill>
              <a:srgbClr val="EEF4EC"/>
            </a:solidFill>
            <a:prstDash val="solid"/>
          </a:ln>
        </p:spPr>
        <p:txBody>
          <a:bodyPr anchor="ctr"/>
          <a:lstStyle/>
          <a:p>
            <a:pPr algn="l">
              <a:defRPr sz="255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59.8%</a:t>
            </a:r>
          </a:p>
        </p:txBody>
      </p:sp>
      <p:sp>
        <p:nvSpPr>
          <p:cNvPr id="11" name="矩形 10"/>
          <p:cNvSpPr>
            <a:spLocks noGrp="1"/>
          </p:cNvSpPr>
          <p:nvPr/>
        </p:nvSpPr>
        <p:spPr>
          <a:xfrm>
            <a:off x="8877300" y="2066925"/>
            <a:ext cx="2171700" cy="381000"/>
          </a:xfrm>
          <a:prstGeom prst="rect">
            <a:avLst/>
          </a:prstGeom>
          <a:solidFill>
            <a:srgbClr val="EEF4EC"/>
          </a:solidFill>
          <a:ln w="0">
            <a:solidFill>
              <a:srgbClr val="EEF4EC"/>
            </a:solidFill>
            <a:prstDash val="solid"/>
          </a:ln>
        </p:spPr>
        <p:txBody>
          <a:bodyPr anchor="t"/>
          <a:lstStyle/>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Asia's share of</a:t>
            </a:r>
          </a:p>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2021 emissions</a:t>
            </a:r>
          </a:p>
        </p:txBody>
      </p:sp>
      <p:sp>
        <p:nvSpPr>
          <p:cNvPr id="12" name="圆角矩形 11"/>
          <p:cNvSpPr>
            <a:spLocks noGrp="1"/>
          </p:cNvSpPr>
          <p:nvPr/>
        </p:nvSpPr>
        <p:spPr>
          <a:xfrm>
            <a:off x="8743950" y="2733675"/>
            <a:ext cx="2438400" cy="1123950"/>
          </a:xfrm>
          <a:prstGeom prst="roundRect">
            <a:avLst>
              <a:gd name="adj" fmla="val 10169"/>
            </a:avLst>
          </a:prstGeom>
          <a:solidFill>
            <a:srgbClr val="F7F1EA"/>
          </a:solidFill>
          <a:ln w="14288">
            <a:solidFill>
              <a:srgbClr val="BE7F4E"/>
            </a:solidFill>
            <a:prstDash val="solid"/>
          </a:ln>
        </p:spPr>
        <p:txBody>
          <a:bodyPr/>
          <a:p>
            <a:pPr>
              <a:defRPr>
                <a:latin typeface="Times New Roman"/>
              </a:defRPr>
            </a:pPr>
          </a:p>
        </p:txBody>
      </p:sp>
      <p:sp>
        <p:nvSpPr>
          <p:cNvPr id="13" name="矩形 12"/>
          <p:cNvSpPr>
            <a:spLocks noGrp="1"/>
          </p:cNvSpPr>
          <p:nvPr/>
        </p:nvSpPr>
        <p:spPr>
          <a:xfrm>
            <a:off x="8877300" y="2828925"/>
            <a:ext cx="2171700" cy="514350"/>
          </a:xfrm>
          <a:prstGeom prst="rect">
            <a:avLst/>
          </a:prstGeom>
          <a:solidFill>
            <a:srgbClr val="F7F1EA"/>
          </a:solidFill>
          <a:ln w="0">
            <a:solidFill>
              <a:srgbClr val="F7F1EA"/>
            </a:solidFill>
            <a:prstDash val="solid"/>
          </a:ln>
        </p:spPr>
        <p:txBody>
          <a:bodyPr anchor="ctr"/>
          <a:lstStyle/>
          <a:p>
            <a:pPr algn="l">
              <a:defRPr sz="2550" b="1" i="0">
                <a:solidFill>
                  <a:srgbClr val="ED7D31"/>
                </a:solidFill>
                <a:latin typeface="Times New Roman" panose="020B0604020202020204"/>
                <a:ea typeface="Times New Roman" panose="020B0604020202020204"/>
                <a:cs typeface="Times New Roman" panose="020B0604020202020204"/>
              </a:defRPr>
            </a:pPr>
            <a:r>
              <a:rPr>
                <a:solidFill/>
                <a:latin typeface="Times New Roman"/>
              </a:rPr>
              <a:t>31.4%</a:t>
            </a:r>
          </a:p>
        </p:txBody>
      </p:sp>
      <p:sp>
        <p:nvSpPr>
          <p:cNvPr id="14" name="矩形 13"/>
          <p:cNvSpPr>
            <a:spLocks noGrp="1"/>
          </p:cNvSpPr>
          <p:nvPr/>
        </p:nvSpPr>
        <p:spPr>
          <a:xfrm>
            <a:off x="8877300" y="3343275"/>
            <a:ext cx="2171700" cy="381000"/>
          </a:xfrm>
          <a:prstGeom prst="rect">
            <a:avLst/>
          </a:prstGeom>
          <a:solidFill>
            <a:srgbClr val="F7F1EA"/>
          </a:solidFill>
          <a:ln w="0">
            <a:solidFill>
              <a:srgbClr val="F7F1EA"/>
            </a:solidFill>
            <a:prstDash val="solid"/>
          </a:ln>
        </p:spPr>
        <p:txBody>
          <a:bodyPr anchor="t"/>
          <a:lstStyle/>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China's share of</a:t>
            </a:r>
          </a:p>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the global total</a:t>
            </a:r>
          </a:p>
        </p:txBody>
      </p:sp>
      <p:sp>
        <p:nvSpPr>
          <p:cNvPr id="15" name="圆角矩形 14"/>
          <p:cNvSpPr>
            <a:spLocks noGrp="1"/>
          </p:cNvSpPr>
          <p:nvPr/>
        </p:nvSpPr>
        <p:spPr>
          <a:xfrm>
            <a:off x="8743950" y="4010025"/>
            <a:ext cx="2438400" cy="1123950"/>
          </a:xfrm>
          <a:prstGeom prst="roundRect">
            <a:avLst>
              <a:gd name="adj" fmla="val 10169"/>
            </a:avLst>
          </a:prstGeom>
          <a:solidFill>
            <a:srgbClr val="ECEFF4"/>
          </a:solidFill>
          <a:ln w="14288">
            <a:solidFill>
              <a:srgbClr val="4F6E96"/>
            </a:solidFill>
            <a:prstDash val="solid"/>
          </a:ln>
        </p:spPr>
        <p:txBody>
          <a:bodyPr/>
          <a:p>
            <a:pPr>
              <a:defRPr>
                <a:latin typeface="Times New Roman"/>
              </a:defRPr>
            </a:pPr>
          </a:p>
        </p:txBody>
      </p:sp>
      <p:sp>
        <p:nvSpPr>
          <p:cNvPr id="16" name="矩形 15"/>
          <p:cNvSpPr>
            <a:spLocks noGrp="1"/>
          </p:cNvSpPr>
          <p:nvPr/>
        </p:nvSpPr>
        <p:spPr>
          <a:xfrm>
            <a:off x="8877300" y="4105275"/>
            <a:ext cx="2171700" cy="514350"/>
          </a:xfrm>
          <a:prstGeom prst="rect">
            <a:avLst/>
          </a:prstGeom>
          <a:solidFill>
            <a:srgbClr val="ECEFF4"/>
          </a:solidFill>
          <a:ln w="0">
            <a:solidFill>
              <a:srgbClr val="ECEFF4"/>
            </a:solidFill>
            <a:prstDash val="solid"/>
          </a:ln>
        </p:spPr>
        <p:txBody>
          <a:bodyPr anchor="ctr"/>
          <a:lstStyle/>
          <a:p>
            <a:pPr algn="l">
              <a:defRPr sz="2550" b="1" i="0">
                <a:solidFill>
                  <a:srgbClr val="4472C4"/>
                </a:solidFill>
                <a:latin typeface="Times New Roman" panose="020B0604020202020204"/>
                <a:ea typeface="Times New Roman" panose="020B0604020202020204"/>
                <a:cs typeface="Times New Roman" panose="020B0604020202020204"/>
              </a:defRPr>
            </a:pPr>
            <a:r>
              <a:rPr>
                <a:solidFill/>
                <a:latin typeface="Times New Roman"/>
              </a:rPr>
              <a:t>81.2%</a:t>
            </a:r>
          </a:p>
        </p:txBody>
      </p:sp>
      <p:sp>
        <p:nvSpPr>
          <p:cNvPr id="17" name="矩形 16"/>
          <p:cNvSpPr>
            <a:spLocks noGrp="1"/>
          </p:cNvSpPr>
          <p:nvPr/>
        </p:nvSpPr>
        <p:spPr>
          <a:xfrm>
            <a:off x="8877300" y="4619625"/>
            <a:ext cx="2171700" cy="381000"/>
          </a:xfrm>
          <a:prstGeom prst="rect">
            <a:avLst/>
          </a:prstGeom>
          <a:solidFill>
            <a:srgbClr val="ECEFF4"/>
          </a:solidFill>
          <a:ln w="0">
            <a:solidFill>
              <a:srgbClr val="ECEFF4"/>
            </a:solidFill>
            <a:prstDash val="solid"/>
          </a:ln>
        </p:spPr>
        <p:txBody>
          <a:bodyPr anchor="t"/>
          <a:lstStyle/>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Combined share of</a:t>
            </a:r>
          </a:p>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the top 20 emitters</a:t>
            </a:r>
          </a:p>
        </p:txBody>
      </p:sp>
      <p:sp>
        <p:nvSpPr>
          <p:cNvPr id="25" name="Rectangle 24"/>
          <p:cNvSpPr/>
          <p:nvPr/>
        </p:nvSpPr>
        <p:spPr>
          <a:xfrm>
            <a:off x="0" y="0"/>
            <a:ext cx="12192000" cy="841248"/>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6" name="Rectangle 25"/>
          <p:cNvSpPr/>
          <p:nvPr/>
        </p:nvSpPr>
        <p:spPr>
          <a:xfrm>
            <a:off x="0" y="841248"/>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7" name="TextBox 26"/>
          <p:cNvSpPr txBox="1"/>
          <p:nvPr/>
        </p:nvSpPr>
        <p:spPr>
          <a:xfrm>
            <a:off x="384048" y="45720"/>
            <a:ext cx="9966960" cy="749808"/>
          </a:xfrm>
          <a:prstGeom prst="rect">
            <a:avLst/>
          </a:prstGeom>
          <a:noFill/>
          <a:ln>
            <a:noFill/>
          </a:ln>
          <a:effectLst/>
        </p:spPr>
        <p:txBody>
          <a:bodyPr wrap="square" anchor="ctr" lIns="0" tIns="0" bIns="0">
            <a:spAutoFit/>
          </a:bodyPr>
          <a:lstStyle/>
          <a:p>
            <a:pPr algn="l">
              <a:defRPr>
                <a:latin typeface="Times New Roman"/>
              </a:defRPr>
            </a:pPr>
            <a:r>
              <a:rPr sz="1350" b="1">
                <a:solidFill>
                  <a:srgbClr val="D3E3D6"/>
                </a:solidFill>
                <a:latin typeface="Georgia"/>
              </a:rPr>
              <a:t>EXPLORATION OF DATASET:  </a:t>
            </a:r>
            <a:r>
              <a:rPr sz="2000" b="1">
                <a:solidFill>
                  <a:srgbClr val="FFFFFF"/>
                </a:solidFill>
                <a:latin typeface="Georgia"/>
              </a:rPr>
              <a:t>A small set of countries drives most 2021 emissions</a:t>
            </a:r>
          </a:p>
        </p:txBody>
      </p:sp>
      <p:sp>
        <p:nvSpPr>
          <p:cNvPr id="28" name="TextBox 27"/>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5 / 7</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37" name="Rectangle 36"/>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Slide Number Placeholder 4"/>
          <p:cNvSpPr>
            <a:spLocks noGrp="1"/>
          </p:cNvSpPr>
          <p:nvPr>
            <p:ph type="sldNum" idx="12"/>
          </p:nvPr>
        </p:nvSpPr>
        <p:spPr>
          <a:xfrm>
            <a:off x="11561522" y="6356350"/>
            <a:ext cx="518786" cy="362485"/>
          </a:xfrm>
          <a:ln/>
        </p:spPr>
        <p:txBody>
          <a:bodyPr/>
          <a:lstStyle/>
          <a:p>
            <a:pPr marL="0" marR="0" lvl="0" indent="0" algn="r" defTabSz="914400">
              <a:lnSpc>
                <a:spcPct val="100000"/>
              </a:lnSpc>
              <a:spcBef>
                <a:spcPts val="0"/>
              </a:spcBef>
              <a:spcAft>
                <a:spcPts val="0"/>
              </a:spcAft>
              <a:buClrTx/>
              <a:buSzTx/>
              <a:buFontTx/>
              <a:buNone/>
              <a:defRPr>
                <a:latin typeface="Times New Roman"/>
              </a:defRPr>
            </a:pPr>
            <a:fld id="{D3D7D1C8-AE23-AA48-DF65-C742588DBE47}"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4" name="TextBox 3"/>
          <p:cNvSpPr>
            <a:spLocks noGrp="1"/>
          </p:cNvSpPr>
          <p:nvPr/>
        </p:nvSpPr>
        <p:spPr>
          <a:xfrm>
            <a:off x="1993900" y="6234075"/>
            <a:ext cx="9194800" cy="533248"/>
          </a:xfrm>
          <a:prstGeom prst="rect">
            <a:avLst/>
          </a:prstGeom>
          <a:noFill/>
          <a:ln/>
        </p:spPr>
        <p:txBody>
          <a:bodyPr wrap="square">
            <a:noAutofit/>
          </a:bodyPr>
          <a:lstStyle/>
          <a:p>
            <a:pPr marL="0" marR="0" lvl="0" indent="0" algn="l" defTabSz="914400">
              <a:lnSpc>
                <a:spcPct val="100000"/>
              </a:lnSpc>
              <a:spcBef>
                <a:spcPts val="0"/>
              </a:spcBef>
              <a:spcAft>
                <a:spcPts val="0"/>
              </a:spcAft>
              <a:buClrTx/>
              <a:buSzTx/>
              <a:buFontTx/>
              <a:buNone/>
              <a:defRPr>
                <a:latin typeface="Times New Roman"/>
              </a:defRPr>
            </a:pPr>
            <a:r>
              <a:rPr sz="1200" b="1" i="0" u="none" cap="none" spc="0">
                <a:ln>
                  <a:noFill/>
                </a:ln>
                <a:solidFill>
                  <a:srgbClr val="25313C"/>
                </a:solidFill>
                <a:latin typeface="Times New Roman" panose="020B0604020202020204"/>
                <a:ea typeface="Times New Roman" panose="020B0604020202020204"/>
                <a:cs typeface="Times New Roman" panose="020B0604020202020204"/>
              </a:rPr>
              <a:t>Responsible: Shen Ruiting</a:t>
            </a:r>
            <a:endParaRPr sz="900" b="1" i="0" u="none" cap="none" spc="0">
              <a:ln>
                <a:noFill/>
              </a:ln>
              <a:solidFill>
                <a:srgbClr val="25313C"/>
              </a:solidFill>
              <a:latin typeface="Times New Roman" panose="020B0604020202020204"/>
              <a:ea typeface="Times New Roman" panose="020B0604020202020204"/>
              <a:cs typeface="Times New Roman" panose="020B0604020202020204"/>
            </a:endParaRPr>
          </a:p>
        </p:txBody>
      </p:sp>
      <p:sp>
        <p:nvSpPr>
          <p:cNvPr id="6" name="圆角矩形 5"/>
          <p:cNvSpPr>
            <a:spLocks noGrp="1"/>
          </p:cNvSpPr>
          <p:nvPr/>
        </p:nvSpPr>
        <p:spPr>
          <a:xfrm>
            <a:off x="342900" y="1143000"/>
            <a:ext cx="8572500" cy="3743325"/>
          </a:xfrm>
          <a:prstGeom prst="roundRect">
            <a:avLst>
              <a:gd name="adj" fmla="val 2036"/>
            </a:avLst>
          </a:prstGeom>
          <a:solidFill>
            <a:srgbClr val="E4E9F0"/>
          </a:solidFill>
          <a:ln w="11430">
            <a:solidFill>
              <a:srgbClr val="D5DED6"/>
            </a:solidFill>
            <a:prstDash val="solid"/>
          </a:ln>
        </p:spPr>
        <p:txBody>
          <a:bodyPr/>
          <a:p>
            <a:pPr>
              <a:defRPr>
                <a:latin typeface="Times New Roman"/>
              </a:defRPr>
            </a:pPr>
          </a:p>
        </p:txBody>
      </p:sp>
      <p:pic>
        <p:nvPicPr>
          <p:cNvPr id="29" name="图片 28"/>
          <p:cNvPicPr>
            <a:picLocks noChangeAspect="1"/>
          </p:cNvPicPr>
          <p:nvPr/>
        </p:nvPicPr>
        <p:blipFill>
          <a:blip r:embed="rId2"/>
          <a:srcRect l="766" r="766"/>
          <a:stretch>
            <a:fillRect/>
          </a:stretch>
        </p:blipFill>
        <p:spPr>
          <a:xfrm>
            <a:off x="381000" y="1181100"/>
            <a:ext cx="8496300" cy="3667125"/>
          </a:xfrm>
          <a:prstGeom prst="rect">
            <a:avLst/>
          </a:prstGeom>
          <a:ln/>
        </p:spPr>
      </p:pic>
      <p:sp>
        <p:nvSpPr>
          <p:cNvPr id="8" name="矩形 7"/>
          <p:cNvSpPr>
            <a:spLocks noGrp="1"/>
          </p:cNvSpPr>
          <p:nvPr/>
        </p:nvSpPr>
        <p:spPr>
          <a:xfrm>
            <a:off x="419100" y="4953000"/>
            <a:ext cx="2381250" cy="247650"/>
          </a:xfrm>
          <a:prstGeom prst="rect">
            <a:avLst/>
          </a:prstGeom>
          <a:solidFill>
            <a:srgbClr val="FFFFFF"/>
          </a:solidFill>
          <a:ln w="0">
            <a:solidFill>
              <a:srgbClr val="FFFFFF"/>
            </a:solidFill>
            <a:prstDash val="solid"/>
          </a:ln>
        </p:spPr>
        <p:txBody>
          <a:bodyPr anchor="ctr"/>
          <a:lstStyle/>
          <a:p>
            <a:pPr algn="l">
              <a:defRPr sz="10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LAND FILL · CO2 PER PERSON</a:t>
            </a:r>
          </a:p>
        </p:txBody>
      </p:sp>
      <p:pic>
        <p:nvPicPr>
          <p:cNvPr id="31" name="图片 30"/>
          <p:cNvPicPr>
            <a:picLocks noChangeAspect="1"/>
          </p:cNvPicPr>
          <p:nvPr/>
        </p:nvPicPr>
        <p:blipFill>
          <a:blip r:embed="rId3"/>
          <a:srcRect t="17391" b="17391"/>
          <a:stretch>
            <a:fillRect/>
          </a:stretch>
        </p:blipFill>
        <p:spPr>
          <a:xfrm>
            <a:off x="2724150" y="5019675"/>
            <a:ext cx="2628900" cy="114300"/>
          </a:xfrm>
          <a:prstGeom prst="rect">
            <a:avLst/>
          </a:prstGeom>
          <a:ln/>
        </p:spPr>
      </p:pic>
      <p:sp>
        <p:nvSpPr>
          <p:cNvPr id="10" name="矩形 9"/>
          <p:cNvSpPr>
            <a:spLocks noGrp="1"/>
          </p:cNvSpPr>
          <p:nvPr/>
        </p:nvSpPr>
        <p:spPr>
          <a:xfrm>
            <a:off x="5429250" y="4953000"/>
            <a:ext cx="342900" cy="247650"/>
          </a:xfrm>
          <a:prstGeom prst="rect">
            <a:avLst/>
          </a:prstGeom>
          <a:solidFill>
            <a:srgbClr val="FFFFFF"/>
          </a:solidFill>
          <a:ln w="0">
            <a:solidFill>
              <a:srgbClr val="FFFFFF"/>
            </a:solidFill>
            <a:prstDash val="solid"/>
          </a:ln>
        </p:spPr>
        <p:txBody>
          <a:bodyPr anchor="ctr"/>
          <a:lstStyle/>
          <a:p>
            <a:pPr algn="ctr">
              <a:defRPr sz="10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low</a:t>
            </a:r>
          </a:p>
        </p:txBody>
      </p:sp>
      <p:sp>
        <p:nvSpPr>
          <p:cNvPr id="11" name="矩形 10"/>
          <p:cNvSpPr>
            <a:spLocks noGrp="1"/>
          </p:cNvSpPr>
          <p:nvPr/>
        </p:nvSpPr>
        <p:spPr>
          <a:xfrm>
            <a:off x="5772150" y="4953000"/>
            <a:ext cx="400050" cy="247650"/>
          </a:xfrm>
          <a:prstGeom prst="rect">
            <a:avLst/>
          </a:prstGeom>
          <a:solidFill>
            <a:srgbClr val="FFFFFF"/>
          </a:solidFill>
          <a:ln w="0">
            <a:solidFill>
              <a:srgbClr val="FFFFFF"/>
            </a:solidFill>
            <a:prstDash val="solid"/>
          </a:ln>
        </p:spPr>
        <p:txBody>
          <a:bodyPr anchor="ctr"/>
          <a:lstStyle/>
          <a:p>
            <a:pPr algn="ctr">
              <a:defRPr sz="10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high</a:t>
            </a:r>
          </a:p>
        </p:txBody>
      </p:sp>
      <p:sp>
        <p:nvSpPr>
          <p:cNvPr id="12" name="矩形 11"/>
          <p:cNvSpPr>
            <a:spLocks noGrp="1"/>
          </p:cNvSpPr>
          <p:nvPr/>
        </p:nvSpPr>
        <p:spPr>
          <a:xfrm>
            <a:off x="419100" y="5286375"/>
            <a:ext cx="2381250" cy="247650"/>
          </a:xfrm>
          <a:prstGeom prst="rect">
            <a:avLst/>
          </a:prstGeom>
          <a:solidFill>
            <a:srgbClr val="FFFFFF"/>
          </a:solidFill>
          <a:ln w="0">
            <a:solidFill>
              <a:srgbClr val="FFFFFF"/>
            </a:solidFill>
            <a:prstDash val="solid"/>
          </a:ln>
        </p:spPr>
        <p:txBody>
          <a:bodyPr anchor="ctr"/>
          <a:lstStyle/>
          <a:p>
            <a:pPr algn="l">
              <a:defRPr sz="10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BAR HEIGHT · TOTAL CO2</a:t>
            </a:r>
          </a:p>
        </p:txBody>
      </p:sp>
      <p:pic>
        <p:nvPicPr>
          <p:cNvPr id="35" name="图片 34"/>
          <p:cNvPicPr>
            <a:picLocks noChangeAspect="1"/>
          </p:cNvPicPr>
          <p:nvPr/>
        </p:nvPicPr>
        <p:blipFill>
          <a:blip r:embed="rId4"/>
          <a:srcRect t="17391" b="17391"/>
          <a:stretch>
            <a:fillRect/>
          </a:stretch>
        </p:blipFill>
        <p:spPr>
          <a:xfrm>
            <a:off x="2724150" y="5353050"/>
            <a:ext cx="2628900" cy="114300"/>
          </a:xfrm>
          <a:prstGeom prst="rect">
            <a:avLst/>
          </a:prstGeom>
          <a:ln/>
        </p:spPr>
      </p:pic>
      <p:sp>
        <p:nvSpPr>
          <p:cNvPr id="14" name="矩形 13"/>
          <p:cNvSpPr>
            <a:spLocks noGrp="1"/>
          </p:cNvSpPr>
          <p:nvPr/>
        </p:nvSpPr>
        <p:spPr>
          <a:xfrm>
            <a:off x="5429250" y="5286375"/>
            <a:ext cx="419100" cy="247650"/>
          </a:xfrm>
          <a:prstGeom prst="rect">
            <a:avLst/>
          </a:prstGeom>
          <a:solidFill>
            <a:srgbClr val="FFFFFF"/>
          </a:solidFill>
          <a:ln w="0">
            <a:solidFill>
              <a:srgbClr val="FFFFFF"/>
            </a:solidFill>
            <a:prstDash val="solid"/>
          </a:ln>
        </p:spPr>
        <p:txBody>
          <a:bodyPr anchor="ctr"/>
          <a:lstStyle/>
          <a:p>
            <a:pPr algn="ctr">
              <a:defRPr sz="10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short</a:t>
            </a:r>
          </a:p>
        </p:txBody>
      </p:sp>
      <p:sp>
        <p:nvSpPr>
          <p:cNvPr id="15" name="矩形 14"/>
          <p:cNvSpPr>
            <a:spLocks noGrp="1"/>
          </p:cNvSpPr>
          <p:nvPr/>
        </p:nvSpPr>
        <p:spPr>
          <a:xfrm>
            <a:off x="5848350" y="5286375"/>
            <a:ext cx="361950" cy="247650"/>
          </a:xfrm>
          <a:prstGeom prst="rect">
            <a:avLst/>
          </a:prstGeom>
          <a:solidFill>
            <a:srgbClr val="FFFFFF"/>
          </a:solidFill>
          <a:ln w="0">
            <a:solidFill>
              <a:srgbClr val="FFFFFF"/>
            </a:solidFill>
            <a:prstDash val="solid"/>
          </a:ln>
        </p:spPr>
        <p:txBody>
          <a:bodyPr anchor="ctr"/>
          <a:lstStyle/>
          <a:p>
            <a:pPr algn="ctr">
              <a:defRPr sz="10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tall</a:t>
            </a:r>
          </a:p>
        </p:txBody>
      </p:sp>
      <p:sp>
        <p:nvSpPr>
          <p:cNvPr id="16" name="圆角矩形 15"/>
          <p:cNvSpPr>
            <a:spLocks noGrp="1"/>
          </p:cNvSpPr>
          <p:nvPr/>
        </p:nvSpPr>
        <p:spPr>
          <a:xfrm>
            <a:off x="9124950" y="1181100"/>
            <a:ext cx="2095500" cy="4381500"/>
          </a:xfrm>
          <a:prstGeom prst="roundRect">
            <a:avLst>
              <a:gd name="adj" fmla="val 3636"/>
            </a:avLst>
          </a:prstGeom>
          <a:solidFill>
            <a:srgbClr val="FAFBFA"/>
          </a:solidFill>
          <a:ln w="11430">
            <a:solidFill>
              <a:srgbClr val="D5DED6"/>
            </a:solidFill>
            <a:prstDash val="solid"/>
          </a:ln>
        </p:spPr>
        <p:txBody>
          <a:bodyPr/>
          <a:p>
            <a:pPr>
              <a:defRPr>
                <a:latin typeface="Times New Roman"/>
              </a:defRPr>
            </a:pPr>
          </a:p>
        </p:txBody>
      </p:sp>
      <p:sp>
        <p:nvSpPr>
          <p:cNvPr id="17" name="矩形 16"/>
          <p:cNvSpPr>
            <a:spLocks noGrp="1"/>
          </p:cNvSpPr>
          <p:nvPr/>
        </p:nvSpPr>
        <p:spPr>
          <a:xfrm>
            <a:off x="9305925" y="1333500"/>
            <a:ext cx="1714500" cy="266700"/>
          </a:xfrm>
          <a:prstGeom prst="rect">
            <a:avLst/>
          </a:prstGeom>
          <a:solidFill>
            <a:srgbClr val="FAFBFA"/>
          </a:solidFill>
          <a:ln w="0">
            <a:solidFill>
              <a:srgbClr val="FAFBFA"/>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TWO LENSES</a:t>
            </a:r>
          </a:p>
        </p:txBody>
      </p:sp>
      <p:sp>
        <p:nvSpPr>
          <p:cNvPr id="18" name="矩形 17"/>
          <p:cNvSpPr>
            <a:spLocks noGrp="1"/>
          </p:cNvSpPr>
          <p:nvPr/>
        </p:nvSpPr>
        <p:spPr>
          <a:xfrm>
            <a:off x="9305925" y="1781175"/>
            <a:ext cx="723900" cy="285750"/>
          </a:xfrm>
          <a:prstGeom prst="rect">
            <a:avLst/>
          </a:prstGeom>
          <a:solidFill>
            <a:srgbClr val="4F6E96"/>
          </a:solidFill>
          <a:ln w="0">
            <a:solidFill>
              <a:srgbClr val="4F6E96"/>
            </a:solidFill>
            <a:prstDash val="solid"/>
          </a:ln>
        </p:spPr>
        <p:txBody>
          <a:bodyPr anchor="ctr"/>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TOTAL</a:t>
            </a:r>
          </a:p>
        </p:txBody>
      </p:sp>
      <p:sp>
        <p:nvSpPr>
          <p:cNvPr id="19" name="矩形 18"/>
          <p:cNvSpPr>
            <a:spLocks noGrp="1"/>
          </p:cNvSpPr>
          <p:nvPr/>
        </p:nvSpPr>
        <p:spPr>
          <a:xfrm>
            <a:off x="9305925" y="2152650"/>
            <a:ext cx="1714500" cy="400050"/>
          </a:xfrm>
          <a:prstGeom prst="rect">
            <a:avLst/>
          </a:prstGeom>
          <a:solidFill>
            <a:srgbClr val="FAFBFA"/>
          </a:solidFill>
          <a:ln w="0">
            <a:solidFill>
              <a:srgbClr val="FAFBFA"/>
            </a:solidFill>
            <a:prstDash val="solid"/>
          </a:ln>
        </p:spPr>
        <p:txBody>
          <a:bodyPr anchor="ctr"/>
          <a:lstStyle/>
          <a:p>
            <a:pPr algn="l">
              <a:defRPr sz="18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China</a:t>
            </a:r>
          </a:p>
        </p:txBody>
      </p:sp>
      <p:sp>
        <p:nvSpPr>
          <p:cNvPr id="20" name="矩形 19"/>
          <p:cNvSpPr>
            <a:spLocks noGrp="1"/>
          </p:cNvSpPr>
          <p:nvPr/>
        </p:nvSpPr>
        <p:spPr>
          <a:xfrm>
            <a:off x="9305925" y="2533650"/>
            <a:ext cx="1714500" cy="428625"/>
          </a:xfrm>
          <a:prstGeom prst="rect">
            <a:avLst/>
          </a:prstGeom>
          <a:solidFill>
            <a:srgbClr val="FAFBFA"/>
          </a:solidFill>
          <a:ln w="0">
            <a:solidFill>
              <a:srgbClr val="FAFBFA"/>
            </a:solidFill>
            <a:prstDash val="solid"/>
          </a:ln>
        </p:spPr>
        <p:txBody>
          <a:bodyPr anchor="t"/>
          <a:lstStyle/>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Largest national burden</a:t>
            </a:r>
          </a:p>
        </p:txBody>
      </p:sp>
      <p:sp>
        <p:nvSpPr>
          <p:cNvPr id="21" name="矩形 20"/>
          <p:cNvSpPr>
            <a:spLocks noGrp="1"/>
          </p:cNvSpPr>
          <p:nvPr/>
        </p:nvSpPr>
        <p:spPr>
          <a:xfrm>
            <a:off x="9305925" y="3181350"/>
            <a:ext cx="971550" cy="285750"/>
          </a:xfrm>
          <a:prstGeom prst="rect">
            <a:avLst/>
          </a:prstGeom>
          <a:solidFill>
            <a:srgbClr val="BE7F4E"/>
          </a:solidFill>
          <a:ln w="0">
            <a:solidFill>
              <a:srgbClr val="BE7F4E"/>
            </a:solidFill>
            <a:prstDash val="solid"/>
          </a:ln>
        </p:spPr>
        <p:txBody>
          <a:bodyPr anchor="ctr"/>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PER PERSON</a:t>
            </a:r>
          </a:p>
        </p:txBody>
      </p:sp>
      <p:sp>
        <p:nvSpPr>
          <p:cNvPr id="22" name="矩形 21"/>
          <p:cNvSpPr>
            <a:spLocks noGrp="1"/>
          </p:cNvSpPr>
          <p:nvPr/>
        </p:nvSpPr>
        <p:spPr>
          <a:xfrm>
            <a:off x="9305925" y="3552825"/>
            <a:ext cx="1714500" cy="400050"/>
          </a:xfrm>
          <a:prstGeom prst="rect">
            <a:avLst/>
          </a:prstGeom>
          <a:solidFill>
            <a:srgbClr val="FAFBFA"/>
          </a:solidFill>
          <a:ln w="0">
            <a:solidFill>
              <a:srgbClr val="FAFBFA"/>
            </a:solidFill>
            <a:prstDash val="solid"/>
          </a:ln>
        </p:spPr>
        <p:txBody>
          <a:bodyPr anchor="ctr"/>
          <a:lstStyle/>
          <a:p>
            <a:pPr algn="l">
              <a:defRPr sz="18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Qatar</a:t>
            </a:r>
          </a:p>
        </p:txBody>
      </p:sp>
      <p:sp>
        <p:nvSpPr>
          <p:cNvPr id="23" name="矩形 22"/>
          <p:cNvSpPr>
            <a:spLocks noGrp="1"/>
          </p:cNvSpPr>
          <p:nvPr/>
        </p:nvSpPr>
        <p:spPr>
          <a:xfrm>
            <a:off x="9305925" y="3933825"/>
            <a:ext cx="1714500" cy="590550"/>
          </a:xfrm>
          <a:prstGeom prst="rect">
            <a:avLst/>
          </a:prstGeom>
          <a:solidFill>
            <a:srgbClr val="FAFBFA"/>
          </a:solidFill>
          <a:ln w="0">
            <a:solidFill>
              <a:srgbClr val="FAFBFA"/>
            </a:solidFill>
            <a:prstDash val="solid"/>
          </a:ln>
        </p:spPr>
        <p:txBody>
          <a:bodyPr anchor="t"/>
          <a:lstStyle/>
          <a:p>
            <a:pPr algn="l">
              <a:defRPr sz="12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High intensity, much smaller total</a:t>
            </a:r>
          </a:p>
        </p:txBody>
      </p:sp>
      <p:sp>
        <p:nvSpPr>
          <p:cNvPr id="24" name="矩形 23"/>
          <p:cNvSpPr>
            <a:spLocks noGrp="1"/>
          </p:cNvSpPr>
          <p:nvPr/>
        </p:nvSpPr>
        <p:spPr>
          <a:xfrm>
            <a:off x="9305925" y="4943475"/>
            <a:ext cx="1714500" cy="342900"/>
          </a:xfrm>
          <a:prstGeom prst="rect">
            <a:avLst/>
          </a:prstGeom>
          <a:solidFill>
            <a:srgbClr val="2F5248"/>
          </a:solidFill>
          <a:ln w="0">
            <a:solidFill>
              <a:srgbClr val="2F5248"/>
            </a:solidFill>
            <a:prstDash val="solid"/>
          </a:ln>
        </p:spPr>
        <p:txBody>
          <a:bodyPr anchor="ctr"/>
          <a:lstStyle/>
          <a:p>
            <a:pPr algn="ctr">
              <a:defRPr sz="1275"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Scale ≠ intensity</a:t>
            </a:r>
          </a:p>
        </p:txBody>
      </p:sp>
      <p:sp>
        <p:nvSpPr>
          <p:cNvPr id="38" name="Rectangle 37"/>
          <p:cNvSpPr/>
          <p:nvPr/>
        </p:nvSpPr>
        <p:spPr>
          <a:xfrm>
            <a:off x="0" y="0"/>
            <a:ext cx="12192000" cy="841248"/>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9" name="Rectangle 38"/>
          <p:cNvSpPr/>
          <p:nvPr/>
        </p:nvSpPr>
        <p:spPr>
          <a:xfrm>
            <a:off x="0" y="841248"/>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0" name="TextBox 39"/>
          <p:cNvSpPr txBox="1"/>
          <p:nvPr/>
        </p:nvSpPr>
        <p:spPr>
          <a:xfrm>
            <a:off x="384048" y="45720"/>
            <a:ext cx="9966960" cy="749808"/>
          </a:xfrm>
          <a:prstGeom prst="rect">
            <a:avLst/>
          </a:prstGeom>
          <a:noFill/>
          <a:ln>
            <a:noFill/>
          </a:ln>
          <a:effectLst/>
        </p:spPr>
        <p:txBody>
          <a:bodyPr wrap="square" anchor="ctr" lIns="0" tIns="0" bIns="0">
            <a:spAutoFit/>
          </a:bodyPr>
          <a:lstStyle/>
          <a:p>
            <a:pPr algn="l">
              <a:defRPr>
                <a:latin typeface="Times New Roman"/>
              </a:defRPr>
            </a:pPr>
            <a:r>
              <a:rPr sz="1350" b="1">
                <a:solidFill>
                  <a:srgbClr val="D3E3D6"/>
                </a:solidFill>
                <a:latin typeface="Georgia"/>
              </a:rPr>
              <a:t>EXPLORATION OF DATASET:  </a:t>
            </a:r>
            <a:r>
              <a:rPr sz="1800" b="1">
                <a:solidFill>
                  <a:srgbClr val="FFFFFF"/>
                </a:solidFill>
                <a:latin typeface="Georgia"/>
              </a:rPr>
              <a:t>Total burden and per-capita intensity tell different stories</a:t>
            </a:r>
          </a:p>
        </p:txBody>
      </p:sp>
      <p:sp>
        <p:nvSpPr>
          <p:cNvPr id="41" name="TextBox 40"/>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6 / 7</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23" name="Rectangle 22"/>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Slide Number Placeholder 4"/>
          <p:cNvSpPr>
            <a:spLocks noGrp="1"/>
          </p:cNvSpPr>
          <p:nvPr>
            <p:ph type="sldNum" idx="12"/>
          </p:nvPr>
        </p:nvSpPr>
        <p:spPr>
          <a:xfrm>
            <a:off x="11561522" y="6356350"/>
            <a:ext cx="518786" cy="362485"/>
          </a:xfrm>
          <a:ln/>
        </p:spPr>
        <p:txBody>
          <a:bodyPr/>
          <a:lstStyle/>
          <a:p>
            <a:pPr marL="0" marR="0" lvl="0" indent="0" algn="r" defTabSz="914400">
              <a:lnSpc>
                <a:spcPct val="100000"/>
              </a:lnSpc>
              <a:spcBef>
                <a:spcPts val="0"/>
              </a:spcBef>
              <a:spcAft>
                <a:spcPts val="0"/>
              </a:spcAft>
              <a:buClrTx/>
              <a:buSzTx/>
              <a:buFontTx/>
              <a:buNone/>
              <a:defRPr>
                <a:latin typeface="Times New Roman"/>
              </a:defRPr>
            </a:pPr>
            <a:fld id="{BA58DA2A-B818-18A9-29C1-B697728D5BCE}"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4" name="TextBox 3"/>
          <p:cNvSpPr>
            <a:spLocks noGrp="1"/>
          </p:cNvSpPr>
          <p:nvPr/>
        </p:nvSpPr>
        <p:spPr>
          <a:xfrm>
            <a:off x="1993900" y="6234075"/>
            <a:ext cx="9194800" cy="533248"/>
          </a:xfrm>
          <a:prstGeom prst="rect">
            <a:avLst/>
          </a:prstGeom>
          <a:noFill/>
          <a:ln/>
        </p:spPr>
        <p:txBody>
          <a:bodyPr wrap="square">
            <a:noAutofit/>
          </a:bodyPr>
          <a:lstStyle/>
          <a:p>
            <a:pPr marL="0" marR="0" lvl="0" indent="0" algn="l" defTabSz="914400">
              <a:lnSpc>
                <a:spcPct val="100000"/>
              </a:lnSpc>
              <a:spcBef>
                <a:spcPts val="0"/>
              </a:spcBef>
              <a:spcAft>
                <a:spcPts val="0"/>
              </a:spcAft>
              <a:buClrTx/>
              <a:buSzTx/>
              <a:buFontTx/>
              <a:buNone/>
              <a:defRPr>
                <a:latin typeface="Times New Roman"/>
              </a:defRPr>
            </a:pPr>
            <a:r>
              <a:rPr sz="1200" b="1" i="0" u="none" cap="none" spc="0">
                <a:ln>
                  <a:noFill/>
                </a:ln>
                <a:solidFill>
                  <a:srgbClr val="25313C"/>
                </a:solidFill>
                <a:latin typeface="Times New Roman" panose="020B0604020202020204"/>
                <a:ea typeface="Times New Roman" panose="020B0604020202020204"/>
                <a:cs typeface="Times New Roman" panose="020B0604020202020204"/>
              </a:rPr>
              <a:t>Responsible: Shen Ruiting</a:t>
            </a:r>
            <a:endParaRPr sz="900" b="1" i="0" u="none" cap="none" spc="0">
              <a:ln>
                <a:noFill/>
              </a:ln>
              <a:solidFill>
                <a:srgbClr val="25313C"/>
              </a:solidFill>
              <a:latin typeface="Times New Roman" panose="020B0604020202020204"/>
              <a:ea typeface="Times New Roman" panose="020B0604020202020204"/>
              <a:cs typeface="Times New Roman" panose="020B0604020202020204"/>
            </a:endParaRPr>
          </a:p>
        </p:txBody>
      </p:sp>
      <p:sp>
        <p:nvSpPr>
          <p:cNvPr id="6" name="圆角矩形 5"/>
          <p:cNvSpPr>
            <a:spLocks noGrp="1"/>
          </p:cNvSpPr>
          <p:nvPr/>
        </p:nvSpPr>
        <p:spPr>
          <a:xfrm>
            <a:off x="342900" y="1076325"/>
            <a:ext cx="11410950" cy="4810125"/>
          </a:xfrm>
          <a:prstGeom prst="roundRect">
            <a:avLst>
              <a:gd name="adj" fmla="val 1584"/>
            </a:avLst>
          </a:prstGeom>
          <a:solidFill>
            <a:srgbClr val="EDF3EF"/>
          </a:solidFill>
          <a:ln w="11430">
            <a:solidFill>
              <a:srgbClr val="D5DED6"/>
            </a:solidFill>
            <a:prstDash val="solid"/>
          </a:ln>
        </p:spPr>
        <p:txBody>
          <a:bodyPr/>
          <a:p>
            <a:pPr>
              <a:defRPr>
                <a:latin typeface="Times New Roman"/>
              </a:defRPr>
            </a:pPr>
          </a:p>
        </p:txBody>
      </p:sp>
      <p:pic>
        <p:nvPicPr>
          <p:cNvPr id="21" name="图片 20"/>
          <p:cNvPicPr>
            <a:picLocks noChangeAspect="1"/>
          </p:cNvPicPr>
          <p:nvPr/>
        </p:nvPicPr>
        <p:blipFill>
          <a:blip r:embed="rId2"/>
          <a:srcRect t="50" b="50"/>
          <a:stretch>
            <a:fillRect/>
          </a:stretch>
        </p:blipFill>
        <p:spPr>
          <a:xfrm>
            <a:off x="381000" y="1114425"/>
            <a:ext cx="11334750" cy="4733925"/>
          </a:xfrm>
          <a:prstGeom prst="rect">
            <a:avLst/>
          </a:prstGeom>
          <a:ln/>
        </p:spPr>
      </p:pic>
      <p:sp>
        <p:nvSpPr>
          <p:cNvPr id="8" name="圆角矩形 7"/>
          <p:cNvSpPr>
            <a:spLocks noGrp="1"/>
          </p:cNvSpPr>
          <p:nvPr/>
        </p:nvSpPr>
        <p:spPr>
          <a:xfrm>
            <a:off x="723900" y="5048250"/>
            <a:ext cx="7962900" cy="581025"/>
          </a:xfrm>
          <a:prstGeom prst="roundRect">
            <a:avLst>
              <a:gd name="adj" fmla="val 13115"/>
            </a:avLst>
          </a:prstGeom>
          <a:solidFill>
            <a:srgbClr val="FAFBFA"/>
          </a:solidFill>
          <a:ln w="9525">
            <a:solidFill>
              <a:srgbClr val="D5DED6"/>
            </a:solidFill>
            <a:prstDash val="solid"/>
          </a:ln>
        </p:spPr>
        <p:txBody>
          <a:bodyPr/>
          <a:p>
            <a:pPr>
              <a:defRPr>
                <a:latin typeface="Times New Roman"/>
              </a:defRPr>
            </a:pPr>
          </a:p>
        </p:txBody>
      </p:sp>
      <p:sp>
        <p:nvSpPr>
          <p:cNvPr id="9" name="矩形 8"/>
          <p:cNvSpPr>
            <a:spLocks noGrp="1"/>
          </p:cNvSpPr>
          <p:nvPr/>
        </p:nvSpPr>
        <p:spPr>
          <a:xfrm>
            <a:off x="895350" y="5191125"/>
            <a:ext cx="685800" cy="285750"/>
          </a:xfrm>
          <a:prstGeom prst="rect">
            <a:avLst/>
          </a:prstGeom>
          <a:solidFill>
            <a:srgbClr val="6B6250"/>
          </a:solidFill>
          <a:ln w="0">
            <a:solidFill>
              <a:srgbClr val="6B6250"/>
            </a:solidFill>
            <a:prstDash val="solid"/>
          </a:ln>
        </p:spPr>
        <p:txBody>
          <a:bodyPr anchor="ctr"/>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COAL</a:t>
            </a:r>
          </a:p>
        </p:txBody>
      </p:sp>
      <p:sp>
        <p:nvSpPr>
          <p:cNvPr id="10" name="矩形 9"/>
          <p:cNvSpPr>
            <a:spLocks noGrp="1"/>
          </p:cNvSpPr>
          <p:nvPr/>
        </p:nvSpPr>
        <p:spPr>
          <a:xfrm>
            <a:off x="1657350" y="5191125"/>
            <a:ext cx="952500" cy="285750"/>
          </a:xfrm>
          <a:prstGeom prst="rect">
            <a:avLst/>
          </a:prstGeom>
          <a:solidFill>
            <a:srgbClr val="FAFBFA"/>
          </a:solidFill>
          <a:ln w="0">
            <a:solidFill>
              <a:srgbClr val="FAFBFA"/>
            </a:solidFill>
            <a:prstDash val="solid"/>
          </a:ln>
        </p:spPr>
        <p:txBody>
          <a:bodyPr anchor="ctr"/>
          <a:lstStyle/>
          <a:p>
            <a:pPr algn="l">
              <a:defRPr sz="105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Asia</a:t>
            </a:r>
          </a:p>
        </p:txBody>
      </p:sp>
      <p:sp>
        <p:nvSpPr>
          <p:cNvPr id="11" name="矩形 10"/>
          <p:cNvSpPr>
            <a:spLocks noGrp="1"/>
          </p:cNvSpPr>
          <p:nvPr/>
        </p:nvSpPr>
        <p:spPr>
          <a:xfrm>
            <a:off x="2857500" y="5191125"/>
            <a:ext cx="685800" cy="285750"/>
          </a:xfrm>
          <a:prstGeom prst="rect">
            <a:avLst/>
          </a:prstGeom>
          <a:solidFill>
            <a:srgbClr val="BE7F4E"/>
          </a:solidFill>
          <a:ln w="0">
            <a:solidFill>
              <a:srgbClr val="BE7F4E"/>
            </a:solidFill>
            <a:prstDash val="solid"/>
          </a:ln>
        </p:spPr>
        <p:txBody>
          <a:bodyPr anchor="ctr"/>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OIL</a:t>
            </a:r>
          </a:p>
        </p:txBody>
      </p:sp>
      <p:sp>
        <p:nvSpPr>
          <p:cNvPr id="12" name="矩形 11"/>
          <p:cNvSpPr>
            <a:spLocks noGrp="1"/>
          </p:cNvSpPr>
          <p:nvPr/>
        </p:nvSpPr>
        <p:spPr>
          <a:xfrm>
            <a:off x="3619500" y="5191125"/>
            <a:ext cx="2476500" cy="285750"/>
          </a:xfrm>
          <a:prstGeom prst="rect">
            <a:avLst/>
          </a:prstGeom>
          <a:solidFill>
            <a:srgbClr val="FAFBFA"/>
          </a:solidFill>
          <a:ln w="0">
            <a:solidFill>
              <a:srgbClr val="FAFBFA"/>
            </a:solidFill>
            <a:prstDash val="solid"/>
          </a:ln>
        </p:spPr>
        <p:txBody>
          <a:bodyPr anchor="ctr"/>
          <a:lstStyle/>
          <a:p>
            <a:pPr algn="l">
              <a:defRPr sz="12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Africa · Middle East · Americas</a:t>
            </a:r>
          </a:p>
        </p:txBody>
      </p:sp>
      <p:sp>
        <p:nvSpPr>
          <p:cNvPr id="13" name="矩形 12"/>
          <p:cNvSpPr>
            <a:spLocks noGrp="1"/>
          </p:cNvSpPr>
          <p:nvPr/>
        </p:nvSpPr>
        <p:spPr>
          <a:xfrm>
            <a:off x="6305550" y="5191125"/>
            <a:ext cx="685800" cy="285750"/>
          </a:xfrm>
          <a:prstGeom prst="rect">
            <a:avLst/>
          </a:prstGeom>
          <a:solidFill>
            <a:srgbClr val="4F6E96"/>
          </a:solidFill>
          <a:ln w="0">
            <a:solidFill>
              <a:srgbClr val="4F6E96"/>
            </a:solidFill>
            <a:prstDash val="solid"/>
          </a:ln>
        </p:spPr>
        <p:txBody>
          <a:bodyPr anchor="ctr"/>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GAS</a:t>
            </a:r>
          </a:p>
        </p:txBody>
      </p:sp>
      <p:sp>
        <p:nvSpPr>
          <p:cNvPr id="14" name="矩形 13"/>
          <p:cNvSpPr>
            <a:spLocks noGrp="1"/>
          </p:cNvSpPr>
          <p:nvPr/>
        </p:nvSpPr>
        <p:spPr>
          <a:xfrm>
            <a:off x="7067550" y="5191125"/>
            <a:ext cx="1447800" cy="285750"/>
          </a:xfrm>
          <a:prstGeom prst="rect">
            <a:avLst/>
          </a:prstGeom>
          <a:solidFill>
            <a:srgbClr val="FAFBFA"/>
          </a:solidFill>
          <a:ln w="0">
            <a:solidFill>
              <a:srgbClr val="FAFBFA"/>
            </a:solidFill>
            <a:prstDash val="solid"/>
          </a:ln>
        </p:spPr>
        <p:txBody>
          <a:bodyPr anchor="ctr"/>
          <a:lstStyle/>
          <a:p>
            <a:pPr algn="l">
              <a:defRPr sz="105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Russia · Central Asia</a:t>
            </a:r>
          </a:p>
        </p:txBody>
      </p:sp>
      <p:sp>
        <p:nvSpPr>
          <p:cNvPr id="15" name="圆角矩形 14"/>
          <p:cNvSpPr>
            <a:spLocks noGrp="1"/>
          </p:cNvSpPr>
          <p:nvPr/>
        </p:nvSpPr>
        <p:spPr>
          <a:xfrm>
            <a:off x="8896350" y="5048250"/>
            <a:ext cx="2724150" cy="581025"/>
          </a:xfrm>
          <a:prstGeom prst="roundRect">
            <a:avLst>
              <a:gd name="adj" fmla="val 13115"/>
            </a:avLst>
          </a:prstGeom>
          <a:solidFill>
            <a:srgbClr val="ECEFF4"/>
          </a:solidFill>
          <a:ln w="11430">
            <a:solidFill>
              <a:srgbClr val="4F6E96"/>
            </a:solidFill>
            <a:prstDash val="solid"/>
          </a:ln>
        </p:spPr>
        <p:txBody>
          <a:bodyPr/>
          <a:p>
            <a:pPr>
              <a:defRPr>
                <a:latin typeface="Times New Roman"/>
              </a:defRPr>
            </a:pPr>
          </a:p>
        </p:txBody>
      </p:sp>
      <p:sp>
        <p:nvSpPr>
          <p:cNvPr id="16" name="矩形 15"/>
          <p:cNvSpPr>
            <a:spLocks noGrp="1"/>
          </p:cNvSpPr>
          <p:nvPr/>
        </p:nvSpPr>
        <p:spPr>
          <a:xfrm>
            <a:off x="9048750" y="5143500"/>
            <a:ext cx="2419350" cy="390525"/>
          </a:xfrm>
          <a:prstGeom prst="rect">
            <a:avLst/>
          </a:prstGeom>
          <a:solidFill>
            <a:srgbClr val="ECEFF4"/>
          </a:solidFill>
          <a:ln w="0">
            <a:solidFill>
              <a:srgbClr val="ECEFF4"/>
            </a:solidFill>
            <a:prstDash val="solid"/>
          </a:ln>
        </p:spPr>
        <p:txBody>
          <a:bodyPr anchor="ctr"/>
          <a:lstStyle/>
          <a:p>
            <a:pPr algn="ctr">
              <a:defRPr sz="12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Dominant fuel shows category; pies retain the actual mix.</a:t>
            </a:r>
          </a:p>
        </p:txBody>
      </p:sp>
      <p:sp>
        <p:nvSpPr>
          <p:cNvPr id="24" name="Rectangle 23"/>
          <p:cNvSpPr/>
          <p:nvPr/>
        </p:nvSpPr>
        <p:spPr>
          <a:xfrm>
            <a:off x="0" y="0"/>
            <a:ext cx="12192000" cy="841248"/>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5" name="Rectangle 24"/>
          <p:cNvSpPr/>
          <p:nvPr/>
        </p:nvSpPr>
        <p:spPr>
          <a:xfrm>
            <a:off x="0" y="841248"/>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6" name="TextBox 25"/>
          <p:cNvSpPr txBox="1"/>
          <p:nvPr/>
        </p:nvSpPr>
        <p:spPr>
          <a:xfrm>
            <a:off x="384048" y="45720"/>
            <a:ext cx="9966960" cy="749808"/>
          </a:xfrm>
          <a:prstGeom prst="rect">
            <a:avLst/>
          </a:prstGeom>
          <a:noFill/>
          <a:ln>
            <a:noFill/>
          </a:ln>
          <a:effectLst/>
        </p:spPr>
        <p:txBody>
          <a:bodyPr wrap="square" anchor="ctr" lIns="0" tIns="0" bIns="0">
            <a:spAutoFit/>
          </a:bodyPr>
          <a:lstStyle/>
          <a:p>
            <a:pPr algn="l">
              <a:defRPr>
                <a:latin typeface="Times New Roman"/>
              </a:defRPr>
            </a:pPr>
            <a:r>
              <a:rPr sz="1350" b="1">
                <a:solidFill>
                  <a:srgbClr val="D3E3D6"/>
                </a:solidFill>
                <a:latin typeface="Georgia"/>
              </a:rPr>
              <a:t>EXPLORATION OF DATASET:  </a:t>
            </a:r>
            <a:r>
              <a:rPr sz="2200" b="1">
                <a:solidFill>
                  <a:srgbClr val="FFFFFF"/>
                </a:solidFill>
                <a:latin typeface="Georgia"/>
              </a:rPr>
              <a:t>Fuel dependence is geographically uneven</a:t>
            </a:r>
          </a:p>
        </p:txBody>
      </p:sp>
      <p:sp>
        <p:nvSpPr>
          <p:cNvPr id="27" name="TextBox 26"/>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7 / 7</a:t>
            </a:r>
          </a:p>
        </p:txBody>
      </p:sp>
    </p:spTree>
  </p:cSld>
  <p:clrMapOvr>
    <a:masterClrMapping/>
  </p:clrMapOvr>
  <p:transition spd="med">
    <p:fade/>
  </p:transition>
</p:sld>
</file>

<file path=ppt/tags/tag1.xml><?xml version="1.0" encoding="utf-8"?>
<p:tagLst xmlns:p="http://schemas.openxmlformats.org/presentationml/2006/main">
  <p:tag name="commondata" val="eyJoZGlkIjoiZGQ0MGQwMzljZTE0ZTg5YjY4YTg1OTEzZmNiZWMxM2IifQ=="/>
  <p:tag name="resource_record_key" val="{&quot;13&quot;:[202096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13408</Words>
  <Application>WPS 演示</Application>
  <PresentationFormat>Converted Presentation</PresentationFormat>
  <Paragraphs>790</Paragraphs>
  <Slides>22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宋体</vt:lpstr>
      <vt:lpstr>Wingdings</vt:lpstr>
      <vt:lpstr>Arial</vt:lpstr>
      <vt:lpstr>Arial Narrow</vt:lpstr>
      <vt:lpstr>微软雅黑</vt:lpstr>
      <vt:lpstr>Arial Unicode MS</vt:lpstr>
      <vt:lpstr>Calibri Light</vt:lpstr>
      <vt:lpstr>Calibri</vt:lpstr>
      <vt:lpstr>等线</vt:lpstr>
      <vt:lpstr>Office Theme</vt:lpstr>
      <vt:lpstr>AI UX &amp; Data Visualisation Design Principles (CA6002)</vt:lpstr>
      <vt:lpstr>Contents</vt:lpstr>
      <vt:lpstr>Emissions kept rising — but not along one shared path</vt:lpstr>
      <vt:lpstr>Two sources create one traceable emissions panel</vt:lpstr>
      <vt:lpstr>A controlled left join keeps the OWID backbone intact</vt:lpstr>
      <vt:lpstr>Total CO2 grew nearly five times faster than per person</vt:lpstr>
      <vt:lpstr>Long-term growth differs from recent momentum</vt:lpstr>
      <vt:lpstr>A small set of countries drives most 2021 emissions</vt:lpstr>
      <vt:lpstr>Total burden and per-capita intensity tell different stories</vt:lpstr>
      <vt:lpstr>Fuel dependence is geographically uneven</vt:lpstr>
      <vt:lpstr>From 213 territories to 193 comparable country profiles</vt:lpstr>
      <vt:lpstr>Eleven features describe level, direction, timing and fuel shift</vt:lpstr>
      <vt:lpstr>A fixed pipeline turns 30-year histories into two pathways</vt:lpstr>
      <vt:lpstr>All three validity metrics rank K = 2 first</vt:lpstr>
      <vt:lpstr>Two pathways separate cleanly in reduced feature space</vt:lpstr>
      <vt:lpstr>K = 2 leads on separation, overlap and between-cluster distance</vt:lpstr>
      <vt:lpstr>The split survives resampling — ten countries stay uncertain</vt:lpstr>
      <vt:lpstr>One rising total conceals two different transition pressures</vt:lpstr>
      <vt:lpstr>Current burden and future pressure require different lenses</vt:lpstr>
      <vt:lpstr>Transition pressures are geographically uneven</vt:lpstr>
      <vt:lpstr>Different pathways require different monitoring priorities</vt:lpstr>
      <vt:lpstr>From one emission total to pathway-specific monitoring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UX &amp; Data Visualisation Design Principles (CA6002)</dc:title>
  <dc:creator>Walnut Exporter</dc:creator>
  <cp:lastModifiedBy>沈瑞庭</cp:lastModifiedBy>
  <cp:revision>3</cp:revision>
  <dcterms:created xsi:type="dcterms:W3CDTF">2026-08-30T06:44:00Z</dcterms:created>
  <dcterms:modified xsi:type="dcterms:W3CDTF">2026-08-30T07:09:48Z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946010AEEC8C418DAEFDEEC71A2EAEFC_12</vt:lpwstr>
  </property>
  <property fmtid="{D5CDD505-2E9C-101B-9397-08002B2CF9AE}" pid="3" name="KSOProductBuildVer">
    <vt:lpwstr>2052-12.1.0.18276</vt:lpwstr>
  </property>
</Properties>
</file>