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3" r:id="rId3"/>
    <p:sldId id="264" r:id="rId5"/>
    <p:sldId id="265" r:id="rId6"/>
    <p:sldId id="256" r:id="rId7"/>
    <p:sldId id="257" r:id="rId8"/>
    <p:sldId id="258" r:id="rId9"/>
    <p:sldId id="259" r:id="rId10"/>
    <p:sldId id="260" r:id="rId11"/>
    <p:sldId id="261" r:id="rId12"/>
    <p:sldId id="262"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9144000"/>
  <p:custDataLst>
    <p:tags r:id="rId3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Title slide. Text-only cover by design: no data graphic here, only the framing question and the one number the whole deck investigates. Group 30.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Contents slide. Section names match the banner on every later slide, so the audience can map any page back to this overview.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Motivation: despite three decades of climate attention, the sample-wide fossil CO2 total still grew 63.8% between 1992 and 2021 (21.97 to 35.98 Gt). This slide poses the investigative question chain that structures the whole deck; the maroon-framed Q4 is the managerial question the Visual Storytelling section answers. Design rationale: two high-salience stat cards establish the contradiction before any methodology, and the numbered chain previews the four analytical stages.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slide establishes the provenance of the analytical panel. OWID is the backbone because it provides consistent country-year coverage for population, total CO₂ and per-capita emissions. Global Carbon Budget 2022 (v27) is used only to supplement coal, oil and gas components when those fields are missing in OWID. The visual separates the roles of the two sources and makes the no-overwrite rule explicit. This improves traceability but does not make the sources conceptually identical; definitions and coverage can still vary by entity and year. Generative AI supported slide composition and wording; the source data and calculations were checked against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Our World in Data CO₂ Data; Global Carbon Budget 2022 (v27); Final_data/README.md.</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process diagram explains how the sources become an analysis-ready panel. We restrict the study to 1992–2021, retain valid ISO rows and harmonise ISO-3 and year keys. A left join keeps the OWID backbone, while GCB values fill only missing fuel components. We then remove records without required core or growth fields, derive fuel shares and quality flags, and verify key uniqueness. The result contains 6,378 country-year rows, 213 entities, 30 years and 22 fields; 50.8% of rows receive at least one supplemented fuel value. The panel is intentionally unbalanced. Generative AI supported composition; the workflow and counts follow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Final_data/README.md and the merged country-year panel.</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paired line charts are appropriate because they compare change through time while preserving the distinct units of total and per-capita emissions. From 1992 to 2021, aggregate CO₂ increased from 21.97 to 35.98 Gt, a 63.8% rise. Per-capita emissions increased from about 4.00 to 4.53 tonnes per person, or 13.3%. The contrast shows that growth in global scale was much stronger than growth in individual intensity. Separate vertical scales prevent the smaller per-capita series from being visually flattened. These are panel aggregates rather than a causal decomposition. Generative AI supported placement and explanatory wording; the temporal chart was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1992–2021; temporal analysis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scatter plot separates two temporal dimensions for each country: the x-axis is the long-term log trend, and the y-axis is the recent trend minus the long-term trend. Countries in the upper-right combine sustained growth with recent acceleration; countries in the lower-right still have positive long-run growth but are slowing relative to that baseline. Filled and outlined squares distinguish the direction of the per-capita trend. The examples illustrate why one start-to-end change cannot represent timing and momentum simultaneously. Extreme values and short or incomplete series require caution. Generative AI supported slide composition; the plotted temporal results were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temporal trend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treemap is suited to a part-to-whole question: rectangle area encodes each country’s share of 2021 total CO₂, while colour groups countries by region. Asia accounts for 59.8% of the total, China alone for 31.4%, and the twenty largest emitters together for 81.2%. This concentration means that global totals are driven by a relatively small set of countries, but area does not express per-capita responsibility or historical contribution. Very small countries are intentionally unlabeled because the available area is insufficient. Generative AI supported slide composition and wording; the underlying visualization was created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treemap figure.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combines two complementary encodings. Land colour represents per-capita CO₂, while vertical bars represent total national emissions; reading both avoids treating national scale and individual intensity as the same concept. China dominates total emissions, whereas Qatar is a high-intensity example despite a much smaller national total. Of 213 entities in the panel, 169 match Natural Earth 110m polygons, covering approximately 99.6% of mapped emissions. Small islands and territories may therefore be absent from land fill. Bar height is comparative rather than a literal geographic measurement. Generative AI supported slide composition;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Natural Earth 110m; project scale-versus-intensity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shows the dominant fossil-fuel component for each country in 2021: coal, oil or gas. The pie charts add the actual three-fuel shares for selected major emitters, preventing a single dominant-fuel label from hiding mixed national structures. Coal dependence is prominent across much of Asia, oil dominates many countries in Africa, the Middle East and the Americas, and gas is prominent in Russia and parts of Central Asia. Fuel shares describe composition, not total magnitude, and coverage varies across small entities. Generative AI supported slide composition and wording;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dominant-fuel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funnel defines the modelling sample and makes every exclusion traceable: from 6,378 country-year rows (213 entities) we remove 16 micro states and 4 entities without a complete 1992-2021 history, leaving 193 modelled countries. Design rationale: a narrowing funnel encodes attrition visually; exclusion reasons sit next to the counts so the audience can audit the sample. Source: cohort_audit.csv from our pipeline.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Feature engineering turns each 30-year history into 11 comparable features in four blocks: level (log recent per-capita CO2), direction (long-term slope, recent slope, acceleration), timing (volatility, peak timing, post-peak change) and fuel shift (coal/gas shares and their change). Deliberate exclusion: total emissions and population are NOT features - size must not decide the grouping; size returns only when we interpret the pathways in Visual Storytelling. Design rationale: four parallel cards mirror the four feature families so the audience learns the feature grammar once.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pipeline is deliberately fixed end-to-end so every later figure traces back to one model run: panel -&gt; 193 eleven-feature profiles -&gt; RobustScaler -&gt; PCA (4 components, 87.41% cumulative variance) -&gt; K-means compared over K = 2-8 (n_init = 50, seed = 42). GMM soft membership and 100 x 80% subsampling are validation instruments drawn outside the main flow. Design rationale: a left-to-right pipeline matches reading order; the amber validation boxes hang below to show they check the model rather than train it.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 was chosen by evidence, not convenience: silhouette (0.486, highest), Davies-Bouldin (0.865, lowest) and Calinski-Harabasz (98.3, highest) all rank K = 2 first across K = 2-8. Inertia is plotted for completeness only because it mechanically decreases with K. Design rationale: three small-multiple panels share one x-axis so the same dashed marker at K = 2 can be compared across criteria at a glance. Source: k_selection_metrics.csv.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 PCA projection checks whether the K = 2 structure is real in the feature space rather than an artefact of the algorithm. The amber rapid-growth pathway (24 countries) forms a compact group clearly offset from the broader steel-blue plateauing/slowdown pathway (169). Dark rings flag the 10 boundary countries whose membership is uncertain. Caveat stated on-slide: clustering ran on 4 components (87.41% variance); PC1+PC2 alone show 70.8%, so this view is illustrative. Design rationale: colour encodes only pathway membership; a third visual channel (ring) carries uncertainty instead of a third colour.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full K = 2-8 comparison table lets the audience verify the K choice themselves; each column header states the direction of 'better'. We explicitly state why supervised metrics are not applicable - clustering has no ground-truth labels, so internal validity (this slide) plus stability and membership uncertainty (next slide) carry the evaluation. Design rationale: the selected row uses the deck's maroon accent to pull the eye to the decision before the supporting rows are read. Source: k_selection_metrics.csv.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Stability was tested with 100 refits on 80% country subsamples (scaling, PCA and K-means re-estimated each time): median ARI 0.965 against the full-sample labels, so the macro split is not an initialisation artefact. A GMM fitted on the same PCA space adds soft membership probabilities: median confidence 98.7%, and exactly 10 countries fall below 0.70 - these become the 'boundary countries' carried into Visual Storytelling. Design rationale: histogram plus sorted dot plot show the full distributions rather than a single summary statistic. Sources: stability_results.csv, gmm_membership_probabilities.csv.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stacked area on the left decomposes the rising sample total: the plateauing pathway is the thick base that carries 92.2% of 2017-2021 emissions, while the rapid-growth band is thin but grew far faster (+198% versus +58% since 1992). The right panel shows the two transition shapes: the plateauing pathway peaks around 2009 and flattens, the rapid-growth pathway is still climbing with a median peak only in 2018. Pathways are empirical patterns in the sample window - not country rankings, not predictions. Fuel shares are the median country-level CO2-source shares inside each pathway - the typical country, not the pathway aggregate: weighted by emissions the two pathways look similar (coal 48% vs 44% of 2017-2021 fossil CO2), because a few large coal economies sit inside the plateauing pathway. Design rationale: the figure carries the argument and the two strips below only quantify it, so this page is evidence-led rather than text-led. Sources: co2_panel_1992_2021.csv, cluster_profiles.csv.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country is plotted by current burden (x: average annual fossil CO2 2017-2021, log scale) against recent momentum (y: 2012-2021 log-slope of per-capita CO2, % per year); colour is the validated pathway and dark rings are boundary countries. Reading: upper right = burden AND growth (double attention); upper left = future pressure; lower right = today's mitigation lever. Both single-lens failures are stated on the slide. Bubble area is deliberately NOT reused for emissions because the x-axis already carries it.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frozen K = 2 labels are projected onto the world map using only the two pathway colours; boundary countries get a dark outline instead of a third colour, and grey countries were not modelled (micro states or incomplete histories). Geography was never a model feature - this map shows where the data-driven pathways happen to fall. Twenty-eight small island or city-state members (27 plateauing, 1 rapid-growth) are invisible at this 1:110m base-map scale. Design rationale: the same basemap family and legend style as the exploration maps keeps the spatial language consistent. Source: country_features_with_clusters.csv + Natural Earth 110m.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closing storytelling page joins the spatial and the managerial argument. The map reuses the spatial team's centroid method (CO2-weighted country centroids, code/瑞庭_绘图/scripts/_render_p3_trajectory_revised.py) but replaces continents with the two validated pathways: the overall centre of gravity moves from 15E to 44E, the plateauing centre follows it, and the rapid-growth centre sits in South/Southeast Asia the whole time while its total grows +198%. The table then converts pathways into monitoring instructions: growth, fuel shares, peak timing and lock-in for the rapid-growth pathway; absolute decline for the plateauing pathway; data quality and membership stability for boundary countries. Positions are plotted at true coordinates with no magnification.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Conclusions avoid repeating earlier slides and instead summarise the contribution: one rising sample total was decomposed into two validated transition pressures plus an explicitly uncertain boundary set, each with its own monitoring implication. Novelty: the trajectory-profile feature design and the stability-checked use of K-means as a screening device for management attention. Limits are stated plainly: exploratory, non-causal, non-predictive.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Acknowledgements slide. It credits the course, the open-source toolchain and the generative-AI assistance, and lists the six references cited on the slides: the two data sources, the basemap, the clustering library and the two cluster-validity papers behind the silhouette and ARI diagnostics.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54D28968-2D6D-48A2-B9D0-F55DF243ED4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228C1780-0C29-4D1C-AB97-38613CB3A71B}"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1E6AE7E8-3716-469C-989E-87A700822FC8}"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6C0DE861-2440-4F5E-88B3-6FDE4E57ECD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1F805EA7-111E-4CDD-9BA2-5013606D53E8}" type="datetime1">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A16C0091-ECFB-4ECB-BB63-5B53D407EE7E}" type="datetime1">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B1DFA363-8673-4E94-B192-6D142E51F388}" type="datetime1">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C2ADB4DB-8147-4901-B0BF-07F7F41BD53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546F6B78-6B32-470A-8391-BA66CA49170D}"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6FCA152-08ED-4419-B653-34979455CF6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463BF55D-C37F-422E-A25A-70054E1EEFAD}"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552A40C-D177-43C1-8C81-1F22F41E983D}" type="datetime1">
              <a:rPr/>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55F2AC1-5349-40F4-976A-E0D325BAD41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5" name="Picture 4" descr="art_hills.png"/>
          <p:cNvPicPr>
            <a:picLocks noChangeAspect="1"/>
          </p:cNvPicPr>
          <p:nvPr/>
        </p:nvPicPr>
        <p:blipFill>
          <a:blip r:embed="rId1"/>
          <a:stretch>
            <a:fillRect/>
          </a:stretch>
        </p:blipFill>
        <p:spPr>
          <a:xfrm>
            <a:off x="0" y="5074920"/>
            <a:ext cx="12192000" cy="1280160"/>
          </a:xfrm>
          <a:prstGeom prst="rect">
            <a:avLst/>
          </a:prstGeom>
        </p:spPr>
      </p:pic>
      <p:sp>
        <p:nvSpPr>
          <p:cNvPr id="6" name="Rectangle 5"/>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7" name="Picture 6" descr="ntu_logo.png"/>
          <p:cNvPicPr>
            <a:picLocks noChangeAspect="1"/>
          </p:cNvPicPr>
          <p:nvPr/>
        </p:nvPicPr>
        <p:blipFill>
          <a:blip r:embed="rId2"/>
          <a:stretch>
            <a:fillRect/>
          </a:stretch>
        </p:blipFill>
        <p:spPr>
          <a:xfrm>
            <a:off x="292608" y="6364224"/>
            <a:ext cx="1133856" cy="457200"/>
          </a:xfrm>
          <a:prstGeom prst="rect">
            <a:avLst/>
          </a:prstGeom>
        </p:spPr>
      </p:pic>
      <p:sp>
        <p:nvSpPr>
          <p:cNvPr id="8" name="Rectangle 7"/>
          <p:cNvSpPr/>
          <p:nvPr/>
        </p:nvSpPr>
        <p:spPr>
          <a:xfrm>
            <a:off x="0" y="0"/>
            <a:ext cx="12192000" cy="310896"/>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Rectangle 8"/>
          <p:cNvSpPr/>
          <p:nvPr/>
        </p:nvSpPr>
        <p:spPr>
          <a:xfrm>
            <a:off x="502920" y="960120"/>
            <a:ext cx="68580" cy="3291840"/>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0" name="anim_1"/>
          <p:cNvSpPr txBox="1"/>
          <p:nvPr/>
        </p:nvSpPr>
        <p:spPr>
          <a:xfrm>
            <a:off x="777240" y="932688"/>
            <a:ext cx="603504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F5248"/>
                </a:solidFill>
                <a:latin typeface="Times New Roman" panose="02020603050405020304"/>
              </a:rPr>
              <a:t>CA6002  ·  AI UX &amp; DATA VISUALISATION</a:t>
            </a:r>
            <a:endParaRPr sz="1450" b="1">
              <a:solidFill>
                <a:srgbClr val="2F5248"/>
              </a:solidFill>
              <a:latin typeface="Times New Roman" panose="02020603050405020304"/>
            </a:endParaRPr>
          </a:p>
        </p:txBody>
      </p:sp>
      <p:sp>
        <p:nvSpPr>
          <p:cNvPr id="11" name="anim_2"/>
          <p:cNvSpPr txBox="1"/>
          <p:nvPr/>
        </p:nvSpPr>
        <p:spPr>
          <a:xfrm>
            <a:off x="777240" y="1261872"/>
            <a:ext cx="6035040" cy="1051560"/>
          </a:xfrm>
          <a:prstGeom prst="rect">
            <a:avLst/>
          </a:prstGeom>
          <a:noFill/>
          <a:ln>
            <a:noFill/>
          </a:ln>
          <a:effectLst/>
        </p:spPr>
        <p:txBody>
          <a:bodyPr wrap="square" lIns="45720" tIns="18288" rIns="45720" bIns="18288" anchor="t">
            <a:spAutoFit/>
          </a:bodyPr>
          <a:lstStyle/>
          <a:p>
            <a:pPr algn="l">
              <a:lnSpc>
                <a:spcPct val="95000"/>
              </a:lnSpc>
              <a:defRPr>
                <a:latin typeface="Times New Roman" panose="02020603050405020304"/>
              </a:defRPr>
            </a:pPr>
            <a:r>
              <a:rPr sz="3200" b="1">
                <a:solidFill>
                  <a:srgbClr val="252B30"/>
                </a:solidFill>
                <a:latin typeface="Georgia" panose="02040502050405020303"/>
              </a:rPr>
              <a:t>Investigating Country</a:t>
            </a:r>
            <a:endParaRPr sz="3200" b="1">
              <a:solidFill>
                <a:srgbClr val="252B30"/>
              </a:solidFill>
              <a:latin typeface="Georgia" panose="02040502050405020303"/>
            </a:endParaRPr>
          </a:p>
          <a:p>
            <a:pPr algn="l">
              <a:lnSpc>
                <a:spcPct val="95000"/>
              </a:lnSpc>
              <a:defRPr>
                <a:latin typeface="Times New Roman" panose="02020603050405020304"/>
              </a:defRPr>
            </a:pPr>
            <a:r>
              <a:rPr sz="3200" b="1">
                <a:solidFill>
                  <a:srgbClr val="252B30"/>
                </a:solidFill>
                <a:latin typeface="Georgia" panose="02040502050405020303"/>
              </a:rPr>
              <a:t>Carbon Emission Patterns</a:t>
            </a:r>
            <a:endParaRPr sz="3200" b="1">
              <a:solidFill>
                <a:srgbClr val="252B30"/>
              </a:solidFill>
              <a:latin typeface="Georgia" panose="02040502050405020303"/>
            </a:endParaRPr>
          </a:p>
        </p:txBody>
      </p:sp>
      <p:sp>
        <p:nvSpPr>
          <p:cNvPr id="12" name="anim_3"/>
          <p:cNvSpPr txBox="1"/>
          <p:nvPr/>
        </p:nvSpPr>
        <p:spPr>
          <a:xfrm>
            <a:off x="777240" y="2304288"/>
            <a:ext cx="603504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 one rising total, two transition pathways</a:t>
            </a:r>
            <a:endParaRPr sz="2100" b="1">
              <a:solidFill>
                <a:srgbClr val="2F5248"/>
              </a:solidFill>
              <a:latin typeface="Times New Roman" panose="02020603050405020304"/>
            </a:endParaRPr>
          </a:p>
        </p:txBody>
      </p:sp>
      <p:sp>
        <p:nvSpPr>
          <p:cNvPr id="13" name="anim_4"/>
          <p:cNvSpPr/>
          <p:nvPr/>
        </p:nvSpPr>
        <p:spPr>
          <a:xfrm>
            <a:off x="777240" y="2907792"/>
            <a:ext cx="1371600" cy="41148"/>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5"/>
          <p:cNvSpPr txBox="1"/>
          <p:nvPr/>
        </p:nvSpPr>
        <p:spPr>
          <a:xfrm>
            <a:off x="777240" y="3231261"/>
            <a:ext cx="5760720" cy="604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50" b="0">
                <a:solidFill>
                  <a:srgbClr val="252B30"/>
                </a:solidFill>
                <a:latin typeface="Times New Roman" panose="02020603050405020304"/>
              </a:rPr>
              <a:t>Fossil CO2 of 193 countries</a:t>
            </a:r>
            <a:r>
              <a:rPr lang="en-US" sz="1850" b="0">
                <a:solidFill>
                  <a:srgbClr val="252B30"/>
                </a:solidFill>
                <a:latin typeface="Times New Roman" panose="02020603050405020304"/>
              </a:rPr>
              <a:t> </a:t>
            </a:r>
            <a:r>
              <a:rPr sz="1850">
                <a:solidFill>
                  <a:srgbClr val="252B30"/>
                </a:solidFill>
                <a:sym typeface="+mn-ea"/>
              </a:rPr>
              <a:t>rose</a:t>
            </a:r>
            <a:r>
              <a:rPr lang="en-US" sz="1850">
                <a:solidFill>
                  <a:srgbClr val="252B30"/>
                </a:solidFill>
                <a:sym typeface="+mn-ea"/>
              </a:rPr>
              <a:t> </a:t>
            </a:r>
            <a:r>
              <a:rPr sz="1850" b="1">
                <a:solidFill>
                  <a:srgbClr val="2F5248"/>
                </a:solidFill>
                <a:sym typeface="+mn-ea"/>
              </a:rPr>
              <a:t>63.8%</a:t>
            </a:r>
            <a:r>
              <a:rPr sz="1850" b="0">
                <a:solidFill>
                  <a:srgbClr val="252B30"/>
                </a:solidFill>
                <a:latin typeface="Times New Roman" panose="02020603050405020304"/>
              </a:rPr>
              <a:t>, 1992-2021: does one shared trajectory explain the rise?</a:t>
            </a:r>
            <a:endParaRPr sz="1600" b="0">
              <a:solidFill>
                <a:srgbClr val="6E7672"/>
              </a:solidFill>
              <a:latin typeface="Times New Roman" panose="02020603050405020304"/>
            </a:endParaRPr>
          </a:p>
        </p:txBody>
      </p:sp>
      <p:pic>
        <p:nvPicPr>
          <p:cNvPr id="15" name="anim_6" descr="art_sky.png"/>
          <p:cNvPicPr>
            <a:picLocks noChangeAspect="1"/>
          </p:cNvPicPr>
          <p:nvPr/>
        </p:nvPicPr>
        <p:blipFill>
          <a:blip r:embed="rId3"/>
          <a:stretch>
            <a:fillRect/>
          </a:stretch>
        </p:blipFill>
        <p:spPr>
          <a:xfrm>
            <a:off x="7726679" y="502920"/>
            <a:ext cx="4023360" cy="2011680"/>
          </a:xfrm>
          <a:prstGeom prst="rect">
            <a:avLst/>
          </a:prstGeom>
        </p:spPr>
      </p:pic>
      <p:pic>
        <p:nvPicPr>
          <p:cNvPr id="16" name="anim_7" descr="art_plant.png"/>
          <p:cNvPicPr>
            <a:picLocks noChangeAspect="1"/>
          </p:cNvPicPr>
          <p:nvPr/>
        </p:nvPicPr>
        <p:blipFill>
          <a:blip r:embed="rId4"/>
          <a:stretch>
            <a:fillRect/>
          </a:stretch>
        </p:blipFill>
        <p:spPr>
          <a:xfrm>
            <a:off x="960120" y="4754880"/>
            <a:ext cx="2468880" cy="1517904"/>
          </a:xfrm>
          <a:prstGeom prst="rect">
            <a:avLst/>
          </a:prstGeom>
        </p:spPr>
      </p:pic>
      <p:pic>
        <p:nvPicPr>
          <p:cNvPr id="17" name="anim_8" descr="art_smoke1.png"/>
          <p:cNvPicPr>
            <a:picLocks noChangeAspect="1"/>
          </p:cNvPicPr>
          <p:nvPr/>
        </p:nvPicPr>
        <p:blipFill>
          <a:blip r:embed="rId5"/>
          <a:stretch>
            <a:fillRect/>
          </a:stretch>
        </p:blipFill>
        <p:spPr>
          <a:xfrm>
            <a:off x="2057400" y="4306824"/>
            <a:ext cx="475488" cy="729081"/>
          </a:xfrm>
          <a:prstGeom prst="rect">
            <a:avLst/>
          </a:prstGeom>
        </p:spPr>
      </p:pic>
      <p:pic>
        <p:nvPicPr>
          <p:cNvPr id="18" name="anim_9" descr="art_smoke2.png"/>
          <p:cNvPicPr>
            <a:picLocks noChangeAspect="1"/>
          </p:cNvPicPr>
          <p:nvPr/>
        </p:nvPicPr>
        <p:blipFill>
          <a:blip r:embed="rId6"/>
          <a:stretch>
            <a:fillRect/>
          </a:stretch>
        </p:blipFill>
        <p:spPr>
          <a:xfrm>
            <a:off x="2345436" y="4654296"/>
            <a:ext cx="411480" cy="630936"/>
          </a:xfrm>
          <a:prstGeom prst="rect">
            <a:avLst/>
          </a:prstGeom>
        </p:spPr>
      </p:pic>
      <p:pic>
        <p:nvPicPr>
          <p:cNvPr id="19" name="anim_10" descr="art_smoke3.png"/>
          <p:cNvPicPr>
            <a:picLocks noChangeAspect="1"/>
          </p:cNvPicPr>
          <p:nvPr/>
        </p:nvPicPr>
        <p:blipFill>
          <a:blip r:embed="rId7"/>
          <a:stretch>
            <a:fillRect/>
          </a:stretch>
        </p:blipFill>
        <p:spPr>
          <a:xfrm>
            <a:off x="2587752" y="4928616"/>
            <a:ext cx="365760" cy="560832"/>
          </a:xfrm>
          <a:prstGeom prst="rect">
            <a:avLst/>
          </a:prstGeom>
        </p:spPr>
      </p:pic>
      <p:sp>
        <p:nvSpPr>
          <p:cNvPr id="20" name="anim_11"/>
          <p:cNvSpPr txBox="1"/>
          <p:nvPr/>
        </p:nvSpPr>
        <p:spPr>
          <a:xfrm>
            <a:off x="6903720" y="1920240"/>
            <a:ext cx="4572000" cy="1691640"/>
          </a:xfrm>
          <a:prstGeom prst="rect">
            <a:avLst/>
          </a:prstGeom>
          <a:noFill/>
          <a:ln>
            <a:noFill/>
          </a:ln>
          <a:effectLst/>
        </p:spPr>
        <p:txBody>
          <a:bodyPr wrap="none" lIns="0" tIns="0" rIns="0" bIns="0">
            <a:spAutoFit/>
          </a:bodyPr>
          <a:lstStyle/>
          <a:p>
            <a:pPr algn="ctr">
              <a:defRPr>
                <a:latin typeface="Times New Roman" panose="02020603050405020304"/>
              </a:defRPr>
            </a:pPr>
            <a:r>
              <a:rPr sz="13200" b="1">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panose="02040502050405020303"/>
              </a:rPr>
              <a:t>CO</a:t>
            </a:r>
            <a:r>
              <a:rPr sz="8185" b="1" baseline="-25000">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panose="02040502050405020303"/>
              </a:rPr>
              <a:t>2</a:t>
            </a:r>
            <a:endParaRPr sz="8185" b="1" baseline="-25000">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panose="02040502050405020303"/>
            </a:endParaRPr>
          </a:p>
        </p:txBody>
      </p:sp>
      <p:grpSp>
        <p:nvGrpSpPr>
          <p:cNvPr id="2" name="组合 1"/>
          <p:cNvGrpSpPr/>
          <p:nvPr/>
        </p:nvGrpSpPr>
        <p:grpSpPr>
          <a:xfrm>
            <a:off x="6697980" y="4154170"/>
            <a:ext cx="4983480" cy="1417320"/>
            <a:chOff x="10512" y="6883"/>
            <a:chExt cx="7848" cy="2232"/>
          </a:xfrm>
        </p:grpSpPr>
        <p:sp>
          <p:nvSpPr>
            <p:cNvPr id="22" name="anim_13"/>
            <p:cNvSpPr/>
            <p:nvPr/>
          </p:nvSpPr>
          <p:spPr>
            <a:xfrm>
              <a:off x="10512" y="6883"/>
              <a:ext cx="7848" cy="223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14"/>
            <p:cNvSpPr txBox="1"/>
            <p:nvPr/>
          </p:nvSpPr>
          <p:spPr>
            <a:xfrm>
              <a:off x="10829" y="7085"/>
              <a:ext cx="7272" cy="18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Group 30</a:t>
              </a:r>
              <a:endParaRPr sz="2100" b="1">
                <a:solidFill>
                  <a:srgbClr val="2F5248"/>
                </a:solidFill>
                <a:latin typeface="Times New Roman" panose="02020603050405020304"/>
              </a:endParaRPr>
            </a:p>
            <a:p>
              <a:pPr algn="l">
                <a:spcBef>
                  <a:spcPts val="500"/>
                </a:spcBef>
                <a:defRPr>
                  <a:latin typeface="Times New Roman" panose="02020603050405020304"/>
                </a:defRPr>
              </a:pPr>
              <a:r>
                <a:rPr sz="1500" b="1">
                  <a:solidFill>
                    <a:srgbClr val="252B30"/>
                  </a:solidFill>
                  <a:latin typeface="Times New Roman" panose="02020603050405020304"/>
                </a:rPr>
                <a:t>RAN CHANGMING  ·  REN SIYU  ·  REYIZA RESIBIEKE  ·  SHEN RUITING</a:t>
              </a:r>
              <a:endParaRPr sz="1500" b="1">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6E7672"/>
                  </a:solidFill>
                  <a:latin typeface="Times New Roman" panose="02020603050405020304"/>
                </a:rPr>
                <a:t>Nanyang Technological University  ·  Group Assignment</a:t>
              </a:r>
              <a:endParaRPr sz="1450" b="0">
                <a:solidFill>
                  <a:srgbClr val="6E7672"/>
                </a:solidFill>
                <a:latin typeface="Times New Roman" panose="02020603050405020304"/>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par>
                                <p:cTn id="8" presetID="10" presetClass="entr" presetSubtype="0" fill="hold" grpId="0" nodeType="withEffect">
                                  <p:stCondLst>
                                    <p:cond delay="44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p:tgtEl>
                                          <p:spTgt spid="11"/>
                                        </p:tgtEl>
                                      </p:cBhvr>
                                    </p:animEffect>
                                  </p:childTnLst>
                                </p:cTn>
                              </p:par>
                              <p:par>
                                <p:cTn id="11" presetID="10" presetClass="entr" presetSubtype="0" fill="hold" grpId="0" nodeType="withEffect">
                                  <p:stCondLst>
                                    <p:cond delay="68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600"/>
                                        <p:tgtEl>
                                          <p:spTgt spid="12"/>
                                        </p:tgtEl>
                                      </p:cBhvr>
                                    </p:animEffect>
                                  </p:childTnLst>
                                </p:cTn>
                              </p:par>
                              <p:par>
                                <p:cTn id="14" presetID="10" presetClass="entr" presetSubtype="0" fill="hold" grpId="0" nodeType="withEffect">
                                  <p:stCondLst>
                                    <p:cond delay="92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600"/>
                                        <p:tgtEl>
                                          <p:spTgt spid="13"/>
                                        </p:tgtEl>
                                      </p:cBhvr>
                                    </p:animEffect>
                                  </p:childTnLst>
                                </p:cTn>
                              </p:par>
                              <p:par>
                                <p:cTn id="17" presetID="10" presetClass="entr" presetSubtype="0" fill="hold" grpId="0" nodeType="withEffect">
                                  <p:stCondLst>
                                    <p:cond delay="11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600"/>
                                        <p:tgtEl>
                                          <p:spTgt spid="14"/>
                                        </p:tgtEl>
                                      </p:cBhvr>
                                    </p:animEffect>
                                  </p:childTnLst>
                                </p:cTn>
                              </p:par>
                            </p:childTnLst>
                          </p:cTn>
                        </p:par>
                        <p:par>
                          <p:cTn id="20" fill="hold">
                            <p:stCondLst>
                              <p:cond delay="1200"/>
                            </p:stCondLst>
                            <p:childTnLst>
                              <p:par>
                                <p:cTn id="21" presetID="10" presetClass="entr" presetSubtype="0" fill="hold" grpId="0" nodeType="afterEffect">
                                  <p:stCondLst>
                                    <p:cond delay="15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700"/>
                                        <p:tgtEl>
                                          <p:spTgt spid="15"/>
                                        </p:tgtEl>
                                      </p:cBhvr>
                                    </p:animEffect>
                                  </p:childTnLst>
                                </p:cTn>
                              </p:par>
                            </p:childTnLst>
                          </p:cTn>
                        </p:par>
                        <p:par>
                          <p:cTn id="24" fill="hold">
                            <p:stCondLst>
                              <p:cond delay="2350"/>
                            </p:stCondLst>
                            <p:childTnLst>
                              <p:par>
                                <p:cTn id="25" presetID="10" presetClass="entr" presetSubtype="0" fill="hold" grpId="0" nodeType="afterEffect">
                                  <p:stCondLst>
                                    <p:cond delay="15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700"/>
                                        <p:tgtEl>
                                          <p:spTgt spid="16"/>
                                        </p:tgtEl>
                                      </p:cBhvr>
                                    </p:animEffect>
                                  </p:childTnLst>
                                </p:cTn>
                              </p:par>
                            </p:childTnLst>
                          </p:cTn>
                        </p:par>
                        <p:par>
                          <p:cTn id="28" fill="hold">
                            <p:stCondLst>
                              <p:cond delay="3500"/>
                            </p:stCondLst>
                            <p:childTnLst>
                              <p:par>
                                <p:cTn id="29" presetID="10" presetClass="entr" presetSubtype="0" fill="hold" grpId="0" nodeType="afterEffect">
                                  <p:stCondLst>
                                    <p:cond delay="15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900"/>
                                        <p:tgtEl>
                                          <p:spTgt spid="17"/>
                                        </p:tgtEl>
                                      </p:cBhvr>
                                    </p:animEffect>
                                  </p:childTnLst>
                                </p:cTn>
                              </p:par>
                              <p:par>
                                <p:cTn id="32" presetID="10" presetClass="entr" presetSubtype="0" fill="hold" grpId="0" nodeType="withEffect">
                                  <p:stCondLst>
                                    <p:cond delay="450"/>
                                  </p:stCondLst>
                                  <p:childTnLst>
                                    <p:set>
                                      <p:cBhvr>
                                        <p:cTn id="33" dur="1" fill="hold">
                                          <p:stCondLst>
                                            <p:cond delay="0"/>
                                          </p:stCondLst>
                                        </p:cTn>
                                        <p:tgtEl>
                                          <p:spTgt spid="18"/>
                                        </p:tgtEl>
                                        <p:attrNameLst>
                                          <p:attrName>style.visibility</p:attrName>
                                        </p:attrNameLst>
                                      </p:cBhvr>
                                      <p:to>
                                        <p:strVal val="visible"/>
                                      </p:to>
                                    </p:set>
                                    <p:animEffect transition="in" filter="wipe(up)">
                                      <p:cBhvr>
                                        <p:cTn id="34" dur="900"/>
                                        <p:tgtEl>
                                          <p:spTgt spid="18"/>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900"/>
                                        <p:tgtEl>
                                          <p:spTgt spid="19"/>
                                        </p:tgtEl>
                                      </p:cBhvr>
                                    </p:animEffect>
                                  </p:childTnLst>
                                </p:cTn>
                              </p:par>
                            </p:childTnLst>
                          </p:cTn>
                        </p:par>
                        <p:par>
                          <p:cTn id="38" fill="hold">
                            <p:stCondLst>
                              <p:cond delay="4650"/>
                            </p:stCondLst>
                            <p:childTnLst>
                              <p:par>
                                <p:cTn id="39" presetID="10" presetClass="entr" presetSubtype="0" fill="hold" grpId="0" nodeType="afterEffect">
                                  <p:stCondLst>
                                    <p:cond delay="15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23647"/>
            <a:ext cx="9966960" cy="430530"/>
          </a:xfrm>
          <a:prstGeom prst="rect">
            <a:avLst/>
          </a:prstGeom>
          <a:noFill/>
          <a:ln>
            <a:noFill/>
          </a:ln>
          <a:effectLst/>
        </p:spPr>
        <p:txBody>
          <a:bodyPr wrap="square" lIns="0" tIns="0" bIns="0" anchor="ctr">
            <a:spAutoFit/>
          </a:bodyPr>
          <a:lstStyle/>
          <a:p>
            <a:pPr algn="l">
              <a:spcBef>
                <a:spcPts val="200"/>
              </a:spcBef>
              <a:defRPr>
                <a:latin typeface="Times New Roman" panose="02020603050405020304"/>
              </a:defRPr>
            </a:pPr>
            <a:r>
              <a:rPr sz="2800" b="1">
                <a:solidFill>
                  <a:srgbClr val="FFFFFF"/>
                </a:solidFill>
                <a:latin typeface="Georgia" panose="02040502050405020303"/>
              </a:rPr>
              <a:t>Contents</a:t>
            </a:r>
            <a:endParaRPr sz="2800" b="1">
              <a:solidFill>
                <a:srgbClr val="FFFFFF"/>
              </a:solidFill>
              <a:latin typeface="Georgia" panose="02040502050405020303"/>
            </a:endParaRPr>
          </a:p>
        </p:txBody>
      </p:sp>
      <p:sp>
        <p:nvSpPr>
          <p:cNvPr id="10" name="TextBox 9"/>
          <p:cNvSpPr txBox="1"/>
          <p:nvPr/>
        </p:nvSpPr>
        <p:spPr>
          <a:xfrm>
            <a:off x="777240" y="969264"/>
            <a:ext cx="106070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F5248"/>
                </a:solidFill>
                <a:latin typeface="Times New Roman" panose="02020603050405020304"/>
              </a:rPr>
              <a:t>Six blocks, one question: </a:t>
            </a:r>
            <a:r>
              <a:rPr sz="1450" b="0">
                <a:solidFill>
                  <a:srgbClr val="252B30"/>
                </a:solidFill>
                <a:latin typeface="Times New Roman" panose="02020603050405020304"/>
              </a:rPr>
              <a:t>covered fossil CO2 kept rising for 30 years - one shared trajectory, or several transition pathways?</a:t>
            </a:r>
            <a:endParaRPr sz="1450" b="0">
              <a:solidFill>
                <a:srgbClr val="252B30"/>
              </a:solidFill>
              <a:latin typeface="Times New Roman" panose="02020603050405020304"/>
            </a:endParaRPr>
          </a:p>
        </p:txBody>
      </p:sp>
      <p:sp>
        <p:nvSpPr>
          <p:cNvPr id="11" name="Rounded Rectangle 10"/>
          <p:cNvSpPr/>
          <p:nvPr/>
        </p:nvSpPr>
        <p:spPr>
          <a:xfrm>
            <a:off x="777240" y="1353312"/>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2" name="Rectangle 11"/>
          <p:cNvSpPr/>
          <p:nvPr/>
        </p:nvSpPr>
        <p:spPr>
          <a:xfrm>
            <a:off x="777240" y="1353312"/>
            <a:ext cx="64008" cy="69494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3" name="TextBox 12"/>
          <p:cNvSpPr txBox="1"/>
          <p:nvPr/>
        </p:nvSpPr>
        <p:spPr>
          <a:xfrm>
            <a:off x="987552" y="1444752"/>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1</a:t>
            </a:r>
            <a:endParaRPr sz="2100" b="1">
              <a:solidFill>
                <a:srgbClr val="2F5248"/>
              </a:solidFill>
              <a:latin typeface="Times New Roman" panose="02020603050405020304"/>
            </a:endParaRPr>
          </a:p>
        </p:txBody>
      </p:sp>
      <p:sp>
        <p:nvSpPr>
          <p:cNvPr id="14" name="TextBox 13"/>
          <p:cNvSpPr txBox="1"/>
          <p:nvPr/>
        </p:nvSpPr>
        <p:spPr>
          <a:xfrm>
            <a:off x="1600200" y="1399032"/>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Introduction</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The puzzle: 30 years of growth, one path or many?</a:t>
            </a:r>
            <a:endParaRPr sz="1350" b="0">
              <a:solidFill>
                <a:srgbClr val="6E7672"/>
              </a:solidFill>
              <a:latin typeface="Times New Roman" panose="02020603050405020304"/>
            </a:endParaRPr>
          </a:p>
        </p:txBody>
      </p:sp>
      <p:sp>
        <p:nvSpPr>
          <p:cNvPr id="15" name="TextBox 14"/>
          <p:cNvSpPr txBox="1"/>
          <p:nvPr/>
        </p:nvSpPr>
        <p:spPr>
          <a:xfrm>
            <a:off x="9418320" y="1499616"/>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2F5248"/>
                </a:solidFill>
                <a:latin typeface="Times New Roman" panose="02020603050405020304"/>
              </a:rPr>
              <a:t>Slide 3</a:t>
            </a:r>
            <a:endParaRPr sz="1450" b="1">
              <a:solidFill>
                <a:srgbClr val="2F5248"/>
              </a:solidFill>
              <a:latin typeface="Times New Roman" panose="02020603050405020304"/>
            </a:endParaRPr>
          </a:p>
        </p:txBody>
      </p:sp>
      <p:sp>
        <p:nvSpPr>
          <p:cNvPr id="16" name="Rounded Rectangle 15"/>
          <p:cNvSpPr/>
          <p:nvPr/>
        </p:nvSpPr>
        <p:spPr>
          <a:xfrm>
            <a:off x="777240" y="2121408"/>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Rectangle 16"/>
          <p:cNvSpPr/>
          <p:nvPr/>
        </p:nvSpPr>
        <p:spPr>
          <a:xfrm>
            <a:off x="777240" y="2121408"/>
            <a:ext cx="64008" cy="694944"/>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8" name="TextBox 17"/>
          <p:cNvSpPr txBox="1"/>
          <p:nvPr/>
        </p:nvSpPr>
        <p:spPr>
          <a:xfrm>
            <a:off x="987552" y="2212848"/>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2</a:t>
            </a:r>
            <a:endParaRPr sz="2100" b="1">
              <a:solidFill>
                <a:srgbClr val="4F6E96"/>
              </a:solidFill>
              <a:latin typeface="Times New Roman" panose="02020603050405020304"/>
            </a:endParaRPr>
          </a:p>
        </p:txBody>
      </p:sp>
      <p:sp>
        <p:nvSpPr>
          <p:cNvPr id="19" name="TextBox 18"/>
          <p:cNvSpPr txBox="1"/>
          <p:nvPr/>
        </p:nvSpPr>
        <p:spPr>
          <a:xfrm>
            <a:off x="1600200" y="2167127"/>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Exploration of Dataset</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Sources, conditioning, and where countries differ</a:t>
            </a:r>
            <a:endParaRPr sz="1350" b="0">
              <a:solidFill>
                <a:srgbClr val="6E7672"/>
              </a:solidFill>
              <a:latin typeface="Times New Roman" panose="02020603050405020304"/>
            </a:endParaRPr>
          </a:p>
        </p:txBody>
      </p:sp>
      <p:sp>
        <p:nvSpPr>
          <p:cNvPr id="20" name="TextBox 19"/>
          <p:cNvSpPr txBox="1"/>
          <p:nvPr/>
        </p:nvSpPr>
        <p:spPr>
          <a:xfrm>
            <a:off x="9418320" y="2267712"/>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4F6E96"/>
                </a:solidFill>
                <a:latin typeface="Times New Roman" panose="02020603050405020304"/>
              </a:rPr>
              <a:t>Slides 4-10</a:t>
            </a:r>
            <a:endParaRPr sz="1450" b="1">
              <a:solidFill>
                <a:srgbClr val="4F6E96"/>
              </a:solidFill>
              <a:latin typeface="Times New Roman" panose="02020603050405020304"/>
            </a:endParaRPr>
          </a:p>
        </p:txBody>
      </p:sp>
      <p:sp>
        <p:nvSpPr>
          <p:cNvPr id="21" name="Rounded Rectangle 20"/>
          <p:cNvSpPr/>
          <p:nvPr/>
        </p:nvSpPr>
        <p:spPr>
          <a:xfrm>
            <a:off x="777240" y="2889503"/>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Rectangle 21"/>
          <p:cNvSpPr/>
          <p:nvPr/>
        </p:nvSpPr>
        <p:spPr>
          <a:xfrm>
            <a:off x="777240" y="2889503"/>
            <a:ext cx="64008" cy="694944"/>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3" name="TextBox 22"/>
          <p:cNvSpPr txBox="1"/>
          <p:nvPr/>
        </p:nvSpPr>
        <p:spPr>
          <a:xfrm>
            <a:off x="987552" y="2980944"/>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BE7F4E"/>
                </a:solidFill>
                <a:latin typeface="Times New Roman" panose="02020603050405020304"/>
              </a:rPr>
              <a:t>3</a:t>
            </a:r>
            <a:endParaRPr sz="2100" b="1">
              <a:solidFill>
                <a:srgbClr val="BE7F4E"/>
              </a:solidFill>
              <a:latin typeface="Times New Roman" panose="02020603050405020304"/>
            </a:endParaRPr>
          </a:p>
        </p:txBody>
      </p:sp>
      <p:sp>
        <p:nvSpPr>
          <p:cNvPr id="24" name="TextBox 23"/>
          <p:cNvSpPr txBox="1"/>
          <p:nvPr/>
        </p:nvSpPr>
        <p:spPr>
          <a:xfrm>
            <a:off x="1600200" y="2935223"/>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Design of AI Algorithm</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From trajectories to 11 features, PCA and K-means</a:t>
            </a:r>
            <a:endParaRPr sz="1350" b="0">
              <a:solidFill>
                <a:srgbClr val="6E7672"/>
              </a:solidFill>
              <a:latin typeface="Times New Roman" panose="02020603050405020304"/>
            </a:endParaRPr>
          </a:p>
        </p:txBody>
      </p:sp>
      <p:sp>
        <p:nvSpPr>
          <p:cNvPr id="25" name="TextBox 24"/>
          <p:cNvSpPr txBox="1"/>
          <p:nvPr/>
        </p:nvSpPr>
        <p:spPr>
          <a:xfrm>
            <a:off x="9418320" y="3035808"/>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BE7F4E"/>
                </a:solidFill>
                <a:latin typeface="Times New Roman" panose="02020603050405020304"/>
              </a:rPr>
              <a:t>Slides 11-14</a:t>
            </a:r>
            <a:endParaRPr sz="1450" b="1">
              <a:solidFill>
                <a:srgbClr val="BE7F4E"/>
              </a:solidFill>
              <a:latin typeface="Times New Roman" panose="02020603050405020304"/>
            </a:endParaRPr>
          </a:p>
        </p:txBody>
      </p:sp>
      <p:sp>
        <p:nvSpPr>
          <p:cNvPr id="26" name="Rounded Rectangle 25"/>
          <p:cNvSpPr/>
          <p:nvPr/>
        </p:nvSpPr>
        <p:spPr>
          <a:xfrm>
            <a:off x="777240" y="3657599"/>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Rectangle 26"/>
          <p:cNvSpPr/>
          <p:nvPr/>
        </p:nvSpPr>
        <p:spPr>
          <a:xfrm>
            <a:off x="777240" y="3657599"/>
            <a:ext cx="64008" cy="694944"/>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8" name="TextBox 27"/>
          <p:cNvSpPr txBox="1"/>
          <p:nvPr/>
        </p:nvSpPr>
        <p:spPr>
          <a:xfrm>
            <a:off x="987552" y="3749039"/>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4</a:t>
            </a:r>
            <a:endParaRPr sz="2100" b="1">
              <a:solidFill>
                <a:srgbClr val="4F6E96"/>
              </a:solidFill>
              <a:latin typeface="Times New Roman" panose="02020603050405020304"/>
            </a:endParaRPr>
          </a:p>
        </p:txBody>
      </p:sp>
      <p:sp>
        <p:nvSpPr>
          <p:cNvPr id="29" name="TextBox 28"/>
          <p:cNvSpPr txBox="1"/>
          <p:nvPr/>
        </p:nvSpPr>
        <p:spPr>
          <a:xfrm>
            <a:off x="1600200" y="3703320"/>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Model Evaluation and Performance</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Validity, stability and membership uncertainty</a:t>
            </a:r>
            <a:endParaRPr sz="1350" b="0">
              <a:solidFill>
                <a:srgbClr val="6E7672"/>
              </a:solidFill>
              <a:latin typeface="Times New Roman" panose="02020603050405020304"/>
            </a:endParaRPr>
          </a:p>
        </p:txBody>
      </p:sp>
      <p:sp>
        <p:nvSpPr>
          <p:cNvPr id="30" name="TextBox 29"/>
          <p:cNvSpPr txBox="1"/>
          <p:nvPr/>
        </p:nvSpPr>
        <p:spPr>
          <a:xfrm>
            <a:off x="9418320" y="3803903"/>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4F6E96"/>
                </a:solidFill>
                <a:latin typeface="Times New Roman" panose="02020603050405020304"/>
              </a:rPr>
              <a:t>Slides 15-17</a:t>
            </a:r>
            <a:endParaRPr sz="1450" b="1">
              <a:solidFill>
                <a:srgbClr val="4F6E96"/>
              </a:solidFill>
              <a:latin typeface="Times New Roman" panose="02020603050405020304"/>
            </a:endParaRPr>
          </a:p>
        </p:txBody>
      </p:sp>
      <p:sp>
        <p:nvSpPr>
          <p:cNvPr id="31" name="Rounded Rectangle 30"/>
          <p:cNvSpPr/>
          <p:nvPr/>
        </p:nvSpPr>
        <p:spPr>
          <a:xfrm>
            <a:off x="777240" y="4425696"/>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Rectangle 31"/>
          <p:cNvSpPr/>
          <p:nvPr/>
        </p:nvSpPr>
        <p:spPr>
          <a:xfrm>
            <a:off x="777240" y="4425696"/>
            <a:ext cx="64008" cy="694944"/>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3" name="TextBox 32"/>
          <p:cNvSpPr txBox="1"/>
          <p:nvPr/>
        </p:nvSpPr>
        <p:spPr>
          <a:xfrm>
            <a:off x="987552" y="4517136"/>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BE7F4E"/>
                </a:solidFill>
                <a:latin typeface="Times New Roman" panose="02020603050405020304"/>
              </a:rPr>
              <a:t>5</a:t>
            </a:r>
            <a:endParaRPr sz="2100" b="1">
              <a:solidFill>
                <a:srgbClr val="BE7F4E"/>
              </a:solidFill>
              <a:latin typeface="Times New Roman" panose="02020603050405020304"/>
            </a:endParaRPr>
          </a:p>
        </p:txBody>
      </p:sp>
      <p:sp>
        <p:nvSpPr>
          <p:cNvPr id="34" name="TextBox 33"/>
          <p:cNvSpPr txBox="1"/>
          <p:nvPr/>
        </p:nvSpPr>
        <p:spPr>
          <a:xfrm>
            <a:off x="1600200" y="4471416"/>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Visual Storytelling</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Two pathways, two monitoring priorities</a:t>
            </a:r>
            <a:endParaRPr sz="1350" b="0">
              <a:solidFill>
                <a:srgbClr val="6E7672"/>
              </a:solidFill>
              <a:latin typeface="Times New Roman" panose="02020603050405020304"/>
            </a:endParaRPr>
          </a:p>
        </p:txBody>
      </p:sp>
      <p:sp>
        <p:nvSpPr>
          <p:cNvPr id="35" name="TextBox 34"/>
          <p:cNvSpPr txBox="1"/>
          <p:nvPr/>
        </p:nvSpPr>
        <p:spPr>
          <a:xfrm>
            <a:off x="9418320" y="4572000"/>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BE7F4E"/>
                </a:solidFill>
                <a:latin typeface="Times New Roman" panose="02020603050405020304"/>
              </a:rPr>
              <a:t>Slides 18-21</a:t>
            </a:r>
            <a:endParaRPr sz="1450" b="1">
              <a:solidFill>
                <a:srgbClr val="BE7F4E"/>
              </a:solidFill>
              <a:latin typeface="Times New Roman" panose="02020603050405020304"/>
            </a:endParaRPr>
          </a:p>
        </p:txBody>
      </p:sp>
      <p:sp>
        <p:nvSpPr>
          <p:cNvPr id="36" name="Rounded Rectangle 35"/>
          <p:cNvSpPr/>
          <p:nvPr/>
        </p:nvSpPr>
        <p:spPr>
          <a:xfrm>
            <a:off x="777240" y="5193792"/>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7" name="Rectangle 36"/>
          <p:cNvSpPr/>
          <p:nvPr/>
        </p:nvSpPr>
        <p:spPr>
          <a:xfrm>
            <a:off x="777240" y="5193792"/>
            <a:ext cx="64008" cy="69494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8" name="TextBox 37"/>
          <p:cNvSpPr txBox="1"/>
          <p:nvPr/>
        </p:nvSpPr>
        <p:spPr>
          <a:xfrm>
            <a:off x="987552" y="5285231"/>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6</a:t>
            </a:r>
            <a:endParaRPr sz="2100" b="1">
              <a:solidFill>
                <a:srgbClr val="2F5248"/>
              </a:solidFill>
              <a:latin typeface="Times New Roman" panose="02020603050405020304"/>
            </a:endParaRPr>
          </a:p>
        </p:txBody>
      </p:sp>
      <p:sp>
        <p:nvSpPr>
          <p:cNvPr id="39" name="TextBox 38"/>
          <p:cNvSpPr txBox="1"/>
          <p:nvPr/>
        </p:nvSpPr>
        <p:spPr>
          <a:xfrm>
            <a:off x="1600200" y="5239512"/>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Conclusions</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Contributions, novelty and limitations</a:t>
            </a:r>
            <a:endParaRPr sz="1350" b="0">
              <a:solidFill>
                <a:srgbClr val="6E7672"/>
              </a:solidFill>
              <a:latin typeface="Times New Roman" panose="02020603050405020304"/>
            </a:endParaRPr>
          </a:p>
        </p:txBody>
      </p:sp>
      <p:sp>
        <p:nvSpPr>
          <p:cNvPr id="40" name="TextBox 39"/>
          <p:cNvSpPr txBox="1"/>
          <p:nvPr/>
        </p:nvSpPr>
        <p:spPr>
          <a:xfrm>
            <a:off x="9418320" y="5340096"/>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2F5248"/>
                </a:solidFill>
                <a:latin typeface="Times New Roman" panose="02020603050405020304"/>
              </a:rPr>
              <a:t>Slide 22</a:t>
            </a:r>
            <a:endParaRPr sz="1450" b="1">
              <a:solidFill>
                <a:srgbClr val="2F5248"/>
              </a:solidFill>
              <a:latin typeface="Times New Roman" panose="02020603050405020304"/>
            </a:endParaRPr>
          </a:p>
        </p:txBody>
      </p:sp>
      <p:sp>
        <p:nvSpPr>
          <p:cNvPr id="41" name="TextBox 40"/>
          <p:cNvSpPr txBox="1"/>
          <p:nvPr/>
        </p:nvSpPr>
        <p:spPr>
          <a:xfrm>
            <a:off x="777240" y="5989320"/>
            <a:ext cx="106070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Each block below names the stage it reports, and every slide banner repeats that stage name.</a:t>
            </a:r>
            <a:endParaRPr sz="1300" b="0">
              <a:solidFill>
                <a:srgbClr val="6E7672"/>
              </a:solidFill>
              <a:latin typeface="Times New Roman" panose="02020603050405020304"/>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INTRODUCTION · Why we investigate country carbon emission patterns</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Emissions kept rising - but not along one shared path</a:t>
            </a:r>
            <a:endParaRPr sz="2300" b="1">
              <a:solidFill>
                <a:srgbClr val="FFFFFF"/>
              </a:solidFill>
              <a:latin typeface="Georgia" panose="02040502050405020303"/>
            </a:endParaRPr>
          </a:p>
        </p:txBody>
      </p:sp>
      <p:sp>
        <p:nvSpPr>
          <p:cNvPr id="10" name="TextBox 9"/>
          <p:cNvSpPr txBox="1"/>
          <p:nvPr/>
        </p:nvSpPr>
        <p:spPr>
          <a:xfrm>
            <a:off x="1572768" y="6456045"/>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11" name="TextBox 10"/>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3</a:t>
            </a:r>
            <a:endParaRPr sz="1400" b="0">
              <a:solidFill>
                <a:srgbClr val="6E7672"/>
              </a:solidFill>
              <a:latin typeface="Times New Roman" panose="02020603050405020304"/>
            </a:endParaRPr>
          </a:p>
        </p:txBody>
      </p:sp>
      <p:sp>
        <p:nvSpPr>
          <p:cNvPr id="12" name="TextBox 11"/>
          <p:cNvSpPr txBox="1"/>
          <p:nvPr/>
        </p:nvSpPr>
        <p:spPr>
          <a:xfrm>
            <a:off x="457200" y="1005840"/>
            <a:ext cx="27432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THE PUZZLE</a:t>
            </a:r>
            <a:endParaRPr sz="1350" b="1">
              <a:solidFill>
                <a:srgbClr val="2F5248"/>
              </a:solidFill>
              <a:latin typeface="Times New Roman" panose="02020603050405020304"/>
            </a:endParaRPr>
          </a:p>
        </p:txBody>
      </p:sp>
      <p:sp>
        <p:nvSpPr>
          <p:cNvPr id="13" name="anim_15"/>
          <p:cNvSpPr/>
          <p:nvPr/>
        </p:nvSpPr>
        <p:spPr>
          <a:xfrm>
            <a:off x="457200" y="1298448"/>
            <a:ext cx="3291840" cy="16002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16"/>
          <p:cNvSpPr txBox="1"/>
          <p:nvPr/>
        </p:nvSpPr>
        <p:spPr>
          <a:xfrm>
            <a:off x="640080" y="1426464"/>
            <a:ext cx="2926080" cy="13716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800" b="1">
                <a:solidFill>
                  <a:srgbClr val="4F6E96"/>
                </a:solidFill>
                <a:latin typeface="Georgia" panose="02040502050405020303"/>
              </a:rPr>
              <a:t>+63.8%</a:t>
            </a:r>
            <a:endParaRPr sz="2800" b="1">
              <a:solidFill>
                <a:srgbClr val="4F6E96"/>
              </a:solidFill>
              <a:latin typeface="Georgia" panose="02040502050405020303"/>
            </a:endParaRPr>
          </a:p>
          <a:p>
            <a:pPr algn="l">
              <a:spcBef>
                <a:spcPts val="400"/>
              </a:spcBef>
              <a:defRPr>
                <a:latin typeface="Times New Roman" panose="02020603050405020304"/>
              </a:defRPr>
            </a:pPr>
            <a:r>
              <a:rPr sz="1400" b="1">
                <a:solidFill>
                  <a:srgbClr val="252B30"/>
                </a:solidFill>
                <a:latin typeface="Times New Roman" panose="02020603050405020304"/>
              </a:rPr>
              <a:t>Sample-wide fossil CO2, 1992 to 2021</a:t>
            </a:r>
            <a:endParaRPr sz="1400" b="1">
              <a:solidFill>
                <a:srgbClr val="252B30"/>
              </a:solidFill>
              <a:latin typeface="Times New Roman" panose="02020603050405020304"/>
            </a:endParaRPr>
          </a:p>
          <a:p>
            <a:pPr algn="l">
              <a:spcBef>
                <a:spcPts val="300"/>
              </a:spcBef>
              <a:defRPr>
                <a:latin typeface="Times New Roman" panose="02020603050405020304"/>
              </a:defRPr>
            </a:pPr>
            <a:r>
              <a:rPr sz="1300" b="0">
                <a:solidFill>
                  <a:srgbClr val="252B30"/>
                </a:solidFill>
                <a:latin typeface="Times New Roman" panose="02020603050405020304"/>
              </a:rPr>
              <a:t>21.97 to 35.98 Gt across the 193 countries covered by our panel</a:t>
            </a:r>
            <a:endParaRPr sz="1300" b="0">
              <a:solidFill>
                <a:srgbClr val="252B30"/>
              </a:solidFill>
              <a:latin typeface="Times New Roman" panose="02020603050405020304"/>
            </a:endParaRPr>
          </a:p>
        </p:txBody>
      </p:sp>
      <p:sp>
        <p:nvSpPr>
          <p:cNvPr id="15" name="anim_17"/>
          <p:cNvSpPr/>
          <p:nvPr/>
        </p:nvSpPr>
        <p:spPr>
          <a:xfrm>
            <a:off x="457200" y="3063240"/>
            <a:ext cx="3291840" cy="16002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6" name="anim_18"/>
          <p:cNvSpPr txBox="1"/>
          <p:nvPr/>
        </p:nvSpPr>
        <p:spPr>
          <a:xfrm>
            <a:off x="640080" y="3191256"/>
            <a:ext cx="2926080" cy="13716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800" b="1">
                <a:solidFill>
                  <a:srgbClr val="BE7F4E"/>
                </a:solidFill>
                <a:latin typeface="Georgia" panose="02040502050405020303"/>
              </a:rPr>
              <a:t>30 years</a:t>
            </a:r>
            <a:endParaRPr sz="2800" b="1">
              <a:solidFill>
                <a:srgbClr val="BE7F4E"/>
              </a:solidFill>
              <a:latin typeface="Georgia" panose="02040502050405020303"/>
            </a:endParaRPr>
          </a:p>
          <a:p>
            <a:pPr algn="l">
              <a:spcBef>
                <a:spcPts val="400"/>
              </a:spcBef>
              <a:defRPr>
                <a:latin typeface="Times New Roman" panose="02020603050405020304"/>
              </a:defRPr>
            </a:pPr>
            <a:r>
              <a:rPr sz="1400" b="1">
                <a:solidFill>
                  <a:srgbClr val="252B30"/>
                </a:solidFill>
                <a:latin typeface="Times New Roman" panose="02020603050405020304"/>
              </a:rPr>
              <a:t>of sustained global climate attention</a:t>
            </a:r>
            <a:endParaRPr sz="1400" b="1">
              <a:solidFill>
                <a:srgbClr val="252B30"/>
              </a:solidFill>
              <a:latin typeface="Times New Roman" panose="02020603050405020304"/>
            </a:endParaRPr>
          </a:p>
          <a:p>
            <a:pPr algn="l">
              <a:spcBef>
                <a:spcPts val="300"/>
              </a:spcBef>
              <a:defRPr>
                <a:latin typeface="Times New Roman" panose="02020603050405020304"/>
              </a:defRPr>
            </a:pPr>
            <a:r>
              <a:rPr sz="1300" b="0">
                <a:solidFill>
                  <a:srgbClr val="252B30"/>
                </a:solidFill>
                <a:latin typeface="Times New Roman" panose="02020603050405020304"/>
              </a:rPr>
              <a:t>yet the covered total kept growing - why, and driven by whom?</a:t>
            </a:r>
            <a:endParaRPr sz="1300" b="0">
              <a:solidFill>
                <a:srgbClr val="252B30"/>
              </a:solidFill>
              <a:latin typeface="Times New Roman" panose="02020603050405020304"/>
            </a:endParaRPr>
          </a:p>
        </p:txBody>
      </p:sp>
      <p:sp>
        <p:nvSpPr>
          <p:cNvPr id="17" name="TextBox 16"/>
          <p:cNvSpPr txBox="1"/>
          <p:nvPr/>
        </p:nvSpPr>
        <p:spPr>
          <a:xfrm>
            <a:off x="4206240" y="1005840"/>
            <a:ext cx="5486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OUR QUESTION CHAIN</a:t>
            </a:r>
            <a:endParaRPr sz="1350" b="1">
              <a:solidFill>
                <a:srgbClr val="2F5248"/>
              </a:solidFill>
              <a:latin typeface="Times New Roman" panose="02020603050405020304"/>
            </a:endParaRPr>
          </a:p>
        </p:txBody>
      </p:sp>
      <p:sp>
        <p:nvSpPr>
          <p:cNvPr id="18" name="anim_19"/>
          <p:cNvSpPr/>
          <p:nvPr/>
        </p:nvSpPr>
        <p:spPr>
          <a:xfrm>
            <a:off x="4206240" y="1298448"/>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20"/>
          <p:cNvSpPr txBox="1"/>
          <p:nvPr/>
        </p:nvSpPr>
        <p:spPr>
          <a:xfrm>
            <a:off x="4407408" y="1353312"/>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4F6E96"/>
                </a:solidFill>
                <a:latin typeface="Times New Roman" panose="02020603050405020304"/>
              </a:rPr>
              <a:t>Q1</a:t>
            </a:r>
            <a:endParaRPr sz="1700" b="1">
              <a:solidFill>
                <a:srgbClr val="4F6E96"/>
              </a:solidFill>
              <a:latin typeface="Times New Roman" panose="02020603050405020304"/>
            </a:endParaRPr>
          </a:p>
        </p:txBody>
      </p:sp>
      <p:sp>
        <p:nvSpPr>
          <p:cNvPr id="20" name="anim_21"/>
          <p:cNvSpPr txBox="1"/>
          <p:nvPr/>
        </p:nvSpPr>
        <p:spPr>
          <a:xfrm>
            <a:off x="4983480" y="1353312"/>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0">
                <a:solidFill>
                  <a:srgbClr val="252B30"/>
                </a:solidFill>
                <a:latin typeface="Times New Roman" panose="02020603050405020304"/>
              </a:rPr>
              <a:t>Is the rise one common trajectory - or different transition pathways?</a:t>
            </a:r>
            <a:endParaRPr sz="1550" b="0">
              <a:solidFill>
                <a:srgbClr val="252B30"/>
              </a:solidFill>
              <a:latin typeface="Times New Roman" panose="02020603050405020304"/>
            </a:endParaRPr>
          </a:p>
        </p:txBody>
      </p:sp>
      <p:sp>
        <p:nvSpPr>
          <p:cNvPr id="21" name="anim_22"/>
          <p:cNvSpPr/>
          <p:nvPr/>
        </p:nvSpPr>
        <p:spPr>
          <a:xfrm>
            <a:off x="4206240" y="2194560"/>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23"/>
          <p:cNvSpPr txBox="1"/>
          <p:nvPr/>
        </p:nvSpPr>
        <p:spPr>
          <a:xfrm>
            <a:off x="4407408" y="2249424"/>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4F6E96"/>
                </a:solidFill>
                <a:latin typeface="Times New Roman" panose="02020603050405020304"/>
              </a:rPr>
              <a:t>Q2</a:t>
            </a:r>
            <a:endParaRPr sz="1700" b="1">
              <a:solidFill>
                <a:srgbClr val="4F6E96"/>
              </a:solidFill>
              <a:latin typeface="Times New Roman" panose="02020603050405020304"/>
            </a:endParaRPr>
          </a:p>
        </p:txBody>
      </p:sp>
      <p:sp>
        <p:nvSpPr>
          <p:cNvPr id="23" name="anim_24"/>
          <p:cNvSpPr txBox="1"/>
          <p:nvPr/>
        </p:nvSpPr>
        <p:spPr>
          <a:xfrm>
            <a:off x="4983480" y="2249424"/>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0">
                <a:solidFill>
                  <a:srgbClr val="252B30"/>
                </a:solidFill>
                <a:latin typeface="Times New Roman" panose="02020603050405020304"/>
              </a:rPr>
              <a:t>Do countries differ only in size, or in speed, timing and fuel mix?</a:t>
            </a:r>
            <a:endParaRPr sz="1550" b="0">
              <a:solidFill>
                <a:srgbClr val="252B30"/>
              </a:solidFill>
              <a:latin typeface="Times New Roman" panose="02020603050405020304"/>
            </a:endParaRPr>
          </a:p>
        </p:txBody>
      </p:sp>
      <p:sp>
        <p:nvSpPr>
          <p:cNvPr id="24" name="anim_25"/>
          <p:cNvSpPr/>
          <p:nvPr/>
        </p:nvSpPr>
        <p:spPr>
          <a:xfrm>
            <a:off x="4206240" y="3090672"/>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5" name="anim_26"/>
          <p:cNvSpPr txBox="1"/>
          <p:nvPr/>
        </p:nvSpPr>
        <p:spPr>
          <a:xfrm>
            <a:off x="4407408" y="3145536"/>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4F6E96"/>
                </a:solidFill>
                <a:latin typeface="Times New Roman" panose="02020603050405020304"/>
              </a:rPr>
              <a:t>Q3</a:t>
            </a:r>
            <a:endParaRPr sz="1700" b="1">
              <a:solidFill>
                <a:srgbClr val="4F6E96"/>
              </a:solidFill>
              <a:latin typeface="Times New Roman" panose="02020603050405020304"/>
            </a:endParaRPr>
          </a:p>
        </p:txBody>
      </p:sp>
      <p:sp>
        <p:nvSpPr>
          <p:cNvPr id="26" name="anim_27"/>
          <p:cNvSpPr txBox="1"/>
          <p:nvPr/>
        </p:nvSpPr>
        <p:spPr>
          <a:xfrm>
            <a:off x="4983480" y="3145536"/>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0">
                <a:solidFill>
                  <a:srgbClr val="252B30"/>
                </a:solidFill>
                <a:latin typeface="Times New Roman" panose="02020603050405020304"/>
              </a:rPr>
              <a:t>Can AI identify these pathways stably from trajectory features?</a:t>
            </a:r>
            <a:endParaRPr sz="1550" b="0">
              <a:solidFill>
                <a:srgbClr val="252B30"/>
              </a:solidFill>
              <a:latin typeface="Times New Roman" panose="02020603050405020304"/>
            </a:endParaRPr>
          </a:p>
        </p:txBody>
      </p:sp>
      <p:sp>
        <p:nvSpPr>
          <p:cNvPr id="27" name="anim_28"/>
          <p:cNvSpPr/>
          <p:nvPr/>
        </p:nvSpPr>
        <p:spPr>
          <a:xfrm>
            <a:off x="4206240" y="3986783"/>
            <a:ext cx="7178040" cy="786384"/>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29"/>
          <p:cNvSpPr txBox="1"/>
          <p:nvPr/>
        </p:nvSpPr>
        <p:spPr>
          <a:xfrm>
            <a:off x="4407408" y="4041647"/>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2F5248"/>
                </a:solidFill>
                <a:latin typeface="Times New Roman" panose="02020603050405020304"/>
              </a:rPr>
              <a:t>Q4</a:t>
            </a:r>
            <a:endParaRPr sz="1700" b="1">
              <a:solidFill>
                <a:srgbClr val="2F5248"/>
              </a:solidFill>
              <a:latin typeface="Times New Roman" panose="02020603050405020304"/>
            </a:endParaRPr>
          </a:p>
        </p:txBody>
      </p:sp>
      <p:sp>
        <p:nvSpPr>
          <p:cNvPr id="29" name="anim_30"/>
          <p:cNvSpPr txBox="1"/>
          <p:nvPr/>
        </p:nvSpPr>
        <p:spPr>
          <a:xfrm>
            <a:off x="4983480" y="4041647"/>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1">
                <a:solidFill>
                  <a:srgbClr val="252B30"/>
                </a:solidFill>
                <a:latin typeface="Times New Roman" panose="02020603050405020304"/>
              </a:rPr>
              <a:t>Where should limited climate-monitoring attention go?</a:t>
            </a:r>
            <a:endParaRPr sz="1550" b="1">
              <a:solidFill>
                <a:srgbClr val="252B30"/>
              </a:solidFill>
              <a:latin typeface="Times New Roman" panose="02020603050405020304"/>
            </a:endParaRPr>
          </a:p>
        </p:txBody>
      </p:sp>
      <p:sp>
        <p:nvSpPr>
          <p:cNvPr id="30" name="anim_31"/>
          <p:cNvSpPr/>
          <p:nvPr/>
        </p:nvSpPr>
        <p:spPr>
          <a:xfrm>
            <a:off x="457200" y="4956048"/>
            <a:ext cx="10927080" cy="11430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32"/>
          <p:cNvSpPr txBox="1"/>
          <p:nvPr/>
        </p:nvSpPr>
        <p:spPr>
          <a:xfrm>
            <a:off x="658368" y="5047488"/>
            <a:ext cx="10515600" cy="763905"/>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Approach</a:t>
            </a:r>
            <a:endParaRPr sz="1400" b="1">
              <a:solidFill>
                <a:srgbClr val="2F5248"/>
              </a:solidFill>
              <a:latin typeface="Times New Roman" panose="02020603050405020304"/>
            </a:endParaRPr>
          </a:p>
          <a:p>
            <a:pPr algn="l">
              <a:spcBef>
                <a:spcPts val="400"/>
              </a:spcBef>
              <a:defRPr>
                <a:latin typeface="Times New Roman" panose="02020603050405020304"/>
              </a:defRPr>
            </a:pPr>
            <a:r>
              <a:rPr sz="1500" b="0">
                <a:solidFill>
                  <a:srgbClr val="252B30"/>
                </a:solidFill>
                <a:latin typeface="Times New Roman" panose="02020603050405020304"/>
              </a:rPr>
              <a:t>explore differences  →  engineer trajectory features  →  K-means (K = 2)  →  evaluate separation and stability  →  pathway-specific monitoring priorities</a:t>
            </a:r>
            <a:endParaRPr sz="1300" b="0">
              <a:solidFill>
                <a:srgbClr val="6E7672"/>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50"/>
                                        <p:tgtEl>
                                          <p:spTgt spid="15"/>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270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par>
                          <p:cTn id="38" fill="hold">
                            <p:stCondLst>
                              <p:cond delay="3600"/>
                            </p:stCondLst>
                            <p:childTnLst>
                              <p:par>
                                <p:cTn id="39" presetID="10" presetClass="entr" presetSubtype="0" fill="hold" grpId="0" nodeType="afterEffect">
                                  <p:stCondLst>
                                    <p:cond delay="4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par>
                                <p:cTn id="42" presetID="10" presetClass="entr" presetSubtype="0" fill="hold" grpId="0" nodeType="withEffect">
                                  <p:stCondLst>
                                    <p:cond delay="53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50"/>
                                        <p:tgtEl>
                                          <p:spTgt spid="25"/>
                                        </p:tgtEl>
                                      </p:cBhvr>
                                    </p:animEffect>
                                  </p:childTnLst>
                                </p:cTn>
                              </p:par>
                              <p:par>
                                <p:cTn id="45" presetID="10" presetClass="entr" presetSubtype="0" fill="hold" grpId="0" nodeType="withEffect">
                                  <p:stCondLst>
                                    <p:cond delay="66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childTnLst>
                          </p:cTn>
                        </p:par>
                        <p:par>
                          <p:cTn id="48" fill="hold">
                            <p:stCondLst>
                              <p:cond delay="4500"/>
                            </p:stCondLst>
                            <p:childTnLst>
                              <p:par>
                                <p:cTn id="49" presetID="10" presetClass="entr" presetSubtype="0" fill="hold" grpId="0" nodeType="afterEffect">
                                  <p:stCondLst>
                                    <p:cond delay="40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53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grpId="0" nodeType="withEffect">
                                  <p:stCondLst>
                                    <p:cond delay="66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childTnLst>
                          </p:cTn>
                        </p:par>
                        <p:par>
                          <p:cTn id="58" fill="hold">
                            <p:stCondLst>
                              <p:cond delay="5400"/>
                            </p:stCondLst>
                            <p:childTnLst>
                              <p:par>
                                <p:cTn id="59" presetID="10" presetClass="entr" presetSubtype="0" fill="hold" grpId="0" nodeType="afterEffect">
                                  <p:stCondLst>
                                    <p:cond delay="40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par>
                                <p:cTn id="62" presetID="10" presetClass="entr" presetSubtype="0" fill="hold" grpId="0" nodeType="withEffect">
                                  <p:stCondLst>
                                    <p:cond delay="53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250"/>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E2598689-54C9-18A7-3A19-ED76AA08988F}"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32" name="Rectangle 31"/>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229"/>
          <p:cNvSpPr>
            <a:spLocks noGrp="1"/>
          </p:cNvSpPr>
          <p:nvPr/>
        </p:nvSpPr>
        <p:spPr>
          <a:xfrm>
            <a:off x="400050" y="1028700"/>
            <a:ext cx="238125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SOURCE ROLES</a:t>
            </a:r>
            <a:endParaRPr>
              <a:solidFill/>
              <a:latin typeface="Times New Roman" panose="02020603050405020304"/>
            </a:endParaRPr>
          </a:p>
        </p:txBody>
      </p:sp>
      <p:sp>
        <p:nvSpPr>
          <p:cNvPr id="7" name="anim_230"/>
          <p:cNvSpPr>
            <a:spLocks noGrp="1"/>
          </p:cNvSpPr>
          <p:nvPr/>
        </p:nvSpPr>
        <p:spPr>
          <a:xfrm>
            <a:off x="400050" y="1381125"/>
            <a:ext cx="5219700" cy="2724150"/>
          </a:xfrm>
          <a:prstGeom prst="roundRect">
            <a:avLst>
              <a:gd name="adj" fmla="val 2797"/>
            </a:avLst>
          </a:prstGeom>
          <a:solidFill>
            <a:srgbClr val="ECEFF4">
              <a:alpha val="74000"/>
            </a:srgbClr>
          </a:solidFill>
          <a:ln w="19050">
            <a:solidFill>
              <a:srgbClr val="4F6E96"/>
            </a:solidFill>
            <a:prstDash val="solid"/>
          </a:ln>
        </p:spPr>
        <p:txBody>
          <a:bodyPr/>
          <a:p>
            <a:pPr>
              <a:defRPr>
                <a:latin typeface="Times New Roman" panose="02020603050405020304"/>
              </a:defRPr>
            </a:pPr>
          </a:p>
        </p:txBody>
      </p:sp>
      <p:sp>
        <p:nvSpPr>
          <p:cNvPr id="8" name="anim_232"/>
          <p:cNvSpPr>
            <a:spLocks noGrp="1"/>
          </p:cNvSpPr>
          <p:nvPr/>
        </p:nvSpPr>
        <p:spPr>
          <a:xfrm>
            <a:off x="647700" y="1571625"/>
            <a:ext cx="3333750" cy="400050"/>
          </a:xfrm>
          <a:prstGeom prst="rect">
            <a:avLst/>
          </a:prstGeom>
          <a:solidFill>
            <a:srgbClr val="ECEFF4">
              <a:alpha val="74000"/>
            </a:srgbClr>
          </a:solidFill>
          <a:ln w="0">
            <a:solidFill>
              <a:srgbClr val="ECEFF4"/>
            </a:solidFill>
            <a:prstDash val="solid"/>
          </a:ln>
        </p:spPr>
        <p:txBody>
          <a:bodyPr anchor="ctr"/>
          <a:lstStyle/>
          <a:p>
            <a:pPr algn="l">
              <a:defRPr sz="195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OWID CO2 Data</a:t>
            </a:r>
            <a:endParaRPr>
              <a:solidFill/>
              <a:latin typeface="Times New Roman" panose="02020603050405020304"/>
            </a:endParaRPr>
          </a:p>
        </p:txBody>
      </p:sp>
      <p:sp>
        <p:nvSpPr>
          <p:cNvPr id="9" name="anim_234"/>
          <p:cNvSpPr>
            <a:spLocks noGrp="1"/>
          </p:cNvSpPr>
          <p:nvPr/>
        </p:nvSpPr>
        <p:spPr>
          <a:xfrm>
            <a:off x="4095750" y="1600200"/>
            <a:ext cx="1257300" cy="285750"/>
          </a:xfrm>
          <a:prstGeom prst="rect">
            <a:avLst/>
          </a:prstGeom>
          <a:solidFill>
            <a:srgbClr val="4F6E96"/>
          </a:solidFill>
          <a:ln w="0">
            <a:solidFill>
              <a:srgbClr val="4F6E96"/>
            </a:solidFill>
            <a:prstDash val="solid"/>
          </a:ln>
        </p:spPr>
        <p:txBody>
          <a:bodyPr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PRIMARY BACKBONE</a:t>
            </a:r>
            <a:endParaRPr>
              <a:solidFill/>
              <a:latin typeface="Times New Roman" panose="02020603050405020304"/>
            </a:endParaRPr>
          </a:p>
        </p:txBody>
      </p:sp>
      <p:sp>
        <p:nvSpPr>
          <p:cNvPr id="10" name="anim_236"/>
          <p:cNvSpPr>
            <a:spLocks noGrp="1"/>
          </p:cNvSpPr>
          <p:nvPr/>
        </p:nvSpPr>
        <p:spPr>
          <a:xfrm>
            <a:off x="647700" y="2114550"/>
            <a:ext cx="4429125" cy="361950"/>
          </a:xfrm>
          <a:prstGeom prst="rect">
            <a:avLst/>
          </a:prstGeom>
          <a:solidFill>
            <a:srgbClr val="ECEFF4">
              <a:alpha val="74000"/>
            </a:srgbClr>
          </a:solidFill>
          <a:ln w="0">
            <a:solidFill>
              <a:srgbClr val="ECEFF4"/>
            </a:solidFill>
            <a:prstDash val="solid"/>
          </a:ln>
        </p:spPr>
        <p:txBody>
          <a:bodyPr anchor="ctr"/>
          <a:lstStyle/>
          <a:p>
            <a:pPr algn="l">
              <a:defRPr sz="14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1992–2021 country-year coverage</a:t>
            </a:r>
            <a:endParaRPr>
              <a:solidFill/>
              <a:latin typeface="Times New Roman" panose="02020603050405020304"/>
            </a:endParaRPr>
          </a:p>
        </p:txBody>
      </p:sp>
      <p:sp>
        <p:nvSpPr>
          <p:cNvPr id="11" name="anim_238"/>
          <p:cNvSpPr>
            <a:spLocks noGrp="1"/>
          </p:cNvSpPr>
          <p:nvPr/>
        </p:nvSpPr>
        <p:spPr>
          <a:xfrm>
            <a:off x="647700" y="2571750"/>
            <a:ext cx="4429125" cy="8763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Population · total CO2 · CO2 per person</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Consistent identifiers and broad historical coverage</a:t>
            </a:r>
            <a:endParaRPr>
              <a:solidFill/>
              <a:latin typeface="Times New Roman" panose="02020603050405020304"/>
            </a:endParaRPr>
          </a:p>
        </p:txBody>
      </p:sp>
      <p:sp>
        <p:nvSpPr>
          <p:cNvPr id="12" name="anim_240"/>
          <p:cNvSpPr>
            <a:spLocks noGrp="1"/>
          </p:cNvSpPr>
          <p:nvPr/>
        </p:nvSpPr>
        <p:spPr>
          <a:xfrm>
            <a:off x="647700" y="3600450"/>
            <a:ext cx="4429125" cy="304800"/>
          </a:xfrm>
          <a:prstGeom prst="rect">
            <a:avLst/>
          </a:prstGeom>
          <a:solidFill>
            <a:srgbClr val="ECEFF4">
              <a:alpha val="74000"/>
            </a:srgbClr>
          </a:solidFill>
          <a:ln w="0">
            <a:solidFill>
              <a:srgbClr val="ECEFF4"/>
            </a:solidFill>
            <a:prstDash val="solid"/>
          </a:ln>
        </p:spPr>
        <p:txBody>
          <a:bodyPr anchor="ctr"/>
          <a:lstStyle/>
          <a:p>
            <a:pPr algn="l">
              <a:defRPr sz="13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Defines which rows remain in the final panel</a:t>
            </a:r>
            <a:endParaRPr>
              <a:solidFill/>
              <a:latin typeface="Times New Roman" panose="02020603050405020304"/>
            </a:endParaRPr>
          </a:p>
        </p:txBody>
      </p:sp>
      <p:sp>
        <p:nvSpPr>
          <p:cNvPr id="13" name="anim_231"/>
          <p:cNvSpPr>
            <a:spLocks noGrp="1"/>
          </p:cNvSpPr>
          <p:nvPr/>
        </p:nvSpPr>
        <p:spPr>
          <a:xfrm>
            <a:off x="5953125" y="1381125"/>
            <a:ext cx="5219700" cy="2724150"/>
          </a:xfrm>
          <a:prstGeom prst="roundRect">
            <a:avLst>
              <a:gd name="adj" fmla="val 2797"/>
            </a:avLst>
          </a:prstGeom>
          <a:solidFill>
            <a:srgbClr val="F7F1EA"/>
          </a:solidFill>
          <a:ln w="19050">
            <a:solidFill>
              <a:srgbClr val="BE7F4E"/>
            </a:solidFill>
            <a:prstDash val="solid"/>
          </a:ln>
        </p:spPr>
        <p:txBody>
          <a:bodyPr/>
          <a:p>
            <a:pPr>
              <a:defRPr>
                <a:latin typeface="Times New Roman" panose="02020603050405020304"/>
              </a:defRPr>
            </a:pPr>
          </a:p>
        </p:txBody>
      </p:sp>
      <p:sp>
        <p:nvSpPr>
          <p:cNvPr id="14" name="anim_233"/>
          <p:cNvSpPr>
            <a:spLocks noGrp="1"/>
          </p:cNvSpPr>
          <p:nvPr/>
        </p:nvSpPr>
        <p:spPr>
          <a:xfrm>
            <a:off x="6200775" y="1571625"/>
            <a:ext cx="3619500" cy="400050"/>
          </a:xfrm>
          <a:prstGeom prst="rect">
            <a:avLst/>
          </a:prstGeom>
          <a:solidFill>
            <a:srgbClr val="F7F1EA"/>
          </a:solidFill>
          <a:ln w="0">
            <a:solidFill>
              <a:srgbClr val="F7F1EA"/>
            </a:solidFill>
            <a:prstDash val="solid"/>
          </a:ln>
        </p:spPr>
        <p:txBody>
          <a:bodyPr anchor="ctr"/>
          <a:lstStyle/>
          <a:p>
            <a:pPr algn="l">
              <a:defRPr sz="1575" b="1" i="0">
                <a:solidFill>
                  <a:srgbClr val="5F1118"/>
                </a:solidFill>
                <a:latin typeface="Times New Roman" panose="02020603050405020304"/>
                <a:ea typeface="Times New Roman" panose="02020603050405020304"/>
                <a:cs typeface="Times New Roman" panose="02020603050405020304"/>
              </a:defRPr>
            </a:pPr>
            <a:r>
              <a:rPr>
                <a:solidFill/>
                <a:latin typeface="Times New Roman" panose="02020603050405020304"/>
              </a:rPr>
              <a:t>Global Carbon Budget 2022 (v27)</a:t>
            </a:r>
            <a:endParaRPr>
              <a:solidFill/>
              <a:latin typeface="Times New Roman" panose="02020603050405020304"/>
            </a:endParaRPr>
          </a:p>
        </p:txBody>
      </p:sp>
      <p:sp>
        <p:nvSpPr>
          <p:cNvPr id="15" name="anim_235"/>
          <p:cNvSpPr>
            <a:spLocks noGrp="1"/>
          </p:cNvSpPr>
          <p:nvPr/>
        </p:nvSpPr>
        <p:spPr>
          <a:xfrm>
            <a:off x="9906000" y="1600200"/>
            <a:ext cx="1000125" cy="285750"/>
          </a:xfrm>
          <a:prstGeom prst="rect">
            <a:avLst/>
          </a:prstGeom>
          <a:solidFill>
            <a:srgbClr val="BE7F4E"/>
          </a:solidFill>
          <a:ln w="0">
            <a:solidFill>
              <a:srgbClr val="BE7F4E"/>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SUPPLEMENT</a:t>
            </a:r>
            <a:endParaRPr>
              <a:solidFill/>
              <a:latin typeface="Times New Roman" panose="02020603050405020304"/>
            </a:endParaRPr>
          </a:p>
        </p:txBody>
      </p:sp>
      <p:sp>
        <p:nvSpPr>
          <p:cNvPr id="16" name="anim_237"/>
          <p:cNvSpPr>
            <a:spLocks noGrp="1"/>
          </p:cNvSpPr>
          <p:nvPr/>
        </p:nvSpPr>
        <p:spPr>
          <a:xfrm>
            <a:off x="6200775" y="2114550"/>
            <a:ext cx="4429125" cy="361950"/>
          </a:xfrm>
          <a:prstGeom prst="rect">
            <a:avLst/>
          </a:prstGeom>
          <a:solidFill>
            <a:srgbClr val="F7F1EA"/>
          </a:solidFill>
          <a:ln w="0">
            <a:solidFill>
              <a:srgbClr val="F7F1EA"/>
            </a:solidFill>
            <a:prstDash val="solid"/>
          </a:ln>
        </p:spPr>
        <p:txBody>
          <a:bodyPr anchor="ctr"/>
          <a:lstStyle/>
          <a:p>
            <a:pPr algn="l">
              <a:defRPr sz="14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Fuel-component detail</a:t>
            </a:r>
            <a:endParaRPr>
              <a:solidFill/>
              <a:latin typeface="Times New Roman" panose="02020603050405020304"/>
            </a:endParaRPr>
          </a:p>
        </p:txBody>
      </p:sp>
      <p:sp>
        <p:nvSpPr>
          <p:cNvPr id="17" name="anim_239"/>
          <p:cNvSpPr>
            <a:spLocks noGrp="1"/>
          </p:cNvSpPr>
          <p:nvPr/>
        </p:nvSpPr>
        <p:spPr>
          <a:xfrm>
            <a:off x="6200775" y="2571750"/>
            <a:ext cx="4429125" cy="8763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Coal CO2 · oil CO2 · gas CO2</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Used only where the OWID component is missing</a:t>
            </a:r>
            <a:endParaRPr>
              <a:solidFill/>
              <a:latin typeface="Times New Roman" panose="02020603050405020304"/>
            </a:endParaRPr>
          </a:p>
        </p:txBody>
      </p:sp>
      <p:sp>
        <p:nvSpPr>
          <p:cNvPr id="18" name="anim_241"/>
          <p:cNvSpPr>
            <a:spLocks noGrp="1"/>
          </p:cNvSpPr>
          <p:nvPr/>
        </p:nvSpPr>
        <p:spPr>
          <a:xfrm>
            <a:off x="6200775" y="3600450"/>
            <a:ext cx="4429125" cy="304800"/>
          </a:xfrm>
          <a:prstGeom prst="rect">
            <a:avLst/>
          </a:prstGeom>
          <a:solidFill>
            <a:srgbClr val="F7F1EA"/>
          </a:solidFill>
          <a:ln w="0">
            <a:solidFill>
              <a:srgbClr val="F7F1EA"/>
            </a:solidFill>
            <a:prstDash val="solid"/>
          </a:ln>
        </p:spPr>
        <p:txBody>
          <a:bodyPr anchor="ctr"/>
          <a:lstStyle/>
          <a:p>
            <a:pPr algn="l">
              <a:defRPr sz="1300" b="1" i="0">
                <a:solidFill>
                  <a:srgbClr val="5F1118"/>
                </a:solidFill>
                <a:latin typeface="Times New Roman" panose="02020603050405020304"/>
                <a:ea typeface="Times New Roman" panose="02020603050405020304"/>
                <a:cs typeface="Times New Roman" panose="02020603050405020304"/>
              </a:defRPr>
            </a:pPr>
            <a:r>
              <a:rPr>
                <a:solidFill/>
                <a:latin typeface="Times New Roman" panose="02020603050405020304"/>
              </a:rPr>
              <a:t>Adds composition without redefining the backbone</a:t>
            </a:r>
            <a:endParaRPr>
              <a:solidFill/>
              <a:latin typeface="Times New Roman" panose="02020603050405020304"/>
            </a:endParaRPr>
          </a:p>
        </p:txBody>
      </p:sp>
      <p:sp>
        <p:nvSpPr>
          <p:cNvPr id="19" name="anim_242"/>
          <p:cNvSpPr>
            <a:spLocks noGrp="1"/>
          </p:cNvSpPr>
          <p:nvPr/>
        </p:nvSpPr>
        <p:spPr>
          <a:xfrm>
            <a:off x="1200150" y="4457700"/>
            <a:ext cx="9172575" cy="1123950"/>
          </a:xfrm>
          <a:prstGeom prst="roundRect">
            <a:avLst>
              <a:gd name="adj" fmla="val 6780"/>
            </a:avLst>
          </a:prstGeom>
          <a:solidFill>
            <a:srgbClr val="FAFBFA">
              <a:alpha val="74000"/>
            </a:srgbClr>
          </a:solidFill>
          <a:ln w="12383">
            <a:solidFill>
              <a:srgbClr val="D5DED6"/>
            </a:solidFill>
            <a:prstDash val="solid"/>
          </a:ln>
        </p:spPr>
        <p:txBody>
          <a:bodyPr/>
          <a:p>
            <a:pPr>
              <a:defRPr>
                <a:latin typeface="Times New Roman" panose="02020603050405020304"/>
              </a:defRPr>
            </a:pPr>
          </a:p>
        </p:txBody>
      </p:sp>
      <p:sp>
        <p:nvSpPr>
          <p:cNvPr id="20" name="anim_243"/>
          <p:cNvSpPr>
            <a:spLocks noGrp="1"/>
          </p:cNvSpPr>
          <p:nvPr/>
        </p:nvSpPr>
        <p:spPr>
          <a:xfrm>
            <a:off x="1342390" y="4518025"/>
            <a:ext cx="2143125"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MERGE PRINCIPLE</a:t>
            </a:r>
            <a:endParaRPr sz="1600">
              <a:solidFill/>
              <a:latin typeface="Times New Roman" panose="02020603050405020304"/>
            </a:endParaRPr>
          </a:p>
        </p:txBody>
      </p:sp>
      <p:sp>
        <p:nvSpPr>
          <p:cNvPr id="21" name="anim_244"/>
          <p:cNvSpPr>
            <a:spLocks noGrp="1"/>
          </p:cNvSpPr>
          <p:nvPr/>
        </p:nvSpPr>
        <p:spPr>
          <a:xfrm>
            <a:off x="1428750" y="4972050"/>
            <a:ext cx="2143125"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1F4E79"/>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Retain OWID rows</a:t>
            </a:r>
            <a:endParaRPr sz="1600">
              <a:solidFill/>
              <a:latin typeface="Times New Roman" panose="02020603050405020304"/>
            </a:endParaRPr>
          </a:p>
        </p:txBody>
      </p:sp>
      <p:sp>
        <p:nvSpPr>
          <p:cNvPr id="22" name="anim_245"/>
          <p:cNvSpPr>
            <a:spLocks noGrp="1"/>
          </p:cNvSpPr>
          <p:nvPr/>
        </p:nvSpPr>
        <p:spPr>
          <a:xfrm>
            <a:off x="3619500" y="4972050"/>
            <a:ext cx="381000" cy="361950"/>
          </a:xfrm>
          <a:prstGeom prst="rect">
            <a:avLst/>
          </a:prstGeom>
          <a:solidFill>
            <a:srgbClr val="FAFBFA">
              <a:alpha val="74000"/>
            </a:srgbClr>
          </a:solidFill>
          <a:ln w="0">
            <a:solidFill>
              <a:srgbClr val="FAFBFA"/>
            </a:solidFill>
            <a:prstDash val="solid"/>
          </a:ln>
        </p:spPr>
        <p:txBody>
          <a:bodyPr anchor="ctr"/>
          <a:lstStyle/>
          <a:p>
            <a:pPr algn="ctr">
              <a:defRPr sz="1950" b="1" i="0">
                <a:solidFill>
                  <a:srgbClr val="5B6774"/>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a:t>
            </a:r>
            <a:endParaRPr sz="1600">
              <a:solidFill/>
              <a:latin typeface="Times New Roman" panose="02020603050405020304"/>
            </a:endParaRPr>
          </a:p>
        </p:txBody>
      </p:sp>
      <p:sp>
        <p:nvSpPr>
          <p:cNvPr id="23" name="anim_246"/>
          <p:cNvSpPr>
            <a:spLocks noGrp="1"/>
          </p:cNvSpPr>
          <p:nvPr/>
        </p:nvSpPr>
        <p:spPr>
          <a:xfrm>
            <a:off x="4048125" y="4972050"/>
            <a:ext cx="2667000"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ED7D31"/>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Fill missing fuel fields</a:t>
            </a:r>
            <a:endParaRPr sz="1600">
              <a:solidFill/>
              <a:latin typeface="Times New Roman" panose="02020603050405020304"/>
            </a:endParaRPr>
          </a:p>
        </p:txBody>
      </p:sp>
      <p:sp>
        <p:nvSpPr>
          <p:cNvPr id="24" name="anim_247"/>
          <p:cNvSpPr>
            <a:spLocks noGrp="1"/>
          </p:cNvSpPr>
          <p:nvPr/>
        </p:nvSpPr>
        <p:spPr>
          <a:xfrm>
            <a:off x="6762750" y="4972050"/>
            <a:ext cx="381000" cy="361950"/>
          </a:xfrm>
          <a:prstGeom prst="rect">
            <a:avLst/>
          </a:prstGeom>
          <a:solidFill>
            <a:srgbClr val="FAFBFA">
              <a:alpha val="74000"/>
            </a:srgbClr>
          </a:solidFill>
          <a:ln w="0">
            <a:solidFill>
              <a:srgbClr val="FAFBFA"/>
            </a:solidFill>
            <a:prstDash val="solid"/>
          </a:ln>
        </p:spPr>
        <p:txBody>
          <a:bodyPr anchor="ctr"/>
          <a:lstStyle/>
          <a:p>
            <a:pPr algn="ctr">
              <a:defRPr sz="1950" b="1" i="0">
                <a:solidFill>
                  <a:srgbClr val="5B6774"/>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a:t>
            </a:r>
            <a:endParaRPr sz="1600">
              <a:solidFill/>
              <a:latin typeface="Times New Roman" panose="02020603050405020304"/>
            </a:endParaRPr>
          </a:p>
        </p:txBody>
      </p:sp>
      <p:sp>
        <p:nvSpPr>
          <p:cNvPr id="25" name="anim_248"/>
          <p:cNvSpPr>
            <a:spLocks noGrp="1"/>
          </p:cNvSpPr>
          <p:nvPr/>
        </p:nvSpPr>
        <p:spPr>
          <a:xfrm>
            <a:off x="7191375" y="4972050"/>
            <a:ext cx="2952750"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800000"/>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Never overwrite observed values</a:t>
            </a:r>
            <a:endParaRPr sz="1600">
              <a:solidFill/>
              <a:latin typeface="Times New Roman" panose="02020603050405020304"/>
            </a:endParaRPr>
          </a:p>
        </p:txBody>
      </p:sp>
      <p:sp>
        <p:nvSpPr>
          <p:cNvPr id="31" name="TextBox 30"/>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1 / 7</a:t>
            </a:r>
            <a:endParaRPr sz="1300" b="1">
              <a:solidFill>
                <a:srgbClr val="D3E3D6"/>
              </a:solidFill>
              <a:latin typeface="Times New Roman" panose="02020603050405020304"/>
            </a:endParaRPr>
          </a:p>
        </p:txBody>
      </p:sp>
      <p:sp>
        <p:nvSpPr>
          <p:cNvPr id="33" name="Rectangle 32"/>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4" name="anim_228"/>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TextBox 34"/>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Where the emission data comes from</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Two sources create one traceable emissions panel</a:t>
            </a:r>
            <a:endParaRPr sz="2300" b="1">
              <a:solidFill>
                <a:srgbClr val="FFFFFF"/>
              </a:solidFill>
              <a:latin typeface="Georgia" panose="02040502050405020303"/>
            </a:endParaRPr>
          </a:p>
        </p:txBody>
      </p:sp>
      <p:sp>
        <p:nvSpPr>
          <p:cNvPr id="36" name="TextBox 35"/>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7</a:t>
            </a:r>
            <a:endParaRPr sz="1400" b="1">
              <a:solidFill>
                <a:srgbClr val="D3E3D6"/>
              </a:solidFill>
              <a:latin typeface="Times New Roman" panose="02020603050405020304"/>
            </a:endParaRPr>
          </a:p>
        </p:txBody>
      </p:sp>
      <p:sp>
        <p:nvSpPr>
          <p:cNvPr id="37" name="anim_254"/>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every later feature is computed from these same 6,378 country-year rows, so the panel has to be auditable first.</a:t>
            </a:r>
            <a:endParaRPr sz="1350" b="0">
              <a:solidFill>
                <a:srgbClr val="252B30"/>
              </a:solidFill>
              <a:latin typeface="Times New Roman" panose="02020603050405020304"/>
            </a:endParaRPr>
          </a:p>
        </p:txBody>
      </p:sp>
      <p:sp>
        <p:nvSpPr>
          <p:cNvPr id="39" name="anim_253"/>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4</a:t>
            </a:r>
            <a:endParaRPr sz="1400" b="0">
              <a:solidFill>
                <a:srgbClr val="6E7672"/>
              </a:solidFill>
              <a:latin typeface="Times New Roman" panose="02020603050405020304"/>
            </a:endParaRPr>
          </a:p>
        </p:txBody>
      </p:sp>
      <p:sp>
        <p:nvSpPr>
          <p:cNvPr id="40" name="anim_252"/>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Data: [1] [2]</a:t>
            </a:r>
            <a:endParaRPr sz="13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4"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50"/>
                                        <p:tgtEl>
                                          <p:spTgt spid="3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157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grpId="0" nodeType="withEffect">
                                  <p:stCondLst>
                                    <p:cond delay="17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childTnLst>
                                </p:cTn>
                              </p:par>
                              <p:par>
                                <p:cTn id="38" presetID="10" presetClass="entr" presetSubtype="0" fill="hold" grpId="0" nodeType="withEffect">
                                  <p:stCondLst>
                                    <p:cond delay="183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par>
                          <p:cTn id="41" fill="hold">
                            <p:stCondLst>
                              <p:cond delay="900"/>
                            </p:stCondLst>
                            <p:childTnLst>
                              <p:par>
                                <p:cTn id="42" presetID="10" presetClass="entr" presetSubtype="0" fill="hold" grpId="0" nodeType="afterEffect">
                                  <p:stCondLst>
                                    <p:cond delay="40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450"/>
                                        <p:tgtEl>
                                          <p:spTgt spid="12"/>
                                        </p:tgtEl>
                                      </p:cBhvr>
                                    </p:animEffect>
                                  </p:childTnLst>
                                </p:cTn>
                              </p:par>
                              <p:par>
                                <p:cTn id="45" presetID="10" presetClass="entr" presetSubtype="0" fill="hold" grpId="0" nodeType="withEffect">
                                  <p:stCondLst>
                                    <p:cond delay="53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79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par>
                          <p:cTn id="54" fill="hold">
                            <p:stCondLst>
                              <p:cond delay="1800"/>
                            </p:stCondLst>
                            <p:childTnLst>
                              <p:par>
                                <p:cTn id="55" presetID="10" presetClass="entr" presetSubtype="0" fill="hold" grpId="0" nodeType="afterEffect">
                                  <p:stCondLst>
                                    <p:cond delay="40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53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79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92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105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450"/>
                                        <p:tgtEl>
                                          <p:spTgt spid="5"/>
                                        </p:tgtEl>
                                      </p:cBhvr>
                                    </p:animEffect>
                                  </p:childTnLst>
                                </p:cTn>
                              </p:par>
                              <p:par>
                                <p:cTn id="73" presetID="10" presetClass="entr" presetSubtype="0" fill="hold" grpId="0" nodeType="withEffect">
                                  <p:stCondLst>
                                    <p:cond delay="131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50"/>
                                        <p:tgtEl>
                                          <p:spTgt spid="40"/>
                                        </p:tgtEl>
                                      </p:cBhvr>
                                    </p:animEffect>
                                  </p:childTnLst>
                                </p:cTn>
                              </p:par>
                              <p:par>
                                <p:cTn id="76" presetID="10" presetClass="entr" presetSubtype="0" fill="hold" grpId="0" nodeType="withEffect">
                                  <p:stCondLst>
                                    <p:cond delay="144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50"/>
                                        <p:tgtEl>
                                          <p:spTgt spid="39"/>
                                        </p:tgtEl>
                                      </p:cBhvr>
                                    </p:animEffect>
                                  </p:childTnLst>
                                </p:cTn>
                              </p:par>
                            </p:childTnLst>
                          </p:cTn>
                        </p:par>
                        <p:par>
                          <p:cTn id="79" fill="hold">
                            <p:stCondLst>
                              <p:cond delay="2700"/>
                            </p:stCondLst>
                            <p:childTnLst>
                              <p:par>
                                <p:cTn id="80" presetID="10" presetClass="entr" presetSubtype="0" fill="hold" grpId="0" nodeType="afterEffect">
                                  <p:stCondLst>
                                    <p:cond delay="40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294"/>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202359C0-8A7A-196E-DD58-8E6569619F09}"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72" name="Rectangle 71"/>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256"/>
          <p:cNvSpPr>
            <a:spLocks noGrp="1"/>
          </p:cNvSpPr>
          <p:nvPr/>
        </p:nvSpPr>
        <p:spPr>
          <a:xfrm>
            <a:off x="400050" y="1028700"/>
            <a:ext cx="285750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CONDITIONING WORKFLOW</a:t>
            </a:r>
            <a:endParaRPr>
              <a:solidFill/>
              <a:latin typeface="Times New Roman" panose="02020603050405020304"/>
            </a:endParaRPr>
          </a:p>
        </p:txBody>
      </p:sp>
      <p:sp>
        <p:nvSpPr>
          <p:cNvPr id="7" name="anim_257"/>
          <p:cNvSpPr>
            <a:spLocks noGrp="1"/>
          </p:cNvSpPr>
          <p:nvPr/>
        </p:nvSpPr>
        <p:spPr>
          <a:xfrm>
            <a:off x="476250" y="1524000"/>
            <a:ext cx="2247900" cy="1562100"/>
          </a:xfrm>
          <a:prstGeom prst="roundRect">
            <a:avLst>
              <a:gd name="adj" fmla="val 4878"/>
            </a:avLst>
          </a:prstGeom>
          <a:solidFill>
            <a:srgbClr val="ECEFF4">
              <a:alpha val="74000"/>
            </a:srgbClr>
          </a:solidFill>
          <a:ln w="19050">
            <a:solidFill>
              <a:srgbClr val="4F6E96"/>
            </a:solidFill>
            <a:prstDash val="solid"/>
          </a:ln>
        </p:spPr>
        <p:txBody>
          <a:bodyPr/>
          <a:p>
            <a:pPr>
              <a:defRPr>
                <a:latin typeface="Times New Roman" panose="02020603050405020304"/>
              </a:defRPr>
            </a:pPr>
          </a:p>
        </p:txBody>
      </p:sp>
      <p:sp>
        <p:nvSpPr>
          <p:cNvPr id="8" name="anim_265"/>
          <p:cNvSpPr>
            <a:spLocks noGrp="1"/>
          </p:cNvSpPr>
          <p:nvPr/>
        </p:nvSpPr>
        <p:spPr>
          <a:xfrm>
            <a:off x="628650" y="1676400"/>
            <a:ext cx="428625" cy="381000"/>
          </a:xfrm>
          <a:prstGeom prst="ellipse">
            <a:avLst/>
          </a:prstGeom>
          <a:solidFill>
            <a:srgbClr val="4F6E96"/>
          </a:solidFill>
          <a:ln w="0">
            <a:solidFill>
              <a:srgbClr val="4F6E96"/>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1</a:t>
            </a:r>
            <a:endParaRPr>
              <a:solidFill/>
              <a:latin typeface="Times New Roman" panose="02020603050405020304"/>
            </a:endParaRPr>
          </a:p>
        </p:txBody>
      </p:sp>
      <p:sp>
        <p:nvSpPr>
          <p:cNvPr id="9" name="anim_261"/>
          <p:cNvSpPr>
            <a:spLocks noGrp="1"/>
          </p:cNvSpPr>
          <p:nvPr/>
        </p:nvSpPr>
        <p:spPr>
          <a:xfrm>
            <a:off x="1143000" y="1657350"/>
            <a:ext cx="1381125" cy="419100"/>
          </a:xfrm>
          <a:prstGeom prst="rect">
            <a:avLst/>
          </a:prstGeom>
          <a:solidFill>
            <a:srgbClr val="ECEFF4">
              <a:alpha val="74000"/>
            </a:srgbClr>
          </a:solidFill>
          <a:ln w="0">
            <a:solidFill>
              <a:srgbClr val="ECEFF4"/>
            </a:solidFill>
            <a:prstDash val="solid"/>
          </a:ln>
        </p:spPr>
        <p:txBody>
          <a:bodyPr wrap="none"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Scope</a:t>
            </a:r>
            <a:endParaRPr>
              <a:solidFill/>
              <a:latin typeface="Times New Roman" panose="02020603050405020304"/>
            </a:endParaRPr>
          </a:p>
        </p:txBody>
      </p:sp>
      <p:sp>
        <p:nvSpPr>
          <p:cNvPr id="10" name="anim_269"/>
          <p:cNvSpPr>
            <a:spLocks noGrp="1"/>
          </p:cNvSpPr>
          <p:nvPr/>
        </p:nvSpPr>
        <p:spPr>
          <a:xfrm>
            <a:off x="685800" y="2190750"/>
            <a:ext cx="1828800" cy="666750"/>
          </a:xfrm>
          <a:prstGeom prst="rect">
            <a:avLst/>
          </a:prstGeom>
          <a:solidFill>
            <a:srgbClr val="ECEFF4">
              <a:alpha val="74000"/>
            </a:srgbClr>
          </a:solidFill>
          <a:ln w="0">
            <a:solidFill>
              <a:srgbClr val="ECEFF4"/>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1992–2021</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valid ISO rows</a:t>
            </a:r>
            <a:endParaRPr>
              <a:solidFill/>
              <a:latin typeface="Times New Roman" panose="02020603050405020304"/>
            </a:endParaRPr>
          </a:p>
        </p:txBody>
      </p:sp>
      <p:sp>
        <p:nvSpPr>
          <p:cNvPr id="11" name="anim_258"/>
          <p:cNvSpPr>
            <a:spLocks noGrp="1"/>
          </p:cNvSpPr>
          <p:nvPr/>
        </p:nvSpPr>
        <p:spPr>
          <a:xfrm>
            <a:off x="3314700" y="1524000"/>
            <a:ext cx="2247900" cy="1562100"/>
          </a:xfrm>
          <a:prstGeom prst="roundRect">
            <a:avLst>
              <a:gd name="adj" fmla="val 4878"/>
            </a:avLst>
          </a:prstGeom>
          <a:solidFill>
            <a:srgbClr val="F6F2E4"/>
          </a:solidFill>
          <a:ln w="19050">
            <a:solidFill>
              <a:srgbClr val="8A6E42"/>
            </a:solidFill>
            <a:prstDash val="solid"/>
          </a:ln>
        </p:spPr>
        <p:txBody>
          <a:bodyPr/>
          <a:p>
            <a:pPr>
              <a:defRPr>
                <a:latin typeface="Times New Roman" panose="02020603050405020304"/>
              </a:defRPr>
            </a:pPr>
          </a:p>
        </p:txBody>
      </p:sp>
      <p:sp>
        <p:nvSpPr>
          <p:cNvPr id="12" name="anim_266"/>
          <p:cNvSpPr>
            <a:spLocks noGrp="1"/>
          </p:cNvSpPr>
          <p:nvPr/>
        </p:nvSpPr>
        <p:spPr>
          <a:xfrm>
            <a:off x="3467100" y="1676400"/>
            <a:ext cx="428625" cy="381000"/>
          </a:xfrm>
          <a:prstGeom prst="ellipse">
            <a:avLst/>
          </a:prstGeom>
          <a:solidFill>
            <a:srgbClr val="8A6E42"/>
          </a:solidFill>
          <a:ln w="0">
            <a:solidFill>
              <a:srgbClr val="8A6E42"/>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2</a:t>
            </a:r>
            <a:endParaRPr>
              <a:solidFill/>
              <a:latin typeface="Times New Roman" panose="02020603050405020304"/>
            </a:endParaRPr>
          </a:p>
        </p:txBody>
      </p:sp>
      <p:sp>
        <p:nvSpPr>
          <p:cNvPr id="13" name="anim_262"/>
          <p:cNvSpPr>
            <a:spLocks noGrp="1"/>
          </p:cNvSpPr>
          <p:nvPr/>
        </p:nvSpPr>
        <p:spPr>
          <a:xfrm>
            <a:off x="3981450" y="1657350"/>
            <a:ext cx="1381125" cy="419100"/>
          </a:xfrm>
          <a:prstGeom prst="rect">
            <a:avLst/>
          </a:prstGeom>
          <a:solidFill>
            <a:srgbClr val="F6F2E4"/>
          </a:solidFill>
          <a:ln w="0">
            <a:solidFill>
              <a:srgbClr val="F6F2E4"/>
            </a:solidFill>
            <a:prstDash val="solid"/>
          </a:ln>
        </p:spPr>
        <p:txBody>
          <a:bodyPr wrap="none"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Harmonise</a:t>
            </a:r>
            <a:endParaRPr>
              <a:solidFill/>
              <a:latin typeface="Times New Roman" panose="02020603050405020304"/>
            </a:endParaRPr>
          </a:p>
        </p:txBody>
      </p:sp>
      <p:sp>
        <p:nvSpPr>
          <p:cNvPr id="14" name="anim_270"/>
          <p:cNvSpPr>
            <a:spLocks noGrp="1"/>
          </p:cNvSpPr>
          <p:nvPr/>
        </p:nvSpPr>
        <p:spPr>
          <a:xfrm>
            <a:off x="3524250" y="2190750"/>
            <a:ext cx="1828800" cy="666750"/>
          </a:xfrm>
          <a:prstGeom prst="rect">
            <a:avLst/>
          </a:prstGeom>
          <a:solidFill>
            <a:srgbClr val="F6F2E4"/>
          </a:solidFill>
          <a:ln w="0">
            <a:solidFill>
              <a:srgbClr val="F6F2E4"/>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ISO-3 + year</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units + names</a:t>
            </a:r>
            <a:endParaRPr>
              <a:solidFill/>
              <a:latin typeface="Times New Roman" panose="02020603050405020304"/>
            </a:endParaRPr>
          </a:p>
        </p:txBody>
      </p:sp>
      <p:sp>
        <p:nvSpPr>
          <p:cNvPr id="15" name="anim_259"/>
          <p:cNvSpPr>
            <a:spLocks noGrp="1"/>
          </p:cNvSpPr>
          <p:nvPr/>
        </p:nvSpPr>
        <p:spPr>
          <a:xfrm>
            <a:off x="6153150" y="1524000"/>
            <a:ext cx="2247900" cy="1562100"/>
          </a:xfrm>
          <a:prstGeom prst="roundRect">
            <a:avLst>
              <a:gd name="adj" fmla="val 4878"/>
            </a:avLst>
          </a:prstGeom>
          <a:solidFill>
            <a:srgbClr val="F7F1EA"/>
          </a:solidFill>
          <a:ln w="19050">
            <a:solidFill>
              <a:srgbClr val="BE7F4E"/>
            </a:solidFill>
            <a:prstDash val="solid"/>
          </a:ln>
        </p:spPr>
        <p:txBody>
          <a:bodyPr/>
          <a:p>
            <a:pPr>
              <a:defRPr>
                <a:latin typeface="Times New Roman" panose="02020603050405020304"/>
              </a:defRPr>
            </a:pPr>
          </a:p>
        </p:txBody>
      </p:sp>
      <p:sp>
        <p:nvSpPr>
          <p:cNvPr id="16" name="anim_267"/>
          <p:cNvSpPr>
            <a:spLocks noGrp="1"/>
          </p:cNvSpPr>
          <p:nvPr/>
        </p:nvSpPr>
        <p:spPr>
          <a:xfrm>
            <a:off x="6305550" y="1676400"/>
            <a:ext cx="428625" cy="381000"/>
          </a:xfrm>
          <a:prstGeom prst="ellipse">
            <a:avLst/>
          </a:prstGeom>
          <a:solidFill>
            <a:srgbClr val="BE7F4E"/>
          </a:solidFill>
          <a:ln w="0">
            <a:solidFill>
              <a:srgbClr val="BE7F4E"/>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3</a:t>
            </a:r>
            <a:endParaRPr>
              <a:solidFill/>
              <a:latin typeface="Times New Roman" panose="02020603050405020304"/>
            </a:endParaRPr>
          </a:p>
        </p:txBody>
      </p:sp>
      <p:sp>
        <p:nvSpPr>
          <p:cNvPr id="17" name="anim_263"/>
          <p:cNvSpPr>
            <a:spLocks noGrp="1"/>
          </p:cNvSpPr>
          <p:nvPr/>
        </p:nvSpPr>
        <p:spPr>
          <a:xfrm>
            <a:off x="6819900" y="1657350"/>
            <a:ext cx="1381125" cy="419100"/>
          </a:xfrm>
          <a:prstGeom prst="rect">
            <a:avLst/>
          </a:prstGeom>
          <a:solidFill>
            <a:srgbClr val="F7F1EA"/>
          </a:solidFill>
          <a:ln w="0">
            <a:solidFill>
              <a:srgbClr val="F7F1EA"/>
            </a:solidFill>
            <a:prstDash val="solid"/>
          </a:ln>
        </p:spPr>
        <p:txBody>
          <a:bodyPr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Left join</a:t>
            </a:r>
            <a:endParaRPr>
              <a:solidFill/>
              <a:latin typeface="Times New Roman" panose="02020603050405020304"/>
            </a:endParaRPr>
          </a:p>
        </p:txBody>
      </p:sp>
      <p:sp>
        <p:nvSpPr>
          <p:cNvPr id="18" name="anim_271"/>
          <p:cNvSpPr>
            <a:spLocks noGrp="1"/>
          </p:cNvSpPr>
          <p:nvPr/>
        </p:nvSpPr>
        <p:spPr>
          <a:xfrm>
            <a:off x="6362700" y="2190750"/>
            <a:ext cx="1828800" cy="666750"/>
          </a:xfrm>
          <a:prstGeom prst="rect">
            <a:avLst/>
          </a:prstGeom>
          <a:solidFill>
            <a:srgbClr val="F7F1EA"/>
          </a:solidFill>
          <a:ln w="0">
            <a:solidFill>
              <a:srgbClr val="F7F1EA"/>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OWID → GCB</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fuel-only fill</a:t>
            </a:r>
            <a:endParaRPr>
              <a:solidFill/>
              <a:latin typeface="Times New Roman" panose="02020603050405020304"/>
            </a:endParaRPr>
          </a:p>
        </p:txBody>
      </p:sp>
      <p:sp>
        <p:nvSpPr>
          <p:cNvPr id="19" name="anim_260"/>
          <p:cNvSpPr>
            <a:spLocks noGrp="1"/>
          </p:cNvSpPr>
          <p:nvPr/>
        </p:nvSpPr>
        <p:spPr>
          <a:xfrm>
            <a:off x="8991600" y="1524000"/>
            <a:ext cx="2247900" cy="1562100"/>
          </a:xfrm>
          <a:prstGeom prst="roundRect">
            <a:avLst>
              <a:gd name="adj" fmla="val 4878"/>
            </a:avLst>
          </a:prstGeom>
          <a:solidFill>
            <a:srgbClr val="EEF4EC">
              <a:alpha val="74000"/>
            </a:srgbClr>
          </a:solidFill>
          <a:ln w="19050">
            <a:solidFill>
              <a:srgbClr val="6E8C74"/>
            </a:solidFill>
            <a:prstDash val="solid"/>
          </a:ln>
        </p:spPr>
        <p:txBody>
          <a:bodyPr/>
          <a:p>
            <a:pPr>
              <a:defRPr>
                <a:latin typeface="Times New Roman" panose="02020603050405020304"/>
              </a:defRPr>
            </a:pPr>
          </a:p>
        </p:txBody>
      </p:sp>
      <p:sp>
        <p:nvSpPr>
          <p:cNvPr id="20" name="anim_268"/>
          <p:cNvSpPr>
            <a:spLocks noGrp="1"/>
          </p:cNvSpPr>
          <p:nvPr/>
        </p:nvSpPr>
        <p:spPr>
          <a:xfrm>
            <a:off x="9144000" y="1676400"/>
            <a:ext cx="428625" cy="381000"/>
          </a:xfrm>
          <a:prstGeom prst="ellipse">
            <a:avLst/>
          </a:prstGeom>
          <a:solidFill>
            <a:srgbClr val="6E8C74"/>
          </a:solidFill>
          <a:ln w="0">
            <a:solidFill>
              <a:srgbClr val="6E8C74"/>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4</a:t>
            </a:r>
            <a:endParaRPr>
              <a:solidFill/>
              <a:latin typeface="Times New Roman" panose="02020603050405020304"/>
            </a:endParaRPr>
          </a:p>
        </p:txBody>
      </p:sp>
      <p:sp>
        <p:nvSpPr>
          <p:cNvPr id="21" name="anim_264"/>
          <p:cNvSpPr>
            <a:spLocks noGrp="1"/>
          </p:cNvSpPr>
          <p:nvPr/>
        </p:nvSpPr>
        <p:spPr>
          <a:xfrm>
            <a:off x="9658350" y="1657350"/>
            <a:ext cx="1381125" cy="419100"/>
          </a:xfrm>
          <a:prstGeom prst="rect">
            <a:avLst/>
          </a:prstGeom>
          <a:solidFill>
            <a:srgbClr val="EEF4EC">
              <a:alpha val="74000"/>
            </a:srgbClr>
          </a:solidFill>
          <a:ln w="0">
            <a:solidFill>
              <a:srgbClr val="EEF4EC"/>
            </a:solidFill>
            <a:prstDash val="solid"/>
          </a:ln>
        </p:spPr>
        <p:txBody>
          <a:bodyPr wrap="none"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Condition</a:t>
            </a:r>
            <a:endParaRPr>
              <a:solidFill/>
              <a:latin typeface="Times New Roman" panose="02020603050405020304"/>
            </a:endParaRPr>
          </a:p>
        </p:txBody>
      </p:sp>
      <p:sp>
        <p:nvSpPr>
          <p:cNvPr id="22" name="anim_272"/>
          <p:cNvSpPr>
            <a:spLocks noGrp="1"/>
          </p:cNvSpPr>
          <p:nvPr/>
        </p:nvSpPr>
        <p:spPr>
          <a:xfrm>
            <a:off x="9201150" y="2190750"/>
            <a:ext cx="1828800" cy="666750"/>
          </a:xfrm>
          <a:prstGeom prst="rect">
            <a:avLst/>
          </a:prstGeom>
          <a:solidFill>
            <a:srgbClr val="EEF4EC">
              <a:alpha val="74000"/>
            </a:srgbClr>
          </a:solidFill>
          <a:ln w="0">
            <a:solidFill>
              <a:srgbClr val="EEF4EC"/>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core + growth</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shares + flags</a:t>
            </a:r>
            <a:endParaRPr>
              <a:solidFill/>
              <a:latin typeface="Times New Roman" panose="02020603050405020304"/>
            </a:endParaRPr>
          </a:p>
        </p:txBody>
      </p:sp>
      <p:cxnSp>
        <p:nvCxnSpPr>
          <p:cNvPr id="63" name="anim_273"/>
          <p:cNvCxnSpPr>
            <a:stCxn id="7" idx="3"/>
            <a:endCxn id="11" idx="1"/>
          </p:cNvCxnSpPr>
          <p:nvPr/>
        </p:nvCxnSpPr>
        <p:spPr>
          <a:xfrm>
            <a:off x="2724150" y="2305050"/>
            <a:ext cx="590550" cy="0"/>
          </a:xfrm>
          <a:prstGeom prst="straightConnector1">
            <a:avLst/>
          </a:prstGeom>
          <a:ln w="23813">
            <a:solidFill>
              <a:srgbClr val="2F5248"/>
            </a:solidFill>
            <a:prstDash val="solid"/>
            <a:tailEnd type="arrow" w="med" len="med"/>
          </a:ln>
        </p:spPr>
      </p:cxnSp>
      <p:cxnSp>
        <p:nvCxnSpPr>
          <p:cNvPr id="64" name="anim_274"/>
          <p:cNvCxnSpPr>
            <a:stCxn id="11" idx="3"/>
            <a:endCxn id="15" idx="1"/>
          </p:cNvCxnSpPr>
          <p:nvPr/>
        </p:nvCxnSpPr>
        <p:spPr>
          <a:xfrm>
            <a:off x="5562600" y="2305050"/>
            <a:ext cx="590550" cy="0"/>
          </a:xfrm>
          <a:prstGeom prst="straightConnector1">
            <a:avLst/>
          </a:prstGeom>
          <a:ln w="23813">
            <a:solidFill>
              <a:srgbClr val="2F5248"/>
            </a:solidFill>
            <a:prstDash val="solid"/>
            <a:tailEnd type="arrow" w="med" len="med"/>
          </a:ln>
        </p:spPr>
      </p:cxnSp>
      <p:cxnSp>
        <p:nvCxnSpPr>
          <p:cNvPr id="65" name="anim_275"/>
          <p:cNvCxnSpPr>
            <a:stCxn id="15" idx="3"/>
            <a:endCxn id="19" idx="1"/>
          </p:cNvCxnSpPr>
          <p:nvPr/>
        </p:nvCxnSpPr>
        <p:spPr>
          <a:xfrm>
            <a:off x="8401050" y="2305050"/>
            <a:ext cx="590550" cy="0"/>
          </a:xfrm>
          <a:prstGeom prst="straightConnector1">
            <a:avLst/>
          </a:prstGeom>
          <a:ln w="23813">
            <a:solidFill>
              <a:srgbClr val="2F5248"/>
            </a:solidFill>
            <a:prstDash val="solid"/>
            <a:tailEnd type="arrow" w="med" len="med"/>
          </a:ln>
        </p:spPr>
      </p:cxnSp>
      <p:sp>
        <p:nvSpPr>
          <p:cNvPr id="26" name="anim_276"/>
          <p:cNvSpPr>
            <a:spLocks noGrp="1"/>
          </p:cNvSpPr>
          <p:nvPr/>
        </p:nvSpPr>
        <p:spPr>
          <a:xfrm>
            <a:off x="476250" y="3133725"/>
            <a:ext cx="10763250" cy="228600"/>
          </a:xfrm>
          <a:prstGeom prst="rect">
            <a:avLst/>
          </a:prstGeom>
          <a:solidFill>
            <a:srgbClr val="FFFFFF">
              <a:alpha val="74000"/>
            </a:srgbClr>
          </a:solidFill>
          <a:ln w="0">
            <a:solidFill>
              <a:srgbClr val="FFFFFF"/>
            </a:solidFill>
            <a:prstDash val="solid"/>
          </a:ln>
        </p:spPr>
        <p:txBody>
          <a:bodyPr anchor="ctr"/>
          <a:lstStyle/>
          <a:p>
            <a:pPr algn="ctr">
              <a:defRPr sz="1000" b="1"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Final checks: unique country-year keys · consistent units · traceable source fields</a:t>
            </a:r>
            <a:endParaRPr>
              <a:solidFill/>
              <a:latin typeface="Times New Roman" panose="02020603050405020304"/>
            </a:endParaRPr>
          </a:p>
        </p:txBody>
      </p:sp>
      <p:sp>
        <p:nvSpPr>
          <p:cNvPr id="27" name="anim_277"/>
          <p:cNvSpPr>
            <a:spLocks noGrp="1"/>
          </p:cNvSpPr>
          <p:nvPr/>
        </p:nvSpPr>
        <p:spPr>
          <a:xfrm>
            <a:off x="4667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6,378</a:t>
            </a:r>
            <a:endParaRPr>
              <a:solidFill/>
              <a:latin typeface="Times New Roman" panose="02020603050405020304"/>
            </a:endParaRPr>
          </a:p>
        </p:txBody>
      </p:sp>
      <p:sp>
        <p:nvSpPr>
          <p:cNvPr id="28" name="anim_282"/>
          <p:cNvSpPr>
            <a:spLocks noGrp="1"/>
          </p:cNvSpPr>
          <p:nvPr/>
        </p:nvSpPr>
        <p:spPr>
          <a:xfrm>
            <a:off x="4667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country-year rows</a:t>
            </a:r>
            <a:endParaRPr>
              <a:solidFill/>
              <a:latin typeface="Times New Roman" panose="02020603050405020304"/>
            </a:endParaRPr>
          </a:p>
        </p:txBody>
      </p:sp>
      <p:sp>
        <p:nvSpPr>
          <p:cNvPr id="29" name="anim_278"/>
          <p:cNvSpPr>
            <a:spLocks noGrp="1"/>
          </p:cNvSpPr>
          <p:nvPr/>
        </p:nvSpPr>
        <p:spPr>
          <a:xfrm>
            <a:off x="273367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213</a:t>
            </a:r>
            <a:endParaRPr>
              <a:solidFill/>
              <a:latin typeface="Times New Roman" panose="02020603050405020304"/>
            </a:endParaRPr>
          </a:p>
        </p:txBody>
      </p:sp>
      <p:sp>
        <p:nvSpPr>
          <p:cNvPr id="30" name="anim_283"/>
          <p:cNvSpPr>
            <a:spLocks noGrp="1"/>
          </p:cNvSpPr>
          <p:nvPr/>
        </p:nvSpPr>
        <p:spPr>
          <a:xfrm>
            <a:off x="273367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ISO entities</a:t>
            </a:r>
            <a:endParaRPr>
              <a:solidFill/>
              <a:latin typeface="Times New Roman" panose="02020603050405020304"/>
            </a:endParaRPr>
          </a:p>
        </p:txBody>
      </p:sp>
      <p:sp>
        <p:nvSpPr>
          <p:cNvPr id="31" name="anim_279"/>
          <p:cNvSpPr>
            <a:spLocks noGrp="1"/>
          </p:cNvSpPr>
          <p:nvPr/>
        </p:nvSpPr>
        <p:spPr>
          <a:xfrm>
            <a:off x="50006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30</a:t>
            </a:r>
            <a:endParaRPr>
              <a:solidFill/>
              <a:latin typeface="Times New Roman" panose="02020603050405020304"/>
            </a:endParaRPr>
          </a:p>
        </p:txBody>
      </p:sp>
      <p:sp>
        <p:nvSpPr>
          <p:cNvPr id="32" name="anim_284"/>
          <p:cNvSpPr>
            <a:spLocks noGrp="1"/>
          </p:cNvSpPr>
          <p:nvPr/>
        </p:nvSpPr>
        <p:spPr>
          <a:xfrm>
            <a:off x="50006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years</a:t>
            </a:r>
            <a:endParaRPr>
              <a:solidFill/>
              <a:latin typeface="Times New Roman" panose="02020603050405020304"/>
            </a:endParaRPr>
          </a:p>
        </p:txBody>
      </p:sp>
      <p:sp>
        <p:nvSpPr>
          <p:cNvPr id="33" name="anim_280"/>
          <p:cNvSpPr>
            <a:spLocks noGrp="1"/>
          </p:cNvSpPr>
          <p:nvPr/>
        </p:nvSpPr>
        <p:spPr>
          <a:xfrm>
            <a:off x="726757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22</a:t>
            </a:r>
            <a:endParaRPr>
              <a:solidFill/>
              <a:latin typeface="Times New Roman" panose="02020603050405020304"/>
            </a:endParaRPr>
          </a:p>
        </p:txBody>
      </p:sp>
      <p:sp>
        <p:nvSpPr>
          <p:cNvPr id="34" name="anim_285"/>
          <p:cNvSpPr>
            <a:spLocks noGrp="1"/>
          </p:cNvSpPr>
          <p:nvPr/>
        </p:nvSpPr>
        <p:spPr>
          <a:xfrm>
            <a:off x="726757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fields</a:t>
            </a:r>
            <a:endParaRPr>
              <a:solidFill/>
              <a:latin typeface="Times New Roman" panose="02020603050405020304"/>
            </a:endParaRPr>
          </a:p>
        </p:txBody>
      </p:sp>
      <p:sp>
        <p:nvSpPr>
          <p:cNvPr id="35" name="anim_281"/>
          <p:cNvSpPr>
            <a:spLocks noGrp="1"/>
          </p:cNvSpPr>
          <p:nvPr/>
        </p:nvSpPr>
        <p:spPr>
          <a:xfrm>
            <a:off x="95345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ED7D31"/>
                </a:solidFill>
                <a:latin typeface="Times New Roman" panose="02020603050405020304"/>
                <a:ea typeface="Times New Roman" panose="02020603050405020304"/>
                <a:cs typeface="Times New Roman" panose="02020603050405020304"/>
              </a:defRPr>
            </a:pPr>
            <a:r>
              <a:rPr>
                <a:solidFill/>
                <a:latin typeface="Times New Roman" panose="02020603050405020304"/>
              </a:rPr>
              <a:t>50.8%</a:t>
            </a:r>
            <a:endParaRPr>
              <a:solidFill/>
              <a:latin typeface="Times New Roman" panose="02020603050405020304"/>
            </a:endParaRPr>
          </a:p>
        </p:txBody>
      </p:sp>
      <p:sp>
        <p:nvSpPr>
          <p:cNvPr id="36" name="anim_286"/>
          <p:cNvSpPr>
            <a:spLocks noGrp="1"/>
          </p:cNvSpPr>
          <p:nvPr/>
        </p:nvSpPr>
        <p:spPr>
          <a:xfrm>
            <a:off x="95345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rows supplemented</a:t>
            </a:r>
            <a:endParaRPr>
              <a:solidFill/>
              <a:latin typeface="Times New Roman" panose="02020603050405020304"/>
            </a:endParaRPr>
          </a:p>
        </p:txBody>
      </p:sp>
      <p:sp>
        <p:nvSpPr>
          <p:cNvPr id="37" name="anim_287"/>
          <p:cNvSpPr>
            <a:spLocks noGrp="1"/>
          </p:cNvSpPr>
          <p:nvPr/>
        </p:nvSpPr>
        <p:spPr>
          <a:xfrm>
            <a:off x="476250" y="4572000"/>
            <a:ext cx="5314950" cy="971550"/>
          </a:xfrm>
          <a:prstGeom prst="roundRect">
            <a:avLst>
              <a:gd name="adj" fmla="val 7843"/>
            </a:avLst>
          </a:prstGeom>
          <a:solidFill>
            <a:srgbClr val="ECEFF4">
              <a:alpha val="74000"/>
            </a:srgbClr>
          </a:solidFill>
          <a:ln w="13335">
            <a:solidFill>
              <a:srgbClr val="4F6E96"/>
            </a:solidFill>
            <a:prstDash val="solid"/>
          </a:ln>
        </p:spPr>
        <p:txBody>
          <a:bodyPr/>
          <a:p>
            <a:pPr>
              <a:defRPr>
                <a:latin typeface="Times New Roman" panose="02020603050405020304"/>
              </a:defRPr>
            </a:pPr>
          </a:p>
        </p:txBody>
      </p:sp>
      <p:sp>
        <p:nvSpPr>
          <p:cNvPr id="38" name="anim_289"/>
          <p:cNvSpPr>
            <a:spLocks noGrp="1"/>
          </p:cNvSpPr>
          <p:nvPr/>
        </p:nvSpPr>
        <p:spPr>
          <a:xfrm>
            <a:off x="666750" y="4695825"/>
            <a:ext cx="1428750" cy="266700"/>
          </a:xfrm>
          <a:prstGeom prst="rect">
            <a:avLst/>
          </a:prstGeom>
          <a:solidFill>
            <a:srgbClr val="ECEFF4">
              <a:alpha val="74000"/>
            </a:srgbClr>
          </a:solidFill>
          <a:ln w="0">
            <a:solidFill>
              <a:srgbClr val="ECEFF4"/>
            </a:solidFill>
            <a:prstDash val="solid"/>
          </a:ln>
        </p:spPr>
        <p:txBody>
          <a:bodyPr wrap="none" anchor="ctr"/>
          <a:lstStyle/>
          <a:p>
            <a:pPr algn="l">
              <a:defRPr sz="10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STRENGTH</a:t>
            </a:r>
            <a:endParaRPr>
              <a:solidFill/>
              <a:latin typeface="Times New Roman" panose="02020603050405020304"/>
            </a:endParaRPr>
          </a:p>
        </p:txBody>
      </p:sp>
      <p:sp>
        <p:nvSpPr>
          <p:cNvPr id="39" name="anim_291"/>
          <p:cNvSpPr>
            <a:spLocks noGrp="1"/>
          </p:cNvSpPr>
          <p:nvPr/>
        </p:nvSpPr>
        <p:spPr>
          <a:xfrm>
            <a:off x="666750" y="4991100"/>
            <a:ext cx="4905375" cy="400050"/>
          </a:xfrm>
          <a:prstGeom prst="rect">
            <a:avLst/>
          </a:prstGeom>
          <a:solidFill>
            <a:srgbClr val="ECEFF4">
              <a:alpha val="74000"/>
            </a:srgbClr>
          </a:solidFill>
          <a:ln w="0">
            <a:solidFill>
              <a:srgbClr val="ECEFF4"/>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Traceable row retention and field-level supplementation</a:t>
            </a:r>
            <a:endParaRPr>
              <a:solidFill/>
              <a:latin typeface="Times New Roman" panose="02020603050405020304"/>
            </a:endParaRPr>
          </a:p>
        </p:txBody>
      </p:sp>
      <p:sp>
        <p:nvSpPr>
          <p:cNvPr id="40" name="anim_288"/>
          <p:cNvSpPr>
            <a:spLocks noGrp="1"/>
          </p:cNvSpPr>
          <p:nvPr/>
        </p:nvSpPr>
        <p:spPr>
          <a:xfrm>
            <a:off x="5981700" y="4572000"/>
            <a:ext cx="5257800" cy="971550"/>
          </a:xfrm>
          <a:prstGeom prst="roundRect">
            <a:avLst>
              <a:gd name="adj" fmla="val 7843"/>
            </a:avLst>
          </a:prstGeom>
          <a:solidFill>
            <a:srgbClr val="F6F2E4"/>
          </a:solidFill>
          <a:ln w="13335">
            <a:solidFill>
              <a:srgbClr val="A98A52"/>
            </a:solidFill>
            <a:prstDash val="solid"/>
          </a:ln>
        </p:spPr>
        <p:txBody>
          <a:bodyPr/>
          <a:p>
            <a:pPr>
              <a:defRPr>
                <a:latin typeface="Times New Roman" panose="02020603050405020304"/>
              </a:defRPr>
            </a:pPr>
          </a:p>
        </p:txBody>
      </p:sp>
      <p:sp>
        <p:nvSpPr>
          <p:cNvPr id="41" name="anim_290"/>
          <p:cNvSpPr>
            <a:spLocks noGrp="1"/>
          </p:cNvSpPr>
          <p:nvPr/>
        </p:nvSpPr>
        <p:spPr>
          <a:xfrm>
            <a:off x="6172200" y="4695825"/>
            <a:ext cx="1428750" cy="266700"/>
          </a:xfrm>
          <a:prstGeom prst="rect">
            <a:avLst/>
          </a:prstGeom>
          <a:solidFill>
            <a:srgbClr val="F6F2E4"/>
          </a:solidFill>
          <a:ln w="0">
            <a:solidFill>
              <a:srgbClr val="F6F2E4"/>
            </a:solidFill>
            <a:prstDash val="solid"/>
          </a:ln>
        </p:spPr>
        <p:txBody>
          <a:bodyPr wrap="none" anchor="ctr"/>
          <a:lstStyle/>
          <a:p>
            <a:pPr algn="l">
              <a:defRPr sz="1000" b="1" i="0">
                <a:solidFill>
                  <a:srgbClr val="825E00"/>
                </a:solidFill>
                <a:latin typeface="Times New Roman" panose="02020603050405020304"/>
                <a:ea typeface="Times New Roman" panose="02020603050405020304"/>
                <a:cs typeface="Times New Roman" panose="02020603050405020304"/>
              </a:defRPr>
            </a:pPr>
            <a:r>
              <a:rPr>
                <a:solidFill/>
                <a:latin typeface="Times New Roman" panose="02020603050405020304"/>
              </a:rPr>
              <a:t>LIMITATION</a:t>
            </a:r>
            <a:endParaRPr>
              <a:solidFill/>
              <a:latin typeface="Times New Roman" panose="02020603050405020304"/>
            </a:endParaRPr>
          </a:p>
        </p:txBody>
      </p:sp>
      <p:sp>
        <p:nvSpPr>
          <p:cNvPr id="42" name="anim_292"/>
          <p:cNvSpPr>
            <a:spLocks noGrp="1"/>
          </p:cNvSpPr>
          <p:nvPr/>
        </p:nvSpPr>
        <p:spPr>
          <a:xfrm>
            <a:off x="6172200" y="4991100"/>
            <a:ext cx="4857750" cy="400050"/>
          </a:xfrm>
          <a:prstGeom prst="rect">
            <a:avLst/>
          </a:prstGeom>
          <a:solidFill>
            <a:srgbClr val="F6F2E4"/>
          </a:solidFill>
          <a:ln w="0">
            <a:solidFill>
              <a:srgbClr val="F6F2E4"/>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Unbalanced country panel; coverage varies across small entities</a:t>
            </a:r>
            <a:endParaRPr>
              <a:solidFill/>
              <a:latin typeface="Times New Roman" panose="02020603050405020304"/>
            </a:endParaRPr>
          </a:p>
        </p:txBody>
      </p:sp>
      <p:sp>
        <p:nvSpPr>
          <p:cNvPr id="71" name="TextBox 70"/>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2 / 7</a:t>
            </a:r>
            <a:endParaRPr sz="1300" b="1">
              <a:solidFill>
                <a:srgbClr val="D3E3D6"/>
              </a:solidFill>
              <a:latin typeface="Times New Roman" panose="02020603050405020304"/>
            </a:endParaRPr>
          </a:p>
        </p:txBody>
      </p:sp>
      <p:sp>
        <p:nvSpPr>
          <p:cNvPr id="73" name="Rectangle 72"/>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74" name="anim_255"/>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75" name="TextBox 74"/>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Building one comparable country-year panel</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A controlled left join keeps the OWID backbone intact</a:t>
            </a:r>
            <a:endParaRPr sz="2300" b="1">
              <a:solidFill>
                <a:srgbClr val="FFFFFF"/>
              </a:solidFill>
              <a:latin typeface="Georgia" panose="02040502050405020303"/>
            </a:endParaRPr>
          </a:p>
        </p:txBody>
      </p:sp>
      <p:sp>
        <p:nvSpPr>
          <p:cNvPr id="76" name="TextBox 75"/>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7</a:t>
            </a:r>
            <a:endParaRPr sz="1400" b="1">
              <a:solidFill>
                <a:srgbClr val="D3E3D6"/>
              </a:solidFill>
              <a:latin typeface="Times New Roman" panose="02020603050405020304"/>
            </a:endParaRPr>
          </a:p>
        </p:txBody>
      </p:sp>
      <p:sp>
        <p:nvSpPr>
          <p:cNvPr id="77" name="anim_298"/>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conditioning is where a study can silently bias itself, so no observed value is overwritten and every filled field stays flagged.</a:t>
            </a:r>
            <a:endParaRPr sz="1350" b="0">
              <a:solidFill>
                <a:srgbClr val="252B30"/>
              </a:solidFill>
              <a:latin typeface="Times New Roman" panose="02020603050405020304"/>
            </a:endParaRPr>
          </a:p>
        </p:txBody>
      </p:sp>
      <p:sp>
        <p:nvSpPr>
          <p:cNvPr id="79" name="anim_297"/>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5</a:t>
            </a:r>
            <a:endParaRPr sz="1400" b="0">
              <a:solidFill>
                <a:srgbClr val="6E7672"/>
              </a:solidFill>
              <a:latin typeface="Times New Roman" panose="02020603050405020304"/>
            </a:endParaRPr>
          </a:p>
        </p:txBody>
      </p:sp>
      <p:sp>
        <p:nvSpPr>
          <p:cNvPr id="80" name="anim_296"/>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Data: [1] [2]</a:t>
            </a:r>
            <a:endParaRPr sz="13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450"/>
                                        <p:tgtEl>
                                          <p:spTgt spid="7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50"/>
                                        <p:tgtEl>
                                          <p:spTgt spid="15"/>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50"/>
                                        <p:tgtEl>
                                          <p:spTgt spid="19"/>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50"/>
                                        <p:tgtEl>
                                          <p:spTgt spid="17"/>
                                        </p:tgtEl>
                                      </p:cBhvr>
                                    </p:animEffect>
                                  </p:childTnLst>
                                </p:cTn>
                              </p:par>
                              <p:par>
                                <p:cTn id="32" presetID="10" presetClass="entr" presetSubtype="0" fill="hold" grpId="0" nodeType="withEffect">
                                  <p:stCondLst>
                                    <p:cond delay="157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50"/>
                                        <p:tgtEl>
                                          <p:spTgt spid="21"/>
                                        </p:tgtEl>
                                      </p:cBhvr>
                                    </p:animEffect>
                                  </p:childTnLst>
                                </p:cTn>
                              </p:par>
                              <p:par>
                                <p:cTn id="35" presetID="10" presetClass="entr" presetSubtype="0" fill="hold" grpId="0" nodeType="withEffect">
                                  <p:stCondLst>
                                    <p:cond delay="17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450"/>
                                        <p:tgtEl>
                                          <p:spTgt spid="8"/>
                                        </p:tgtEl>
                                      </p:cBhvr>
                                    </p:animEffect>
                                  </p:childTnLst>
                                </p:cTn>
                              </p:par>
                              <p:par>
                                <p:cTn id="38" presetID="10" presetClass="entr" presetSubtype="0" fill="hold" grpId="0" nodeType="withEffect">
                                  <p:stCondLst>
                                    <p:cond delay="183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childTnLst>
                                </p:cTn>
                              </p:par>
                              <p:par>
                                <p:cTn id="41" presetID="10" presetClass="entr" presetSubtype="0" fill="hold" grpId="0" nodeType="withEffect">
                                  <p:stCondLst>
                                    <p:cond delay="196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09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50"/>
                                        <p:tgtEl>
                                          <p:spTgt spid="20"/>
                                        </p:tgtEl>
                                      </p:cBhvr>
                                    </p:animEffect>
                                  </p:childTnLst>
                                </p:cTn>
                              </p:par>
                              <p:par>
                                <p:cTn id="47" presetID="10" presetClass="entr" presetSubtype="0" fill="hold" grpId="0" nodeType="withEffect">
                                  <p:stCondLst>
                                    <p:cond delay="222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450"/>
                                        <p:tgtEl>
                                          <p:spTgt spid="10"/>
                                        </p:tgtEl>
                                      </p:cBhvr>
                                    </p:animEffect>
                                  </p:childTnLst>
                                </p:cTn>
                              </p:par>
                              <p:par>
                                <p:cTn id="50" presetID="10" presetClass="entr" presetSubtype="0" fill="hold" grpId="0" nodeType="withEffect">
                                  <p:stCondLst>
                                    <p:cond delay="23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par>
                                <p:cTn id="53" presetID="10" presetClass="entr" presetSubtype="0" fill="hold" grpId="0" nodeType="withEffect">
                                  <p:stCondLst>
                                    <p:cond delay="248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grpId="0" nodeType="withEffect">
                                  <p:stCondLst>
                                    <p:cond delay="261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274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450"/>
                                        <p:tgtEl>
                                          <p:spTgt spid="63"/>
                                        </p:tgtEl>
                                      </p:cBhvr>
                                    </p:animEffect>
                                  </p:childTnLst>
                                </p:cTn>
                              </p:par>
                              <p:par>
                                <p:cTn id="62" presetID="10" presetClass="entr" presetSubtype="0" fill="hold" grpId="0" nodeType="withEffect">
                                  <p:stCondLst>
                                    <p:cond delay="2870"/>
                                  </p:stCondLst>
                                  <p:childTnLst>
                                    <p:set>
                                      <p:cBhvr>
                                        <p:cTn id="63" dur="1" fill="hold">
                                          <p:stCondLst>
                                            <p:cond delay="0"/>
                                          </p:stCondLst>
                                        </p:cTn>
                                        <p:tgtEl>
                                          <p:spTgt spid="64"/>
                                        </p:tgtEl>
                                        <p:attrNameLst>
                                          <p:attrName>style.visibility</p:attrName>
                                        </p:attrNameLst>
                                      </p:cBhvr>
                                      <p:to>
                                        <p:strVal val="visible"/>
                                      </p:to>
                                    </p:set>
                                    <p:animEffect transition="in" filter="fade">
                                      <p:cBhvr>
                                        <p:cTn id="64" dur="450"/>
                                        <p:tgtEl>
                                          <p:spTgt spid="64"/>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65"/>
                                        </p:tgtEl>
                                        <p:attrNameLst>
                                          <p:attrName>style.visibility</p:attrName>
                                        </p:attrNameLst>
                                      </p:cBhvr>
                                      <p:to>
                                        <p:strVal val="visible"/>
                                      </p:to>
                                    </p:set>
                                    <p:animEffect transition="in" filter="fade">
                                      <p:cBhvr>
                                        <p:cTn id="67" dur="450"/>
                                        <p:tgtEl>
                                          <p:spTgt spid="65"/>
                                        </p:tgtEl>
                                      </p:cBhvr>
                                    </p:animEffect>
                                  </p:childTnLst>
                                </p:cTn>
                              </p:par>
                            </p:childTnLst>
                          </p:cTn>
                        </p:par>
                        <p:par>
                          <p:cTn id="68" fill="hold">
                            <p:stCondLst>
                              <p:cond delay="900"/>
                            </p:stCondLst>
                            <p:childTnLst>
                              <p:par>
                                <p:cTn id="69" presetID="10" presetClass="entr" presetSubtype="0" fill="hold" grpId="0" nodeType="afterEffect">
                                  <p:stCondLst>
                                    <p:cond delay="40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66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79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50"/>
                                        <p:tgtEl>
                                          <p:spTgt spid="31"/>
                                        </p:tgtEl>
                                      </p:cBhvr>
                                    </p:animEffect>
                                  </p:childTnLst>
                                </p:cTn>
                              </p:par>
                              <p:par>
                                <p:cTn id="81" presetID="10" presetClass="entr" presetSubtype="0" fill="hold" grpId="0" nodeType="withEffect">
                                  <p:stCondLst>
                                    <p:cond delay="92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50"/>
                                        <p:tgtEl>
                                          <p:spTgt spid="33"/>
                                        </p:tgtEl>
                                      </p:cBhvr>
                                    </p:animEffect>
                                  </p:childTnLst>
                                </p:cTn>
                              </p:par>
                              <p:par>
                                <p:cTn id="84" presetID="10" presetClass="entr" presetSubtype="0" fill="hold" grpId="0" nodeType="withEffect">
                                  <p:stCondLst>
                                    <p:cond delay="105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grpId="0" nodeType="withEffect">
                                  <p:stCondLst>
                                    <p:cond delay="118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50"/>
                                        <p:tgtEl>
                                          <p:spTgt spid="28"/>
                                        </p:tgtEl>
                                      </p:cBhvr>
                                    </p:animEffect>
                                  </p:childTnLst>
                                </p:cTn>
                              </p:par>
                              <p:par>
                                <p:cTn id="90" presetID="10" presetClass="entr" presetSubtype="0" fill="hold" grpId="0" nodeType="withEffect">
                                  <p:stCondLst>
                                    <p:cond delay="131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50"/>
                                        <p:tgtEl>
                                          <p:spTgt spid="30"/>
                                        </p:tgtEl>
                                      </p:cBhvr>
                                    </p:animEffect>
                                  </p:childTnLst>
                                </p:cTn>
                              </p:par>
                              <p:par>
                                <p:cTn id="93" presetID="10" presetClass="entr" presetSubtype="0" fill="hold" grpId="0" nodeType="withEffect">
                                  <p:stCondLst>
                                    <p:cond delay="144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par>
                                <p:cTn id="96" presetID="10" presetClass="entr" presetSubtype="0" fill="hold" grpId="0" nodeType="withEffect">
                                  <p:stCondLst>
                                    <p:cond delay="157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par>
                                <p:cTn id="99" presetID="10" presetClass="entr" presetSubtype="0" fill="hold" grpId="0" nodeType="withEffect">
                                  <p:stCondLst>
                                    <p:cond delay="170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par>
                                <p:cTn id="102" presetID="10" presetClass="entr" presetSubtype="0" fill="hold" grpId="0" nodeType="withEffect">
                                  <p:stCondLst>
                                    <p:cond delay="183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450"/>
                                        <p:tgtEl>
                                          <p:spTgt spid="37"/>
                                        </p:tgtEl>
                                      </p:cBhvr>
                                    </p:animEffect>
                                  </p:childTnLst>
                                </p:cTn>
                              </p:par>
                              <p:par>
                                <p:cTn id="105" presetID="10" presetClass="entr" presetSubtype="0" fill="hold" grpId="0" nodeType="withEffect">
                                  <p:stCondLst>
                                    <p:cond delay="196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450"/>
                                        <p:tgtEl>
                                          <p:spTgt spid="40"/>
                                        </p:tgtEl>
                                      </p:cBhvr>
                                    </p:animEffect>
                                  </p:childTnLst>
                                </p:cTn>
                              </p:par>
                              <p:par>
                                <p:cTn id="108" presetID="10" presetClass="entr" presetSubtype="0" fill="hold" grpId="0" nodeType="withEffect">
                                  <p:stCondLst>
                                    <p:cond delay="209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450"/>
                                        <p:tgtEl>
                                          <p:spTgt spid="38"/>
                                        </p:tgtEl>
                                      </p:cBhvr>
                                    </p:animEffect>
                                  </p:childTnLst>
                                </p:cTn>
                              </p:par>
                              <p:par>
                                <p:cTn id="111" presetID="10" presetClass="entr" presetSubtype="0" fill="hold" grpId="0" nodeType="withEffect">
                                  <p:stCondLst>
                                    <p:cond delay="222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childTnLst>
                          </p:cTn>
                        </p:par>
                        <p:par>
                          <p:cTn id="114" fill="hold">
                            <p:stCondLst>
                              <p:cond delay="1800"/>
                            </p:stCondLst>
                            <p:childTnLst>
                              <p:par>
                                <p:cTn id="115" presetID="10" presetClass="entr" presetSubtype="0" fill="hold" grpId="0" nodeType="afterEffect">
                                  <p:stCondLst>
                                    <p:cond delay="40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50"/>
                                        <p:tgtEl>
                                          <p:spTgt spid="39"/>
                                        </p:tgtEl>
                                      </p:cBhvr>
                                    </p:animEffect>
                                  </p:childTnLst>
                                </p:cTn>
                              </p:par>
                              <p:par>
                                <p:cTn id="118" presetID="10" presetClass="entr" presetSubtype="0" fill="hold" grpId="0" nodeType="withEffect">
                                  <p:stCondLst>
                                    <p:cond delay="530"/>
                                  </p:stCondLst>
                                  <p:childTnLst>
                                    <p:set>
                                      <p:cBhvr>
                                        <p:cTn id="119" dur="1" fill="hold">
                                          <p:stCondLst>
                                            <p:cond delay="0"/>
                                          </p:stCondLst>
                                        </p:cTn>
                                        <p:tgtEl>
                                          <p:spTgt spid="42"/>
                                        </p:tgtEl>
                                        <p:attrNameLst>
                                          <p:attrName>style.visibility</p:attrName>
                                        </p:attrNameLst>
                                      </p:cBhvr>
                                      <p:to>
                                        <p:strVal val="visible"/>
                                      </p:to>
                                    </p:set>
                                    <p:animEffect transition="in" filter="fade">
                                      <p:cBhvr>
                                        <p:cTn id="120" dur="450"/>
                                        <p:tgtEl>
                                          <p:spTgt spid="42"/>
                                        </p:tgtEl>
                                      </p:cBhvr>
                                    </p:animEffect>
                                  </p:childTnLst>
                                </p:cTn>
                              </p:par>
                              <p:par>
                                <p:cTn id="121" presetID="10" presetClass="entr" presetSubtype="0" fill="hold" grpId="0" nodeType="withEffect">
                                  <p:stCondLst>
                                    <p:cond delay="660"/>
                                  </p:stCondLst>
                                  <p:childTnLst>
                                    <p:set>
                                      <p:cBhvr>
                                        <p:cTn id="122" dur="1" fill="hold">
                                          <p:stCondLst>
                                            <p:cond delay="0"/>
                                          </p:stCondLst>
                                        </p:cTn>
                                        <p:tgtEl>
                                          <p:spTgt spid="5"/>
                                        </p:tgtEl>
                                        <p:attrNameLst>
                                          <p:attrName>style.visibility</p:attrName>
                                        </p:attrNameLst>
                                      </p:cBhvr>
                                      <p:to>
                                        <p:strVal val="visible"/>
                                      </p:to>
                                    </p:set>
                                    <p:animEffect transition="in" filter="fade">
                                      <p:cBhvr>
                                        <p:cTn id="123" dur="450"/>
                                        <p:tgtEl>
                                          <p:spTgt spid="5"/>
                                        </p:tgtEl>
                                      </p:cBhvr>
                                    </p:animEffect>
                                  </p:childTnLst>
                                </p:cTn>
                              </p:par>
                              <p:par>
                                <p:cTn id="124" presetID="10" presetClass="entr" presetSubtype="0" fill="hold" grpId="0" nodeType="withEffect">
                                  <p:stCondLst>
                                    <p:cond delay="920"/>
                                  </p:stCondLst>
                                  <p:childTnLst>
                                    <p:set>
                                      <p:cBhvr>
                                        <p:cTn id="125" dur="1" fill="hold">
                                          <p:stCondLst>
                                            <p:cond delay="0"/>
                                          </p:stCondLst>
                                        </p:cTn>
                                        <p:tgtEl>
                                          <p:spTgt spid="80"/>
                                        </p:tgtEl>
                                        <p:attrNameLst>
                                          <p:attrName>style.visibility</p:attrName>
                                        </p:attrNameLst>
                                      </p:cBhvr>
                                      <p:to>
                                        <p:strVal val="visible"/>
                                      </p:to>
                                    </p:set>
                                    <p:animEffect transition="in" filter="fade">
                                      <p:cBhvr>
                                        <p:cTn id="126" dur="450"/>
                                        <p:tgtEl>
                                          <p:spTgt spid="80"/>
                                        </p:tgtEl>
                                      </p:cBhvr>
                                    </p:animEffect>
                                  </p:childTnLst>
                                </p:cTn>
                              </p:par>
                              <p:par>
                                <p:cTn id="127" presetID="10" presetClass="entr" presetSubtype="0" fill="hold" grpId="0" nodeType="withEffect">
                                  <p:stCondLst>
                                    <p:cond delay="1050"/>
                                  </p:stCondLst>
                                  <p:childTnLst>
                                    <p:set>
                                      <p:cBhvr>
                                        <p:cTn id="128" dur="1" fill="hold">
                                          <p:stCondLst>
                                            <p:cond delay="0"/>
                                          </p:stCondLst>
                                        </p:cTn>
                                        <p:tgtEl>
                                          <p:spTgt spid="79"/>
                                        </p:tgtEl>
                                        <p:attrNameLst>
                                          <p:attrName>style.visibility</p:attrName>
                                        </p:attrNameLst>
                                      </p:cBhvr>
                                      <p:to>
                                        <p:strVal val="visible"/>
                                      </p:to>
                                    </p:set>
                                    <p:animEffect transition="in" filter="fade">
                                      <p:cBhvr>
                                        <p:cTn id="129" dur="450"/>
                                        <p:tgtEl>
                                          <p:spTgt spid="79"/>
                                        </p:tgtEl>
                                      </p:cBhvr>
                                    </p:animEffect>
                                  </p:childTnLst>
                                </p:cTn>
                              </p:par>
                            </p:childTnLst>
                          </p:cTn>
                        </p:par>
                        <p:par>
                          <p:cTn id="130" fill="hold">
                            <p:stCondLst>
                              <p:cond delay="2700"/>
                            </p:stCondLst>
                            <p:childTnLst>
                              <p:par>
                                <p:cTn id="131" presetID="10" presetClass="entr" presetSubtype="0" fill="hold" grpId="0" nodeType="afterEffect">
                                  <p:stCondLst>
                                    <p:cond delay="400"/>
                                  </p:stCondLst>
                                  <p:childTnLst>
                                    <p:set>
                                      <p:cBhvr>
                                        <p:cTn id="132" dur="1" fill="hold">
                                          <p:stCondLst>
                                            <p:cond delay="0"/>
                                          </p:stCondLst>
                                        </p:cTn>
                                        <p:tgtEl>
                                          <p:spTgt spid="77"/>
                                        </p:tgtEl>
                                        <p:attrNameLst>
                                          <p:attrName>style.visibility</p:attrName>
                                        </p:attrNameLst>
                                      </p:cBhvr>
                                      <p:to>
                                        <p:strVal val="visible"/>
                                      </p:to>
                                    </p:set>
                                    <p:animEffect transition="in" filter="fade">
                                      <p:cBhvr>
                                        <p:cTn id="133" dur="4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13"/>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EFD6AB9A-5F9E-5F59-51AB-3C8734130965}"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29" name="Rectangle 28"/>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00"/>
          <p:cNvSpPr>
            <a:spLocks noGrp="1"/>
          </p:cNvSpPr>
          <p:nvPr/>
        </p:nvSpPr>
        <p:spPr>
          <a:xfrm>
            <a:off x="361950" y="1123950"/>
            <a:ext cx="7915275" cy="4514850"/>
          </a:xfrm>
          <a:prstGeom prst="roundRect">
            <a:avLst>
              <a:gd name="adj" fmla="val 1688"/>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pic>
        <p:nvPicPr>
          <p:cNvPr id="22" name="anim_302"/>
          <p:cNvPicPr>
            <a:picLocks noChangeAspect="1"/>
          </p:cNvPicPr>
          <p:nvPr/>
        </p:nvPicPr>
        <p:blipFill>
          <a:blip r:embed="rId2"/>
          <a:stretch>
            <a:fillRect/>
          </a:stretch>
        </p:blipFill>
        <p:spPr>
          <a:xfrm>
            <a:off x="494172" y="1162050"/>
            <a:ext cx="7650831" cy="4438650"/>
          </a:xfrm>
          <a:prstGeom prst="rect">
            <a:avLst/>
          </a:prstGeom>
        </p:spPr>
      </p:pic>
      <p:sp>
        <p:nvSpPr>
          <p:cNvPr id="8" name="anim_301"/>
          <p:cNvSpPr>
            <a:spLocks noGrp="1"/>
          </p:cNvSpPr>
          <p:nvPr/>
        </p:nvSpPr>
        <p:spPr>
          <a:xfrm>
            <a:off x="8572500" y="1143000"/>
            <a:ext cx="219075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1992 → 2021</a:t>
            </a:r>
            <a:endParaRPr>
              <a:solidFill/>
              <a:latin typeface="Times New Roman" panose="02020603050405020304"/>
            </a:endParaRPr>
          </a:p>
        </p:txBody>
      </p:sp>
      <p:sp>
        <p:nvSpPr>
          <p:cNvPr id="9" name="anim_303"/>
          <p:cNvSpPr>
            <a:spLocks noGrp="1"/>
          </p:cNvSpPr>
          <p:nvPr/>
        </p:nvSpPr>
        <p:spPr>
          <a:xfrm>
            <a:off x="8572500" y="1504950"/>
            <a:ext cx="2609850" cy="1123950"/>
          </a:xfrm>
          <a:prstGeom prst="roundRect">
            <a:avLst>
              <a:gd name="adj" fmla="val 10169"/>
            </a:avLst>
          </a:prstGeom>
          <a:solidFill>
            <a:srgbClr val="ECEFF4">
              <a:alpha val="74000"/>
            </a:srgbClr>
          </a:solidFill>
          <a:ln w="14288">
            <a:solidFill>
              <a:srgbClr val="4F6E96"/>
            </a:solidFill>
            <a:prstDash val="solid"/>
          </a:ln>
        </p:spPr>
        <p:txBody>
          <a:bodyPr/>
          <a:p>
            <a:pPr>
              <a:defRPr>
                <a:latin typeface="Times New Roman" panose="02020603050405020304"/>
              </a:defRPr>
            </a:pPr>
          </a:p>
        </p:txBody>
      </p:sp>
      <p:sp>
        <p:nvSpPr>
          <p:cNvPr id="10" name="anim_304"/>
          <p:cNvSpPr>
            <a:spLocks noGrp="1"/>
          </p:cNvSpPr>
          <p:nvPr/>
        </p:nvSpPr>
        <p:spPr>
          <a:xfrm>
            <a:off x="8705850" y="1600200"/>
            <a:ext cx="2343150" cy="514350"/>
          </a:xfrm>
          <a:prstGeom prst="rect">
            <a:avLst/>
          </a:prstGeom>
          <a:solidFill>
            <a:srgbClr val="ECEFF4">
              <a:alpha val="74000"/>
            </a:srgbClr>
          </a:solidFill>
          <a:ln w="0">
            <a:solidFill>
              <a:srgbClr val="ECEFF4"/>
            </a:solidFill>
            <a:prstDash val="solid"/>
          </a:ln>
        </p:spPr>
        <p:txBody>
          <a:bodyPr anchor="ctr"/>
          <a:lstStyle/>
          <a:p>
            <a:pPr algn="l">
              <a:defRPr sz="2550" b="1"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+63.8%</a:t>
            </a:r>
            <a:endParaRPr>
              <a:solidFill/>
              <a:latin typeface="Times New Roman" panose="02020603050405020304"/>
            </a:endParaRPr>
          </a:p>
        </p:txBody>
      </p:sp>
      <p:sp>
        <p:nvSpPr>
          <p:cNvPr id="11" name="anim_305"/>
          <p:cNvSpPr>
            <a:spLocks noGrp="1"/>
          </p:cNvSpPr>
          <p:nvPr/>
        </p:nvSpPr>
        <p:spPr>
          <a:xfrm>
            <a:off x="8705850" y="2114550"/>
            <a:ext cx="2343150" cy="3810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Global total</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21.97 → 35.98 Gt</a:t>
            </a:r>
            <a:endParaRPr>
              <a:solidFill/>
              <a:latin typeface="Times New Roman" panose="02020603050405020304"/>
            </a:endParaRPr>
          </a:p>
        </p:txBody>
      </p:sp>
      <p:sp>
        <p:nvSpPr>
          <p:cNvPr id="12" name="anim_306"/>
          <p:cNvSpPr>
            <a:spLocks noGrp="1"/>
          </p:cNvSpPr>
          <p:nvPr/>
        </p:nvSpPr>
        <p:spPr>
          <a:xfrm>
            <a:off x="8572500" y="2819400"/>
            <a:ext cx="2609850" cy="1123950"/>
          </a:xfrm>
          <a:prstGeom prst="roundRect">
            <a:avLst>
              <a:gd name="adj" fmla="val 10169"/>
            </a:avLst>
          </a:prstGeom>
          <a:solidFill>
            <a:srgbClr val="F7F1EA"/>
          </a:solidFill>
          <a:ln w="14288">
            <a:solidFill>
              <a:srgbClr val="BE7F4E"/>
            </a:solidFill>
            <a:prstDash val="solid"/>
          </a:ln>
        </p:spPr>
        <p:txBody>
          <a:bodyPr/>
          <a:p>
            <a:pPr>
              <a:defRPr>
                <a:latin typeface="Times New Roman" panose="02020603050405020304"/>
              </a:defRPr>
            </a:pPr>
          </a:p>
        </p:txBody>
      </p:sp>
      <p:sp>
        <p:nvSpPr>
          <p:cNvPr id="13" name="anim_307"/>
          <p:cNvSpPr>
            <a:spLocks noGrp="1"/>
          </p:cNvSpPr>
          <p:nvPr/>
        </p:nvSpPr>
        <p:spPr>
          <a:xfrm>
            <a:off x="8705850" y="2914650"/>
            <a:ext cx="234315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20603050405020304"/>
                <a:ea typeface="Times New Roman" panose="02020603050405020304"/>
                <a:cs typeface="Times New Roman" panose="02020603050405020304"/>
              </a:defRPr>
            </a:pPr>
            <a:r>
              <a:rPr>
                <a:solidFill/>
                <a:latin typeface="Times New Roman" panose="02020603050405020304"/>
              </a:rPr>
              <a:t>+13.3%</a:t>
            </a:r>
            <a:endParaRPr>
              <a:solidFill/>
              <a:latin typeface="Times New Roman" panose="02020603050405020304"/>
            </a:endParaRPr>
          </a:p>
        </p:txBody>
      </p:sp>
      <p:sp>
        <p:nvSpPr>
          <p:cNvPr id="14" name="anim_308"/>
          <p:cNvSpPr>
            <a:spLocks noGrp="1"/>
          </p:cNvSpPr>
          <p:nvPr/>
        </p:nvSpPr>
        <p:spPr>
          <a:xfrm>
            <a:off x="8705850" y="3429000"/>
            <a:ext cx="2343150" cy="3810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Per person</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4.00 → 4.53 t</a:t>
            </a:r>
            <a:endParaRPr>
              <a:solidFill/>
              <a:latin typeface="Times New Roman" panose="02020603050405020304"/>
            </a:endParaRPr>
          </a:p>
        </p:txBody>
      </p:sp>
      <p:sp>
        <p:nvSpPr>
          <p:cNvPr id="15" name="anim_309"/>
          <p:cNvSpPr>
            <a:spLocks noGrp="1"/>
          </p:cNvSpPr>
          <p:nvPr/>
        </p:nvSpPr>
        <p:spPr>
          <a:xfrm>
            <a:off x="8572500" y="4238625"/>
            <a:ext cx="2609850" cy="1362075"/>
          </a:xfrm>
          <a:prstGeom prst="roundRect">
            <a:avLst>
              <a:gd name="adj" fmla="val 5594"/>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sp>
        <p:nvSpPr>
          <p:cNvPr id="16" name="anim_310"/>
          <p:cNvSpPr>
            <a:spLocks noGrp="1"/>
          </p:cNvSpPr>
          <p:nvPr/>
        </p:nvSpPr>
        <p:spPr>
          <a:xfrm>
            <a:off x="8743950" y="4343400"/>
            <a:ext cx="2095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INTERPRETATION</a:t>
            </a:r>
            <a:endParaRPr>
              <a:solidFill/>
              <a:latin typeface="Times New Roman" panose="02020603050405020304"/>
            </a:endParaRPr>
          </a:p>
        </p:txBody>
      </p:sp>
      <p:sp>
        <p:nvSpPr>
          <p:cNvPr id="17" name="anim_311"/>
          <p:cNvSpPr>
            <a:spLocks noGrp="1"/>
          </p:cNvSpPr>
          <p:nvPr/>
        </p:nvSpPr>
        <p:spPr>
          <a:xfrm>
            <a:off x="8743950" y="4686300"/>
            <a:ext cx="2266950" cy="723900"/>
          </a:xfrm>
          <a:prstGeom prst="rect">
            <a:avLst/>
          </a:prstGeom>
          <a:solidFill>
            <a:srgbClr val="FAFBFA">
              <a:alpha val="74000"/>
            </a:srgbClr>
          </a:solidFill>
          <a:ln w="0">
            <a:solidFill>
              <a:srgbClr val="FAFBFA"/>
            </a:solidFill>
            <a:prstDash val="solid"/>
          </a:ln>
        </p:spPr>
        <p:txBody>
          <a:bodyPr anchor="t"/>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Most growth came from scale, not equal growth in emissions intensity.</a:t>
            </a:r>
            <a:endParaRPr>
              <a:solidFill/>
              <a:latin typeface="Times New Roman" panose="02020603050405020304"/>
            </a:endParaRPr>
          </a:p>
        </p:txBody>
      </p:sp>
      <p:sp>
        <p:nvSpPr>
          <p:cNvPr id="28" name="TextBox 27"/>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3 / 7</a:t>
            </a:r>
            <a:endParaRPr sz="1300" b="1">
              <a:solidFill>
                <a:srgbClr val="D3E3D6"/>
              </a:solidFill>
              <a:latin typeface="Times New Roman" panose="02020603050405020304"/>
            </a:endParaRPr>
          </a:p>
        </p:txBody>
      </p:sp>
      <p:sp>
        <p:nvSpPr>
          <p:cNvPr id="30" name="Rectangle 29"/>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299"/>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TextBox 31"/>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How much did the covered emissions rise, 1992-2021?</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Total CO2 grew nearly five times faster than per person</a:t>
            </a:r>
            <a:endParaRPr sz="2300" b="1">
              <a:solidFill>
                <a:srgbClr val="FFFFFF"/>
              </a:solidFill>
              <a:latin typeface="Georgia" panose="02040502050405020303"/>
            </a:endParaRPr>
          </a:p>
        </p:txBody>
      </p:sp>
      <p:sp>
        <p:nvSpPr>
          <p:cNvPr id="33" name="TextBox 32"/>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7</a:t>
            </a:r>
            <a:endParaRPr sz="1400" b="1">
              <a:solidFill>
                <a:srgbClr val="D3E3D6"/>
              </a:solidFill>
              <a:latin typeface="Times New Roman" panose="02020603050405020304"/>
            </a:endParaRPr>
          </a:p>
        </p:txBody>
      </p:sp>
      <p:sp>
        <p:nvSpPr>
          <p:cNvPr id="34" name="anim_316"/>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the aggregate tells us the total grew, not which countries produced the growth or how their paths differ.</a:t>
            </a:r>
            <a:endParaRPr sz="1350" b="0">
              <a:solidFill>
                <a:srgbClr val="252B30"/>
              </a:solidFill>
              <a:latin typeface="Times New Roman" panose="02020603050405020304"/>
            </a:endParaRPr>
          </a:p>
        </p:txBody>
      </p:sp>
      <p:sp>
        <p:nvSpPr>
          <p:cNvPr id="35" name="anim_314"/>
          <p:cNvSpPr txBox="1"/>
          <p:nvPr/>
        </p:nvSpPr>
        <p:spPr>
          <a:xfrm>
            <a:off x="1615948" y="6376035"/>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REYIZA RESIBIEKE</a:t>
            </a:r>
            <a:endParaRPr sz="1300" b="1">
              <a:solidFill>
                <a:srgbClr val="6E7672"/>
              </a:solidFill>
              <a:latin typeface="Times New Roman" panose="02020603050405020304"/>
            </a:endParaRPr>
          </a:p>
        </p:txBody>
      </p:sp>
      <p:sp>
        <p:nvSpPr>
          <p:cNvPr id="36" name="anim_315"/>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6</a:t>
            </a:r>
            <a:endParaRPr sz="1400" b="0">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50"/>
                                        <p:tgtEl>
                                          <p:spTgt spid="31"/>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50"/>
                                        <p:tgtEl>
                                          <p:spTgt spid="22"/>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childTnLst>
                          </p:cTn>
                        </p:par>
                        <p:par>
                          <p:cTn id="29" fill="hold">
                            <p:stCondLst>
                              <p:cond delay="900"/>
                            </p:stCondLst>
                            <p:childTnLst>
                              <p:par>
                                <p:cTn id="30" presetID="10" presetClass="entr" presetSubtype="0" fill="hold" grpId="0" nodeType="afterEffect">
                                  <p:stCondLst>
                                    <p:cond delay="4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79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92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45" fill="hold">
                            <p:stCondLst>
                              <p:cond delay="1800"/>
                            </p:stCondLst>
                            <p:childTnLst>
                              <p:par>
                                <p:cTn id="46" presetID="10" presetClass="entr" presetSubtype="0" fill="hold" grpId="0" nodeType="afterEffect">
                                  <p:stCondLst>
                                    <p:cond delay="40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450"/>
                                        <p:tgtEl>
                                          <p:spTgt spid="5"/>
                                        </p:tgtEl>
                                      </p:cBhvr>
                                    </p:animEffect>
                                  </p:childTnLst>
                                </p:cTn>
                              </p:par>
                              <p:par>
                                <p:cTn id="49" presetID="10" presetClass="entr" presetSubtype="0" fill="hold" grpId="0" nodeType="withEffect">
                                  <p:stCondLst>
                                    <p:cond delay="53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50"/>
                                        <p:tgtEl>
                                          <p:spTgt spid="35"/>
                                        </p:tgtEl>
                                      </p:cBhvr>
                                    </p:animEffect>
                                  </p:childTnLst>
                                </p:cTn>
                              </p:par>
                              <p:par>
                                <p:cTn id="52" presetID="10" presetClass="entr" presetSubtype="0" fill="hold" grpId="0" nodeType="withEffect">
                                  <p:stCondLst>
                                    <p:cond delay="66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50"/>
                                        <p:tgtEl>
                                          <p:spTgt spid="36"/>
                                        </p:tgtEl>
                                      </p:cBhvr>
                                    </p:animEffect>
                                  </p:childTnLst>
                                </p:cTn>
                              </p:par>
                            </p:childTnLst>
                          </p:cTn>
                        </p:par>
                        <p:par>
                          <p:cTn id="55" fill="hold">
                            <p:stCondLst>
                              <p:cond delay="2700"/>
                            </p:stCondLst>
                            <p:childTnLst>
                              <p:par>
                                <p:cTn id="56" presetID="10" presetClass="entr" presetSubtype="0" fill="hold" grpId="0" nodeType="afterEffect">
                                  <p:stCondLst>
                                    <p:cond delay="40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33"/>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EE5B3003-2C54-13C6-9832-7637201064DE}"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43" name="Rectangle 42"/>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19"/>
          <p:cNvSpPr>
            <a:spLocks noGrp="1"/>
          </p:cNvSpPr>
          <p:nvPr/>
        </p:nvSpPr>
        <p:spPr>
          <a:xfrm>
            <a:off x="400050" y="1181100"/>
            <a:ext cx="2628900" cy="4400550"/>
          </a:xfrm>
          <a:prstGeom prst="roundRect">
            <a:avLst>
              <a:gd name="adj" fmla="val 2899"/>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sp>
        <p:nvSpPr>
          <p:cNvPr id="7" name="anim_321"/>
          <p:cNvSpPr>
            <a:spLocks noGrp="1"/>
          </p:cNvSpPr>
          <p:nvPr/>
        </p:nvSpPr>
        <p:spPr>
          <a:xfrm>
            <a:off x="590550" y="1352550"/>
            <a:ext cx="2095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HOW TO READ</a:t>
            </a:r>
            <a:endParaRPr>
              <a:solidFill/>
              <a:latin typeface="Times New Roman" panose="02020603050405020304"/>
            </a:endParaRPr>
          </a:p>
        </p:txBody>
      </p:sp>
      <p:sp>
        <p:nvSpPr>
          <p:cNvPr id="8" name="anim_322"/>
          <p:cNvSpPr>
            <a:spLocks noGrp="1"/>
          </p:cNvSpPr>
          <p:nvPr/>
        </p:nvSpPr>
        <p:spPr>
          <a:xfrm>
            <a:off x="590550" y="1752600"/>
            <a:ext cx="361950" cy="400050"/>
          </a:xfrm>
          <a:prstGeom prst="rect">
            <a:avLst/>
          </a:prstGeom>
          <a:solidFill>
            <a:srgbClr val="4F6E96"/>
          </a:solidFill>
          <a:ln w="0">
            <a:solidFill>
              <a:srgbClr val="4F6E96"/>
            </a:solidFill>
            <a:prstDash val="solid"/>
          </a:ln>
        </p:spPr>
        <p:txBody>
          <a:bodyPr anchor="ctr"/>
          <a:lstStyle/>
          <a:p>
            <a:pPr algn="ctr">
              <a:defRPr sz="15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X</a:t>
            </a:r>
            <a:endParaRPr>
              <a:solidFill/>
              <a:latin typeface="Times New Roman" panose="02020603050405020304"/>
            </a:endParaRPr>
          </a:p>
        </p:txBody>
      </p:sp>
      <p:sp>
        <p:nvSpPr>
          <p:cNvPr id="9" name="anim_323"/>
          <p:cNvSpPr>
            <a:spLocks noGrp="1"/>
          </p:cNvSpPr>
          <p:nvPr/>
        </p:nvSpPr>
        <p:spPr>
          <a:xfrm>
            <a:off x="1066800" y="1752600"/>
            <a:ext cx="1695450" cy="4000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Long-term log trend</a:t>
            </a:r>
            <a:endParaRPr>
              <a:solidFill/>
              <a:latin typeface="Times New Roman" panose="02020603050405020304"/>
            </a:endParaRPr>
          </a:p>
        </p:txBody>
      </p:sp>
      <p:sp>
        <p:nvSpPr>
          <p:cNvPr id="10" name="anim_325"/>
          <p:cNvSpPr>
            <a:spLocks noGrp="1"/>
          </p:cNvSpPr>
          <p:nvPr/>
        </p:nvSpPr>
        <p:spPr>
          <a:xfrm>
            <a:off x="590550" y="2324100"/>
            <a:ext cx="361950" cy="400050"/>
          </a:xfrm>
          <a:prstGeom prst="rect">
            <a:avLst/>
          </a:prstGeom>
          <a:solidFill>
            <a:srgbClr val="BE7F4E"/>
          </a:solidFill>
          <a:ln w="0">
            <a:solidFill>
              <a:srgbClr val="BE7F4E"/>
            </a:solidFill>
            <a:prstDash val="solid"/>
          </a:ln>
        </p:spPr>
        <p:txBody>
          <a:bodyPr anchor="ctr"/>
          <a:lstStyle/>
          <a:p>
            <a:pPr algn="ctr">
              <a:defRPr sz="15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Y</a:t>
            </a:r>
            <a:endParaRPr>
              <a:solidFill/>
              <a:latin typeface="Times New Roman" panose="02020603050405020304"/>
            </a:endParaRPr>
          </a:p>
        </p:txBody>
      </p:sp>
      <p:sp>
        <p:nvSpPr>
          <p:cNvPr id="11" name="anim_324"/>
          <p:cNvSpPr>
            <a:spLocks noGrp="1"/>
          </p:cNvSpPr>
          <p:nvPr/>
        </p:nvSpPr>
        <p:spPr>
          <a:xfrm>
            <a:off x="1066800" y="2266950"/>
            <a:ext cx="1695450" cy="5143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Recent minus long-term</a:t>
            </a:r>
            <a:endParaRPr>
              <a:solidFill/>
              <a:latin typeface="Times New Roman" panose="02020603050405020304"/>
            </a:endParaRPr>
          </a:p>
        </p:txBody>
      </p:sp>
      <p:sp>
        <p:nvSpPr>
          <p:cNvPr id="12" name="anim_327"/>
          <p:cNvSpPr>
            <a:spLocks noGrp="1"/>
          </p:cNvSpPr>
          <p:nvPr/>
        </p:nvSpPr>
        <p:spPr>
          <a:xfrm>
            <a:off x="590550" y="3048000"/>
            <a:ext cx="323850" cy="323850"/>
          </a:xfrm>
          <a:prstGeom prst="rect">
            <a:avLst/>
          </a:prstGeom>
          <a:solidFill>
            <a:srgbClr val="FAFBFA">
              <a:alpha val="74000"/>
            </a:srgbClr>
          </a:solidFill>
          <a:ln w="0">
            <a:solidFill>
              <a:srgbClr val="FAFBFA"/>
            </a:solidFill>
            <a:prstDash val="solid"/>
          </a:ln>
        </p:spPr>
        <p:txBody>
          <a:bodyPr anchor="ctr"/>
          <a:lstStyle/>
          <a:p>
            <a:pPr algn="ctr">
              <a:defRPr sz="1500" b="0"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a:t>
            </a:r>
            <a:endParaRPr>
              <a:solidFill/>
              <a:latin typeface="Times New Roman" panose="02020603050405020304"/>
            </a:endParaRPr>
          </a:p>
        </p:txBody>
      </p:sp>
      <p:sp>
        <p:nvSpPr>
          <p:cNvPr id="13" name="anim_326"/>
          <p:cNvSpPr>
            <a:spLocks noGrp="1"/>
          </p:cNvSpPr>
          <p:nvPr/>
        </p:nvSpPr>
        <p:spPr>
          <a:xfrm>
            <a:off x="1000125" y="3000375"/>
            <a:ext cx="1762125" cy="400050"/>
          </a:xfrm>
          <a:prstGeom prst="rect">
            <a:avLst/>
          </a:prstGeom>
          <a:solidFill>
            <a:srgbClr val="FAFBFA">
              <a:alpha val="74000"/>
            </a:srgbClr>
          </a:solidFill>
          <a:ln w="0">
            <a:solidFill>
              <a:srgbClr val="FAFBFA"/>
            </a:solidFill>
            <a:prstDash val="solid"/>
          </a:ln>
        </p:spPr>
        <p:txBody>
          <a:bodyPr anchor="ctr"/>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Per-capita trend rising</a:t>
            </a:r>
            <a:endParaRPr>
              <a:solidFill/>
              <a:latin typeface="Times New Roman" panose="02020603050405020304"/>
            </a:endParaRPr>
          </a:p>
        </p:txBody>
      </p:sp>
      <p:sp>
        <p:nvSpPr>
          <p:cNvPr id="14" name="anim_329"/>
          <p:cNvSpPr>
            <a:spLocks noGrp="1"/>
          </p:cNvSpPr>
          <p:nvPr/>
        </p:nvSpPr>
        <p:spPr>
          <a:xfrm>
            <a:off x="590550" y="3524250"/>
            <a:ext cx="323850" cy="323850"/>
          </a:xfrm>
          <a:prstGeom prst="rect">
            <a:avLst/>
          </a:prstGeom>
          <a:solidFill>
            <a:srgbClr val="FAFBFA">
              <a:alpha val="74000"/>
            </a:srgbClr>
          </a:solidFill>
          <a:ln w="0">
            <a:solidFill>
              <a:srgbClr val="FAFBFA"/>
            </a:solidFill>
            <a:prstDash val="solid"/>
          </a:ln>
        </p:spPr>
        <p:txBody>
          <a:bodyPr anchor="ctr"/>
          <a:lstStyle/>
          <a:p>
            <a:pPr algn="ctr">
              <a:defRPr sz="1650" b="0"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a:t>
            </a:r>
            <a:endParaRPr>
              <a:solidFill/>
              <a:latin typeface="Times New Roman" panose="02020603050405020304"/>
            </a:endParaRPr>
          </a:p>
        </p:txBody>
      </p:sp>
      <p:sp>
        <p:nvSpPr>
          <p:cNvPr id="15" name="anim_328"/>
          <p:cNvSpPr>
            <a:spLocks noGrp="1"/>
          </p:cNvSpPr>
          <p:nvPr/>
        </p:nvSpPr>
        <p:spPr>
          <a:xfrm>
            <a:off x="1000125" y="3476625"/>
            <a:ext cx="1762125" cy="400050"/>
          </a:xfrm>
          <a:prstGeom prst="rect">
            <a:avLst/>
          </a:prstGeom>
          <a:solidFill>
            <a:srgbClr val="FAFBFA">
              <a:alpha val="74000"/>
            </a:srgbClr>
          </a:solidFill>
          <a:ln w="0">
            <a:solidFill>
              <a:srgbClr val="FAFBFA"/>
            </a:solidFill>
            <a:prstDash val="solid"/>
          </a:ln>
        </p:spPr>
        <p:txBody>
          <a:bodyPr anchor="ctr"/>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Per-capita trend falling</a:t>
            </a:r>
            <a:endParaRPr>
              <a:solidFill/>
              <a:latin typeface="Times New Roman" panose="02020603050405020304"/>
            </a:endParaRPr>
          </a:p>
        </p:txBody>
      </p:sp>
      <p:sp>
        <p:nvSpPr>
          <p:cNvPr id="16" name="anim_330"/>
          <p:cNvSpPr>
            <a:spLocks noGrp="1"/>
          </p:cNvSpPr>
          <p:nvPr/>
        </p:nvSpPr>
        <p:spPr>
          <a:xfrm>
            <a:off x="590550" y="4171950"/>
            <a:ext cx="2247900" cy="1162050"/>
          </a:xfrm>
          <a:prstGeom prst="roundRect">
            <a:avLst>
              <a:gd name="adj" fmla="val 6557"/>
            </a:avLst>
          </a:prstGeom>
          <a:solidFill>
            <a:srgbClr val="ECEFF4">
              <a:alpha val="74000"/>
            </a:srgbClr>
          </a:solidFill>
          <a:ln w="11430">
            <a:solidFill>
              <a:srgbClr val="4F6E96"/>
            </a:solidFill>
            <a:prstDash val="solid"/>
          </a:ln>
        </p:spPr>
        <p:txBody>
          <a:bodyPr/>
          <a:p>
            <a:pPr>
              <a:defRPr>
                <a:latin typeface="Times New Roman" panose="02020603050405020304"/>
              </a:defRPr>
            </a:pPr>
          </a:p>
        </p:txBody>
      </p:sp>
      <p:sp>
        <p:nvSpPr>
          <p:cNvPr id="17" name="anim_331"/>
          <p:cNvSpPr>
            <a:spLocks noGrp="1"/>
          </p:cNvSpPr>
          <p:nvPr/>
        </p:nvSpPr>
        <p:spPr>
          <a:xfrm>
            <a:off x="762000" y="4343400"/>
            <a:ext cx="1905000" cy="800100"/>
          </a:xfrm>
          <a:prstGeom prst="rect">
            <a:avLst/>
          </a:prstGeom>
          <a:solidFill>
            <a:srgbClr val="ECEFF4">
              <a:alpha val="74000"/>
            </a:srgbClr>
          </a:solidFill>
          <a:ln w="0">
            <a:solidFill>
              <a:srgbClr val="ECEFF4"/>
            </a:solidFill>
            <a:prstDash val="solid"/>
          </a:ln>
        </p:spPr>
        <p:txBody>
          <a:bodyPr anchor="ctr"/>
          <a:lstStyle/>
          <a:p>
            <a:pPr algn="ctr">
              <a:defRPr sz="13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One endpoint change cannot capture both direction and momentum.</a:t>
            </a:r>
            <a:endParaRPr>
              <a:solidFill/>
              <a:latin typeface="Times New Roman" panose="02020603050405020304"/>
            </a:endParaRPr>
          </a:p>
        </p:txBody>
      </p:sp>
      <p:sp>
        <p:nvSpPr>
          <p:cNvPr id="18" name="anim_318"/>
          <p:cNvSpPr>
            <a:spLocks noGrp="1"/>
          </p:cNvSpPr>
          <p:nvPr/>
        </p:nvSpPr>
        <p:spPr>
          <a:xfrm>
            <a:off x="3238500" y="1143000"/>
            <a:ext cx="7991475" cy="4476750"/>
          </a:xfrm>
          <a:prstGeom prst="roundRect">
            <a:avLst>
              <a:gd name="adj" fmla="val 1702"/>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pic>
        <p:nvPicPr>
          <p:cNvPr id="36" name="anim_320"/>
          <p:cNvPicPr>
            <a:picLocks noChangeAspect="1"/>
          </p:cNvPicPr>
          <p:nvPr/>
        </p:nvPicPr>
        <p:blipFill>
          <a:blip r:embed="rId2"/>
          <a:stretch>
            <a:fillRect/>
          </a:stretch>
        </p:blipFill>
        <p:spPr>
          <a:xfrm>
            <a:off x="3917881" y="1181100"/>
            <a:ext cx="6632713" cy="4400550"/>
          </a:xfrm>
          <a:prstGeom prst="rect">
            <a:avLst/>
          </a:prstGeom>
        </p:spPr>
      </p:pic>
      <p:sp>
        <p:nvSpPr>
          <p:cNvPr id="42" name="TextBox 41"/>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4 / 7</a:t>
            </a:r>
            <a:endParaRPr sz="1300" b="1">
              <a:solidFill>
                <a:srgbClr val="D3E3D6"/>
              </a:solidFill>
              <a:latin typeface="Times New Roman" panose="02020603050405020304"/>
            </a:endParaRPr>
          </a:p>
        </p:txBody>
      </p:sp>
      <p:sp>
        <p:nvSpPr>
          <p:cNvPr id="44" name="Rectangle 43"/>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5" name="anim_31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6" name="TextBox 45"/>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Is the rise one shared trajectory or many?</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Long-term growth differs from recent momentum</a:t>
            </a:r>
            <a:endParaRPr sz="2500" b="1">
              <a:solidFill>
                <a:srgbClr val="FFFFFF"/>
              </a:solidFill>
              <a:latin typeface="Georgia" panose="02040502050405020303"/>
            </a:endParaRPr>
          </a:p>
        </p:txBody>
      </p:sp>
      <p:sp>
        <p:nvSpPr>
          <p:cNvPr id="47" name="TextBox 46"/>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4 / 7</a:t>
            </a:r>
            <a:endParaRPr sz="1400" b="1">
              <a:solidFill>
                <a:srgbClr val="D3E3D6"/>
              </a:solidFill>
              <a:latin typeface="Times New Roman" panose="02020603050405020304"/>
            </a:endParaRPr>
          </a:p>
        </p:txBody>
      </p:sp>
      <p:sp>
        <p:nvSpPr>
          <p:cNvPr id="48" name="anim_336"/>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Reading the puzzle:  </a:t>
            </a:r>
            <a:r>
              <a:rPr sz="1350" b="0">
                <a:solidFill>
                  <a:srgbClr val="252B30"/>
                </a:solidFill>
                <a:latin typeface="Times New Roman" panose="02020603050405020304"/>
              </a:rPr>
              <a:t>long-term growth and recent momentum disagree, so no single growth number can describe a 30-year trajectory.</a:t>
            </a:r>
            <a:endParaRPr sz="1350" b="0">
              <a:solidFill>
                <a:srgbClr val="252B30"/>
              </a:solidFill>
              <a:latin typeface="Times New Roman" panose="02020603050405020304"/>
            </a:endParaRPr>
          </a:p>
        </p:txBody>
      </p:sp>
      <p:sp>
        <p:nvSpPr>
          <p:cNvPr id="50" name="anim_335"/>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7</a:t>
            </a:r>
            <a:endParaRPr sz="1400" b="0">
              <a:solidFill>
                <a:srgbClr val="6E7672"/>
              </a:solidFill>
              <a:latin typeface="Times New Roman" panose="02020603050405020304"/>
            </a:endParaRPr>
          </a:p>
        </p:txBody>
      </p:sp>
      <p:sp>
        <p:nvSpPr>
          <p:cNvPr id="35" name="anim_314"/>
          <p:cNvSpPr txBox="1"/>
          <p:nvPr/>
        </p:nvSpPr>
        <p:spPr>
          <a:xfrm>
            <a:off x="1615948" y="637603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REYIZA RESIBIEKE</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450"/>
                                        <p:tgtEl>
                                          <p:spTgt spid="45"/>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50"/>
                                        <p:tgtEl>
                                          <p:spTgt spid="18"/>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450"/>
                                        <p:tgtEl>
                                          <p:spTgt spid="36"/>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childTnLst>
                          </p:cTn>
                        </p:par>
                        <p:par>
                          <p:cTn id="32" fill="hold">
                            <p:stCondLst>
                              <p:cond delay="900"/>
                            </p:stCondLst>
                            <p:childTnLst>
                              <p:par>
                                <p:cTn id="33" presetID="10" presetClass="entr" presetSubtype="0" fill="hold" grpId="0" nodeType="afterEffect">
                                  <p:stCondLst>
                                    <p:cond delay="4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79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50"/>
                                        <p:tgtEl>
                                          <p:spTgt spid="14"/>
                                        </p:tgtEl>
                                      </p:cBhvr>
                                    </p:animEffect>
                                  </p:childTnLst>
                                </p:cTn>
                              </p:par>
                              <p:par>
                                <p:cTn id="45" presetID="10" presetClass="entr" presetSubtype="0" fill="hold" grpId="0" nodeType="withEffect">
                                  <p:stCondLst>
                                    <p:cond delay="92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10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childTnLst>
                          </p:cTn>
                        </p:par>
                        <p:par>
                          <p:cTn id="51" fill="hold">
                            <p:stCondLst>
                              <p:cond delay="1800"/>
                            </p:stCondLst>
                            <p:childTnLst>
                              <p:par>
                                <p:cTn id="52" presetID="10" presetClass="entr" presetSubtype="0" fill="hold" grpId="0" nodeType="afterEffect">
                                  <p:stCondLst>
                                    <p:cond delay="40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450"/>
                                        <p:tgtEl>
                                          <p:spTgt spid="5"/>
                                        </p:tgtEl>
                                      </p:cBhvr>
                                    </p:animEffect>
                                  </p:childTnLst>
                                </p:cTn>
                              </p:par>
                              <p:par>
                                <p:cTn id="55" presetID="10" presetClass="entr" presetSubtype="0" fill="hold" grpId="0" nodeType="withEffect">
                                  <p:stCondLst>
                                    <p:cond delay="66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450"/>
                                        <p:tgtEl>
                                          <p:spTgt spid="50"/>
                                        </p:tgtEl>
                                      </p:cBhvr>
                                    </p:animEffect>
                                  </p:childTnLst>
                                </p:cTn>
                              </p:par>
                            </p:childTnLst>
                          </p:cTn>
                        </p:par>
                        <p:par>
                          <p:cTn id="58" fill="hold">
                            <p:stCondLst>
                              <p:cond delay="2700"/>
                            </p:stCondLst>
                            <p:childTnLst>
                              <p:par>
                                <p:cTn id="59" presetID="10" presetClass="entr" presetSubtype="0" fill="hold" grpId="0" nodeType="afterEffect">
                                  <p:stCondLst>
                                    <p:cond delay="40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450"/>
                                        <p:tgtEl>
                                          <p:spTgt spid="48"/>
                                        </p:tgtEl>
                                      </p:cBhvr>
                                    </p:animEffect>
                                  </p:childTnLst>
                                </p:cTn>
                              </p:par>
                              <p:par>
                                <p:cTn id="62" presetID="10" presetClass="entr" presetSubtype="0" fill="hold" grpId="0" nodeType="withEffect">
                                  <p:stCondLst>
                                    <p:cond delay="53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51"/>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8C630A04-5A25-9E0C-9436-126091DB86B3}"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29" name="Rectangle 28"/>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38"/>
          <p:cNvSpPr>
            <a:spLocks noGrp="1"/>
          </p:cNvSpPr>
          <p:nvPr/>
        </p:nvSpPr>
        <p:spPr>
          <a:xfrm>
            <a:off x="361950" y="1085850"/>
            <a:ext cx="8077200" cy="4610100"/>
          </a:xfrm>
          <a:prstGeom prst="roundRect">
            <a:avLst>
              <a:gd name="adj" fmla="val 1653"/>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pic>
        <p:nvPicPr>
          <p:cNvPr id="22" name="anim_339"/>
          <p:cNvPicPr>
            <a:picLocks noChangeAspect="1"/>
          </p:cNvPicPr>
          <p:nvPr/>
        </p:nvPicPr>
        <p:blipFill>
          <a:blip r:embed="rId2"/>
          <a:srcRect t="6582" b="6582"/>
          <a:stretch>
            <a:fillRect/>
          </a:stretch>
        </p:blipFill>
        <p:spPr>
          <a:xfrm>
            <a:off x="400050" y="1123950"/>
            <a:ext cx="8001000" cy="4533900"/>
          </a:xfrm>
          <a:prstGeom prst="rect">
            <a:avLst/>
          </a:prstGeom>
        </p:spPr>
      </p:pic>
      <p:sp>
        <p:nvSpPr>
          <p:cNvPr id="8" name="anim_340"/>
          <p:cNvSpPr>
            <a:spLocks noGrp="1"/>
          </p:cNvSpPr>
          <p:nvPr/>
        </p:nvSpPr>
        <p:spPr>
          <a:xfrm>
            <a:off x="8743950" y="1123950"/>
            <a:ext cx="2333625"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CONCENTRATION</a:t>
            </a:r>
            <a:endParaRPr>
              <a:solidFill/>
              <a:latin typeface="Times New Roman" panose="02020603050405020304"/>
            </a:endParaRPr>
          </a:p>
        </p:txBody>
      </p:sp>
      <p:sp>
        <p:nvSpPr>
          <p:cNvPr id="9" name="anim_341"/>
          <p:cNvSpPr>
            <a:spLocks noGrp="1"/>
          </p:cNvSpPr>
          <p:nvPr/>
        </p:nvSpPr>
        <p:spPr>
          <a:xfrm>
            <a:off x="8743950" y="1457325"/>
            <a:ext cx="2438400" cy="1123950"/>
          </a:xfrm>
          <a:prstGeom prst="roundRect">
            <a:avLst>
              <a:gd name="adj" fmla="val 10169"/>
            </a:avLst>
          </a:prstGeom>
          <a:solidFill>
            <a:srgbClr val="EEF4EC">
              <a:alpha val="74000"/>
            </a:srgbClr>
          </a:solidFill>
          <a:ln w="14288">
            <a:solidFill>
              <a:srgbClr val="2F5248"/>
            </a:solidFill>
            <a:prstDash val="solid"/>
          </a:ln>
        </p:spPr>
        <p:txBody>
          <a:bodyPr/>
          <a:p>
            <a:pPr>
              <a:defRPr>
                <a:latin typeface="Times New Roman" panose="02020603050405020304"/>
              </a:defRPr>
            </a:pPr>
          </a:p>
        </p:txBody>
      </p:sp>
      <p:sp>
        <p:nvSpPr>
          <p:cNvPr id="10" name="anim_342"/>
          <p:cNvSpPr>
            <a:spLocks noGrp="1"/>
          </p:cNvSpPr>
          <p:nvPr/>
        </p:nvSpPr>
        <p:spPr>
          <a:xfrm>
            <a:off x="8877300" y="1552575"/>
            <a:ext cx="2171700" cy="514350"/>
          </a:xfrm>
          <a:prstGeom prst="rect">
            <a:avLst/>
          </a:prstGeom>
          <a:solidFill>
            <a:srgbClr val="EEF4EC">
              <a:alpha val="74000"/>
            </a:srgbClr>
          </a:solidFill>
          <a:ln w="0">
            <a:solidFill>
              <a:srgbClr val="EEF4EC"/>
            </a:solidFill>
            <a:prstDash val="solid"/>
          </a:ln>
        </p:spPr>
        <p:txBody>
          <a:bodyPr anchor="ctr"/>
          <a:lstStyle/>
          <a:p>
            <a:pPr algn="l">
              <a:defRPr sz="255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59.8%</a:t>
            </a:r>
            <a:endParaRPr>
              <a:solidFill/>
              <a:latin typeface="Times New Roman" panose="02020603050405020304"/>
            </a:endParaRPr>
          </a:p>
        </p:txBody>
      </p:sp>
      <p:sp>
        <p:nvSpPr>
          <p:cNvPr id="11" name="anim_343"/>
          <p:cNvSpPr>
            <a:spLocks noGrp="1"/>
          </p:cNvSpPr>
          <p:nvPr/>
        </p:nvSpPr>
        <p:spPr>
          <a:xfrm>
            <a:off x="8877300" y="2066925"/>
            <a:ext cx="2171700" cy="381000"/>
          </a:xfrm>
          <a:prstGeom prst="rect">
            <a:avLst/>
          </a:prstGeom>
          <a:solidFill>
            <a:srgbClr val="EEF4EC">
              <a:alpha val="74000"/>
            </a:srgbClr>
          </a:solidFill>
          <a:ln w="0">
            <a:solidFill>
              <a:srgbClr val="EEF4EC"/>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Asia's share of</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2021 emissions</a:t>
            </a:r>
            <a:endParaRPr>
              <a:solidFill/>
              <a:latin typeface="Times New Roman" panose="02020603050405020304"/>
            </a:endParaRPr>
          </a:p>
        </p:txBody>
      </p:sp>
      <p:sp>
        <p:nvSpPr>
          <p:cNvPr id="12" name="anim_344"/>
          <p:cNvSpPr>
            <a:spLocks noGrp="1"/>
          </p:cNvSpPr>
          <p:nvPr/>
        </p:nvSpPr>
        <p:spPr>
          <a:xfrm>
            <a:off x="8743950" y="2733675"/>
            <a:ext cx="2438400" cy="1123950"/>
          </a:xfrm>
          <a:prstGeom prst="roundRect">
            <a:avLst>
              <a:gd name="adj" fmla="val 10169"/>
            </a:avLst>
          </a:prstGeom>
          <a:solidFill>
            <a:srgbClr val="F7F1EA"/>
          </a:solidFill>
          <a:ln w="14288">
            <a:solidFill>
              <a:srgbClr val="BE7F4E"/>
            </a:solidFill>
            <a:prstDash val="solid"/>
          </a:ln>
        </p:spPr>
        <p:txBody>
          <a:bodyPr/>
          <a:p>
            <a:pPr>
              <a:defRPr>
                <a:latin typeface="Times New Roman" panose="02020603050405020304"/>
              </a:defRPr>
            </a:pPr>
          </a:p>
        </p:txBody>
      </p:sp>
      <p:sp>
        <p:nvSpPr>
          <p:cNvPr id="13" name="anim_345"/>
          <p:cNvSpPr>
            <a:spLocks noGrp="1"/>
          </p:cNvSpPr>
          <p:nvPr/>
        </p:nvSpPr>
        <p:spPr>
          <a:xfrm>
            <a:off x="8877300" y="2828925"/>
            <a:ext cx="217170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20603050405020304"/>
                <a:ea typeface="Times New Roman" panose="02020603050405020304"/>
                <a:cs typeface="Times New Roman" panose="02020603050405020304"/>
              </a:defRPr>
            </a:pPr>
            <a:r>
              <a:rPr>
                <a:solidFill/>
                <a:latin typeface="Times New Roman" panose="02020603050405020304"/>
              </a:rPr>
              <a:t>31.4%</a:t>
            </a:r>
            <a:endParaRPr>
              <a:solidFill/>
              <a:latin typeface="Times New Roman" panose="02020603050405020304"/>
            </a:endParaRPr>
          </a:p>
        </p:txBody>
      </p:sp>
      <p:sp>
        <p:nvSpPr>
          <p:cNvPr id="14" name="anim_346"/>
          <p:cNvSpPr>
            <a:spLocks noGrp="1"/>
          </p:cNvSpPr>
          <p:nvPr/>
        </p:nvSpPr>
        <p:spPr>
          <a:xfrm>
            <a:off x="8877300" y="3343275"/>
            <a:ext cx="2171700" cy="3810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China's share of</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the global total</a:t>
            </a:r>
            <a:endParaRPr>
              <a:solidFill/>
              <a:latin typeface="Times New Roman" panose="02020603050405020304"/>
            </a:endParaRPr>
          </a:p>
        </p:txBody>
      </p:sp>
      <p:sp>
        <p:nvSpPr>
          <p:cNvPr id="15" name="anim_347"/>
          <p:cNvSpPr>
            <a:spLocks noGrp="1"/>
          </p:cNvSpPr>
          <p:nvPr/>
        </p:nvSpPr>
        <p:spPr>
          <a:xfrm>
            <a:off x="8743950" y="4010025"/>
            <a:ext cx="2438400" cy="1123950"/>
          </a:xfrm>
          <a:prstGeom prst="roundRect">
            <a:avLst>
              <a:gd name="adj" fmla="val 10169"/>
            </a:avLst>
          </a:prstGeom>
          <a:solidFill>
            <a:srgbClr val="ECEFF4">
              <a:alpha val="74000"/>
            </a:srgbClr>
          </a:solidFill>
          <a:ln w="14288">
            <a:solidFill>
              <a:srgbClr val="4F6E96"/>
            </a:solidFill>
            <a:prstDash val="solid"/>
          </a:ln>
        </p:spPr>
        <p:txBody>
          <a:bodyPr/>
          <a:p>
            <a:pPr>
              <a:defRPr>
                <a:latin typeface="Times New Roman" panose="02020603050405020304"/>
              </a:defRPr>
            </a:pPr>
          </a:p>
        </p:txBody>
      </p:sp>
      <p:sp>
        <p:nvSpPr>
          <p:cNvPr id="16" name="anim_348"/>
          <p:cNvSpPr>
            <a:spLocks noGrp="1"/>
          </p:cNvSpPr>
          <p:nvPr/>
        </p:nvSpPr>
        <p:spPr>
          <a:xfrm>
            <a:off x="8877300" y="4105275"/>
            <a:ext cx="2171700" cy="514350"/>
          </a:xfrm>
          <a:prstGeom prst="rect">
            <a:avLst/>
          </a:prstGeom>
          <a:solidFill>
            <a:srgbClr val="ECEFF4">
              <a:alpha val="74000"/>
            </a:srgbClr>
          </a:solidFill>
          <a:ln w="0">
            <a:solidFill>
              <a:srgbClr val="ECEFF4"/>
            </a:solidFill>
            <a:prstDash val="solid"/>
          </a:ln>
        </p:spPr>
        <p:txBody>
          <a:bodyPr anchor="ctr"/>
          <a:lstStyle/>
          <a:p>
            <a:pPr algn="l">
              <a:defRPr sz="2550" b="1"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81.2%</a:t>
            </a:r>
            <a:endParaRPr>
              <a:solidFill/>
              <a:latin typeface="Times New Roman" panose="02020603050405020304"/>
            </a:endParaRPr>
          </a:p>
        </p:txBody>
      </p:sp>
      <p:sp>
        <p:nvSpPr>
          <p:cNvPr id="17" name="anim_349"/>
          <p:cNvSpPr>
            <a:spLocks noGrp="1"/>
          </p:cNvSpPr>
          <p:nvPr/>
        </p:nvSpPr>
        <p:spPr>
          <a:xfrm>
            <a:off x="8877300" y="4619625"/>
            <a:ext cx="2171700" cy="3810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Combined share of</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the top 20 emitters</a:t>
            </a:r>
            <a:endParaRPr>
              <a:solidFill/>
              <a:latin typeface="Times New Roman" panose="02020603050405020304"/>
            </a:endParaRPr>
          </a:p>
        </p:txBody>
      </p:sp>
      <p:sp>
        <p:nvSpPr>
          <p:cNvPr id="28" name="TextBox 27"/>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5 / 7</a:t>
            </a:r>
            <a:endParaRPr sz="1300" b="1">
              <a:solidFill>
                <a:srgbClr val="D3E3D6"/>
              </a:solidFill>
              <a:latin typeface="Times New Roman" panose="02020603050405020304"/>
            </a:endParaRPr>
          </a:p>
        </p:txBody>
      </p:sp>
      <p:sp>
        <p:nvSpPr>
          <p:cNvPr id="30" name="Rectangle 29"/>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33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TextBox 31"/>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Who carries the current emission burden?</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A small set of countries drives most 2021 emissions</a:t>
            </a:r>
            <a:endParaRPr sz="2300" b="1">
              <a:solidFill>
                <a:srgbClr val="FFFFFF"/>
              </a:solidFill>
              <a:latin typeface="Georgia" panose="02040502050405020303"/>
            </a:endParaRPr>
          </a:p>
        </p:txBody>
      </p:sp>
      <p:sp>
        <p:nvSpPr>
          <p:cNvPr id="33" name="TextBox 32"/>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5 / 7</a:t>
            </a:r>
            <a:endParaRPr sz="1400" b="1">
              <a:solidFill>
                <a:srgbClr val="D3E3D6"/>
              </a:solidFill>
              <a:latin typeface="Times New Roman" panose="02020603050405020304"/>
            </a:endParaRPr>
          </a:p>
        </p:txBody>
      </p:sp>
      <p:sp>
        <p:nvSpPr>
          <p:cNvPr id="34" name="anim_354"/>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monitoring built around today's biggest emitters alone will overlook the fast-growing rest.</a:t>
            </a:r>
            <a:endParaRPr sz="1350" b="0">
              <a:solidFill>
                <a:srgbClr val="252B30"/>
              </a:solidFill>
              <a:latin typeface="Times New Roman" panose="02020603050405020304"/>
            </a:endParaRPr>
          </a:p>
        </p:txBody>
      </p:sp>
      <p:sp>
        <p:nvSpPr>
          <p:cNvPr id="36" name="anim_353"/>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8</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50"/>
                                        <p:tgtEl>
                                          <p:spTgt spid="31"/>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50"/>
                                        <p:tgtEl>
                                          <p:spTgt spid="22"/>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32" fill="hold">
                            <p:stCondLst>
                              <p:cond delay="900"/>
                            </p:stCondLst>
                            <p:childTnLst>
                              <p:par>
                                <p:cTn id="33" presetID="10" presetClass="entr" presetSubtype="0" fill="hold" grpId="0" nodeType="afterEffect">
                                  <p:stCondLst>
                                    <p:cond delay="4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7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45" fill="hold">
                            <p:stCondLst>
                              <p:cond delay="1800"/>
                            </p:stCondLst>
                            <p:childTnLst>
                              <p:par>
                                <p:cTn id="46" presetID="10" presetClass="entr" presetSubtype="0" fill="hold" grpId="0" nodeType="afterEffect">
                                  <p:stCondLst>
                                    <p:cond delay="40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450"/>
                                        <p:tgtEl>
                                          <p:spTgt spid="5"/>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50"/>
                                        <p:tgtEl>
                                          <p:spTgt spid="36"/>
                                        </p:tgtEl>
                                      </p:cBhvr>
                                    </p:animEffect>
                                  </p:childTnLst>
                                </p:cTn>
                              </p:par>
                            </p:childTnLst>
                          </p:cTn>
                        </p:par>
                        <p:par>
                          <p:cTn id="52" fill="hold">
                            <p:stCondLst>
                              <p:cond delay="2700"/>
                            </p:stCondLst>
                            <p:childTnLst>
                              <p:par>
                                <p:cTn id="53" presetID="10" presetClass="entr" presetSubtype="0" fill="hold" grpId="0" nodeType="afterEffect">
                                  <p:stCondLst>
                                    <p:cond delay="40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76"/>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D3D7D1C8-AE23-AA48-DF65-C742588DBE47}"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42" name="Rectangle 41"/>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56"/>
          <p:cNvSpPr>
            <a:spLocks noGrp="1"/>
          </p:cNvSpPr>
          <p:nvPr/>
        </p:nvSpPr>
        <p:spPr>
          <a:xfrm>
            <a:off x="342900" y="1143000"/>
            <a:ext cx="9370060" cy="3950970"/>
          </a:xfrm>
          <a:prstGeom prst="roundRect">
            <a:avLst>
              <a:gd name="adj" fmla="val 2036"/>
            </a:avLst>
          </a:prstGeom>
          <a:solidFill>
            <a:srgbClr val="E4E9F0"/>
          </a:solidFill>
          <a:ln w="11430">
            <a:solidFill>
              <a:srgbClr val="D5DED6"/>
            </a:solidFill>
            <a:prstDash val="solid"/>
          </a:ln>
        </p:spPr>
        <p:txBody>
          <a:bodyPr/>
          <a:p>
            <a:pPr>
              <a:defRPr>
                <a:latin typeface="Times New Roman" panose="02020603050405020304"/>
              </a:defRPr>
            </a:pPr>
          </a:p>
        </p:txBody>
      </p:sp>
      <p:pic>
        <p:nvPicPr>
          <p:cNvPr id="29" name="anim_357"/>
          <p:cNvPicPr>
            <a:picLocks noChangeAspect="1"/>
          </p:cNvPicPr>
          <p:nvPr/>
        </p:nvPicPr>
        <p:blipFill>
          <a:blip r:embed="rId2"/>
          <a:srcRect l="766" r="766"/>
          <a:stretch>
            <a:fillRect/>
          </a:stretch>
        </p:blipFill>
        <p:spPr>
          <a:xfrm>
            <a:off x="381000" y="1181100"/>
            <a:ext cx="9286240" cy="3870960"/>
          </a:xfrm>
          <a:prstGeom prst="rect">
            <a:avLst/>
          </a:prstGeom>
        </p:spPr>
      </p:pic>
      <p:sp>
        <p:nvSpPr>
          <p:cNvPr id="8" name="anim_367"/>
          <p:cNvSpPr>
            <a:spLocks noGrp="1"/>
          </p:cNvSpPr>
          <p:nvPr/>
        </p:nvSpPr>
        <p:spPr>
          <a:xfrm>
            <a:off x="419100" y="5170805"/>
            <a:ext cx="2381250" cy="24765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LAND FILL · CO2 PER PERSON</a:t>
            </a:r>
            <a:endParaRPr>
              <a:solidFill/>
              <a:latin typeface="Times New Roman" panose="02020603050405020304"/>
            </a:endParaRPr>
          </a:p>
        </p:txBody>
      </p:sp>
      <p:pic>
        <p:nvPicPr>
          <p:cNvPr id="31" name="anim_370"/>
          <p:cNvPicPr>
            <a:picLocks noChangeAspect="1"/>
          </p:cNvPicPr>
          <p:nvPr/>
        </p:nvPicPr>
        <p:blipFill>
          <a:blip r:embed="rId3"/>
          <a:srcRect t="17391" b="17391"/>
          <a:stretch>
            <a:fillRect/>
          </a:stretch>
        </p:blipFill>
        <p:spPr>
          <a:xfrm>
            <a:off x="2724150" y="5237480"/>
            <a:ext cx="2628900" cy="114300"/>
          </a:xfrm>
          <a:prstGeom prst="rect">
            <a:avLst/>
          </a:prstGeom>
        </p:spPr>
      </p:pic>
      <p:sp>
        <p:nvSpPr>
          <p:cNvPr id="10" name="anim_368"/>
          <p:cNvSpPr>
            <a:spLocks noGrp="1"/>
          </p:cNvSpPr>
          <p:nvPr/>
        </p:nvSpPr>
        <p:spPr>
          <a:xfrm>
            <a:off x="5429250" y="5170805"/>
            <a:ext cx="342900" cy="247650"/>
          </a:xfrm>
          <a:prstGeom prst="rect">
            <a:avLst/>
          </a:prstGeom>
          <a:solidFill>
            <a:srgbClr val="FFFFFF">
              <a:alpha val="74000"/>
            </a:srgbClr>
          </a:solidFill>
          <a:ln w="0">
            <a:solidFill>
              <a:srgbClr val="FFFFFF"/>
            </a:solidFill>
            <a:prstDash val="solid"/>
          </a:ln>
        </p:spPr>
        <p:txBody>
          <a:bodyPr wrap="none" anchor="ctr"/>
          <a:lstStyle/>
          <a:p>
            <a:pPr algn="ctr">
              <a:defRPr sz="10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low</a:t>
            </a:r>
            <a:endParaRPr>
              <a:solidFill/>
              <a:latin typeface="Times New Roman" panose="02020603050405020304"/>
            </a:endParaRPr>
          </a:p>
        </p:txBody>
      </p:sp>
      <p:sp>
        <p:nvSpPr>
          <p:cNvPr id="11" name="anim_369"/>
          <p:cNvSpPr>
            <a:spLocks noGrp="1"/>
          </p:cNvSpPr>
          <p:nvPr/>
        </p:nvSpPr>
        <p:spPr>
          <a:xfrm>
            <a:off x="5772150" y="5170805"/>
            <a:ext cx="400050" cy="247650"/>
          </a:xfrm>
          <a:prstGeom prst="rect">
            <a:avLst/>
          </a:prstGeom>
          <a:solidFill>
            <a:srgbClr val="FFFFFF">
              <a:alpha val="74000"/>
            </a:srgbClr>
          </a:solidFill>
          <a:ln w="0">
            <a:solidFill>
              <a:srgbClr val="FFFFFF"/>
            </a:solidFill>
            <a:prstDash val="solid"/>
          </a:ln>
        </p:spPr>
        <p:txBody>
          <a:bodyPr wrap="none" anchor="ctr"/>
          <a:lstStyle/>
          <a:p>
            <a:pPr algn="ctr">
              <a:defRPr sz="10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high</a:t>
            </a:r>
            <a:endParaRPr>
              <a:solidFill/>
              <a:latin typeface="Times New Roman" panose="02020603050405020304"/>
            </a:endParaRPr>
          </a:p>
        </p:txBody>
      </p:sp>
      <p:sp>
        <p:nvSpPr>
          <p:cNvPr id="12" name="anim_371"/>
          <p:cNvSpPr>
            <a:spLocks noGrp="1"/>
          </p:cNvSpPr>
          <p:nvPr/>
        </p:nvSpPr>
        <p:spPr>
          <a:xfrm>
            <a:off x="419100" y="5428615"/>
            <a:ext cx="2381250" cy="24765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BAR HEIGHT · TOTAL CO2</a:t>
            </a:r>
            <a:endParaRPr>
              <a:solidFill/>
              <a:latin typeface="Times New Roman" panose="02020603050405020304"/>
            </a:endParaRPr>
          </a:p>
        </p:txBody>
      </p:sp>
      <p:pic>
        <p:nvPicPr>
          <p:cNvPr id="35" name="anim_374"/>
          <p:cNvPicPr>
            <a:picLocks noChangeAspect="1"/>
          </p:cNvPicPr>
          <p:nvPr/>
        </p:nvPicPr>
        <p:blipFill>
          <a:blip r:embed="rId4"/>
          <a:srcRect t="17391" b="17391"/>
          <a:stretch>
            <a:fillRect/>
          </a:stretch>
        </p:blipFill>
        <p:spPr>
          <a:xfrm>
            <a:off x="2724150" y="5495290"/>
            <a:ext cx="2628900" cy="114300"/>
          </a:xfrm>
          <a:prstGeom prst="rect">
            <a:avLst/>
          </a:prstGeom>
        </p:spPr>
      </p:pic>
      <p:sp>
        <p:nvSpPr>
          <p:cNvPr id="14" name="anim_372"/>
          <p:cNvSpPr>
            <a:spLocks noGrp="1"/>
          </p:cNvSpPr>
          <p:nvPr/>
        </p:nvSpPr>
        <p:spPr>
          <a:xfrm>
            <a:off x="5429250" y="5428615"/>
            <a:ext cx="419100" cy="247650"/>
          </a:xfrm>
          <a:prstGeom prst="rect">
            <a:avLst/>
          </a:prstGeom>
          <a:solidFill>
            <a:srgbClr val="FFFFFF">
              <a:alpha val="74000"/>
            </a:srgbClr>
          </a:solidFill>
          <a:ln w="0">
            <a:solidFill>
              <a:srgbClr val="FFFFFF"/>
            </a:solidFill>
            <a:prstDash val="solid"/>
          </a:ln>
        </p:spPr>
        <p:txBody>
          <a:bodyPr wrap="none" anchor="ctr"/>
          <a:lstStyle/>
          <a:p>
            <a:pPr algn="ctr">
              <a:defRPr sz="900" b="0" i="0">
                <a:solidFill>
                  <a:srgbClr val="5B6774"/>
                </a:solidFill>
                <a:latin typeface="Times New Roman" panose="02020603050405020304"/>
                <a:ea typeface="Times New Roman" panose="02020603050405020304"/>
                <a:cs typeface="Times New Roman" panose="02020603050405020304"/>
              </a:defRPr>
            </a:pPr>
            <a:r>
              <a:rPr sz="1000">
                <a:solidFill/>
                <a:latin typeface="Times New Roman" panose="02020603050405020304"/>
              </a:rPr>
              <a:t>short</a:t>
            </a:r>
            <a:endParaRPr sz="1000">
              <a:solidFill/>
              <a:latin typeface="Times New Roman" panose="02020603050405020304"/>
            </a:endParaRPr>
          </a:p>
        </p:txBody>
      </p:sp>
      <p:sp>
        <p:nvSpPr>
          <p:cNvPr id="15" name="anim_373"/>
          <p:cNvSpPr>
            <a:spLocks noGrp="1"/>
          </p:cNvSpPr>
          <p:nvPr/>
        </p:nvSpPr>
        <p:spPr>
          <a:xfrm>
            <a:off x="5848350" y="5428615"/>
            <a:ext cx="361950" cy="247650"/>
          </a:xfrm>
          <a:prstGeom prst="rect">
            <a:avLst/>
          </a:prstGeom>
          <a:solidFill>
            <a:srgbClr val="FFFFFF">
              <a:alpha val="74000"/>
            </a:srgbClr>
          </a:solidFill>
          <a:ln w="0">
            <a:solidFill>
              <a:srgbClr val="FFFFFF"/>
            </a:solidFill>
            <a:prstDash val="solid"/>
          </a:ln>
        </p:spPr>
        <p:txBody>
          <a:bodyPr wrap="none" anchor="ctr"/>
          <a:lstStyle/>
          <a:p>
            <a:pPr algn="ctr">
              <a:defRPr sz="10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tall</a:t>
            </a:r>
            <a:endParaRPr>
              <a:solidFill/>
              <a:latin typeface="Times New Roman" panose="02020603050405020304"/>
            </a:endParaRPr>
          </a:p>
        </p:txBody>
      </p:sp>
      <p:sp>
        <p:nvSpPr>
          <p:cNvPr id="16" name="anim_358"/>
          <p:cNvSpPr>
            <a:spLocks noGrp="1"/>
          </p:cNvSpPr>
          <p:nvPr/>
        </p:nvSpPr>
        <p:spPr>
          <a:xfrm>
            <a:off x="9855835" y="1165860"/>
            <a:ext cx="2095500" cy="4381500"/>
          </a:xfrm>
          <a:prstGeom prst="roundRect">
            <a:avLst>
              <a:gd name="adj" fmla="val 3636"/>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sp>
        <p:nvSpPr>
          <p:cNvPr id="17" name="anim_359"/>
          <p:cNvSpPr>
            <a:spLocks noGrp="1"/>
          </p:cNvSpPr>
          <p:nvPr/>
        </p:nvSpPr>
        <p:spPr>
          <a:xfrm>
            <a:off x="10036810" y="1318260"/>
            <a:ext cx="1714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TWO LENSES</a:t>
            </a:r>
            <a:endParaRPr>
              <a:solidFill/>
              <a:latin typeface="Times New Roman" panose="02020603050405020304"/>
            </a:endParaRPr>
          </a:p>
        </p:txBody>
      </p:sp>
      <p:sp>
        <p:nvSpPr>
          <p:cNvPr id="18" name="anim_360"/>
          <p:cNvSpPr>
            <a:spLocks noGrp="1"/>
          </p:cNvSpPr>
          <p:nvPr/>
        </p:nvSpPr>
        <p:spPr>
          <a:xfrm>
            <a:off x="10036810" y="1765935"/>
            <a:ext cx="723900" cy="285750"/>
          </a:xfrm>
          <a:prstGeom prst="rect">
            <a:avLst/>
          </a:prstGeom>
          <a:solidFill>
            <a:srgbClr val="4F6E96"/>
          </a:solidFill>
          <a:ln w="0">
            <a:solidFill>
              <a:srgbClr val="4F6E96"/>
            </a:solidFill>
            <a:prstDash val="solid"/>
          </a:ln>
        </p:spPr>
        <p:txBody>
          <a:bodyPr wrap="none" anchor="ctr"/>
          <a:lstStyle/>
          <a:p>
            <a:pPr algn="ctr">
              <a:defRPr sz="900" b="1" i="0">
                <a:solidFill>
                  <a:srgbClr val="FFFFFF"/>
                </a:solidFill>
                <a:latin typeface="Times New Roman" panose="02020603050405020304"/>
                <a:ea typeface="Times New Roman" panose="02020603050405020304"/>
                <a:cs typeface="Times New Roman" panose="02020603050405020304"/>
              </a:defRPr>
            </a:pPr>
            <a:r>
              <a:rPr>
                <a:solidFill>
                  <a:schemeClr val="bg1"/>
                </a:solidFill>
                <a:latin typeface="Times New Roman" panose="02020603050405020304"/>
              </a:rPr>
              <a:t>TOTAL</a:t>
            </a:r>
            <a:endParaRPr>
              <a:solidFill>
                <a:schemeClr val="bg1"/>
              </a:solidFill>
              <a:latin typeface="Times New Roman" panose="02020603050405020304"/>
            </a:endParaRPr>
          </a:p>
        </p:txBody>
      </p:sp>
      <p:sp>
        <p:nvSpPr>
          <p:cNvPr id="19" name="anim_361"/>
          <p:cNvSpPr>
            <a:spLocks noGrp="1"/>
          </p:cNvSpPr>
          <p:nvPr/>
        </p:nvSpPr>
        <p:spPr>
          <a:xfrm>
            <a:off x="10036810" y="2137410"/>
            <a:ext cx="1714500" cy="400050"/>
          </a:xfrm>
          <a:prstGeom prst="rect">
            <a:avLst/>
          </a:prstGeom>
          <a:solidFill>
            <a:srgbClr val="FAFBFA">
              <a:alpha val="74000"/>
            </a:srgbClr>
          </a:solidFill>
          <a:ln w="0">
            <a:solidFill>
              <a:srgbClr val="FAFBFA"/>
            </a:solidFill>
            <a:prstDash val="solid"/>
          </a:ln>
        </p:spPr>
        <p:txBody>
          <a:bodyPr anchor="ctr"/>
          <a:lstStyle/>
          <a:p>
            <a:pPr algn="l">
              <a:defRPr sz="18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China</a:t>
            </a:r>
            <a:endParaRPr>
              <a:solidFill/>
              <a:latin typeface="Times New Roman" panose="02020603050405020304"/>
            </a:endParaRPr>
          </a:p>
        </p:txBody>
      </p:sp>
      <p:sp>
        <p:nvSpPr>
          <p:cNvPr id="20" name="anim_362"/>
          <p:cNvSpPr>
            <a:spLocks noGrp="1"/>
          </p:cNvSpPr>
          <p:nvPr/>
        </p:nvSpPr>
        <p:spPr>
          <a:xfrm>
            <a:off x="10036810" y="2518410"/>
            <a:ext cx="1714500" cy="428625"/>
          </a:xfrm>
          <a:prstGeom prst="rect">
            <a:avLst/>
          </a:prstGeom>
          <a:solidFill>
            <a:srgbClr val="FAFBFA">
              <a:alpha val="74000"/>
            </a:srgbClr>
          </a:solidFill>
          <a:ln w="0">
            <a:solidFill>
              <a:srgbClr val="FAFBF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Largest national burden</a:t>
            </a:r>
            <a:endParaRPr>
              <a:solidFill/>
              <a:latin typeface="Times New Roman" panose="02020603050405020304"/>
            </a:endParaRPr>
          </a:p>
        </p:txBody>
      </p:sp>
      <p:sp>
        <p:nvSpPr>
          <p:cNvPr id="21" name="anim_363"/>
          <p:cNvSpPr>
            <a:spLocks noGrp="1"/>
          </p:cNvSpPr>
          <p:nvPr/>
        </p:nvSpPr>
        <p:spPr>
          <a:xfrm>
            <a:off x="10036810" y="3166110"/>
            <a:ext cx="1280160" cy="285750"/>
          </a:xfrm>
          <a:prstGeom prst="rect">
            <a:avLst/>
          </a:prstGeom>
          <a:solidFill>
            <a:srgbClr val="BE7F4E"/>
          </a:solidFill>
          <a:ln w="0">
            <a:solidFill>
              <a:srgbClr val="BE7F4E"/>
            </a:solidFill>
            <a:prstDash val="solid"/>
          </a:ln>
        </p:spPr>
        <p:txBody>
          <a:bodyPr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schemeClr val="bg1"/>
                </a:solidFill>
                <a:latin typeface="Times New Roman" panose="02020603050405020304"/>
              </a:rPr>
              <a:t>PER PERSON</a:t>
            </a:r>
            <a:endParaRPr>
              <a:solidFill>
                <a:schemeClr val="bg1"/>
              </a:solidFill>
              <a:latin typeface="Times New Roman" panose="02020603050405020304"/>
            </a:endParaRPr>
          </a:p>
        </p:txBody>
      </p:sp>
      <p:sp>
        <p:nvSpPr>
          <p:cNvPr id="22" name="anim_364"/>
          <p:cNvSpPr>
            <a:spLocks noGrp="1"/>
          </p:cNvSpPr>
          <p:nvPr/>
        </p:nvSpPr>
        <p:spPr>
          <a:xfrm>
            <a:off x="10036810" y="3537585"/>
            <a:ext cx="1714500" cy="400050"/>
          </a:xfrm>
          <a:prstGeom prst="rect">
            <a:avLst/>
          </a:prstGeom>
          <a:solidFill>
            <a:srgbClr val="FAFBFA">
              <a:alpha val="74000"/>
            </a:srgbClr>
          </a:solidFill>
          <a:ln w="0">
            <a:solidFill>
              <a:srgbClr val="FAFBFA"/>
            </a:solidFill>
            <a:prstDash val="solid"/>
          </a:ln>
        </p:spPr>
        <p:txBody>
          <a:bodyPr anchor="ctr"/>
          <a:lstStyle/>
          <a:p>
            <a:pPr algn="l">
              <a:defRPr sz="18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Qatar</a:t>
            </a:r>
            <a:endParaRPr>
              <a:solidFill/>
              <a:latin typeface="Times New Roman" panose="02020603050405020304"/>
            </a:endParaRPr>
          </a:p>
        </p:txBody>
      </p:sp>
      <p:sp>
        <p:nvSpPr>
          <p:cNvPr id="23" name="anim_365"/>
          <p:cNvSpPr>
            <a:spLocks noGrp="1"/>
          </p:cNvSpPr>
          <p:nvPr/>
        </p:nvSpPr>
        <p:spPr>
          <a:xfrm>
            <a:off x="10036810" y="3918585"/>
            <a:ext cx="1714500" cy="590550"/>
          </a:xfrm>
          <a:prstGeom prst="rect">
            <a:avLst/>
          </a:prstGeom>
          <a:solidFill>
            <a:srgbClr val="FAFBFA">
              <a:alpha val="74000"/>
            </a:srgbClr>
          </a:solidFill>
          <a:ln w="0">
            <a:solidFill>
              <a:srgbClr val="FAFBF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High intensity, much smaller total</a:t>
            </a:r>
            <a:endParaRPr>
              <a:solidFill/>
              <a:latin typeface="Times New Roman" panose="02020603050405020304"/>
            </a:endParaRPr>
          </a:p>
        </p:txBody>
      </p:sp>
      <p:sp>
        <p:nvSpPr>
          <p:cNvPr id="24" name="anim_366"/>
          <p:cNvSpPr>
            <a:spLocks noGrp="1"/>
          </p:cNvSpPr>
          <p:nvPr/>
        </p:nvSpPr>
        <p:spPr>
          <a:xfrm>
            <a:off x="10036810" y="4615180"/>
            <a:ext cx="1714500" cy="342900"/>
          </a:xfrm>
          <a:prstGeom prst="rect">
            <a:avLst/>
          </a:prstGeom>
          <a:solidFill>
            <a:srgbClr val="2F5248"/>
          </a:solidFill>
          <a:ln w="0">
            <a:solidFill>
              <a:srgbClr val="2F5248"/>
            </a:solidFill>
            <a:prstDash val="solid"/>
          </a:ln>
        </p:spPr>
        <p:txBody>
          <a:bodyPr anchor="ctr"/>
          <a:lstStyle/>
          <a:p>
            <a:pPr algn="ctr">
              <a:defRPr sz="1300" b="1" i="0">
                <a:solidFill>
                  <a:srgbClr val="FFFFFF"/>
                </a:solidFill>
                <a:latin typeface="Times New Roman" panose="02020603050405020304"/>
                <a:ea typeface="Times New Roman" panose="02020603050405020304"/>
                <a:cs typeface="Times New Roman" panose="02020603050405020304"/>
              </a:defRPr>
            </a:pPr>
            <a:r>
              <a:rPr>
                <a:solidFill>
                  <a:schemeClr val="bg1"/>
                </a:solidFill>
                <a:latin typeface="Times New Roman" panose="02020603050405020304"/>
              </a:rPr>
              <a:t>Scale ≠ intensity</a:t>
            </a:r>
            <a:endParaRPr>
              <a:solidFill>
                <a:schemeClr val="bg1"/>
              </a:solidFill>
              <a:latin typeface="Times New Roman" panose="02020603050405020304"/>
            </a:endParaRPr>
          </a:p>
        </p:txBody>
      </p:sp>
      <p:sp>
        <p:nvSpPr>
          <p:cNvPr id="41" name="TextBox 40"/>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6 / 7</a:t>
            </a:r>
            <a:endParaRPr sz="1300" b="1">
              <a:solidFill>
                <a:srgbClr val="D3E3D6"/>
              </a:solidFill>
              <a:latin typeface="Times New Roman" panose="02020603050405020304"/>
            </a:endParaRPr>
          </a:p>
        </p:txBody>
      </p:sp>
      <p:sp>
        <p:nvSpPr>
          <p:cNvPr id="43" name="Rectangle 42"/>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4" name="anim_355"/>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5" name="TextBox 44"/>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Emission scale versus emission intensity</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Total burden and per-capita intensity tell different stories</a:t>
            </a:r>
            <a:endParaRPr sz="2100" b="1">
              <a:solidFill>
                <a:srgbClr val="FFFFFF"/>
              </a:solidFill>
              <a:latin typeface="Georgia" panose="02040502050405020303"/>
            </a:endParaRPr>
          </a:p>
        </p:txBody>
      </p:sp>
      <p:sp>
        <p:nvSpPr>
          <p:cNvPr id="46" name="TextBox 45"/>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6 / 7</a:t>
            </a:r>
            <a:endParaRPr sz="1400" b="1">
              <a:solidFill>
                <a:srgbClr val="D3E3D6"/>
              </a:solidFill>
              <a:latin typeface="Times New Roman" panose="02020603050405020304"/>
            </a:endParaRPr>
          </a:p>
        </p:txBody>
      </p:sp>
      <p:sp>
        <p:nvSpPr>
          <p:cNvPr id="47" name="anim_379"/>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scale and intensity rank countries differently, which is the first evidence that one ranking cannot serve as one diagnosis.</a:t>
            </a:r>
            <a:endParaRPr sz="1350" b="0">
              <a:solidFill>
                <a:srgbClr val="252B30"/>
              </a:solidFill>
              <a:latin typeface="Times New Roman" panose="02020603050405020304"/>
            </a:endParaRPr>
          </a:p>
        </p:txBody>
      </p:sp>
      <p:sp>
        <p:nvSpPr>
          <p:cNvPr id="49" name="anim_378"/>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9</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450"/>
                                        <p:tgtEl>
                                          <p:spTgt spid="4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450"/>
                                        <p:tgtEl>
                                          <p:spTgt spid="29"/>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50"/>
                                        <p:tgtEl>
                                          <p:spTgt spid="1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childTnLst>
                          </p:cTn>
                        </p:par>
                        <p:par>
                          <p:cTn id="29" fill="hold">
                            <p:stCondLst>
                              <p:cond delay="900"/>
                            </p:stCondLst>
                            <p:childTnLst>
                              <p:par>
                                <p:cTn id="30" presetID="10" presetClass="entr" presetSubtype="0" fill="hold" grpId="0" nodeType="afterEffect">
                                  <p:stCondLst>
                                    <p:cond delay="40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50"/>
                                        <p:tgtEl>
                                          <p:spTgt spid="22"/>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childTnLst>
                          </p:cTn>
                        </p:par>
                        <p:par>
                          <p:cTn id="39" fill="hold">
                            <p:stCondLst>
                              <p:cond delay="1800"/>
                            </p:stCondLst>
                            <p:childTnLst>
                              <p:par>
                                <p:cTn id="40" presetID="10" presetClass="entr" presetSubtype="0" fill="hold" grpId="0" nodeType="afterEffect">
                                  <p:stCondLst>
                                    <p:cond delay="4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par>
                                <p:cTn id="43" presetID="10" presetClass="entr" presetSubtype="0" fill="hold" grpId="0" nodeType="withEffect">
                                  <p:stCondLst>
                                    <p:cond delay="53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50"/>
                                        <p:tgtEl>
                                          <p:spTgt spid="8"/>
                                        </p:tgtEl>
                                      </p:cBhvr>
                                    </p:animEffect>
                                  </p:childTnLst>
                                </p:cTn>
                              </p:par>
                              <p:par>
                                <p:cTn id="46" presetID="10" presetClass="entr" presetSubtype="0" fill="hold" grpId="0" nodeType="withEffect">
                                  <p:stCondLst>
                                    <p:cond delay="66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450"/>
                                        <p:tgtEl>
                                          <p:spTgt spid="10"/>
                                        </p:tgtEl>
                                      </p:cBhvr>
                                    </p:animEffect>
                                  </p:childTnLst>
                                </p:cTn>
                              </p:par>
                              <p:par>
                                <p:cTn id="49" presetID="10" presetClass="entr" presetSubtype="0" fill="hold" grpId="0" nodeType="withEffect">
                                  <p:stCondLst>
                                    <p:cond delay="79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450"/>
                                        <p:tgtEl>
                                          <p:spTgt spid="11"/>
                                        </p:tgtEl>
                                      </p:cBhvr>
                                    </p:animEffect>
                                  </p:childTnLst>
                                </p:cTn>
                              </p:par>
                              <p:par>
                                <p:cTn id="52" presetID="10" presetClass="entr" presetSubtype="0" fill="hold" grpId="0" nodeType="withEffect">
                                  <p:stCondLst>
                                    <p:cond delay="92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450"/>
                                        <p:tgtEl>
                                          <p:spTgt spid="31"/>
                                        </p:tgtEl>
                                      </p:cBhvr>
                                    </p:animEffect>
                                  </p:childTnLst>
                                </p:cTn>
                              </p:par>
                              <p:par>
                                <p:cTn id="55" presetID="10" presetClass="entr" presetSubtype="0" fill="hold" grpId="0" nodeType="withEffect">
                                  <p:stCondLst>
                                    <p:cond delay="105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450"/>
                                        <p:tgtEl>
                                          <p:spTgt spid="12"/>
                                        </p:tgtEl>
                                      </p:cBhvr>
                                    </p:animEffect>
                                  </p:childTnLst>
                                </p:cTn>
                              </p:par>
                              <p:par>
                                <p:cTn id="58" presetID="10" presetClass="entr" presetSubtype="0" fill="hold" grpId="0" nodeType="withEffect">
                                  <p:stCondLst>
                                    <p:cond delay="118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450"/>
                                        <p:tgtEl>
                                          <p:spTgt spid="14"/>
                                        </p:tgtEl>
                                      </p:cBhvr>
                                    </p:animEffect>
                                  </p:childTnLst>
                                </p:cTn>
                              </p:par>
                              <p:par>
                                <p:cTn id="61" presetID="10" presetClass="entr" presetSubtype="0" fill="hold" grpId="0" nodeType="withEffect">
                                  <p:stCondLst>
                                    <p:cond delay="131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childTnLst>
                                </p:cTn>
                              </p:par>
                              <p:par>
                                <p:cTn id="64" presetID="10" presetClass="entr" presetSubtype="0" fill="hold" grpId="0" nodeType="withEffect">
                                  <p:stCondLst>
                                    <p:cond delay="144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450"/>
                                        <p:tgtEl>
                                          <p:spTgt spid="35"/>
                                        </p:tgtEl>
                                      </p:cBhvr>
                                    </p:animEffect>
                                  </p:childTnLst>
                                </p:cTn>
                              </p:par>
                              <p:par>
                                <p:cTn id="67" presetID="10" presetClass="entr" presetSubtype="0" fill="hold" grpId="0" nodeType="withEffect">
                                  <p:stCondLst>
                                    <p:cond delay="1570"/>
                                  </p:stCondLst>
                                  <p:childTnLst>
                                    <p:set>
                                      <p:cBhvr>
                                        <p:cTn id="68" dur="1" fill="hold">
                                          <p:stCondLst>
                                            <p:cond delay="0"/>
                                          </p:stCondLst>
                                        </p:cTn>
                                        <p:tgtEl>
                                          <p:spTgt spid="5"/>
                                        </p:tgtEl>
                                        <p:attrNameLst>
                                          <p:attrName>style.visibility</p:attrName>
                                        </p:attrNameLst>
                                      </p:cBhvr>
                                      <p:to>
                                        <p:strVal val="visible"/>
                                      </p:to>
                                    </p:set>
                                    <p:animEffect transition="in" filter="fade">
                                      <p:cBhvr>
                                        <p:cTn id="69" dur="450"/>
                                        <p:tgtEl>
                                          <p:spTgt spid="5"/>
                                        </p:tgtEl>
                                      </p:cBhvr>
                                    </p:animEffect>
                                  </p:childTnLst>
                                </p:cTn>
                              </p:par>
                              <p:par>
                                <p:cTn id="70" presetID="10" presetClass="entr" presetSubtype="0" fill="hold" grpId="0" nodeType="withEffect">
                                  <p:stCondLst>
                                    <p:cond delay="183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450"/>
                                        <p:tgtEl>
                                          <p:spTgt spid="49"/>
                                        </p:tgtEl>
                                      </p:cBhvr>
                                    </p:animEffect>
                                  </p:childTnLst>
                                </p:cTn>
                              </p:par>
                            </p:childTnLst>
                          </p:cTn>
                        </p:par>
                        <p:par>
                          <p:cTn id="73" fill="hold">
                            <p:stCondLst>
                              <p:cond delay="2700"/>
                            </p:stCondLst>
                            <p:childTnLst>
                              <p:par>
                                <p:cTn id="74" presetID="10" presetClass="entr" presetSubtype="0" fill="hold" grpId="0" nodeType="afterEffect">
                                  <p:stCondLst>
                                    <p:cond delay="40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5" name="anim_393"/>
          <p:cNvSpPr>
            <a:spLocks noGrp="1"/>
          </p:cNvSpPr>
          <p:nvPr>
            <p:ph type="sldNum" idx="12"/>
          </p:nvPr>
        </p:nvSpPr>
        <p:spPr>
          <a:xfrm>
            <a:off x="11561522" y="6356350"/>
            <a:ext cx="518786" cy="362485"/>
          </a:xfrm>
        </p:spPr>
        <p:txBody>
          <a:bodyPr wrap="none"/>
          <a:lstStyle/>
          <a:p>
            <a:pPr marL="0" marR="0" lvl="0" indent="0" algn="r" defTabSz="914400">
              <a:lnSpc>
                <a:spcPct val="100000"/>
              </a:lnSpc>
              <a:spcBef>
                <a:spcPts val="0"/>
              </a:spcBef>
              <a:spcAft>
                <a:spcPts val="0"/>
              </a:spcAft>
              <a:buClrTx/>
              <a:buSzTx/>
              <a:buFontTx/>
              <a:buNone/>
              <a:defRPr>
                <a:latin typeface="Times New Roman" panose="02020603050405020304"/>
              </a:defRPr>
            </a:pPr>
            <a:fld id="{BA58DA2A-B818-18A9-29C1-B697728D5BCE}" type="slidenum">
              <a:rPr sz="900" b="0" i="0" u="none" cap="none" spc="0">
                <a:ln>
                  <a:noFill/>
                </a:ln>
                <a:solidFill>
                  <a:prstClr val="black">
                    <a:tint val="75000"/>
                  </a:prstClr>
                </a:solidFill>
                <a:latin typeface="Times New Roman" panose="02020603050405020304"/>
                <a:ea typeface="Times New Roman" panose="02020603050405020304"/>
                <a:cs typeface="Times New Roman" panose="02020603050405020304"/>
              </a:rPr>
            </a:fld>
            <a:endParaRPr sz="2000" b="0" i="0" u="none" kern="1200" cap="none" spc="0" baseline="0">
              <a:ln>
                <a:noFill/>
              </a:ln>
              <a:solidFill>
                <a:prstClr val="black">
                  <a:tint val="75000"/>
                </a:prstClr>
              </a:solidFill>
              <a:latin typeface="Times New Roman" panose="02020603050405020304"/>
              <a:ea typeface="Times New Roman" panose="02020603050405020304"/>
              <a:cs typeface="Times New Roman" panose="02020603050405020304"/>
            </a:endParaRPr>
          </a:p>
        </p:txBody>
      </p:sp>
      <p:sp>
        <p:nvSpPr>
          <p:cNvPr id="28" name="Rectangle 27"/>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81"/>
          <p:cNvSpPr>
            <a:spLocks noGrp="1"/>
          </p:cNvSpPr>
          <p:nvPr/>
        </p:nvSpPr>
        <p:spPr>
          <a:xfrm>
            <a:off x="342900" y="1076325"/>
            <a:ext cx="11410950" cy="4810125"/>
          </a:xfrm>
          <a:prstGeom prst="roundRect">
            <a:avLst>
              <a:gd name="adj" fmla="val 1584"/>
            </a:avLst>
          </a:prstGeom>
          <a:solidFill>
            <a:srgbClr val="EDF3EF">
              <a:alpha val="74000"/>
            </a:srgbClr>
          </a:solidFill>
          <a:ln w="11430">
            <a:solidFill>
              <a:srgbClr val="D5DED6"/>
            </a:solidFill>
            <a:prstDash val="solid"/>
          </a:ln>
        </p:spPr>
        <p:txBody>
          <a:bodyPr/>
          <a:p>
            <a:pPr>
              <a:defRPr>
                <a:latin typeface="Times New Roman" panose="02020603050405020304"/>
              </a:defRPr>
            </a:pPr>
          </a:p>
        </p:txBody>
      </p:sp>
      <p:pic>
        <p:nvPicPr>
          <p:cNvPr id="21" name="anim_382"/>
          <p:cNvPicPr>
            <a:picLocks noChangeAspect="1"/>
          </p:cNvPicPr>
          <p:nvPr/>
        </p:nvPicPr>
        <p:blipFill>
          <a:blip r:embed="rId2"/>
          <a:srcRect t="50" b="50"/>
          <a:stretch>
            <a:fillRect/>
          </a:stretch>
        </p:blipFill>
        <p:spPr>
          <a:xfrm>
            <a:off x="381000" y="1114425"/>
            <a:ext cx="11334750" cy="4733925"/>
          </a:xfrm>
          <a:prstGeom prst="rect">
            <a:avLst/>
          </a:prstGeom>
        </p:spPr>
      </p:pic>
      <p:sp>
        <p:nvSpPr>
          <p:cNvPr id="8" name="anim_383"/>
          <p:cNvSpPr>
            <a:spLocks noGrp="1"/>
          </p:cNvSpPr>
          <p:nvPr/>
        </p:nvSpPr>
        <p:spPr>
          <a:xfrm>
            <a:off x="723900" y="5194300"/>
            <a:ext cx="7962900" cy="581025"/>
          </a:xfrm>
          <a:prstGeom prst="roundRect">
            <a:avLst>
              <a:gd name="adj" fmla="val 13115"/>
            </a:avLst>
          </a:prstGeom>
          <a:solidFill>
            <a:srgbClr val="FAFBFA">
              <a:alpha val="74000"/>
            </a:srgbClr>
          </a:solidFill>
          <a:ln w="9525">
            <a:solidFill>
              <a:srgbClr val="D5DED6"/>
            </a:solidFill>
            <a:prstDash val="solid"/>
          </a:ln>
        </p:spPr>
        <p:txBody>
          <a:bodyPr/>
          <a:p>
            <a:pPr>
              <a:defRPr>
                <a:latin typeface="Times New Roman" panose="02020603050405020304"/>
              </a:defRPr>
            </a:pPr>
          </a:p>
        </p:txBody>
      </p:sp>
      <p:sp>
        <p:nvSpPr>
          <p:cNvPr id="9" name="anim_386"/>
          <p:cNvSpPr>
            <a:spLocks noGrp="1"/>
          </p:cNvSpPr>
          <p:nvPr/>
        </p:nvSpPr>
        <p:spPr>
          <a:xfrm>
            <a:off x="895350" y="5337175"/>
            <a:ext cx="685800" cy="285750"/>
          </a:xfrm>
          <a:prstGeom prst="rect">
            <a:avLst/>
          </a:prstGeom>
          <a:solidFill>
            <a:srgbClr val="6B6250"/>
          </a:solidFill>
          <a:ln w="0">
            <a:solidFill>
              <a:srgbClr val="6B6250"/>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COAL</a:t>
            </a:r>
            <a:endParaRPr>
              <a:solidFill/>
              <a:latin typeface="Times New Roman" panose="02020603050405020304"/>
            </a:endParaRPr>
          </a:p>
        </p:txBody>
      </p:sp>
      <p:sp>
        <p:nvSpPr>
          <p:cNvPr id="10" name="anim_387"/>
          <p:cNvSpPr>
            <a:spLocks noGrp="1"/>
          </p:cNvSpPr>
          <p:nvPr/>
        </p:nvSpPr>
        <p:spPr>
          <a:xfrm>
            <a:off x="1657350" y="5337175"/>
            <a:ext cx="952500" cy="285750"/>
          </a:xfrm>
          <a:prstGeom prst="rect">
            <a:avLst/>
          </a:prstGeom>
          <a:solidFill>
            <a:srgbClr val="FAFBFA">
              <a:alpha val="74000"/>
            </a:srgbClr>
          </a:solidFill>
          <a:ln w="0">
            <a:solidFill>
              <a:srgbClr val="FAFBFA"/>
            </a:solidFill>
            <a:prstDash val="solid"/>
          </a:ln>
        </p:spPr>
        <p:txBody>
          <a:bodyPr wrap="none" anchor="ctr"/>
          <a:lstStyle/>
          <a:p>
            <a:pPr algn="l">
              <a:defRPr sz="105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Asia</a:t>
            </a:r>
            <a:endParaRPr>
              <a:solidFill/>
              <a:latin typeface="Times New Roman" panose="02020603050405020304"/>
            </a:endParaRPr>
          </a:p>
        </p:txBody>
      </p:sp>
      <p:sp>
        <p:nvSpPr>
          <p:cNvPr id="11" name="anim_388"/>
          <p:cNvSpPr>
            <a:spLocks noGrp="1"/>
          </p:cNvSpPr>
          <p:nvPr/>
        </p:nvSpPr>
        <p:spPr>
          <a:xfrm>
            <a:off x="2857500" y="5337175"/>
            <a:ext cx="685800" cy="285750"/>
          </a:xfrm>
          <a:prstGeom prst="rect">
            <a:avLst/>
          </a:prstGeom>
          <a:solidFill>
            <a:srgbClr val="BE7F4E"/>
          </a:solidFill>
          <a:ln w="0">
            <a:solidFill>
              <a:srgbClr val="BE7F4E"/>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OIL</a:t>
            </a:r>
            <a:endParaRPr>
              <a:solidFill/>
              <a:latin typeface="Times New Roman" panose="02020603050405020304"/>
            </a:endParaRPr>
          </a:p>
        </p:txBody>
      </p:sp>
      <p:sp>
        <p:nvSpPr>
          <p:cNvPr id="12" name="anim_389"/>
          <p:cNvSpPr>
            <a:spLocks noGrp="1"/>
          </p:cNvSpPr>
          <p:nvPr/>
        </p:nvSpPr>
        <p:spPr>
          <a:xfrm>
            <a:off x="3619500" y="5337175"/>
            <a:ext cx="2476500" cy="2857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Africa · Middle East · Americas</a:t>
            </a:r>
            <a:endParaRPr>
              <a:solidFill/>
              <a:latin typeface="Times New Roman" panose="02020603050405020304"/>
            </a:endParaRPr>
          </a:p>
        </p:txBody>
      </p:sp>
      <p:sp>
        <p:nvSpPr>
          <p:cNvPr id="13" name="anim_390"/>
          <p:cNvSpPr>
            <a:spLocks noGrp="1"/>
          </p:cNvSpPr>
          <p:nvPr/>
        </p:nvSpPr>
        <p:spPr>
          <a:xfrm>
            <a:off x="6305550" y="5337175"/>
            <a:ext cx="685800" cy="285750"/>
          </a:xfrm>
          <a:prstGeom prst="rect">
            <a:avLst/>
          </a:prstGeom>
          <a:solidFill>
            <a:srgbClr val="4F6E96"/>
          </a:solidFill>
          <a:ln w="0">
            <a:solidFill>
              <a:srgbClr val="4F6E96"/>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GAS</a:t>
            </a:r>
            <a:endParaRPr>
              <a:solidFill/>
              <a:latin typeface="Times New Roman" panose="02020603050405020304"/>
            </a:endParaRPr>
          </a:p>
        </p:txBody>
      </p:sp>
      <p:sp>
        <p:nvSpPr>
          <p:cNvPr id="14" name="anim_391"/>
          <p:cNvSpPr>
            <a:spLocks noGrp="1"/>
          </p:cNvSpPr>
          <p:nvPr/>
        </p:nvSpPr>
        <p:spPr>
          <a:xfrm>
            <a:off x="7067550" y="5337175"/>
            <a:ext cx="1447800" cy="285750"/>
          </a:xfrm>
          <a:prstGeom prst="rect">
            <a:avLst/>
          </a:prstGeom>
          <a:solidFill>
            <a:srgbClr val="FAFBFA">
              <a:alpha val="74000"/>
            </a:srgbClr>
          </a:solidFill>
          <a:ln w="0">
            <a:solidFill>
              <a:srgbClr val="FAFBFA"/>
            </a:solidFill>
            <a:prstDash val="solid"/>
          </a:ln>
        </p:spPr>
        <p:txBody>
          <a:bodyPr anchor="ctr"/>
          <a:lstStyle/>
          <a:p>
            <a:pPr algn="l">
              <a:defRPr sz="105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Russia · Central Asia</a:t>
            </a:r>
            <a:endParaRPr>
              <a:solidFill/>
              <a:latin typeface="Times New Roman" panose="02020603050405020304"/>
            </a:endParaRPr>
          </a:p>
        </p:txBody>
      </p:sp>
      <p:sp>
        <p:nvSpPr>
          <p:cNvPr id="15" name="anim_384"/>
          <p:cNvSpPr>
            <a:spLocks noGrp="1"/>
          </p:cNvSpPr>
          <p:nvPr/>
        </p:nvSpPr>
        <p:spPr>
          <a:xfrm>
            <a:off x="8896350" y="5194300"/>
            <a:ext cx="2724150" cy="581025"/>
          </a:xfrm>
          <a:prstGeom prst="roundRect">
            <a:avLst>
              <a:gd name="adj" fmla="val 13115"/>
            </a:avLst>
          </a:prstGeom>
          <a:solidFill>
            <a:srgbClr val="ECEFF4">
              <a:alpha val="74000"/>
            </a:srgbClr>
          </a:solidFill>
          <a:ln w="11430">
            <a:solidFill>
              <a:srgbClr val="4F6E96"/>
            </a:solidFill>
            <a:prstDash val="solid"/>
          </a:ln>
        </p:spPr>
        <p:txBody>
          <a:bodyPr/>
          <a:p>
            <a:pPr>
              <a:defRPr>
                <a:latin typeface="Times New Roman" panose="02020603050405020304"/>
              </a:defRPr>
            </a:pPr>
          </a:p>
        </p:txBody>
      </p:sp>
      <p:sp>
        <p:nvSpPr>
          <p:cNvPr id="16" name="anim_385"/>
          <p:cNvSpPr>
            <a:spLocks noGrp="1"/>
          </p:cNvSpPr>
          <p:nvPr/>
        </p:nvSpPr>
        <p:spPr>
          <a:xfrm>
            <a:off x="9048750" y="5289550"/>
            <a:ext cx="2419350" cy="390525"/>
          </a:xfrm>
          <a:prstGeom prst="rect">
            <a:avLst/>
          </a:prstGeom>
          <a:solidFill>
            <a:srgbClr val="ECEFF4">
              <a:alpha val="74000"/>
            </a:srgbClr>
          </a:solidFill>
          <a:ln w="0">
            <a:solidFill>
              <a:srgbClr val="ECEFF4"/>
            </a:solidFill>
            <a:prstDash val="solid"/>
          </a:ln>
        </p:spPr>
        <p:txBody>
          <a:bodyPr anchor="ctr"/>
          <a:lstStyle/>
          <a:p>
            <a:pPr algn="ctr">
              <a:defRPr sz="13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Dominant fuel shows category; pies retain the actual mix.</a:t>
            </a:r>
            <a:endParaRPr>
              <a:solidFill/>
              <a:latin typeface="Times New Roman" panose="02020603050405020304"/>
            </a:endParaRPr>
          </a:p>
        </p:txBody>
      </p:sp>
      <p:sp>
        <p:nvSpPr>
          <p:cNvPr id="27" name="TextBox 26"/>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7 / 7</a:t>
            </a:r>
            <a:endParaRPr sz="1300" b="1">
              <a:solidFill>
                <a:srgbClr val="D3E3D6"/>
              </a:solidFill>
              <a:latin typeface="Times New Roman" panose="02020603050405020304"/>
            </a:endParaRPr>
          </a:p>
        </p:txBody>
      </p:sp>
      <p:sp>
        <p:nvSpPr>
          <p:cNvPr id="29" name="Rectangle 28"/>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0" name="anim_380"/>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TextBox 30"/>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What the emissions are actually made of</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Fuel dependence is geographically uneven</a:t>
            </a:r>
            <a:endParaRPr sz="2500" b="1">
              <a:solidFill>
                <a:srgbClr val="FFFFFF"/>
              </a:solidFill>
              <a:latin typeface="Georgia" panose="02040502050405020303"/>
            </a:endParaRPr>
          </a:p>
        </p:txBody>
      </p:sp>
      <p:sp>
        <p:nvSpPr>
          <p:cNvPr id="32" name="TextBox 31"/>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7 / 7</a:t>
            </a:r>
            <a:endParaRPr sz="1400" b="1">
              <a:solidFill>
                <a:srgbClr val="D3E3D6"/>
              </a:solidFill>
              <a:latin typeface="Times New Roman" panose="02020603050405020304"/>
            </a:endParaRPr>
          </a:p>
        </p:txBody>
      </p:sp>
      <p:sp>
        <p:nvSpPr>
          <p:cNvPr id="33" name="anim_396"/>
          <p:cNvSpPr txBox="1"/>
          <p:nvPr/>
        </p:nvSpPr>
        <p:spPr>
          <a:xfrm>
            <a:off x="777240" y="5941949"/>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fuel composition is what makes a transition easy or locked in, so coal and gas shares enter the model as the fuel-shift block.</a:t>
            </a:r>
            <a:endParaRPr sz="1350" b="0">
              <a:solidFill>
                <a:srgbClr val="252B30"/>
              </a:solidFill>
              <a:latin typeface="Times New Roman" panose="02020603050405020304"/>
            </a:endParaRPr>
          </a:p>
        </p:txBody>
      </p:sp>
      <p:sp>
        <p:nvSpPr>
          <p:cNvPr id="35" name="anim_395"/>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10</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childTnLst>
                                </p:cTn>
                              </p:par>
                            </p:childTnLst>
                          </p:cTn>
                        </p:par>
                        <p:par>
                          <p:cTn id="14" fill="hold">
                            <p:stCondLst>
                              <p:cond delay="900"/>
                            </p:stCondLst>
                            <p:childTnLst>
                              <p:par>
                                <p:cTn id="15" presetID="10" presetClass="entr" presetSubtype="0" fill="hold" grpId="0" nodeType="afterEffect">
                                  <p:stCondLst>
                                    <p:cond delay="4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53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66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79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92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10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118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13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144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157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450"/>
                                        <p:tgtEl>
                                          <p:spTgt spid="5"/>
                                        </p:tgtEl>
                                      </p:cBhvr>
                                    </p:animEffect>
                                  </p:childTnLst>
                                </p:cTn>
                              </p:par>
                              <p:par>
                                <p:cTn id="45" presetID="10" presetClass="entr" presetSubtype="0" fill="hold" grpId="0" nodeType="withEffect">
                                  <p:stCondLst>
                                    <p:cond delay="183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50"/>
                                        <p:tgtEl>
                                          <p:spTgt spid="35"/>
                                        </p:tgtEl>
                                      </p:cBhvr>
                                    </p:animEffect>
                                  </p:childTnLst>
                                </p:cTn>
                              </p:par>
                            </p:childTnLst>
                          </p:cTn>
                        </p:par>
                        <p:par>
                          <p:cTn id="48" fill="hold">
                            <p:stCondLst>
                              <p:cond delay="1800"/>
                            </p:stCondLst>
                            <p:childTnLst>
                              <p:par>
                                <p:cTn id="49" presetID="10" presetClass="entr" presetSubtype="0" fill="hold" grpId="0" nodeType="afterEffect">
                                  <p:stCondLst>
                                    <p:cond delay="40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Defining the clustering unit and the modelled cohort</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From 213 territories to 193 comparable country profiles</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11</a:t>
            </a:r>
            <a:endParaRPr sz="1400" b="0">
              <a:solidFill>
                <a:srgbClr val="6E7672"/>
              </a:solidFill>
              <a:latin typeface="Times New Roman" panose="02020603050405020304"/>
            </a:endParaRPr>
          </a:p>
        </p:txBody>
      </p:sp>
      <p:sp>
        <p:nvSpPr>
          <p:cNvPr id="13" name="TextBox 12"/>
          <p:cNvSpPr txBox="1"/>
          <p:nvPr/>
        </p:nvSpPr>
        <p:spPr>
          <a:xfrm>
            <a:off x="457200" y="987552"/>
            <a:ext cx="5486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COHORT FUNNEL</a:t>
            </a:r>
            <a:endParaRPr sz="1350" b="1">
              <a:solidFill>
                <a:srgbClr val="2F5248"/>
              </a:solidFill>
              <a:latin typeface="Times New Roman" panose="02020603050405020304"/>
            </a:endParaRPr>
          </a:p>
        </p:txBody>
      </p:sp>
      <p:sp>
        <p:nvSpPr>
          <p:cNvPr id="14" name="anim_33"/>
          <p:cNvSpPr/>
          <p:nvPr/>
        </p:nvSpPr>
        <p:spPr>
          <a:xfrm>
            <a:off x="457200" y="1298448"/>
            <a:ext cx="5852160" cy="859536"/>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5" name="anim_34"/>
          <p:cNvSpPr txBox="1"/>
          <p:nvPr/>
        </p:nvSpPr>
        <p:spPr>
          <a:xfrm>
            <a:off x="603504" y="1380744"/>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4F6E96"/>
                </a:solidFill>
                <a:latin typeface="Times New Roman" panose="02020603050405020304"/>
              </a:rPr>
              <a:t>6,378</a:t>
            </a:r>
            <a:endParaRPr sz="2200" b="1">
              <a:solidFill>
                <a:srgbClr val="4F6E96"/>
              </a:solidFill>
              <a:latin typeface="Times New Roman" panose="02020603050405020304"/>
            </a:endParaRPr>
          </a:p>
        </p:txBody>
      </p:sp>
      <p:sp>
        <p:nvSpPr>
          <p:cNvPr id="16" name="anim_35"/>
          <p:cNvSpPr txBox="1"/>
          <p:nvPr/>
        </p:nvSpPr>
        <p:spPr>
          <a:xfrm>
            <a:off x="1883664" y="1362456"/>
            <a:ext cx="429768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country-year rows</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OWID backbone + GCB fuel fills, 1992-2021</a:t>
            </a:r>
            <a:endParaRPr sz="1300" b="0">
              <a:solidFill>
                <a:srgbClr val="6E7672"/>
              </a:solidFill>
              <a:latin typeface="Times New Roman" panose="02020603050405020304"/>
            </a:endParaRPr>
          </a:p>
        </p:txBody>
      </p:sp>
      <p:sp>
        <p:nvSpPr>
          <p:cNvPr id="17" name="anim_36"/>
          <p:cNvSpPr/>
          <p:nvPr/>
        </p:nvSpPr>
        <p:spPr>
          <a:xfrm>
            <a:off x="749808" y="2267712"/>
            <a:ext cx="5440680" cy="859536"/>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37"/>
          <p:cNvSpPr txBox="1"/>
          <p:nvPr/>
        </p:nvSpPr>
        <p:spPr>
          <a:xfrm>
            <a:off x="896112" y="2350008"/>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4F6E96"/>
                </a:solidFill>
                <a:latin typeface="Times New Roman" panose="02020603050405020304"/>
              </a:rPr>
              <a:t>213</a:t>
            </a:r>
            <a:endParaRPr sz="2200" b="1">
              <a:solidFill>
                <a:srgbClr val="4F6E96"/>
              </a:solidFill>
              <a:latin typeface="Times New Roman" panose="02020603050405020304"/>
            </a:endParaRPr>
          </a:p>
        </p:txBody>
      </p:sp>
      <p:sp>
        <p:nvSpPr>
          <p:cNvPr id="19" name="anim_38"/>
          <p:cNvSpPr txBox="1"/>
          <p:nvPr/>
        </p:nvSpPr>
        <p:spPr>
          <a:xfrm>
            <a:off x="2176272" y="2331720"/>
            <a:ext cx="388620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countries &amp; territories</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valid ISO codes in the panel</a:t>
            </a:r>
            <a:endParaRPr sz="1300" b="0">
              <a:solidFill>
                <a:srgbClr val="6E7672"/>
              </a:solidFill>
              <a:latin typeface="Times New Roman" panose="02020603050405020304"/>
            </a:endParaRPr>
          </a:p>
        </p:txBody>
      </p:sp>
      <p:sp>
        <p:nvSpPr>
          <p:cNvPr id="20" name="anim_39"/>
          <p:cNvSpPr/>
          <p:nvPr/>
        </p:nvSpPr>
        <p:spPr>
          <a:xfrm>
            <a:off x="1042416" y="3236976"/>
            <a:ext cx="5029200" cy="859536"/>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1" name="anim_40"/>
          <p:cNvSpPr txBox="1"/>
          <p:nvPr/>
        </p:nvSpPr>
        <p:spPr>
          <a:xfrm>
            <a:off x="1188720" y="3319272"/>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BE7F4E"/>
                </a:solidFill>
                <a:latin typeface="Times New Roman" panose="02020603050405020304"/>
              </a:rPr>
              <a:t>-16</a:t>
            </a:r>
            <a:endParaRPr sz="2200" b="1">
              <a:solidFill>
                <a:srgbClr val="BE7F4E"/>
              </a:solidFill>
              <a:latin typeface="Times New Roman" panose="02020603050405020304"/>
            </a:endParaRPr>
          </a:p>
        </p:txBody>
      </p:sp>
      <p:sp>
        <p:nvSpPr>
          <p:cNvPr id="22" name="anim_41"/>
          <p:cNvSpPr txBox="1"/>
          <p:nvPr/>
        </p:nvSpPr>
        <p:spPr>
          <a:xfrm>
            <a:off x="2468880" y="3300984"/>
            <a:ext cx="34747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micro states excluded</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populations too small for stable trajectories</a:t>
            </a:r>
            <a:endParaRPr sz="1300" b="0">
              <a:solidFill>
                <a:srgbClr val="6E7672"/>
              </a:solidFill>
              <a:latin typeface="Times New Roman" panose="02020603050405020304"/>
            </a:endParaRPr>
          </a:p>
        </p:txBody>
      </p:sp>
      <p:sp>
        <p:nvSpPr>
          <p:cNvPr id="23" name="anim_42"/>
          <p:cNvSpPr/>
          <p:nvPr/>
        </p:nvSpPr>
        <p:spPr>
          <a:xfrm>
            <a:off x="1335024" y="4206240"/>
            <a:ext cx="4617720" cy="859536"/>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4" name="anim_43"/>
          <p:cNvSpPr txBox="1"/>
          <p:nvPr/>
        </p:nvSpPr>
        <p:spPr>
          <a:xfrm>
            <a:off x="1481328" y="4288536"/>
            <a:ext cx="1280160" cy="6858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200" b="1">
                <a:solidFill>
                  <a:srgbClr val="BE7F4E"/>
                </a:solidFill>
                <a:latin typeface="Times New Roman" panose="02020603050405020304"/>
              </a:rPr>
              <a:t>-4</a:t>
            </a:r>
            <a:endParaRPr sz="2200" b="1">
              <a:solidFill>
                <a:srgbClr val="BE7F4E"/>
              </a:solidFill>
              <a:latin typeface="Times New Roman" panose="02020603050405020304"/>
            </a:endParaRPr>
          </a:p>
        </p:txBody>
      </p:sp>
      <p:sp>
        <p:nvSpPr>
          <p:cNvPr id="25" name="anim_44"/>
          <p:cNvSpPr txBox="1"/>
          <p:nvPr/>
        </p:nvSpPr>
        <p:spPr>
          <a:xfrm>
            <a:off x="2761488" y="4270248"/>
            <a:ext cx="306324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incomplete histories excluded</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fewer than 30 consecutive years 1992-2021</a:t>
            </a:r>
            <a:endParaRPr sz="1300" b="0">
              <a:solidFill>
                <a:srgbClr val="6E7672"/>
              </a:solidFill>
              <a:latin typeface="Times New Roman" panose="02020603050405020304"/>
            </a:endParaRPr>
          </a:p>
        </p:txBody>
      </p:sp>
      <p:sp>
        <p:nvSpPr>
          <p:cNvPr id="26" name="anim_45"/>
          <p:cNvSpPr/>
          <p:nvPr/>
        </p:nvSpPr>
        <p:spPr>
          <a:xfrm>
            <a:off x="1627632" y="5175504"/>
            <a:ext cx="4206240" cy="859536"/>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46"/>
          <p:cNvSpPr txBox="1"/>
          <p:nvPr/>
        </p:nvSpPr>
        <p:spPr>
          <a:xfrm>
            <a:off x="1773936" y="5257800"/>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2F5248"/>
                </a:solidFill>
                <a:latin typeface="Times New Roman" panose="02020603050405020304"/>
              </a:rPr>
              <a:t>193</a:t>
            </a:r>
            <a:endParaRPr sz="2200" b="1">
              <a:solidFill>
                <a:srgbClr val="2F5248"/>
              </a:solidFill>
              <a:latin typeface="Times New Roman" panose="02020603050405020304"/>
            </a:endParaRPr>
          </a:p>
        </p:txBody>
      </p:sp>
      <p:sp>
        <p:nvSpPr>
          <p:cNvPr id="28" name="anim_47"/>
          <p:cNvSpPr txBox="1"/>
          <p:nvPr/>
        </p:nvSpPr>
        <p:spPr>
          <a:xfrm>
            <a:off x="3054096" y="5239512"/>
            <a:ext cx="265176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modelled countries / entities</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complete history + reliable fuel structure</a:t>
            </a:r>
            <a:endParaRPr sz="1300" b="0">
              <a:solidFill>
                <a:srgbClr val="6E7672"/>
              </a:solidFill>
              <a:latin typeface="Times New Roman" panose="02020603050405020304"/>
            </a:endParaRPr>
          </a:p>
        </p:txBody>
      </p:sp>
      <p:sp>
        <p:nvSpPr>
          <p:cNvPr id="29" name="TextBox 28"/>
          <p:cNvSpPr txBox="1"/>
          <p:nvPr/>
        </p:nvSpPr>
        <p:spPr>
          <a:xfrm>
            <a:off x="6720840" y="987552"/>
            <a:ext cx="493776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THIS COHORT</a:t>
            </a:r>
            <a:endParaRPr sz="1350" b="1">
              <a:solidFill>
                <a:srgbClr val="2F5248"/>
              </a:solidFill>
              <a:latin typeface="Times New Roman" panose="02020603050405020304"/>
            </a:endParaRPr>
          </a:p>
        </p:txBody>
      </p:sp>
      <p:sp>
        <p:nvSpPr>
          <p:cNvPr id="30" name="anim_48"/>
          <p:cNvSpPr/>
          <p:nvPr/>
        </p:nvSpPr>
        <p:spPr>
          <a:xfrm>
            <a:off x="6720840" y="1298448"/>
            <a:ext cx="4663440" cy="1874519"/>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49"/>
          <p:cNvSpPr txBox="1"/>
          <p:nvPr/>
        </p:nvSpPr>
        <p:spPr>
          <a:xfrm>
            <a:off x="6903720" y="1426464"/>
            <a:ext cx="4297680" cy="1645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Trajectory features need complete histories. </a:t>
            </a:r>
            <a:r>
              <a:rPr sz="1400" b="0">
                <a:solidFill>
                  <a:srgbClr val="252B30"/>
                </a:solidFill>
                <a:latin typeface="Times New Roman" panose="02020603050405020304"/>
              </a:rPr>
              <a:t>Slopes, peaks and post-peak change are only comparable when every country covers the same 30 years.</a:t>
            </a:r>
            <a:endParaRPr sz="1400" b="0">
              <a:solidFill>
                <a:srgbClr val="252B30"/>
              </a:solidFill>
              <a:latin typeface="Times New Roman" panose="02020603050405020304"/>
            </a:endParaRPr>
          </a:p>
          <a:p>
            <a:pPr algn="l">
              <a:spcBef>
                <a:spcPts val="800"/>
              </a:spcBef>
              <a:defRPr>
                <a:latin typeface="Times New Roman" panose="02020603050405020304"/>
              </a:defRPr>
            </a:pPr>
            <a:r>
              <a:rPr sz="1400" b="1">
                <a:solidFill>
                  <a:srgbClr val="252B30"/>
                </a:solidFill>
                <a:latin typeface="Times New Roman" panose="02020603050405020304"/>
              </a:rPr>
              <a:t>Fuel features need reliable shares. </a:t>
            </a:r>
            <a:r>
              <a:rPr sz="1400" b="0">
                <a:solidFill>
                  <a:srgbClr val="252B30"/>
                </a:solidFill>
                <a:latin typeface="Times New Roman" panose="02020603050405020304"/>
              </a:rPr>
              <a:t>Entities with unreliable fuel structure would distort the fuel-shift block.</a:t>
            </a:r>
            <a:endParaRPr sz="1400" b="0">
              <a:solidFill>
                <a:srgbClr val="252B30"/>
              </a:solidFill>
              <a:latin typeface="Times New Roman" panose="02020603050405020304"/>
            </a:endParaRPr>
          </a:p>
        </p:txBody>
      </p:sp>
      <p:sp>
        <p:nvSpPr>
          <p:cNvPr id="32" name="anim_50"/>
          <p:cNvSpPr/>
          <p:nvPr/>
        </p:nvSpPr>
        <p:spPr>
          <a:xfrm>
            <a:off x="6720840" y="3401568"/>
            <a:ext cx="4663440" cy="146304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3" name="anim_51"/>
          <p:cNvSpPr txBox="1"/>
          <p:nvPr/>
        </p:nvSpPr>
        <p:spPr>
          <a:xfrm>
            <a:off x="6903720" y="3529584"/>
            <a:ext cx="4297680" cy="12344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ONE COUNTRY = ONE PROFILE</a:t>
            </a:r>
            <a:endParaRPr sz="1350" b="1">
              <a:solidFill>
                <a:srgbClr val="2F5248"/>
              </a:solidFill>
              <a:latin typeface="Times New Roman" panose="02020603050405020304"/>
            </a:endParaRPr>
          </a:p>
          <a:p>
            <a:pPr algn="l">
              <a:spcBef>
                <a:spcPts val="600"/>
              </a:spcBef>
              <a:defRPr>
                <a:latin typeface="Times New Roman" panose="02020603050405020304"/>
              </a:defRPr>
            </a:pPr>
            <a:r>
              <a:rPr sz="1400" b="0">
                <a:solidFill>
                  <a:srgbClr val="252B30"/>
                </a:solidFill>
                <a:latin typeface="Times New Roman" panose="02020603050405020304"/>
              </a:rPr>
              <a:t>Each of the 193 countries becomes a single 11-feature trajectory profile - the clustering unit for everything that follows.</a:t>
            </a:r>
            <a:endParaRPr sz="1400" b="0">
              <a:solidFill>
                <a:srgbClr val="252B30"/>
              </a:solidFill>
              <a:latin typeface="Times New Roman" panose="02020603050405020304"/>
            </a:endParaRPr>
          </a:p>
        </p:txBody>
      </p:sp>
      <p:sp>
        <p:nvSpPr>
          <p:cNvPr id="34" name="anim_52"/>
          <p:cNvSpPr/>
          <p:nvPr/>
        </p:nvSpPr>
        <p:spPr>
          <a:xfrm>
            <a:off x="6720840" y="5047488"/>
            <a:ext cx="4663440" cy="1051560"/>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53"/>
          <p:cNvSpPr txBox="1"/>
          <p:nvPr/>
        </p:nvSpPr>
        <p:spPr>
          <a:xfrm>
            <a:off x="6903720" y="5157216"/>
            <a:ext cx="4297680" cy="86868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AUDITABLE BY DESIGN</a:t>
            </a:r>
            <a:endParaRPr sz="1350" b="1">
              <a:solidFill>
                <a:srgbClr val="2F5248"/>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Every exclusion is logged with its reason in cohort_audit.csv, so the sample can be reproduced or challenged.</a:t>
            </a:r>
            <a:endParaRPr sz="13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childTnLst>
                          </p:cTn>
                        </p:par>
                        <p:par>
                          <p:cTn id="14" fill="hold">
                            <p:stCondLst>
                              <p:cond delay="900"/>
                            </p:stCondLst>
                            <p:childTnLst>
                              <p:par>
                                <p:cTn id="15" presetID="10" presetClass="entr" presetSubtype="0" fill="hold" grpId="0" nodeType="afterEffect">
                                  <p:stCondLst>
                                    <p:cond delay="4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5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66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childTnLst>
                          </p:cTn>
                        </p:par>
                        <p:par>
                          <p:cTn id="24" fill="hold">
                            <p:stCondLst>
                              <p:cond delay="1800"/>
                            </p:stCondLst>
                            <p:childTnLst>
                              <p:par>
                                <p:cTn id="25" presetID="10" presetClass="entr" presetSubtype="0" fill="hold" grpId="0" nodeType="afterEffect">
                                  <p:stCondLst>
                                    <p:cond delay="40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par>
                                <p:cTn id="28" presetID="10" presetClass="entr" presetSubtype="0" fill="hold" grpId="0" nodeType="withEffect">
                                  <p:stCondLst>
                                    <p:cond delay="53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50"/>
                                        <p:tgtEl>
                                          <p:spTgt spid="2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childTnLst>
                          </p:cTn>
                        </p:par>
                        <p:par>
                          <p:cTn id="34" fill="hold">
                            <p:stCondLst>
                              <p:cond delay="2700"/>
                            </p:stCondLst>
                            <p:childTnLst>
                              <p:par>
                                <p:cTn id="35" presetID="10" presetClass="entr" presetSubtype="0" fill="hold" grpId="0" nodeType="afterEffect">
                                  <p:stCondLst>
                                    <p:cond delay="4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par>
                                <p:cTn id="38" presetID="10" presetClass="entr" presetSubtype="0" fill="hold" grpId="0" nodeType="withEffect">
                                  <p:stCondLst>
                                    <p:cond delay="53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childTnLst>
                          </p:cTn>
                        </p:par>
                        <p:par>
                          <p:cTn id="44" fill="hold">
                            <p:stCondLst>
                              <p:cond delay="3600"/>
                            </p:stCondLst>
                            <p:childTnLst>
                              <p:par>
                                <p:cTn id="45" presetID="10" presetClass="entr" presetSubtype="0" fill="hold" grpId="0" nodeType="afterEffect">
                                  <p:stCondLst>
                                    <p:cond delay="40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par>
                                <p:cTn id="48" presetID="10" presetClass="entr" presetSubtype="0" fill="hold" grpId="0" nodeType="withEffect">
                                  <p:stCondLst>
                                    <p:cond delay="53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50"/>
                                        <p:tgtEl>
                                          <p:spTgt spid="27"/>
                                        </p:tgtEl>
                                      </p:cBhvr>
                                    </p:animEffect>
                                  </p:childTnLst>
                                </p:cTn>
                              </p:par>
                              <p:par>
                                <p:cTn id="51" presetID="10" presetClass="entr" presetSubtype="0" fill="hold" grpId="0" nodeType="withEffect">
                                  <p:stCondLst>
                                    <p:cond delay="66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450"/>
                                        <p:tgtEl>
                                          <p:spTgt spid="28"/>
                                        </p:tgtEl>
                                      </p:cBhvr>
                                    </p:animEffect>
                                  </p:childTnLst>
                                </p:cTn>
                              </p:par>
                            </p:childTnLst>
                          </p:cTn>
                        </p:par>
                        <p:par>
                          <p:cTn id="54" fill="hold">
                            <p:stCondLst>
                              <p:cond delay="4500"/>
                            </p:stCondLst>
                            <p:childTnLst>
                              <p:par>
                                <p:cTn id="55" presetID="10" presetClass="entr" presetSubtype="0" fill="hold" grpId="0" nodeType="afterEffect">
                                  <p:stCondLst>
                                    <p:cond delay="4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50"/>
                                        <p:tgtEl>
                                          <p:spTgt spid="30"/>
                                        </p:tgtEl>
                                      </p:cBhvr>
                                    </p:animEffect>
                                  </p:childTnLst>
                                </p:cTn>
                              </p:par>
                              <p:par>
                                <p:cTn id="58" presetID="10" presetClass="entr" presetSubtype="0" fill="hold" grpId="0" nodeType="withEffect">
                                  <p:stCondLst>
                                    <p:cond delay="53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50"/>
                                        <p:tgtEl>
                                          <p:spTgt spid="31"/>
                                        </p:tgtEl>
                                      </p:cBhvr>
                                    </p:animEffect>
                                  </p:childTnLst>
                                </p:cTn>
                              </p:par>
                            </p:childTnLst>
                          </p:cTn>
                        </p:par>
                        <p:par>
                          <p:cTn id="61" fill="hold">
                            <p:stCondLst>
                              <p:cond delay="5400"/>
                            </p:stCondLst>
                            <p:childTnLst>
                              <p:par>
                                <p:cTn id="62" presetID="10" presetClass="entr" presetSubtype="0" fill="hold" grpId="0" nodeType="afterEffect">
                                  <p:stCondLst>
                                    <p:cond delay="40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childTnLst>
                                </p:cTn>
                              </p:par>
                              <p:par>
                                <p:cTn id="65" presetID="10" presetClass="entr" presetSubtype="0" fill="hold" grpId="0" nodeType="withEffect">
                                  <p:stCondLst>
                                    <p:cond delay="53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childTnLst>
                          </p:cTn>
                        </p:par>
                        <p:par>
                          <p:cTn id="68" fill="hold">
                            <p:stCondLst>
                              <p:cond delay="6300"/>
                            </p:stCondLst>
                            <p:childTnLst>
                              <p:par>
                                <p:cTn id="69" presetID="10" presetClass="entr" presetSubtype="0" fill="hold" grpId="0" nodeType="afterEffect">
                                  <p:stCondLst>
                                    <p:cond delay="40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450"/>
                                        <p:tgtEl>
                                          <p:spTgt spid="34"/>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Turning 30-year emission histories into model features</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Eleven features describe level, direction, timing and fuel shift</a:t>
            </a:r>
            <a:endParaRPr sz="21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12</a:t>
            </a:r>
            <a:endParaRPr sz="1400" b="0">
              <a:solidFill>
                <a:srgbClr val="6E7672"/>
              </a:solidFill>
              <a:latin typeface="Times New Roman" panose="02020603050405020304"/>
            </a:endParaRPr>
          </a:p>
        </p:txBody>
      </p:sp>
      <p:sp>
        <p:nvSpPr>
          <p:cNvPr id="13" name="anim_54"/>
          <p:cNvSpPr/>
          <p:nvPr/>
        </p:nvSpPr>
        <p:spPr>
          <a:xfrm>
            <a:off x="457200" y="1143000"/>
            <a:ext cx="2651760" cy="402336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55"/>
          <p:cNvSpPr/>
          <p:nvPr/>
        </p:nvSpPr>
        <p:spPr>
          <a:xfrm>
            <a:off x="457200" y="1143000"/>
            <a:ext cx="265176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5" name="anim_56"/>
          <p:cNvSpPr txBox="1"/>
          <p:nvPr/>
        </p:nvSpPr>
        <p:spPr>
          <a:xfrm>
            <a:off x="603504"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01 · LEVEL</a:t>
            </a:r>
            <a:endParaRPr sz="1350" b="1">
              <a:solidFill>
                <a:srgbClr val="4F6E96"/>
              </a:solidFill>
              <a:latin typeface="Times New Roman" panose="02020603050405020304"/>
            </a:endParaRPr>
          </a:p>
        </p:txBody>
      </p:sp>
      <p:sp>
        <p:nvSpPr>
          <p:cNvPr id="16" name="anim_57"/>
          <p:cNvSpPr txBox="1"/>
          <p:nvPr/>
        </p:nvSpPr>
        <p:spPr>
          <a:xfrm>
            <a:off x="603504"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How intense is the economy now?</a:t>
            </a:r>
            <a:endParaRPr sz="1500" b="1">
              <a:solidFill>
                <a:srgbClr val="252B30"/>
              </a:solidFill>
              <a:latin typeface="Times New Roman" panose="02020603050405020304"/>
            </a:endParaRPr>
          </a:p>
        </p:txBody>
      </p:sp>
      <p:sp>
        <p:nvSpPr>
          <p:cNvPr id="17" name="anim_58"/>
          <p:cNvSpPr txBox="1"/>
          <p:nvPr/>
        </p:nvSpPr>
        <p:spPr>
          <a:xfrm>
            <a:off x="603504"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Log recent per-capita CO2</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(median 2017-2021)</a:t>
            </a:r>
            <a:endParaRPr sz="1450" b="0">
              <a:solidFill>
                <a:srgbClr val="252B30"/>
              </a:solidFill>
              <a:latin typeface="Times New Roman" panose="02020603050405020304"/>
            </a:endParaRPr>
          </a:p>
        </p:txBody>
      </p:sp>
      <p:sp>
        <p:nvSpPr>
          <p:cNvPr id="18" name="anim_59"/>
          <p:cNvSpPr txBox="1"/>
          <p:nvPr/>
        </p:nvSpPr>
        <p:spPr>
          <a:xfrm>
            <a:off x="603504"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Log scale stops extreme values from dominating distances.</a:t>
            </a:r>
            <a:endParaRPr sz="1350" b="0">
              <a:solidFill>
                <a:srgbClr val="6E7672"/>
              </a:solidFill>
              <a:latin typeface="Times New Roman" panose="02020603050405020304"/>
            </a:endParaRPr>
          </a:p>
        </p:txBody>
      </p:sp>
      <p:sp>
        <p:nvSpPr>
          <p:cNvPr id="19" name="anim_60"/>
          <p:cNvSpPr/>
          <p:nvPr/>
        </p:nvSpPr>
        <p:spPr>
          <a:xfrm>
            <a:off x="3310128" y="1143000"/>
            <a:ext cx="2651760" cy="402336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0" name="anim_61"/>
          <p:cNvSpPr/>
          <p:nvPr/>
        </p:nvSpPr>
        <p:spPr>
          <a:xfrm>
            <a:off x="3310128" y="1143000"/>
            <a:ext cx="265176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1" name="anim_62"/>
          <p:cNvSpPr txBox="1"/>
          <p:nvPr/>
        </p:nvSpPr>
        <p:spPr>
          <a:xfrm>
            <a:off x="3456432"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02 · DIRECTION</a:t>
            </a:r>
            <a:endParaRPr sz="1350" b="1">
              <a:solidFill>
                <a:srgbClr val="BE7F4E"/>
              </a:solidFill>
              <a:latin typeface="Times New Roman" panose="02020603050405020304"/>
            </a:endParaRPr>
          </a:p>
        </p:txBody>
      </p:sp>
      <p:sp>
        <p:nvSpPr>
          <p:cNvPr id="22" name="anim_63"/>
          <p:cNvSpPr txBox="1"/>
          <p:nvPr/>
        </p:nvSpPr>
        <p:spPr>
          <a:xfrm>
            <a:off x="3456432"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Which way is the trajectory moving?</a:t>
            </a:r>
            <a:endParaRPr sz="1500" b="1">
              <a:solidFill>
                <a:srgbClr val="252B30"/>
              </a:solidFill>
              <a:latin typeface="Times New Roman" panose="02020603050405020304"/>
            </a:endParaRPr>
          </a:p>
        </p:txBody>
      </p:sp>
      <p:sp>
        <p:nvSpPr>
          <p:cNvPr id="23" name="anim_64"/>
          <p:cNvSpPr txBox="1"/>
          <p:nvPr/>
        </p:nvSpPr>
        <p:spPr>
          <a:xfrm>
            <a:off x="3456432"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Long-term log slope 1992-2021</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Recent log slope 2012-2021</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Acceleration (recent - long-term)</a:t>
            </a:r>
            <a:endParaRPr sz="1450" b="0">
              <a:solidFill>
                <a:srgbClr val="252B30"/>
              </a:solidFill>
              <a:latin typeface="Times New Roman" panose="02020603050405020304"/>
            </a:endParaRPr>
          </a:p>
        </p:txBody>
      </p:sp>
      <p:sp>
        <p:nvSpPr>
          <p:cNvPr id="24" name="anim_65"/>
          <p:cNvSpPr txBox="1"/>
          <p:nvPr/>
        </p:nvSpPr>
        <p:spPr>
          <a:xfrm>
            <a:off x="3456432"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Separates long-run direction from recent slowdown or renewed growth.</a:t>
            </a:r>
            <a:endParaRPr sz="1350" b="0">
              <a:solidFill>
                <a:srgbClr val="6E7672"/>
              </a:solidFill>
              <a:latin typeface="Times New Roman" panose="02020603050405020304"/>
            </a:endParaRPr>
          </a:p>
        </p:txBody>
      </p:sp>
      <p:sp>
        <p:nvSpPr>
          <p:cNvPr id="25" name="anim_66"/>
          <p:cNvSpPr/>
          <p:nvPr/>
        </p:nvSpPr>
        <p:spPr>
          <a:xfrm>
            <a:off x="6163056" y="1143000"/>
            <a:ext cx="2651760" cy="402336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6" name="anim_67"/>
          <p:cNvSpPr/>
          <p:nvPr/>
        </p:nvSpPr>
        <p:spPr>
          <a:xfrm>
            <a:off x="6163056" y="1143000"/>
            <a:ext cx="265176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68"/>
          <p:cNvSpPr txBox="1"/>
          <p:nvPr/>
        </p:nvSpPr>
        <p:spPr>
          <a:xfrm>
            <a:off x="6309360"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03 · TIMING</a:t>
            </a:r>
            <a:endParaRPr sz="1350" b="1">
              <a:solidFill>
                <a:srgbClr val="4F6E96"/>
              </a:solidFill>
              <a:latin typeface="Times New Roman" panose="02020603050405020304"/>
            </a:endParaRPr>
          </a:p>
        </p:txBody>
      </p:sp>
      <p:sp>
        <p:nvSpPr>
          <p:cNvPr id="28" name="anim_69"/>
          <p:cNvSpPr txBox="1"/>
          <p:nvPr/>
        </p:nvSpPr>
        <p:spPr>
          <a:xfrm>
            <a:off x="6309360"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When does change happen?</a:t>
            </a:r>
            <a:endParaRPr sz="1500" b="1">
              <a:solidFill>
                <a:srgbClr val="252B30"/>
              </a:solidFill>
              <a:latin typeface="Times New Roman" panose="02020603050405020304"/>
            </a:endParaRPr>
          </a:p>
        </p:txBody>
      </p:sp>
      <p:sp>
        <p:nvSpPr>
          <p:cNvPr id="29" name="anim_70"/>
          <p:cNvSpPr txBox="1"/>
          <p:nvPr/>
        </p:nvSpPr>
        <p:spPr>
          <a:xfrm>
            <a:off x="6309360"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Growth volatility (MAD)</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Peak timing (relative)</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Post-peak change</a:t>
            </a:r>
            <a:endParaRPr sz="1450" b="0">
              <a:solidFill>
                <a:srgbClr val="252B30"/>
              </a:solidFill>
              <a:latin typeface="Times New Roman" panose="02020603050405020304"/>
            </a:endParaRPr>
          </a:p>
        </p:txBody>
      </p:sp>
      <p:sp>
        <p:nvSpPr>
          <p:cNvPr id="30" name="anim_71"/>
          <p:cNvSpPr txBox="1"/>
          <p:nvPr/>
        </p:nvSpPr>
        <p:spPr>
          <a:xfrm>
            <a:off x="6309360"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Distinguishes smooth plateauing from unstable or still-rising paths.</a:t>
            </a:r>
            <a:endParaRPr sz="1350" b="0">
              <a:solidFill>
                <a:srgbClr val="6E7672"/>
              </a:solidFill>
              <a:latin typeface="Times New Roman" panose="02020603050405020304"/>
            </a:endParaRPr>
          </a:p>
        </p:txBody>
      </p:sp>
      <p:sp>
        <p:nvSpPr>
          <p:cNvPr id="31" name="anim_72"/>
          <p:cNvSpPr/>
          <p:nvPr/>
        </p:nvSpPr>
        <p:spPr>
          <a:xfrm>
            <a:off x="9015984" y="1143000"/>
            <a:ext cx="2651760" cy="402336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anim_73"/>
          <p:cNvSpPr/>
          <p:nvPr/>
        </p:nvSpPr>
        <p:spPr>
          <a:xfrm>
            <a:off x="9015984" y="1143000"/>
            <a:ext cx="265176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3" name="anim_74"/>
          <p:cNvSpPr txBox="1"/>
          <p:nvPr/>
        </p:nvSpPr>
        <p:spPr>
          <a:xfrm>
            <a:off x="9162288"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04 · FUEL SHIFT</a:t>
            </a:r>
            <a:endParaRPr sz="1350" b="1">
              <a:solidFill>
                <a:srgbClr val="BE7F4E"/>
              </a:solidFill>
              <a:latin typeface="Times New Roman" panose="02020603050405020304"/>
            </a:endParaRPr>
          </a:p>
        </p:txBody>
      </p:sp>
      <p:sp>
        <p:nvSpPr>
          <p:cNvPr id="34" name="anim_75"/>
          <p:cNvSpPr txBox="1"/>
          <p:nvPr/>
        </p:nvSpPr>
        <p:spPr>
          <a:xfrm>
            <a:off x="9162288"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Is the fuel mix decarbonising?</a:t>
            </a:r>
            <a:endParaRPr sz="1500" b="1">
              <a:solidFill>
                <a:srgbClr val="252B30"/>
              </a:solidFill>
              <a:latin typeface="Times New Roman" panose="02020603050405020304"/>
            </a:endParaRPr>
          </a:p>
        </p:txBody>
      </p:sp>
      <p:sp>
        <p:nvSpPr>
          <p:cNvPr id="35" name="anim_76"/>
          <p:cNvSpPr txBox="1"/>
          <p:nvPr/>
        </p:nvSpPr>
        <p:spPr>
          <a:xfrm>
            <a:off x="9162288"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Recent coal &amp; gas shares</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Coal &amp; gas share change</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(early vs recent 5-yr medians)</a:t>
            </a:r>
            <a:endParaRPr sz="1450" b="0">
              <a:solidFill>
                <a:srgbClr val="252B30"/>
              </a:solidFill>
              <a:latin typeface="Times New Roman" panose="02020603050405020304"/>
            </a:endParaRPr>
          </a:p>
        </p:txBody>
      </p:sp>
      <p:sp>
        <p:nvSpPr>
          <p:cNvPr id="36" name="anim_77"/>
          <p:cNvSpPr txBox="1"/>
          <p:nvPr/>
        </p:nvSpPr>
        <p:spPr>
          <a:xfrm>
            <a:off x="9162288"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Oil share is kept for interpretation but omitted from the model to avoid perfect dependence.</a:t>
            </a:r>
            <a:endParaRPr sz="1350" b="0">
              <a:solidFill>
                <a:srgbClr val="6E7672"/>
              </a:solidFill>
              <a:latin typeface="Times New Roman" panose="02020603050405020304"/>
            </a:endParaRPr>
          </a:p>
        </p:txBody>
      </p:sp>
      <p:sp>
        <p:nvSpPr>
          <p:cNvPr id="37" name="anim_78"/>
          <p:cNvSpPr/>
          <p:nvPr/>
        </p:nvSpPr>
        <p:spPr>
          <a:xfrm>
            <a:off x="457200" y="5349240"/>
            <a:ext cx="10927080" cy="749808"/>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8" name="anim_79"/>
          <p:cNvSpPr txBox="1"/>
          <p:nvPr/>
        </p:nvSpPr>
        <p:spPr>
          <a:xfrm>
            <a:off x="658368" y="5449824"/>
            <a:ext cx="10515600" cy="5943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Built only from per-capita CO2, growth rates and fuel shares - </a:t>
            </a:r>
            <a:r>
              <a:rPr sz="1450" b="0">
                <a:solidFill>
                  <a:srgbClr val="2F5248"/>
                </a:solidFill>
                <a:latin typeface="Times New Roman" panose="02020603050405020304"/>
              </a:rPr>
              <a:t>total CO2 and population never enter the model; they return later, only to interpret the pathways.</a:t>
            </a:r>
            <a:endParaRPr sz="1450" b="0">
              <a:solidFill>
                <a:srgbClr val="2F5248"/>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par>
                          <p:cTn id="23" fill="hold">
                            <p:stCondLst>
                              <p:cond delay="900"/>
                            </p:stCondLst>
                            <p:childTnLst>
                              <p:par>
                                <p:cTn id="24" presetID="10" presetClass="entr" presetSubtype="0" fill="hold" grpId="0" nodeType="afterEffect">
                                  <p:stCondLst>
                                    <p:cond delay="40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50"/>
                                        <p:tgtEl>
                                          <p:spTgt spid="19"/>
                                        </p:tgtEl>
                                      </p:cBhvr>
                                    </p:animEffect>
                                  </p:childTnLst>
                                </p:cTn>
                              </p:par>
                              <p:par>
                                <p:cTn id="27" presetID="10" presetClass="entr" presetSubtype="0" fill="hold" grpId="0" nodeType="withEffect">
                                  <p:stCondLst>
                                    <p:cond delay="53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50"/>
                                        <p:tgtEl>
                                          <p:spTgt spid="20"/>
                                        </p:tgtEl>
                                      </p:cBhvr>
                                    </p:animEffect>
                                  </p:childTnLst>
                                </p:cTn>
                              </p:par>
                              <p:par>
                                <p:cTn id="30" presetID="10" presetClass="entr" presetSubtype="0" fill="hold" grpId="0" nodeType="withEffect">
                                  <p:stCondLst>
                                    <p:cond delay="66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79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50"/>
                                        <p:tgtEl>
                                          <p:spTgt spid="22"/>
                                        </p:tgtEl>
                                      </p:cBhvr>
                                    </p:animEffect>
                                  </p:childTnLst>
                                </p:cTn>
                              </p:par>
                              <p:par>
                                <p:cTn id="36" presetID="10" presetClass="entr" presetSubtype="0" fill="hold" grpId="0" nodeType="withEffect">
                                  <p:stCondLst>
                                    <p:cond delay="92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par>
                                <p:cTn id="39" presetID="10" presetClass="entr" presetSubtype="0" fill="hold" grpId="0" nodeType="withEffect">
                                  <p:stCondLst>
                                    <p:cond delay="105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childTnLst>
                          </p:cTn>
                        </p:par>
                        <p:par>
                          <p:cTn id="42" fill="hold">
                            <p:stCondLst>
                              <p:cond delay="1800"/>
                            </p:stCondLst>
                            <p:childTnLst>
                              <p:par>
                                <p:cTn id="43" presetID="10" presetClass="entr" presetSubtype="0" fill="hold" grpId="0" nodeType="afterEffect">
                                  <p:stCondLst>
                                    <p:cond delay="40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50"/>
                                        <p:tgtEl>
                                          <p:spTgt spid="25"/>
                                        </p:tgtEl>
                                      </p:cBhvr>
                                    </p:animEffect>
                                  </p:childTnLst>
                                </p:cTn>
                              </p:par>
                              <p:par>
                                <p:cTn id="46" presetID="10" presetClass="entr" presetSubtype="0" fill="hold" grpId="0" nodeType="withEffect">
                                  <p:stCondLst>
                                    <p:cond delay="53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50"/>
                                        <p:tgtEl>
                                          <p:spTgt spid="26"/>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79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grpId="0" nodeType="withEffect">
                                  <p:stCondLst>
                                    <p:cond delay="92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par>
                                <p:cTn id="58" presetID="10" presetClass="entr" presetSubtype="0" fill="hold" grpId="0" nodeType="withEffect">
                                  <p:stCondLst>
                                    <p:cond delay="105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childTnLst>
                          </p:cTn>
                        </p:par>
                        <p:par>
                          <p:cTn id="61" fill="hold">
                            <p:stCondLst>
                              <p:cond delay="2700"/>
                            </p:stCondLst>
                            <p:childTnLst>
                              <p:par>
                                <p:cTn id="62" presetID="10" presetClass="entr" presetSubtype="0" fill="hold" grpId="0" nodeType="afterEffect">
                                  <p:stCondLst>
                                    <p:cond delay="40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50"/>
                                        <p:tgtEl>
                                          <p:spTgt spid="31"/>
                                        </p:tgtEl>
                                      </p:cBhvr>
                                    </p:animEffect>
                                  </p:childTnLst>
                                </p:cTn>
                              </p:par>
                              <p:par>
                                <p:cTn id="65" presetID="10" presetClass="entr" presetSubtype="0" fill="hold" grpId="0" nodeType="withEffect">
                                  <p:stCondLst>
                                    <p:cond delay="53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450"/>
                                        <p:tgtEl>
                                          <p:spTgt spid="32"/>
                                        </p:tgtEl>
                                      </p:cBhvr>
                                    </p:animEffect>
                                  </p:childTnLst>
                                </p:cTn>
                              </p:par>
                              <p:par>
                                <p:cTn id="68" presetID="10" presetClass="entr" presetSubtype="0" fill="hold" grpId="0" nodeType="withEffect">
                                  <p:stCondLst>
                                    <p:cond delay="66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450"/>
                                        <p:tgtEl>
                                          <p:spTgt spid="33"/>
                                        </p:tgtEl>
                                      </p:cBhvr>
                                    </p:animEffect>
                                  </p:childTnLst>
                                </p:cTn>
                              </p:par>
                              <p:par>
                                <p:cTn id="71" presetID="10" presetClass="entr" presetSubtype="0" fill="hold" grpId="0" nodeType="withEffect">
                                  <p:stCondLst>
                                    <p:cond delay="79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450"/>
                                        <p:tgtEl>
                                          <p:spTgt spid="34"/>
                                        </p:tgtEl>
                                      </p:cBhvr>
                                    </p:animEffect>
                                  </p:childTnLst>
                                </p:cTn>
                              </p:par>
                              <p:par>
                                <p:cTn id="74" presetID="10" presetClass="entr" presetSubtype="0" fill="hold" grpId="0" nodeType="withEffect">
                                  <p:stCondLst>
                                    <p:cond delay="9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450"/>
                                        <p:tgtEl>
                                          <p:spTgt spid="35"/>
                                        </p:tgtEl>
                                      </p:cBhvr>
                                    </p:animEffect>
                                  </p:childTnLst>
                                </p:cTn>
                              </p:par>
                              <p:par>
                                <p:cTn id="77" presetID="10" presetClass="entr" presetSubtype="0" fill="hold" grpId="0" nodeType="withEffect">
                                  <p:stCondLst>
                                    <p:cond delay="105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450"/>
                                        <p:tgtEl>
                                          <p:spTgt spid="36"/>
                                        </p:tgtEl>
                                      </p:cBhvr>
                                    </p:animEffect>
                                  </p:childTnLst>
                                </p:cTn>
                              </p:par>
                            </p:childTnLst>
                          </p:cTn>
                        </p:par>
                        <p:par>
                          <p:cTn id="80" fill="hold">
                            <p:stCondLst>
                              <p:cond delay="3600"/>
                            </p:stCondLst>
                            <p:childTnLst>
                              <p:par>
                                <p:cTn id="81" presetID="10" presetClass="entr" presetSubtype="0" fill="hold" grpId="0" nodeType="afterEffect">
                                  <p:stCondLst>
                                    <p:cond delay="40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450"/>
                                        <p:tgtEl>
                                          <p:spTgt spid="37"/>
                                        </p:tgtEl>
                                      </p:cBhvr>
                                    </p:animEffect>
                                  </p:childTnLst>
                                </p:cTn>
                              </p:par>
                              <p:par>
                                <p:cTn id="84" presetID="10" presetClass="entr" presetSubtype="0" fill="hold" grpId="0" nodeType="withEffect">
                                  <p:stCondLst>
                                    <p:cond delay="53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Scaling, PCA, K-means and how they are validated</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A fixed pipeline turns 30-year histories into two pathways</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13</a:t>
            </a:r>
            <a:endParaRPr sz="1400" b="0">
              <a:solidFill>
                <a:srgbClr val="6E7672"/>
              </a:solidFill>
              <a:latin typeface="Times New Roman" panose="02020603050405020304"/>
            </a:endParaRPr>
          </a:p>
        </p:txBody>
      </p:sp>
      <p:sp>
        <p:nvSpPr>
          <p:cNvPr id="14" name="anim_80"/>
          <p:cNvSpPr/>
          <p:nvPr/>
        </p:nvSpPr>
        <p:spPr>
          <a:xfrm>
            <a:off x="457200" y="1371600"/>
            <a:ext cx="1938528" cy="13716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5" name="anim_81"/>
          <p:cNvSpPr txBox="1"/>
          <p:nvPr/>
        </p:nvSpPr>
        <p:spPr>
          <a:xfrm>
            <a:off x="530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COUNTRY-YEAR PANEL</a:t>
            </a:r>
            <a:endParaRPr sz="1350" b="1">
              <a:solidFill>
                <a:srgbClr val="252B30"/>
              </a:solidFill>
              <a:latin typeface="Times New Roman" panose="02020603050405020304"/>
            </a:endParaRPr>
          </a:p>
        </p:txBody>
      </p:sp>
      <p:sp>
        <p:nvSpPr>
          <p:cNvPr id="16" name="anim_82"/>
          <p:cNvSpPr txBox="1"/>
          <p:nvPr/>
        </p:nvSpPr>
        <p:spPr>
          <a:xfrm>
            <a:off x="530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6,378 rows · 1992-2021</a:t>
            </a:r>
            <a:endParaRPr sz="1300" b="0">
              <a:solidFill>
                <a:srgbClr val="6E7672"/>
              </a:solidFill>
              <a:latin typeface="Times New Roman" panose="02020603050405020304"/>
            </a:endParaRPr>
          </a:p>
        </p:txBody>
      </p:sp>
      <p:sp>
        <p:nvSpPr>
          <p:cNvPr id="17" name="anim_83"/>
          <p:cNvSpPr/>
          <p:nvPr/>
        </p:nvSpPr>
        <p:spPr>
          <a:xfrm>
            <a:off x="2432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8" name="anim_84"/>
          <p:cNvSpPr/>
          <p:nvPr/>
        </p:nvSpPr>
        <p:spPr>
          <a:xfrm>
            <a:off x="2743200" y="1371600"/>
            <a:ext cx="1938528" cy="13716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85"/>
          <p:cNvSpPr txBox="1"/>
          <p:nvPr/>
        </p:nvSpPr>
        <p:spPr>
          <a:xfrm>
            <a:off x="2816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193 COUNTRY PROFILES</a:t>
            </a:r>
            <a:endParaRPr sz="1350" b="1">
              <a:solidFill>
                <a:srgbClr val="252B30"/>
              </a:solidFill>
              <a:latin typeface="Times New Roman" panose="02020603050405020304"/>
            </a:endParaRPr>
          </a:p>
        </p:txBody>
      </p:sp>
      <p:sp>
        <p:nvSpPr>
          <p:cNvPr id="20" name="anim_86"/>
          <p:cNvSpPr txBox="1"/>
          <p:nvPr/>
        </p:nvSpPr>
        <p:spPr>
          <a:xfrm>
            <a:off x="2816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one row per country, 11 features</a:t>
            </a:r>
            <a:endParaRPr sz="1300" b="0">
              <a:solidFill>
                <a:srgbClr val="6E7672"/>
              </a:solidFill>
              <a:latin typeface="Times New Roman" panose="02020603050405020304"/>
            </a:endParaRPr>
          </a:p>
        </p:txBody>
      </p:sp>
      <p:sp>
        <p:nvSpPr>
          <p:cNvPr id="21" name="anim_87"/>
          <p:cNvSpPr/>
          <p:nvPr/>
        </p:nvSpPr>
        <p:spPr>
          <a:xfrm>
            <a:off x="4718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2" name="anim_88"/>
          <p:cNvSpPr/>
          <p:nvPr/>
        </p:nvSpPr>
        <p:spPr>
          <a:xfrm>
            <a:off x="5029200" y="1371600"/>
            <a:ext cx="1938528" cy="13716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89"/>
          <p:cNvSpPr txBox="1"/>
          <p:nvPr/>
        </p:nvSpPr>
        <p:spPr>
          <a:xfrm>
            <a:off x="5102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ROBUSTSCALER</a:t>
            </a:r>
            <a:endParaRPr sz="1350" b="1">
              <a:solidFill>
                <a:srgbClr val="252B30"/>
              </a:solidFill>
              <a:latin typeface="Times New Roman" panose="02020603050405020304"/>
            </a:endParaRPr>
          </a:p>
        </p:txBody>
      </p:sp>
      <p:sp>
        <p:nvSpPr>
          <p:cNvPr id="24" name="anim_90"/>
          <p:cNvSpPr txBox="1"/>
          <p:nvPr/>
        </p:nvSpPr>
        <p:spPr>
          <a:xfrm>
            <a:off x="5102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median / IQR scaling, so outliers cannot dominate distances</a:t>
            </a:r>
            <a:endParaRPr sz="1300" b="0">
              <a:solidFill>
                <a:srgbClr val="6E7672"/>
              </a:solidFill>
              <a:latin typeface="Times New Roman" panose="02020603050405020304"/>
            </a:endParaRPr>
          </a:p>
        </p:txBody>
      </p:sp>
      <p:sp>
        <p:nvSpPr>
          <p:cNvPr id="25" name="anim_91"/>
          <p:cNvSpPr/>
          <p:nvPr/>
        </p:nvSpPr>
        <p:spPr>
          <a:xfrm>
            <a:off x="7004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6" name="anim_92"/>
          <p:cNvSpPr/>
          <p:nvPr/>
        </p:nvSpPr>
        <p:spPr>
          <a:xfrm>
            <a:off x="7315200" y="1371600"/>
            <a:ext cx="1938528" cy="13716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93"/>
          <p:cNvSpPr txBox="1"/>
          <p:nvPr/>
        </p:nvSpPr>
        <p:spPr>
          <a:xfrm>
            <a:off x="7388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PCA → 4 COMPONENTS</a:t>
            </a:r>
            <a:endParaRPr sz="1350" b="1">
              <a:solidFill>
                <a:srgbClr val="252B30"/>
              </a:solidFill>
              <a:latin typeface="Times New Roman" panose="02020603050405020304"/>
            </a:endParaRPr>
          </a:p>
        </p:txBody>
      </p:sp>
      <p:sp>
        <p:nvSpPr>
          <p:cNvPr id="28" name="anim_94"/>
          <p:cNvSpPr txBox="1"/>
          <p:nvPr/>
        </p:nvSpPr>
        <p:spPr>
          <a:xfrm>
            <a:off x="7388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87.41% of variance kept, correlated features merged</a:t>
            </a:r>
            <a:endParaRPr sz="1300" b="0">
              <a:solidFill>
                <a:srgbClr val="6E7672"/>
              </a:solidFill>
              <a:latin typeface="Times New Roman" panose="02020603050405020304"/>
            </a:endParaRPr>
          </a:p>
        </p:txBody>
      </p:sp>
      <p:sp>
        <p:nvSpPr>
          <p:cNvPr id="29" name="anim_95"/>
          <p:cNvSpPr/>
          <p:nvPr/>
        </p:nvSpPr>
        <p:spPr>
          <a:xfrm>
            <a:off x="9290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0" name="anim_96"/>
          <p:cNvSpPr/>
          <p:nvPr/>
        </p:nvSpPr>
        <p:spPr>
          <a:xfrm>
            <a:off x="9601200" y="1371600"/>
            <a:ext cx="1938528" cy="13716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97"/>
          <p:cNvSpPr txBox="1"/>
          <p:nvPr/>
        </p:nvSpPr>
        <p:spPr>
          <a:xfrm>
            <a:off x="9674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K-MEANS · K = 2-8</a:t>
            </a:r>
            <a:endParaRPr sz="1350" b="1">
              <a:solidFill>
                <a:srgbClr val="252B30"/>
              </a:solidFill>
              <a:latin typeface="Times New Roman" panose="02020603050405020304"/>
            </a:endParaRPr>
          </a:p>
        </p:txBody>
      </p:sp>
      <p:sp>
        <p:nvSpPr>
          <p:cNvPr id="32" name="anim_98"/>
          <p:cNvSpPr txBox="1"/>
          <p:nvPr/>
        </p:nvSpPr>
        <p:spPr>
          <a:xfrm>
            <a:off x="9674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50 restarts, fixed seed 42: the grouping re-runs identically</a:t>
            </a:r>
            <a:endParaRPr sz="1300" b="0">
              <a:solidFill>
                <a:srgbClr val="6E7672"/>
              </a:solidFill>
              <a:latin typeface="Times New Roman" panose="02020603050405020304"/>
            </a:endParaRPr>
          </a:p>
        </p:txBody>
      </p:sp>
      <p:sp>
        <p:nvSpPr>
          <p:cNvPr id="33" name="TextBox 32"/>
          <p:cNvSpPr txBox="1"/>
          <p:nvPr/>
        </p:nvSpPr>
        <p:spPr>
          <a:xfrm>
            <a:off x="457200" y="2880360"/>
            <a:ext cx="1092708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VALIDATION RUNS ALONGSIDE - NOT INSIDE - THE CLUSTERING</a:t>
            </a:r>
            <a:endParaRPr sz="1350" b="1">
              <a:solidFill>
                <a:srgbClr val="2F5248"/>
              </a:solidFill>
              <a:latin typeface="Times New Roman" panose="02020603050405020304"/>
            </a:endParaRPr>
          </a:p>
        </p:txBody>
      </p:sp>
      <p:sp>
        <p:nvSpPr>
          <p:cNvPr id="34" name="anim_99"/>
          <p:cNvSpPr/>
          <p:nvPr/>
        </p:nvSpPr>
        <p:spPr>
          <a:xfrm>
            <a:off x="457200" y="3200400"/>
            <a:ext cx="3520440" cy="1097280"/>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100"/>
          <p:cNvSpPr txBox="1"/>
          <p:nvPr/>
        </p:nvSpPr>
        <p:spPr>
          <a:xfrm>
            <a:off x="621792" y="3310128"/>
            <a:ext cx="324612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GMM SOFT MEMBERSHIP</a:t>
            </a:r>
            <a:endParaRPr sz="1350" b="1">
              <a:solidFill>
                <a:srgbClr val="BE7F4E"/>
              </a:solidFill>
              <a:latin typeface="Times New Roman" panose="02020603050405020304"/>
            </a:endParaRPr>
          </a:p>
          <a:p>
            <a:pPr algn="l">
              <a:spcBef>
                <a:spcPts val="200"/>
              </a:spcBef>
              <a:defRPr>
                <a:latin typeface="Times New Roman" panose="02020603050405020304"/>
              </a:defRPr>
            </a:pPr>
            <a:r>
              <a:rPr sz="1300" b="0">
                <a:solidFill>
                  <a:srgbClr val="252B30"/>
                </a:solidFill>
                <a:latin typeface="Times New Roman" panose="02020603050405020304"/>
              </a:rPr>
              <a:t>probability of belonging to each cluster</a:t>
            </a:r>
            <a:endParaRPr sz="1300" b="0">
              <a:solidFill>
                <a:srgbClr val="252B30"/>
              </a:solidFill>
              <a:latin typeface="Times New Roman" panose="02020603050405020304"/>
            </a:endParaRPr>
          </a:p>
        </p:txBody>
      </p:sp>
      <p:sp>
        <p:nvSpPr>
          <p:cNvPr id="36" name="anim_101"/>
          <p:cNvSpPr/>
          <p:nvPr/>
        </p:nvSpPr>
        <p:spPr>
          <a:xfrm>
            <a:off x="4160520" y="3200400"/>
            <a:ext cx="3520440" cy="1097280"/>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7" name="anim_102"/>
          <p:cNvSpPr txBox="1"/>
          <p:nvPr/>
        </p:nvSpPr>
        <p:spPr>
          <a:xfrm>
            <a:off x="4325112" y="3310128"/>
            <a:ext cx="324612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100 x 80% SUBSAMPLING</a:t>
            </a:r>
            <a:endParaRPr sz="1350" b="1">
              <a:solidFill>
                <a:srgbClr val="BE7F4E"/>
              </a:solidFill>
              <a:latin typeface="Times New Roman" panose="02020603050405020304"/>
            </a:endParaRPr>
          </a:p>
          <a:p>
            <a:pPr algn="l">
              <a:spcBef>
                <a:spcPts val="200"/>
              </a:spcBef>
              <a:defRPr>
                <a:latin typeface="Times New Roman" panose="02020603050405020304"/>
              </a:defRPr>
            </a:pPr>
            <a:r>
              <a:rPr sz="1300" b="0">
                <a:solidFill>
                  <a:srgbClr val="252B30"/>
                </a:solidFill>
                <a:latin typeface="Times New Roman" panose="02020603050405020304"/>
              </a:rPr>
              <a:t>refit and compare labels (Adjusted Rand Index)</a:t>
            </a:r>
            <a:endParaRPr sz="1300" b="0">
              <a:solidFill>
                <a:srgbClr val="252B30"/>
              </a:solidFill>
              <a:latin typeface="Times New Roman" panose="02020603050405020304"/>
            </a:endParaRPr>
          </a:p>
        </p:txBody>
      </p:sp>
      <p:sp>
        <p:nvSpPr>
          <p:cNvPr id="38" name="anim_103"/>
          <p:cNvSpPr/>
          <p:nvPr/>
        </p:nvSpPr>
        <p:spPr>
          <a:xfrm>
            <a:off x="7863840" y="3200400"/>
            <a:ext cx="3520440" cy="10972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9" name="anim_104"/>
          <p:cNvSpPr txBox="1"/>
          <p:nvPr/>
        </p:nvSpPr>
        <p:spPr>
          <a:xfrm>
            <a:off x="8028431" y="3310128"/>
            <a:ext cx="324612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NEITHER CHANGES THE LABELS</a:t>
            </a:r>
            <a:endParaRPr sz="1350" b="1">
              <a:solidFill>
                <a:srgbClr val="2F5248"/>
              </a:solidFill>
              <a:latin typeface="Times New Roman" panose="02020603050405020304"/>
            </a:endParaRPr>
          </a:p>
          <a:p>
            <a:pPr algn="l">
              <a:spcBef>
                <a:spcPts val="200"/>
              </a:spcBef>
              <a:defRPr>
                <a:latin typeface="Times New Roman" panose="02020603050405020304"/>
              </a:defRPr>
            </a:pPr>
            <a:r>
              <a:rPr sz="1300" b="0">
                <a:solidFill>
                  <a:srgbClr val="252B30"/>
                </a:solidFill>
                <a:latin typeface="Times New Roman" panose="02020603050405020304"/>
              </a:rPr>
              <a:t>both instruments only test the grouping that K-means already produced</a:t>
            </a:r>
            <a:endParaRPr sz="1300" b="0">
              <a:solidFill>
                <a:srgbClr val="252B30"/>
              </a:solidFill>
              <a:latin typeface="Times New Roman" panose="02020603050405020304"/>
            </a:endParaRPr>
          </a:p>
        </p:txBody>
      </p:sp>
      <p:sp>
        <p:nvSpPr>
          <p:cNvPr id="40" name="TextBox 39"/>
          <p:cNvSpPr txBox="1"/>
          <p:nvPr/>
        </p:nvSpPr>
        <p:spPr>
          <a:xfrm>
            <a:off x="457200" y="4480560"/>
            <a:ext cx="5486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K-MEANS</a:t>
            </a:r>
            <a:endParaRPr sz="1350" b="1">
              <a:solidFill>
                <a:srgbClr val="2F5248"/>
              </a:solidFill>
              <a:latin typeface="Times New Roman" panose="02020603050405020304"/>
            </a:endParaRPr>
          </a:p>
        </p:txBody>
      </p:sp>
      <p:sp>
        <p:nvSpPr>
          <p:cNvPr id="41" name="anim_105"/>
          <p:cNvSpPr/>
          <p:nvPr/>
        </p:nvSpPr>
        <p:spPr>
          <a:xfrm>
            <a:off x="457200" y="4800600"/>
            <a:ext cx="10927080" cy="128016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2" name="anim_106"/>
          <p:cNvSpPr txBox="1"/>
          <p:nvPr/>
        </p:nvSpPr>
        <p:spPr>
          <a:xfrm>
            <a:off x="658368" y="4901184"/>
            <a:ext cx="10515600" cy="109728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Unsupervised by design: </a:t>
            </a:r>
            <a:r>
              <a:rPr sz="1450" b="0">
                <a:solidFill>
                  <a:srgbClr val="252B30"/>
                </a:solidFill>
                <a:latin typeface="Times New Roman" panose="02020603050405020304"/>
              </a:rPr>
              <a:t>no labels exist for 'transition pathway', so we cluster comparable profiles and validate the structure afterwards.</a:t>
            </a:r>
            <a:endParaRPr sz="1450" b="0">
              <a:solidFill>
                <a:srgbClr val="252B30"/>
              </a:solidFill>
              <a:latin typeface="Times New Roman" panose="02020603050405020304"/>
            </a:endParaRPr>
          </a:p>
          <a:p>
            <a:pPr algn="l">
              <a:spcBef>
                <a:spcPts val="500"/>
              </a:spcBef>
              <a:defRPr>
                <a:latin typeface="Times New Roman" panose="02020603050405020304"/>
              </a:defRPr>
            </a:pPr>
            <a:r>
              <a:rPr sz="1450" b="1">
                <a:solidFill>
                  <a:srgbClr val="252B30"/>
                </a:solidFill>
                <a:latin typeface="Times New Roman" panose="02020603050405020304"/>
              </a:rPr>
              <a:t>Simple, explainable, reproducible: </a:t>
            </a:r>
            <a:r>
              <a:rPr sz="1450" b="0">
                <a:solidFill>
                  <a:srgbClr val="252B30"/>
                </a:solidFill>
                <a:latin typeface="Times New Roman" panose="02020603050405020304"/>
              </a:rPr>
              <a:t>a fixed seed and n_init = 50 make the exact grouping re-runnable; PCA removes redundancy among correlated trajectory features before distances are computed.</a:t>
            </a:r>
            <a:endParaRPr sz="1450" b="0">
              <a:solidFill>
                <a:srgbClr val="252B30"/>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[4]</a:t>
            </a:r>
            <a:endParaRPr sz="1300" b="0">
              <a:solidFill>
                <a:srgbClr val="6E7672"/>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50"/>
                                        <p:tgtEl>
                                          <p:spTgt spid="17"/>
                                        </p:tgtEl>
                                      </p:cBhvr>
                                    </p:animEffect>
                                  </p:childTnLst>
                                </p:cTn>
                              </p:par>
                            </p:childTnLst>
                          </p:cTn>
                        </p:par>
                        <p:par>
                          <p:cTn id="17" fill="hold">
                            <p:stCondLst>
                              <p:cond delay="900"/>
                            </p:stCondLst>
                            <p:childTnLst>
                              <p:par>
                                <p:cTn id="18" presetID="10" presetClass="entr" presetSubtype="0" fill="hold" grpId="0" nodeType="afterEffect">
                                  <p:stCondLst>
                                    <p:cond delay="4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5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66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79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childTnLst>
                          </p:cTn>
                        </p:par>
                        <p:par>
                          <p:cTn id="30" fill="hold">
                            <p:stCondLst>
                              <p:cond delay="1800"/>
                            </p:stCondLst>
                            <p:childTnLst>
                              <p:par>
                                <p:cTn id="31" presetID="10" presetClass="entr" presetSubtype="0" fill="hold" grpId="0" nodeType="afterEffect">
                                  <p:stCondLst>
                                    <p:cond delay="40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par>
                                <p:cTn id="34" presetID="10" presetClass="entr" presetSubtype="0" fill="hold" grpId="0" nodeType="withEffect">
                                  <p:stCondLst>
                                    <p:cond delay="53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450"/>
                                        <p:tgtEl>
                                          <p:spTgt spid="23"/>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450"/>
                                        <p:tgtEl>
                                          <p:spTgt spid="24"/>
                                        </p:tgtEl>
                                      </p:cBhvr>
                                    </p:animEffect>
                                  </p:childTnLst>
                                </p:cTn>
                              </p:par>
                              <p:par>
                                <p:cTn id="40" presetID="10" presetClass="entr" presetSubtype="0" fill="hold" grpId="0" nodeType="withEffect">
                                  <p:stCondLst>
                                    <p:cond delay="79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50"/>
                                        <p:tgtEl>
                                          <p:spTgt spid="25"/>
                                        </p:tgtEl>
                                      </p:cBhvr>
                                    </p:animEffect>
                                  </p:childTnLst>
                                </p:cTn>
                              </p:par>
                            </p:childTnLst>
                          </p:cTn>
                        </p:par>
                        <p:par>
                          <p:cTn id="43" fill="hold">
                            <p:stCondLst>
                              <p:cond delay="2700"/>
                            </p:stCondLst>
                            <p:childTnLst>
                              <p:par>
                                <p:cTn id="44" presetID="10" presetClass="entr" presetSubtype="0" fill="hold" grpId="0" nodeType="afterEffect">
                                  <p:stCondLst>
                                    <p:cond delay="40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50"/>
                                        <p:tgtEl>
                                          <p:spTgt spid="26"/>
                                        </p:tgtEl>
                                      </p:cBhvr>
                                    </p:animEffect>
                                  </p:childTnLst>
                                </p:cTn>
                              </p:par>
                              <p:par>
                                <p:cTn id="47" presetID="10" presetClass="entr" presetSubtype="0" fill="hold" grpId="0" nodeType="withEffect">
                                  <p:stCondLst>
                                    <p:cond delay="53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450"/>
                                        <p:tgtEl>
                                          <p:spTgt spid="27"/>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50"/>
                                        <p:tgtEl>
                                          <p:spTgt spid="28"/>
                                        </p:tgtEl>
                                      </p:cBhvr>
                                    </p:animEffect>
                                  </p:childTnLst>
                                </p:cTn>
                              </p:par>
                              <p:par>
                                <p:cTn id="53" presetID="10" presetClass="entr" presetSubtype="0" fill="hold" grpId="0" nodeType="withEffect">
                                  <p:stCondLst>
                                    <p:cond delay="79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50"/>
                                        <p:tgtEl>
                                          <p:spTgt spid="29"/>
                                        </p:tgtEl>
                                      </p:cBhvr>
                                    </p:animEffect>
                                  </p:childTnLst>
                                </p:cTn>
                              </p:par>
                            </p:childTnLst>
                          </p:cTn>
                        </p:par>
                        <p:par>
                          <p:cTn id="56" fill="hold">
                            <p:stCondLst>
                              <p:cond delay="3600"/>
                            </p:stCondLst>
                            <p:childTnLst>
                              <p:par>
                                <p:cTn id="57" presetID="10" presetClass="entr" presetSubtype="0" fill="hold" grpId="0" nodeType="afterEffect">
                                  <p:stCondLst>
                                    <p:cond delay="40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450"/>
                                        <p:tgtEl>
                                          <p:spTgt spid="30"/>
                                        </p:tgtEl>
                                      </p:cBhvr>
                                    </p:animEffect>
                                  </p:childTnLst>
                                </p:cTn>
                              </p:par>
                              <p:par>
                                <p:cTn id="60" presetID="10" presetClass="entr" presetSubtype="0" fill="hold" grpId="0" nodeType="withEffect">
                                  <p:stCondLst>
                                    <p:cond delay="53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450"/>
                                        <p:tgtEl>
                                          <p:spTgt spid="31"/>
                                        </p:tgtEl>
                                      </p:cBhvr>
                                    </p:animEffect>
                                  </p:childTnLst>
                                </p:cTn>
                              </p:par>
                              <p:par>
                                <p:cTn id="63" presetID="10" presetClass="entr" presetSubtype="0" fill="hold" grpId="0" nodeType="withEffect">
                                  <p:stCondLst>
                                    <p:cond delay="66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450"/>
                                        <p:tgtEl>
                                          <p:spTgt spid="32"/>
                                        </p:tgtEl>
                                      </p:cBhvr>
                                    </p:animEffect>
                                  </p:childTnLst>
                                </p:cTn>
                              </p:par>
                            </p:childTnLst>
                          </p:cTn>
                        </p:par>
                        <p:par>
                          <p:cTn id="66" fill="hold">
                            <p:stCondLst>
                              <p:cond delay="4500"/>
                            </p:stCondLst>
                            <p:childTnLst>
                              <p:par>
                                <p:cTn id="67" presetID="10" presetClass="entr" presetSubtype="0" fill="hold" grpId="0" nodeType="afterEffect">
                                  <p:stCondLst>
                                    <p:cond delay="40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50"/>
                                        <p:tgtEl>
                                          <p:spTgt spid="34"/>
                                        </p:tgtEl>
                                      </p:cBhvr>
                                    </p:animEffect>
                                  </p:childTnLst>
                                </p:cTn>
                              </p:par>
                              <p:par>
                                <p:cTn id="70" presetID="10" presetClass="entr" presetSubtype="0" fill="hold" grpId="0" nodeType="withEffect">
                                  <p:stCondLst>
                                    <p:cond delay="53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50"/>
                                        <p:tgtEl>
                                          <p:spTgt spid="35"/>
                                        </p:tgtEl>
                                      </p:cBhvr>
                                    </p:animEffect>
                                  </p:childTnLst>
                                </p:cTn>
                              </p:par>
                              <p:par>
                                <p:cTn id="73" presetID="10" presetClass="entr" presetSubtype="0" fill="hold" grpId="0" nodeType="withEffect">
                                  <p:stCondLst>
                                    <p:cond delay="66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50"/>
                                        <p:tgtEl>
                                          <p:spTgt spid="36"/>
                                        </p:tgtEl>
                                      </p:cBhvr>
                                    </p:animEffect>
                                  </p:childTnLst>
                                </p:cTn>
                              </p:par>
                              <p:par>
                                <p:cTn id="76" presetID="10" presetClass="entr" presetSubtype="0" fill="hold" grpId="0" nodeType="withEffect">
                                  <p:stCondLst>
                                    <p:cond delay="79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50"/>
                                        <p:tgtEl>
                                          <p:spTgt spid="37"/>
                                        </p:tgtEl>
                                      </p:cBhvr>
                                    </p:animEffect>
                                  </p:childTnLst>
                                </p:cTn>
                              </p:par>
                            </p:childTnLst>
                          </p:cTn>
                        </p:par>
                        <p:par>
                          <p:cTn id="79" fill="hold">
                            <p:stCondLst>
                              <p:cond delay="5400"/>
                            </p:stCondLst>
                            <p:childTnLst>
                              <p:par>
                                <p:cTn id="80" presetID="10" presetClass="entr" presetSubtype="0" fill="hold" grpId="0" nodeType="afterEffect">
                                  <p:stCondLst>
                                    <p:cond delay="40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50"/>
                                        <p:tgtEl>
                                          <p:spTgt spid="38"/>
                                        </p:tgtEl>
                                      </p:cBhvr>
                                    </p:animEffect>
                                  </p:childTnLst>
                                </p:cTn>
                              </p:par>
                              <p:par>
                                <p:cTn id="83" presetID="10" presetClass="entr" presetSubtype="0" fill="hold" grpId="0" nodeType="withEffect">
                                  <p:stCondLst>
                                    <p:cond delay="53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50"/>
                                        <p:tgtEl>
                                          <p:spTgt spid="39"/>
                                        </p:tgtEl>
                                      </p:cBhvr>
                                    </p:animEffect>
                                  </p:childTnLst>
                                </p:cTn>
                              </p:par>
                            </p:childTnLst>
                          </p:cTn>
                        </p:par>
                        <p:par>
                          <p:cTn id="86" fill="hold">
                            <p:stCondLst>
                              <p:cond delay="6300"/>
                            </p:stCondLst>
                            <p:childTnLst>
                              <p:par>
                                <p:cTn id="87" presetID="10" presetClass="entr" presetSubtype="0" fill="hold" grpId="0" nodeType="afterEffect">
                                  <p:stCondLst>
                                    <p:cond delay="40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50"/>
                                        <p:tgtEl>
                                          <p:spTgt spid="41"/>
                                        </p:tgtEl>
                                      </p:cBhvr>
                                    </p:animEffect>
                                  </p:childTnLst>
                                </p:cTn>
                              </p:par>
                              <p:par>
                                <p:cTn id="90" presetID="10" presetClass="entr" presetSubtype="0" fill="hold" grpId="0" nodeType="withEffect">
                                  <p:stCondLst>
                                    <p:cond delay="53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Choosing how many emission patterns to keep (K = 2-8)</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All three validity metrics rank K = 2 first</a:t>
            </a:r>
            <a:endParaRPr sz="25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4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[4] [5]</a:t>
            </a:r>
            <a:endParaRPr sz="1300" b="0">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14</a:t>
            </a:r>
            <a:endParaRPr sz="1400" b="0">
              <a:solidFill>
                <a:srgbClr val="6E7672"/>
              </a:solidFill>
              <a:latin typeface="Times New Roman" panose="02020603050405020304"/>
            </a:endParaRPr>
          </a:p>
        </p:txBody>
      </p:sp>
      <p:pic>
        <p:nvPicPr>
          <p:cNvPr id="14" name="anim_107" descr="fig_k_selection.png"/>
          <p:cNvPicPr>
            <a:picLocks noChangeAspect="1"/>
          </p:cNvPicPr>
          <p:nvPr/>
        </p:nvPicPr>
        <p:blipFill>
          <a:blip r:embed="rId2"/>
          <a:stretch>
            <a:fillRect/>
          </a:stretch>
        </p:blipFill>
        <p:spPr>
          <a:xfrm>
            <a:off x="292608" y="1075449"/>
            <a:ext cx="8686800" cy="2567404"/>
          </a:xfrm>
          <a:prstGeom prst="rect">
            <a:avLst/>
          </a:prstGeom>
        </p:spPr>
      </p:pic>
      <p:sp>
        <p:nvSpPr>
          <p:cNvPr id="15" name="anim_108"/>
          <p:cNvSpPr txBox="1"/>
          <p:nvPr/>
        </p:nvSpPr>
        <p:spPr>
          <a:xfrm>
            <a:off x="457200" y="3785615"/>
            <a:ext cx="850392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Inertia (within-cluster sum of squares) always falls as K grows - shown for reference only, never used alone to pick K.</a:t>
            </a:r>
            <a:endParaRPr sz="1350" b="0">
              <a:solidFill>
                <a:srgbClr val="6E7672"/>
              </a:solidFill>
              <a:latin typeface="Times New Roman" panose="02020603050405020304"/>
            </a:endParaRPr>
          </a:p>
        </p:txBody>
      </p:sp>
      <p:sp>
        <p:nvSpPr>
          <p:cNvPr id="16" name="anim_109"/>
          <p:cNvSpPr/>
          <p:nvPr/>
        </p:nvSpPr>
        <p:spPr>
          <a:xfrm>
            <a:off x="457200" y="4187952"/>
            <a:ext cx="8503920" cy="181051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10"/>
          <p:cNvSpPr txBox="1"/>
          <p:nvPr/>
        </p:nvSpPr>
        <p:spPr>
          <a:xfrm>
            <a:off x="658368" y="4297680"/>
            <a:ext cx="8138160" cy="1645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How the decision was made</a:t>
            </a:r>
            <a:endParaRPr sz="1400" b="1">
              <a:solidFill>
                <a:srgbClr val="2F5248"/>
              </a:solidFill>
              <a:latin typeface="Times New Roman" panose="02020603050405020304"/>
            </a:endParaRPr>
          </a:p>
          <a:p>
            <a:pPr algn="l">
              <a:spcBef>
                <a:spcPts val="600"/>
              </a:spcBef>
              <a:defRPr>
                <a:latin typeface="Times New Roman" panose="02020603050405020304"/>
              </a:defRPr>
            </a:pPr>
            <a:r>
              <a:rPr sz="1400" b="0">
                <a:solidFill>
                  <a:srgbClr val="252B30"/>
                </a:solidFill>
                <a:latin typeface="Times New Roman" panose="02020603050405020304"/>
              </a:rPr>
              <a:t>· Three internal criteria were computed on the same PCA space for every candidate K from 2 to 8, so the comparison is like-for-like.</a:t>
            </a:r>
            <a:endParaRPr sz="1400" b="0">
              <a:solidFill>
                <a:srgbClr val="252B30"/>
              </a:solidFill>
              <a:latin typeface="Times New Roman" panose="02020603050405020304"/>
            </a:endParaRPr>
          </a:p>
          <a:p>
            <a:pPr algn="l">
              <a:spcBef>
                <a:spcPts val="400"/>
              </a:spcBef>
              <a:defRPr>
                <a:latin typeface="Times New Roman" panose="02020603050405020304"/>
              </a:defRPr>
            </a:pPr>
            <a:r>
              <a:rPr sz="1400" b="0">
                <a:solidFill>
                  <a:srgbClr val="252B30"/>
                </a:solidFill>
                <a:latin typeface="Times New Roman" panose="02020603050405020304"/>
              </a:rPr>
              <a:t>· All three agree on K = 2; no criterion prefers a finer split, and K = 3-8 lose separation without adding interpretable structure.</a:t>
            </a:r>
            <a:endParaRPr sz="1400" b="0">
              <a:solidFill>
                <a:srgbClr val="252B30"/>
              </a:solidFill>
              <a:latin typeface="Times New Roman" panose="02020603050405020304"/>
            </a:endParaRPr>
          </a:p>
          <a:p>
            <a:pPr algn="l">
              <a:spcBef>
                <a:spcPts val="400"/>
              </a:spcBef>
              <a:defRPr>
                <a:latin typeface="Times New Roman" panose="02020603050405020304"/>
              </a:defRPr>
            </a:pPr>
            <a:r>
              <a:rPr sz="1400" b="0">
                <a:solidFill>
                  <a:srgbClr val="252B30"/>
                </a:solidFill>
                <a:latin typeface="Times New Roman" panose="02020603050405020304"/>
              </a:rPr>
              <a:t>· K = 2 is therefore a screening frame for monitoring attention, not a claim that only two kinds of country exist.</a:t>
            </a:r>
            <a:endParaRPr sz="1400" b="0">
              <a:solidFill>
                <a:srgbClr val="252B30"/>
              </a:solidFill>
              <a:latin typeface="Times New Roman" panose="02020603050405020304"/>
            </a:endParaRPr>
          </a:p>
        </p:txBody>
      </p:sp>
      <p:sp>
        <p:nvSpPr>
          <p:cNvPr id="18" name="anim_111"/>
          <p:cNvSpPr/>
          <p:nvPr/>
        </p:nvSpPr>
        <p:spPr>
          <a:xfrm>
            <a:off x="9098280" y="1188720"/>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112"/>
          <p:cNvSpPr txBox="1"/>
          <p:nvPr/>
        </p:nvSpPr>
        <p:spPr>
          <a:xfrm>
            <a:off x="9281160" y="1243584"/>
            <a:ext cx="260604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0.486</a:t>
            </a:r>
            <a:r>
              <a:rPr sz="1400" b="1">
                <a:solidFill>
                  <a:srgbClr val="252B30"/>
                </a:solidFill>
                <a:latin typeface="Times New Roman" panose="02020603050405020304"/>
              </a:rPr>
              <a:t>   Silhouette</a:t>
            </a:r>
            <a:endParaRPr sz="1400" b="1">
              <a:solidFill>
                <a:srgbClr val="252B30"/>
              </a:solidFill>
              <a:latin typeface="Times New Roman" panose="02020603050405020304"/>
            </a:endParaRPr>
          </a:p>
        </p:txBody>
      </p:sp>
      <p:sp>
        <p:nvSpPr>
          <p:cNvPr id="20" name="anim_113"/>
          <p:cNvSpPr txBox="1"/>
          <p:nvPr/>
        </p:nvSpPr>
        <p:spPr>
          <a:xfrm>
            <a:off x="9201150" y="1700784"/>
            <a:ext cx="2606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highest - compact, well separated</a:t>
            </a:r>
            <a:endParaRPr sz="1350" b="0">
              <a:solidFill>
                <a:srgbClr val="6E7672"/>
              </a:solidFill>
              <a:latin typeface="Times New Roman" panose="02020603050405020304"/>
            </a:endParaRPr>
          </a:p>
        </p:txBody>
      </p:sp>
      <p:sp>
        <p:nvSpPr>
          <p:cNvPr id="21" name="anim_114"/>
          <p:cNvSpPr/>
          <p:nvPr/>
        </p:nvSpPr>
        <p:spPr>
          <a:xfrm>
            <a:off x="9098280" y="2322576"/>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115"/>
          <p:cNvSpPr txBox="1"/>
          <p:nvPr/>
        </p:nvSpPr>
        <p:spPr>
          <a:xfrm>
            <a:off x="9281160" y="2377440"/>
            <a:ext cx="260604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0.865</a:t>
            </a:r>
            <a:r>
              <a:rPr sz="1400" b="1">
                <a:solidFill>
                  <a:srgbClr val="252B30"/>
                </a:solidFill>
                <a:latin typeface="Times New Roman" panose="02020603050405020304"/>
              </a:rPr>
              <a:t>   Davies-Bouldin</a:t>
            </a:r>
            <a:endParaRPr sz="1400" b="1">
              <a:solidFill>
                <a:srgbClr val="252B30"/>
              </a:solidFill>
              <a:latin typeface="Times New Roman" panose="02020603050405020304"/>
            </a:endParaRPr>
          </a:p>
        </p:txBody>
      </p:sp>
      <p:sp>
        <p:nvSpPr>
          <p:cNvPr id="23" name="anim_116"/>
          <p:cNvSpPr txBox="1"/>
          <p:nvPr/>
        </p:nvSpPr>
        <p:spPr>
          <a:xfrm>
            <a:off x="9201150" y="2834640"/>
            <a:ext cx="2606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lowest - least overlap</a:t>
            </a:r>
            <a:endParaRPr sz="1350" b="0">
              <a:solidFill>
                <a:srgbClr val="6E7672"/>
              </a:solidFill>
              <a:latin typeface="Times New Roman" panose="02020603050405020304"/>
            </a:endParaRPr>
          </a:p>
        </p:txBody>
      </p:sp>
      <p:sp>
        <p:nvSpPr>
          <p:cNvPr id="24" name="anim_117"/>
          <p:cNvSpPr/>
          <p:nvPr/>
        </p:nvSpPr>
        <p:spPr>
          <a:xfrm>
            <a:off x="9098280" y="3456432"/>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5" name="anim_118"/>
          <p:cNvSpPr txBox="1"/>
          <p:nvPr/>
        </p:nvSpPr>
        <p:spPr>
          <a:xfrm>
            <a:off x="9281160" y="3493516"/>
            <a:ext cx="260604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98.3</a:t>
            </a:r>
            <a:r>
              <a:rPr sz="1400" b="1">
                <a:solidFill>
                  <a:srgbClr val="252B30"/>
                </a:solidFill>
                <a:latin typeface="Times New Roman" panose="02020603050405020304"/>
              </a:rPr>
              <a:t>   Calinski-Harabasz</a:t>
            </a:r>
            <a:endParaRPr sz="1400" b="1">
              <a:solidFill>
                <a:srgbClr val="252B30"/>
              </a:solidFill>
              <a:latin typeface="Times New Roman" panose="02020603050405020304"/>
            </a:endParaRPr>
          </a:p>
        </p:txBody>
      </p:sp>
      <p:sp>
        <p:nvSpPr>
          <p:cNvPr id="26" name="anim_119"/>
          <p:cNvSpPr txBox="1"/>
          <p:nvPr/>
        </p:nvSpPr>
        <p:spPr>
          <a:xfrm>
            <a:off x="9201150" y="3968496"/>
            <a:ext cx="2606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highest - strongest split</a:t>
            </a:r>
            <a:endParaRPr sz="1350" b="0">
              <a:solidFill>
                <a:srgbClr val="6E7672"/>
              </a:solidFill>
              <a:latin typeface="Times New Roman" panose="02020603050405020304"/>
            </a:endParaRPr>
          </a:p>
        </p:txBody>
      </p:sp>
      <p:sp>
        <p:nvSpPr>
          <p:cNvPr id="27" name="anim_120"/>
          <p:cNvSpPr/>
          <p:nvPr/>
        </p:nvSpPr>
        <p:spPr>
          <a:xfrm>
            <a:off x="9098280" y="4645025"/>
            <a:ext cx="2606040" cy="135382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121"/>
          <p:cNvSpPr txBox="1"/>
          <p:nvPr/>
        </p:nvSpPr>
        <p:spPr>
          <a:xfrm>
            <a:off x="9244584" y="4773168"/>
            <a:ext cx="2331720" cy="1417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DECISION</a:t>
            </a:r>
            <a:endParaRPr sz="1350" b="1">
              <a:solidFill>
                <a:srgbClr val="BE7F4E"/>
              </a:solidFill>
              <a:latin typeface="Times New Roman" panose="02020603050405020304"/>
            </a:endParaRPr>
          </a:p>
          <a:p>
            <a:pPr algn="l">
              <a:spcBef>
                <a:spcPts val="500"/>
              </a:spcBef>
              <a:defRPr>
                <a:latin typeface="Times New Roman" panose="02020603050405020304"/>
              </a:defRPr>
            </a:pPr>
            <a:r>
              <a:rPr sz="1450" b="1">
                <a:solidFill>
                  <a:srgbClr val="252B30"/>
                </a:solidFill>
                <a:latin typeface="Times New Roman" panose="02020603050405020304"/>
              </a:rPr>
              <a:t>K = 2 - the strongest macro segmentation, not the most detailed taxonomy.</a:t>
            </a:r>
            <a:endParaRPr sz="1450" b="1">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270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par>
                          <p:cTn id="38" fill="hold">
                            <p:stCondLst>
                              <p:cond delay="3600"/>
                            </p:stCondLst>
                            <p:childTnLst>
                              <p:par>
                                <p:cTn id="39" presetID="10" presetClass="entr" presetSubtype="0" fill="hold" grpId="0" nodeType="afterEffect">
                                  <p:stCondLst>
                                    <p:cond delay="4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par>
                                <p:cTn id="42" presetID="10" presetClass="entr" presetSubtype="0" fill="hold" grpId="0" nodeType="withEffect">
                                  <p:stCondLst>
                                    <p:cond delay="53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50"/>
                                        <p:tgtEl>
                                          <p:spTgt spid="25"/>
                                        </p:tgtEl>
                                      </p:cBhvr>
                                    </p:animEffect>
                                  </p:childTnLst>
                                </p:cTn>
                              </p:par>
                              <p:par>
                                <p:cTn id="45" presetID="10" presetClass="entr" presetSubtype="0" fill="hold" grpId="0" nodeType="withEffect">
                                  <p:stCondLst>
                                    <p:cond delay="66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childTnLst>
                          </p:cTn>
                        </p:par>
                        <p:par>
                          <p:cTn id="48" fill="hold">
                            <p:stCondLst>
                              <p:cond delay="4500"/>
                            </p:stCondLst>
                            <p:childTnLst>
                              <p:par>
                                <p:cTn id="49" presetID="10" presetClass="entr" presetSubtype="0" fill="hold" grpId="0" nodeType="afterEffect">
                                  <p:stCondLst>
                                    <p:cond delay="40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53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MODEL EVALUATION AND PERFORMANCE · Does the two-pattern structure actually separate?</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Two pathways separate cleanly in reduced feature space</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3</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15</a:t>
            </a:r>
            <a:endParaRPr sz="1400" b="0">
              <a:solidFill>
                <a:srgbClr val="6E7672"/>
              </a:solidFill>
              <a:latin typeface="Times New Roman" panose="02020603050405020304"/>
            </a:endParaRPr>
          </a:p>
        </p:txBody>
      </p:sp>
      <p:pic>
        <p:nvPicPr>
          <p:cNvPr id="13" name="anim_122" descr="fig_pca_pathways.png"/>
          <p:cNvPicPr>
            <a:picLocks noChangeAspect="1"/>
          </p:cNvPicPr>
          <p:nvPr/>
        </p:nvPicPr>
        <p:blipFill>
          <a:blip r:embed="rId2"/>
          <a:stretch>
            <a:fillRect/>
          </a:stretch>
        </p:blipFill>
        <p:spPr>
          <a:xfrm>
            <a:off x="256032" y="983261"/>
            <a:ext cx="8046720" cy="5056069"/>
          </a:xfrm>
          <a:prstGeom prst="rect">
            <a:avLst/>
          </a:prstGeom>
        </p:spPr>
      </p:pic>
      <p:sp>
        <p:nvSpPr>
          <p:cNvPr id="14" name="TextBox 13"/>
          <p:cNvSpPr txBox="1"/>
          <p:nvPr/>
        </p:nvSpPr>
        <p:spPr>
          <a:xfrm>
            <a:off x="8412480" y="1115568"/>
            <a:ext cx="356616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HOW TO READ</a:t>
            </a:r>
            <a:endParaRPr sz="1350" b="1">
              <a:solidFill>
                <a:srgbClr val="2F5248"/>
              </a:solidFill>
              <a:latin typeface="Times New Roman" panose="02020603050405020304"/>
            </a:endParaRPr>
          </a:p>
        </p:txBody>
      </p:sp>
      <p:sp>
        <p:nvSpPr>
          <p:cNvPr id="15" name="anim_123"/>
          <p:cNvSpPr txBox="1"/>
          <p:nvPr/>
        </p:nvSpPr>
        <p:spPr>
          <a:xfrm>
            <a:off x="8412480" y="1426464"/>
            <a:ext cx="3017520" cy="2651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0">
                <a:solidFill>
                  <a:srgbClr val="252B30"/>
                </a:solidFill>
                <a:latin typeface="Times New Roman" panose="02020603050405020304"/>
              </a:rPr>
              <a:t>Each dot is one country's 11-feature profile, projected onto the first two principal components.</a:t>
            </a:r>
            <a:endParaRPr sz="1400" b="0">
              <a:solidFill>
                <a:srgbClr val="252B30"/>
              </a:solidFill>
              <a:latin typeface="Times New Roman" panose="02020603050405020304"/>
            </a:endParaRPr>
          </a:p>
          <a:p>
            <a:pPr algn="l">
              <a:spcBef>
                <a:spcPts val="800"/>
              </a:spcBef>
              <a:defRPr>
                <a:latin typeface="Times New Roman" panose="02020603050405020304"/>
              </a:defRPr>
            </a:pPr>
            <a:r>
              <a:rPr sz="1400" b="0">
                <a:solidFill>
                  <a:srgbClr val="252B30"/>
                </a:solidFill>
                <a:latin typeface="Times New Roman" panose="02020603050405020304"/>
              </a:rPr>
              <a:t>Colour shows the K-means label computed in the full 4-component space - not in this 2D view.</a:t>
            </a:r>
            <a:endParaRPr sz="1400" b="0">
              <a:solidFill>
                <a:srgbClr val="252B30"/>
              </a:solidFill>
              <a:latin typeface="Times New Roman" panose="02020603050405020304"/>
            </a:endParaRPr>
          </a:p>
          <a:p>
            <a:pPr algn="l">
              <a:spcBef>
                <a:spcPts val="800"/>
              </a:spcBef>
              <a:defRPr>
                <a:latin typeface="Times New Roman" panose="02020603050405020304"/>
              </a:defRPr>
            </a:pPr>
            <a:r>
              <a:rPr sz="1400" b="0">
                <a:solidFill>
                  <a:srgbClr val="252B30"/>
                </a:solidFill>
                <a:latin typeface="Times New Roman" panose="02020603050405020304"/>
              </a:rPr>
              <a:t>Dark rings mark the 10 low-confidence boundary countries.</a:t>
            </a:r>
            <a:endParaRPr sz="1400" b="0">
              <a:solidFill>
                <a:srgbClr val="252B30"/>
              </a:solidFill>
              <a:latin typeface="Times New Roman" panose="02020603050405020304"/>
            </a:endParaRPr>
          </a:p>
        </p:txBody>
      </p:sp>
      <p:sp>
        <p:nvSpPr>
          <p:cNvPr id="16" name="anim_124"/>
          <p:cNvSpPr/>
          <p:nvPr/>
        </p:nvSpPr>
        <p:spPr>
          <a:xfrm>
            <a:off x="8412480" y="4160520"/>
            <a:ext cx="3017520" cy="17830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25"/>
          <p:cNvSpPr txBox="1"/>
          <p:nvPr/>
        </p:nvSpPr>
        <p:spPr>
          <a:xfrm>
            <a:off x="8558784" y="4279392"/>
            <a:ext cx="2743200" cy="1600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F5248"/>
                </a:solidFill>
                <a:latin typeface="Times New Roman" panose="02020603050405020304"/>
              </a:rPr>
              <a:t>PC1 + PC2 show 70.8% of variance</a:t>
            </a:r>
            <a:endParaRPr sz="1500" b="1">
              <a:solidFill>
                <a:srgbClr val="2F5248"/>
              </a:solidFill>
              <a:latin typeface="Times New Roman" panose="02020603050405020304"/>
            </a:endParaRPr>
          </a:p>
          <a:p>
            <a:pPr algn="l">
              <a:spcBef>
                <a:spcPts val="500"/>
              </a:spcBef>
              <a:defRPr>
                <a:latin typeface="Times New Roman" panose="02020603050405020304"/>
              </a:defRPr>
            </a:pPr>
            <a:r>
              <a:rPr sz="1350" b="0">
                <a:solidFill>
                  <a:srgbClr val="252B30"/>
                </a:solidFill>
                <a:latin typeface="Times New Roman" panose="02020603050405020304"/>
              </a:rPr>
              <a:t>Clustering used all four retained components (87.41%). This 2D projection is a display device - the visible separation understates the true separation.</a:t>
            </a:r>
            <a:endParaRPr sz="13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par>
                          <p:cTn id="12" fill="hold">
                            <p:stCondLst>
                              <p:cond delay="1800"/>
                            </p:stCondLst>
                            <p:childTnLst>
                              <p:par>
                                <p:cTn id="13" presetID="10" presetClass="entr" presetSubtype="0" fill="hold" grpId="0" nodeType="afterEffect">
                                  <p:stCondLst>
                                    <p:cond delay="4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par>
                                <p:cTn id="16" presetID="10" presetClass="entr" presetSubtype="0" fill="hold" grpId="0" nodeType="withEffect">
                                  <p:stCondLst>
                                    <p:cond delay="53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MODEL EVALUATION AND PERFORMANCE · Internal validity metrics, since no ground-truth labels exist</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K = 2 wins on every internal validity metric</a:t>
            </a:r>
            <a:endParaRPr sz="25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3</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[5]</a:t>
            </a:r>
            <a:endParaRPr sz="1300" b="0">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16</a:t>
            </a:r>
            <a:endParaRPr sz="1400" b="0">
              <a:solidFill>
                <a:srgbClr val="6E7672"/>
              </a:solidFill>
              <a:latin typeface="Times New Roman" panose="02020603050405020304"/>
            </a:endParaRPr>
          </a:p>
        </p:txBody>
      </p:sp>
      <p:graphicFrame>
        <p:nvGraphicFramePr>
          <p:cNvPr id="14" name="Table 13"/>
          <p:cNvGraphicFramePr>
            <a:graphicFrameLocks noGrp="1"/>
          </p:cNvGraphicFramePr>
          <p:nvPr/>
        </p:nvGraphicFramePr>
        <p:xfrm>
          <a:off x="457200" y="1188720"/>
          <a:ext cx="6446520" cy="4114800"/>
        </p:xfrm>
        <a:graphic>
          <a:graphicData uri="http://schemas.openxmlformats.org/drawingml/2006/table">
            <a:tbl>
              <a:tblPr firstRow="1" bandRow="1">
                <a:tableStyleId>{5C22544A-7EE6-4342-B048-85BDC9FD1C3A}</a:tableStyleId>
              </a:tblPr>
              <a:tblGrid>
                <a:gridCol w="640080"/>
                <a:gridCol w="1451610"/>
                <a:gridCol w="1451610"/>
                <a:gridCol w="1451610"/>
                <a:gridCol w="1451610"/>
              </a:tblGrid>
              <a:tr h="514350">
                <a:tc>
                  <a:txBody>
                    <a:bodyPr/>
                    <a:lstStyle/>
                    <a:p>
                      <a:pPr algn="ctr">
                        <a:defRPr>
                          <a:latin typeface="Times New Roman" panose="02020603050405020304"/>
                        </a:defRPr>
                      </a:pPr>
                      <a:r>
                        <a:rPr sz="1300" b="1">
                          <a:solidFill>
                            <a:srgbClr val="FFFFFF"/>
                          </a:solidFill>
                          <a:latin typeface="Times New Roman" panose="02020603050405020304"/>
                        </a:rPr>
                        <a:t>K</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Inertia (lower)</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Silhouette (higher)</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Davies-Bouldin (lower)</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Calinski-Harabasz (higher)</a:t>
                      </a:r>
                      <a:endParaRPr sz="1300" b="1">
                        <a:solidFill>
                          <a:srgbClr val="FFFFFF"/>
                        </a:solidFill>
                        <a:latin typeface="Times New Roman" panose="02020603050405020304"/>
                      </a:endParaRPr>
                    </a:p>
                  </a:txBody>
                  <a:tcPr>
                    <a:solidFill>
                      <a:srgbClr val="252B30"/>
                    </a:solidFill>
                  </a:tcPr>
                </a:tc>
              </a:tr>
              <a:tr h="514350">
                <a:tc>
                  <a:txBody>
                    <a:bodyPr/>
                    <a:lstStyle/>
                    <a:p>
                      <a:pPr algn="ctr">
                        <a:defRPr>
                          <a:latin typeface="Times New Roman" panose="02020603050405020304"/>
                        </a:defRPr>
                      </a:pPr>
                      <a:r>
                        <a:rPr sz="1300" b="1">
                          <a:solidFill>
                            <a:srgbClr val="FFFFFF"/>
                          </a:solidFill>
                          <a:latin typeface="Times New Roman" panose="02020603050405020304"/>
                        </a:rPr>
                        <a:t>2</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1675.8</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0.486</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0.865</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98.3</a:t>
                      </a:r>
                      <a:endParaRPr sz="1300" b="1">
                        <a:solidFill>
                          <a:srgbClr val="FFFFFF"/>
                        </a:solidFill>
                        <a:latin typeface="Times New Roman" panose="02020603050405020304"/>
                      </a:endParaRPr>
                    </a:p>
                  </a:txBody>
                  <a:tcPr>
                    <a:solidFill>
                      <a:srgbClr val="2F5248"/>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3</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1296.4</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0.361</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0.969</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91.0</a:t>
                      </a:r>
                      <a:endParaRPr sz="1300" b="0">
                        <a:solidFill>
                          <a:srgbClr val="252B30"/>
                        </a:solidFill>
                        <a:latin typeface="Times New Roman" panose="02020603050405020304"/>
                      </a:endParaRPr>
                    </a:p>
                  </a:txBody>
                  <a:tcPr>
                    <a:solidFill>
                      <a:srgbClr val="FAFBFA"/>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1064.7</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0.271</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1.168</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87.2</a:t>
                      </a:r>
                      <a:endParaRPr sz="1300" b="0">
                        <a:solidFill>
                          <a:srgbClr val="252B30"/>
                        </a:solidFill>
                        <a:latin typeface="Times New Roman" panose="02020603050405020304"/>
                      </a:endParaRPr>
                    </a:p>
                  </a:txBody>
                  <a:tcPr>
                    <a:solidFill>
                      <a:srgbClr val="FFFFFF"/>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5</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915.9</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0.278</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1.086</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83.2</a:t>
                      </a:r>
                      <a:endParaRPr sz="1300" b="0">
                        <a:solidFill>
                          <a:srgbClr val="252B30"/>
                        </a:solidFill>
                        <a:latin typeface="Times New Roman" panose="02020603050405020304"/>
                      </a:endParaRPr>
                    </a:p>
                  </a:txBody>
                  <a:tcPr>
                    <a:solidFill>
                      <a:srgbClr val="FAFBFA"/>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6</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782.4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0.283</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1.004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83.9</a:t>
                      </a:r>
                      <a:endParaRPr sz="1300" b="0">
                        <a:solidFill>
                          <a:srgbClr val="252B30"/>
                        </a:solidFill>
                        <a:latin typeface="Times New Roman" panose="02020603050405020304"/>
                      </a:endParaRPr>
                    </a:p>
                  </a:txBody>
                  <a:tcPr>
                    <a:solidFill>
                      <a:srgbClr val="FFFFFF"/>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7</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700.6</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0.265</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1.071</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81.3</a:t>
                      </a:r>
                      <a:endParaRPr sz="1300" b="0">
                        <a:solidFill>
                          <a:srgbClr val="252B30"/>
                        </a:solidFill>
                        <a:latin typeface="Times New Roman" panose="02020603050405020304"/>
                      </a:endParaRPr>
                    </a:p>
                  </a:txBody>
                  <a:tcPr>
                    <a:solidFill>
                      <a:srgbClr val="FAFBFA"/>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8</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647.4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0.263</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1.045</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77.2</a:t>
                      </a:r>
                      <a:endParaRPr sz="1300" b="0">
                        <a:solidFill>
                          <a:srgbClr val="252B30"/>
                        </a:solidFill>
                        <a:latin typeface="Times New Roman" panose="02020603050405020304"/>
                      </a:endParaRPr>
                    </a:p>
                  </a:txBody>
                  <a:tcPr>
                    <a:solidFill>
                      <a:srgbClr val="FFFFFF"/>
                    </a:solidFill>
                  </a:tcPr>
                </a:tc>
              </a:tr>
            </a:tbl>
          </a:graphicData>
        </a:graphic>
      </p:graphicFrame>
      <p:sp>
        <p:nvSpPr>
          <p:cNvPr id="15" name="TextBox 14"/>
          <p:cNvSpPr txBox="1"/>
          <p:nvPr/>
        </p:nvSpPr>
        <p:spPr>
          <a:xfrm>
            <a:off x="457200" y="5394960"/>
            <a:ext cx="644652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Highlighted row: K = 2 wins Silhouette, Davies-Bouldin and Calinski-Harabasz simultaneously.</a:t>
            </a:r>
            <a:endParaRPr sz="1350" b="1">
              <a:solidFill>
                <a:srgbClr val="2F5248"/>
              </a:solidFill>
              <a:latin typeface="Times New Roman" panose="02020603050405020304"/>
            </a:endParaRPr>
          </a:p>
        </p:txBody>
      </p:sp>
      <p:sp>
        <p:nvSpPr>
          <p:cNvPr id="16" name="anim_126"/>
          <p:cNvSpPr/>
          <p:nvPr/>
        </p:nvSpPr>
        <p:spPr>
          <a:xfrm>
            <a:off x="7178040" y="1188720"/>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27"/>
          <p:cNvSpPr txBox="1"/>
          <p:nvPr/>
        </p:nvSpPr>
        <p:spPr>
          <a:xfrm>
            <a:off x="7342631" y="1261872"/>
            <a:ext cx="39319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SILHOUETTE</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Rewards clusters that are internally compact and well separated from neighbours.</a:t>
            </a:r>
            <a:endParaRPr sz="1300" b="0">
              <a:solidFill>
                <a:srgbClr val="252B30"/>
              </a:solidFill>
              <a:latin typeface="Times New Roman" panose="02020603050405020304"/>
            </a:endParaRPr>
          </a:p>
        </p:txBody>
      </p:sp>
      <p:sp>
        <p:nvSpPr>
          <p:cNvPr id="18" name="anim_128"/>
          <p:cNvSpPr/>
          <p:nvPr/>
        </p:nvSpPr>
        <p:spPr>
          <a:xfrm>
            <a:off x="7178040" y="2176272"/>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129"/>
          <p:cNvSpPr txBox="1"/>
          <p:nvPr/>
        </p:nvSpPr>
        <p:spPr>
          <a:xfrm>
            <a:off x="7342631" y="2249424"/>
            <a:ext cx="39319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DAVIES-BOULDIN</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Penalises overlap between cluster pairs; lower means cleaner separation.</a:t>
            </a:r>
            <a:endParaRPr sz="1300" b="0">
              <a:solidFill>
                <a:srgbClr val="252B30"/>
              </a:solidFill>
              <a:latin typeface="Times New Roman" panose="02020603050405020304"/>
            </a:endParaRPr>
          </a:p>
        </p:txBody>
      </p:sp>
      <p:sp>
        <p:nvSpPr>
          <p:cNvPr id="20" name="anim_130"/>
          <p:cNvSpPr/>
          <p:nvPr/>
        </p:nvSpPr>
        <p:spPr>
          <a:xfrm>
            <a:off x="7178040" y="3163824"/>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1" name="anim_131"/>
          <p:cNvSpPr txBox="1"/>
          <p:nvPr/>
        </p:nvSpPr>
        <p:spPr>
          <a:xfrm>
            <a:off x="7342631" y="3236976"/>
            <a:ext cx="39319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CALINSKI-HARABASZ</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Compares between-cluster with within-cluster dispersion; higher is better.</a:t>
            </a:r>
            <a:endParaRPr sz="1300" b="0">
              <a:solidFill>
                <a:srgbClr val="252B30"/>
              </a:solidFill>
              <a:latin typeface="Times New Roman" panose="02020603050405020304"/>
            </a:endParaRPr>
          </a:p>
        </p:txBody>
      </p:sp>
      <p:sp>
        <p:nvSpPr>
          <p:cNvPr id="22" name="anim_132"/>
          <p:cNvSpPr/>
          <p:nvPr/>
        </p:nvSpPr>
        <p:spPr>
          <a:xfrm>
            <a:off x="7178040" y="4206240"/>
            <a:ext cx="4206240" cy="1463040"/>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133"/>
          <p:cNvSpPr txBox="1"/>
          <p:nvPr/>
        </p:nvSpPr>
        <p:spPr>
          <a:xfrm>
            <a:off x="7342631" y="4334256"/>
            <a:ext cx="3931920" cy="12801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NO SUPERVISED ACCURACY</a:t>
            </a:r>
            <a:endParaRPr sz="1350" b="1">
              <a:solidFill>
                <a:srgbClr val="2F5248"/>
              </a:solidFill>
              <a:latin typeface="Times New Roman" panose="02020603050405020304"/>
            </a:endParaRPr>
          </a:p>
          <a:p>
            <a:pPr algn="l">
              <a:spcBef>
                <a:spcPts val="400"/>
              </a:spcBef>
              <a:defRPr>
                <a:latin typeface="Times New Roman" panose="02020603050405020304"/>
              </a:defRPr>
            </a:pPr>
            <a:r>
              <a:rPr sz="1300" b="0">
                <a:solidFill>
                  <a:srgbClr val="252B30"/>
                </a:solidFill>
                <a:latin typeface="Times New Roman" panose="02020603050405020304"/>
              </a:rPr>
              <a:t>Accuracy, precision, recall, F1, ROC and confusion matrices require ground-truth labels. Pathways have none - evaluation therefore uses internal validity plus stability.</a:t>
            </a:r>
            <a:endParaRPr sz="13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50"/>
                                        <p:tgtEl>
                                          <p:spTgt spid="16"/>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50"/>
                                        <p:tgtEl>
                                          <p:spTgt spid="17"/>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50"/>
                                        <p:tgtEl>
                                          <p:spTgt spid="18"/>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50"/>
                                        <p:tgtEl>
                                          <p:spTgt spid="19"/>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50"/>
                                        <p:tgtEl>
                                          <p:spTgt spid="20"/>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50"/>
                                        <p:tgtEl>
                                          <p:spTgt spid="21"/>
                                        </p:tgtEl>
                                      </p:cBhvr>
                                    </p:animEffect>
                                  </p:childTnLst>
                                </p:cTn>
                              </p:par>
                            </p:childTnLst>
                          </p:cTn>
                        </p:par>
                        <p:par>
                          <p:cTn id="25" fill="hold">
                            <p:stCondLst>
                              <p:cond delay="2700"/>
                            </p:stCondLst>
                            <p:childTnLst>
                              <p:par>
                                <p:cTn id="26" presetID="10" presetClass="entr" presetSubtype="0" fill="hold" grpId="0" nodeType="afterEffect">
                                  <p:stCondLst>
                                    <p:cond delay="40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50"/>
                                        <p:tgtEl>
                                          <p:spTgt spid="22"/>
                                        </p:tgtEl>
                                      </p:cBhvr>
                                    </p:animEffect>
                                  </p:childTnLst>
                                </p:cTn>
                              </p:par>
                              <p:par>
                                <p:cTn id="29" presetID="10" presetClass="entr" presetSubtype="0" fill="hold" grpId="0" nodeType="withEffect">
                                  <p:stCondLst>
                                    <p:cond delay="53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MODEL EVALUATION AND PERFORMANCE · Resampling stability and membership confidence</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The split survives resampling; ten stay uncertain</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3</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[6]</a:t>
            </a:r>
            <a:endParaRPr sz="1300" b="0">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17</a:t>
            </a:r>
            <a:endParaRPr sz="1400" b="0">
              <a:solidFill>
                <a:srgbClr val="6E7672"/>
              </a:solidFill>
              <a:latin typeface="Times New Roman" panose="02020603050405020304"/>
            </a:endParaRPr>
          </a:p>
        </p:txBody>
      </p:sp>
      <p:pic>
        <p:nvPicPr>
          <p:cNvPr id="14" name="anim_134" descr="fig_stability_gmm.png"/>
          <p:cNvPicPr>
            <a:picLocks noChangeAspect="1"/>
          </p:cNvPicPr>
          <p:nvPr/>
        </p:nvPicPr>
        <p:blipFill>
          <a:blip r:embed="rId2"/>
          <a:stretch>
            <a:fillRect/>
          </a:stretch>
        </p:blipFill>
        <p:spPr>
          <a:xfrm>
            <a:off x="256032" y="1154973"/>
            <a:ext cx="8183879" cy="3158165"/>
          </a:xfrm>
          <a:prstGeom prst="rect">
            <a:avLst/>
          </a:prstGeom>
        </p:spPr>
      </p:pic>
      <p:sp>
        <p:nvSpPr>
          <p:cNvPr id="15" name="anim_135"/>
          <p:cNvSpPr txBox="1"/>
          <p:nvPr/>
        </p:nvSpPr>
        <p:spPr>
          <a:xfrm>
            <a:off x="457200" y="4626864"/>
            <a:ext cx="804672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Left: 100 refits on 80% country subsamples - median Adjusted Rand Index 0.965 (minimum 0.778). Right: GMM soft membership on the same feature space.</a:t>
            </a:r>
            <a:endParaRPr sz="1350" b="0">
              <a:solidFill>
                <a:srgbClr val="6E7672"/>
              </a:solidFill>
              <a:latin typeface="Times New Roman" panose="02020603050405020304"/>
            </a:endParaRPr>
          </a:p>
        </p:txBody>
      </p:sp>
      <p:sp>
        <p:nvSpPr>
          <p:cNvPr id="16" name="TextBox 15"/>
          <p:cNvSpPr txBox="1"/>
          <p:nvPr/>
        </p:nvSpPr>
        <p:spPr>
          <a:xfrm>
            <a:off x="8595360" y="1115568"/>
            <a:ext cx="3200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BOUNDARY COUNTRIES</a:t>
            </a:r>
            <a:endParaRPr sz="1350" b="1">
              <a:solidFill>
                <a:srgbClr val="2F5248"/>
              </a:solidFill>
              <a:latin typeface="Times New Roman" panose="02020603050405020304"/>
            </a:endParaRPr>
          </a:p>
        </p:txBody>
      </p:sp>
      <p:sp>
        <p:nvSpPr>
          <p:cNvPr id="17" name="anim_136"/>
          <p:cNvSpPr/>
          <p:nvPr/>
        </p:nvSpPr>
        <p:spPr>
          <a:xfrm>
            <a:off x="8595360" y="1426464"/>
            <a:ext cx="2788920" cy="283464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137"/>
          <p:cNvSpPr txBox="1"/>
          <p:nvPr/>
        </p:nvSpPr>
        <p:spPr>
          <a:xfrm>
            <a:off x="8759952" y="1536192"/>
            <a:ext cx="2468880" cy="2651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GMM confidence below 0.70:</a:t>
            </a:r>
            <a:endParaRPr sz="1350" b="1">
              <a:solidFill>
                <a:srgbClr val="BE7F4E"/>
              </a:solidFill>
              <a:latin typeface="Times New Roman" panose="02020603050405020304"/>
            </a:endParaRPr>
          </a:p>
          <a:p>
            <a:pPr algn="l">
              <a:spcBef>
                <a:spcPts val="400"/>
              </a:spcBef>
              <a:defRPr>
                <a:latin typeface="Times New Roman" panose="02020603050405020304"/>
              </a:defRPr>
            </a:pPr>
            <a:r>
              <a:rPr sz="1300" b="0">
                <a:solidFill>
                  <a:srgbClr val="252B30"/>
                </a:solidFill>
                <a:latin typeface="Times New Roman" panose="02020603050405020304"/>
              </a:rPr>
              <a:t>South Korea 0.51 · Guatemala 0.53 · Trinidad &amp; Tobago 0.56 · Sri Lanka 0.61 · Estonia 0.63 · Venezuela 0.65 · Oman 0.66 · Jordan 0.66 · Madagascar 0.67 · Azerbaijan 0.68</a:t>
            </a:r>
            <a:endParaRPr sz="1300" b="0">
              <a:solidFill>
                <a:srgbClr val="252B30"/>
              </a:solidFill>
              <a:latin typeface="Times New Roman" panose="02020603050405020304"/>
            </a:endParaRPr>
          </a:p>
          <a:p>
            <a:pPr algn="l">
              <a:spcBef>
                <a:spcPts val="600"/>
              </a:spcBef>
              <a:defRPr>
                <a:latin typeface="Times New Roman" panose="02020603050405020304"/>
              </a:defRPr>
            </a:pPr>
            <a:r>
              <a:rPr sz="1300" b="1">
                <a:solidFill>
                  <a:srgbClr val="2F5248"/>
                </a:solidFill>
                <a:latin typeface="Times New Roman" panose="02020603050405020304"/>
              </a:rPr>
              <a:t>Not a third pathway - membership to be confirmed with more data.</a:t>
            </a:r>
            <a:endParaRPr sz="1300" b="1">
              <a:solidFill>
                <a:srgbClr val="2F5248"/>
              </a:solidFill>
              <a:latin typeface="Times New Roman" panose="02020603050405020304"/>
            </a:endParaRPr>
          </a:p>
        </p:txBody>
      </p:sp>
      <p:sp>
        <p:nvSpPr>
          <p:cNvPr id="19" name="anim_138"/>
          <p:cNvSpPr/>
          <p:nvPr/>
        </p:nvSpPr>
        <p:spPr>
          <a:xfrm>
            <a:off x="457200" y="5138928"/>
            <a:ext cx="1092708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0" name="anim_139"/>
          <p:cNvSpPr txBox="1"/>
          <p:nvPr/>
        </p:nvSpPr>
        <p:spPr>
          <a:xfrm>
            <a:off x="658368" y="5230368"/>
            <a:ext cx="1051560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F5248"/>
                </a:solidFill>
                <a:latin typeface="Times New Roman" panose="02020603050405020304"/>
              </a:rPr>
              <a:t>Verdict: </a:t>
            </a:r>
            <a:r>
              <a:rPr sz="1450" b="0">
                <a:solidFill>
                  <a:srgbClr val="252B30"/>
                </a:solidFill>
                <a:latin typeface="Times New Roman" panose="02020603050405020304"/>
              </a:rPr>
              <a:t>the two-pathway macro structure is stable (ARI close to 1 on most refits), and the only genuine uncertainty is a small, known boundary set - exactly the countries a monitoring programme should track more closely.</a:t>
            </a:r>
            <a:endParaRPr sz="14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50"/>
                                        <p:tgtEl>
                                          <p:spTgt spid="17"/>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50"/>
                                        <p:tgtEl>
                                          <p:spTgt spid="18"/>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What kind of emission patterns did the model find?</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One rising total conceals two different transition pressures</a:t>
            </a:r>
            <a:endParaRPr sz="21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[1] [2]</a:t>
            </a:r>
            <a:endParaRPr sz="1300" b="0">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18</a:t>
            </a:r>
            <a:endParaRPr sz="1400" b="0">
              <a:solidFill>
                <a:srgbClr val="6E7672"/>
              </a:solidFill>
              <a:latin typeface="Times New Roman" panose="02020603050405020304"/>
            </a:endParaRPr>
          </a:p>
        </p:txBody>
      </p:sp>
      <p:pic>
        <p:nvPicPr>
          <p:cNvPr id="14" name="anim_140" descr="fig_pathway_profiles.png"/>
          <p:cNvPicPr>
            <a:picLocks noChangeAspect="1"/>
          </p:cNvPicPr>
          <p:nvPr/>
        </p:nvPicPr>
        <p:blipFill>
          <a:blip r:embed="rId2"/>
          <a:stretch>
            <a:fillRect/>
          </a:stretch>
        </p:blipFill>
        <p:spPr>
          <a:xfrm>
            <a:off x="256032" y="941041"/>
            <a:ext cx="11704320" cy="2744781"/>
          </a:xfrm>
          <a:prstGeom prst="rect">
            <a:avLst/>
          </a:prstGeom>
        </p:spPr>
      </p:pic>
      <p:sp>
        <p:nvSpPr>
          <p:cNvPr id="15" name="anim_141"/>
          <p:cNvSpPr txBox="1"/>
          <p:nvPr/>
        </p:nvSpPr>
        <p:spPr>
          <a:xfrm>
            <a:off x="475488" y="3749039"/>
            <a:ext cx="1124712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Shares use 2017-2021 emissions of the 193 modelled countries; the 10 boundary countries stay inside their pathway, not a third group.</a:t>
            </a:r>
            <a:endParaRPr sz="1350" b="0">
              <a:solidFill>
                <a:srgbClr val="6E7672"/>
              </a:solidFill>
              <a:latin typeface="Times New Roman" panose="02020603050405020304"/>
            </a:endParaRPr>
          </a:p>
        </p:txBody>
      </p:sp>
      <p:sp>
        <p:nvSpPr>
          <p:cNvPr id="16" name="anim_142"/>
          <p:cNvSpPr/>
          <p:nvPr/>
        </p:nvSpPr>
        <p:spPr>
          <a:xfrm>
            <a:off x="457200" y="4041648"/>
            <a:ext cx="5440680" cy="2121408"/>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43"/>
          <p:cNvSpPr/>
          <p:nvPr/>
        </p:nvSpPr>
        <p:spPr>
          <a:xfrm>
            <a:off x="457200" y="4041648"/>
            <a:ext cx="544068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144"/>
          <p:cNvSpPr txBox="1"/>
          <p:nvPr/>
        </p:nvSpPr>
        <p:spPr>
          <a:xfrm>
            <a:off x="621792" y="4187952"/>
            <a:ext cx="365760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650" b="1">
                <a:solidFill>
                  <a:srgbClr val="252B30"/>
                </a:solidFill>
                <a:latin typeface="Times New Roman" panose="02020603050405020304"/>
              </a:rPr>
              <a:t>Rapid-growth pathway</a:t>
            </a:r>
            <a:endParaRPr sz="1650" b="1">
              <a:solidFill>
                <a:srgbClr val="252B30"/>
              </a:solidFill>
              <a:latin typeface="Times New Roman" panose="02020603050405020304"/>
            </a:endParaRPr>
          </a:p>
        </p:txBody>
      </p:sp>
      <p:sp>
        <p:nvSpPr>
          <p:cNvPr id="19" name="anim_145"/>
          <p:cNvSpPr txBox="1"/>
          <p:nvPr/>
        </p:nvSpPr>
        <p:spPr>
          <a:xfrm>
            <a:off x="4297680" y="4142232"/>
            <a:ext cx="1417320" cy="45720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2500" b="1">
                <a:solidFill>
                  <a:srgbClr val="BE7F4E"/>
                </a:solidFill>
                <a:latin typeface="Times New Roman" panose="02020603050405020304"/>
              </a:rPr>
              <a:t>24</a:t>
            </a:r>
            <a:r>
              <a:rPr sz="1300" b="0">
                <a:solidFill>
                  <a:srgbClr val="6E7672"/>
                </a:solidFill>
                <a:latin typeface="Times New Roman" panose="02020603050405020304"/>
              </a:rPr>
              <a:t> countries</a:t>
            </a:r>
            <a:endParaRPr sz="1300" b="0">
              <a:solidFill>
                <a:srgbClr val="6E7672"/>
              </a:solidFill>
              <a:latin typeface="Times New Roman" panose="02020603050405020304"/>
            </a:endParaRPr>
          </a:p>
        </p:txBody>
      </p:sp>
      <p:sp>
        <p:nvSpPr>
          <p:cNvPr id="20" name="anim_146"/>
          <p:cNvSpPr txBox="1"/>
          <p:nvPr/>
        </p:nvSpPr>
        <p:spPr>
          <a:xfrm>
            <a:off x="621792" y="4590288"/>
            <a:ext cx="51206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Lower base, fast recent growth, late peak - potential future additional emissions if recent patterns persist.</a:t>
            </a:r>
            <a:endParaRPr sz="1350" b="1">
              <a:solidFill>
                <a:srgbClr val="BE7F4E"/>
              </a:solidFill>
              <a:latin typeface="Times New Roman" panose="02020603050405020304"/>
            </a:endParaRPr>
          </a:p>
        </p:txBody>
      </p:sp>
      <p:sp>
        <p:nvSpPr>
          <p:cNvPr id="21" name="anim_147"/>
          <p:cNvSpPr/>
          <p:nvPr/>
        </p:nvSpPr>
        <p:spPr>
          <a:xfrm>
            <a:off x="621792"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148"/>
          <p:cNvSpPr txBox="1"/>
          <p:nvPr/>
        </p:nvSpPr>
        <p:spPr>
          <a:xfrm>
            <a:off x="658368" y="5056632"/>
            <a:ext cx="1207008" cy="292608"/>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1.49 t</a:t>
            </a:r>
            <a:endParaRPr sz="1500" b="1">
              <a:solidFill>
                <a:srgbClr val="BE7F4E"/>
              </a:solidFill>
              <a:latin typeface="Times New Roman" panose="02020603050405020304"/>
            </a:endParaRPr>
          </a:p>
        </p:txBody>
      </p:sp>
      <p:sp>
        <p:nvSpPr>
          <p:cNvPr id="23" name="anim_149"/>
          <p:cNvSpPr txBox="1"/>
          <p:nvPr/>
        </p:nvSpPr>
        <p:spPr>
          <a:xfrm>
            <a:off x="658368"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CO2 per person</a:t>
            </a:r>
            <a:endParaRPr sz="1250" b="0">
              <a:solidFill>
                <a:srgbClr val="252B30"/>
              </a:solidFill>
              <a:latin typeface="Times New Roman" panose="02020603050405020304"/>
            </a:endParaRPr>
          </a:p>
        </p:txBody>
      </p:sp>
      <p:sp>
        <p:nvSpPr>
          <p:cNvPr id="24" name="anim_150"/>
          <p:cNvSpPr/>
          <p:nvPr/>
        </p:nvSpPr>
        <p:spPr>
          <a:xfrm>
            <a:off x="1938528"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5" name="anim_151"/>
          <p:cNvSpPr txBox="1"/>
          <p:nvPr/>
        </p:nvSpPr>
        <p:spPr>
          <a:xfrm>
            <a:off x="1975104"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+2.78%</a:t>
            </a:r>
            <a:endParaRPr sz="1500" b="1">
              <a:solidFill>
                <a:srgbClr val="BE7F4E"/>
              </a:solidFill>
              <a:latin typeface="Times New Roman" panose="02020603050405020304"/>
            </a:endParaRPr>
          </a:p>
        </p:txBody>
      </p:sp>
      <p:sp>
        <p:nvSpPr>
          <p:cNvPr id="26" name="anim_152"/>
          <p:cNvSpPr txBox="1"/>
          <p:nvPr/>
        </p:nvSpPr>
        <p:spPr>
          <a:xfrm>
            <a:off x="1975104"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recent growth per year</a:t>
            </a:r>
            <a:endParaRPr sz="1250" b="0">
              <a:solidFill>
                <a:srgbClr val="252B30"/>
              </a:solidFill>
              <a:latin typeface="Times New Roman" panose="02020603050405020304"/>
            </a:endParaRPr>
          </a:p>
        </p:txBody>
      </p:sp>
      <p:sp>
        <p:nvSpPr>
          <p:cNvPr id="27" name="anim_153"/>
          <p:cNvSpPr/>
          <p:nvPr/>
        </p:nvSpPr>
        <p:spPr>
          <a:xfrm>
            <a:off x="3255264"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154"/>
          <p:cNvSpPr txBox="1"/>
          <p:nvPr/>
        </p:nvSpPr>
        <p:spPr>
          <a:xfrm>
            <a:off x="3291840"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2018</a:t>
            </a:r>
            <a:endParaRPr sz="1500" b="1">
              <a:solidFill>
                <a:srgbClr val="BE7F4E"/>
              </a:solidFill>
              <a:latin typeface="Times New Roman" panose="02020603050405020304"/>
            </a:endParaRPr>
          </a:p>
        </p:txBody>
      </p:sp>
      <p:sp>
        <p:nvSpPr>
          <p:cNvPr id="29" name="anim_155"/>
          <p:cNvSpPr txBox="1"/>
          <p:nvPr/>
        </p:nvSpPr>
        <p:spPr>
          <a:xfrm>
            <a:off x="3291840"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median peak year</a:t>
            </a:r>
            <a:endParaRPr sz="1250" b="0">
              <a:solidFill>
                <a:srgbClr val="252B30"/>
              </a:solidFill>
              <a:latin typeface="Times New Roman" panose="02020603050405020304"/>
            </a:endParaRPr>
          </a:p>
        </p:txBody>
      </p:sp>
      <p:sp>
        <p:nvSpPr>
          <p:cNvPr id="30" name="anim_156"/>
          <p:cNvSpPr/>
          <p:nvPr/>
        </p:nvSpPr>
        <p:spPr>
          <a:xfrm>
            <a:off x="4572000"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157"/>
          <p:cNvSpPr txBox="1"/>
          <p:nvPr/>
        </p:nvSpPr>
        <p:spPr>
          <a:xfrm>
            <a:off x="4608576"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7.8%</a:t>
            </a:r>
            <a:endParaRPr sz="1500" b="1">
              <a:solidFill>
                <a:srgbClr val="BE7F4E"/>
              </a:solidFill>
              <a:latin typeface="Times New Roman" panose="02020603050405020304"/>
            </a:endParaRPr>
          </a:p>
        </p:txBody>
      </p:sp>
      <p:sp>
        <p:nvSpPr>
          <p:cNvPr id="32" name="anim_158"/>
          <p:cNvSpPr txBox="1"/>
          <p:nvPr/>
        </p:nvSpPr>
        <p:spPr>
          <a:xfrm>
            <a:off x="4608576"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share of 2017-21 emissions</a:t>
            </a:r>
            <a:endParaRPr sz="1250" b="0">
              <a:solidFill>
                <a:srgbClr val="252B30"/>
              </a:solidFill>
              <a:latin typeface="Times New Roman" panose="02020603050405020304"/>
            </a:endParaRPr>
          </a:p>
        </p:txBody>
      </p:sp>
      <p:sp>
        <p:nvSpPr>
          <p:cNvPr id="33" name="anim_159"/>
          <p:cNvSpPr txBox="1"/>
          <p:nvPr/>
        </p:nvSpPr>
        <p:spPr>
          <a:xfrm>
            <a:off x="621792" y="5852160"/>
            <a:ext cx="51206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1">
                <a:solidFill>
                  <a:srgbClr val="6E7672"/>
                </a:solidFill>
                <a:latin typeface="Times New Roman" panose="02020603050405020304"/>
              </a:rPr>
              <a:t>Median country shares  </a:t>
            </a:r>
            <a:r>
              <a:rPr sz="1300" b="1">
                <a:solidFill>
                  <a:srgbClr val="252B30"/>
                </a:solidFill>
                <a:latin typeface="Times New Roman" panose="02020603050405020304"/>
              </a:rPr>
              <a:t>coal 38% · gas 2%</a:t>
            </a:r>
            <a:r>
              <a:rPr sz="1300" b="0">
                <a:solidFill>
                  <a:srgbClr val="252B30"/>
                </a:solidFill>
                <a:latin typeface="Times New Roman" panose="02020603050405020304"/>
              </a:rPr>
              <a:t>   </a:t>
            </a:r>
            <a:r>
              <a:rPr sz="1300" b="0">
                <a:solidFill>
                  <a:srgbClr val="252B30"/>
                </a:solidFill>
                <a:latin typeface="Times New Roman" panose="02020603050405020304"/>
              </a:rPr>
              <a:t>e.g. Vietnam, Bangladesh</a:t>
            </a:r>
            <a:endParaRPr sz="1300" b="0">
              <a:solidFill>
                <a:srgbClr val="252B30"/>
              </a:solidFill>
              <a:latin typeface="Times New Roman" panose="02020603050405020304"/>
            </a:endParaRPr>
          </a:p>
        </p:txBody>
      </p:sp>
      <p:sp>
        <p:nvSpPr>
          <p:cNvPr id="34" name="anim_160"/>
          <p:cNvSpPr/>
          <p:nvPr/>
        </p:nvSpPr>
        <p:spPr>
          <a:xfrm>
            <a:off x="5943600" y="4041648"/>
            <a:ext cx="5440680" cy="212140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161"/>
          <p:cNvSpPr/>
          <p:nvPr/>
        </p:nvSpPr>
        <p:spPr>
          <a:xfrm>
            <a:off x="5943600" y="4041648"/>
            <a:ext cx="544068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6" name="anim_162"/>
          <p:cNvSpPr txBox="1"/>
          <p:nvPr/>
        </p:nvSpPr>
        <p:spPr>
          <a:xfrm>
            <a:off x="6108192" y="4187952"/>
            <a:ext cx="365760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650" b="1">
                <a:solidFill>
                  <a:srgbClr val="252B30"/>
                </a:solidFill>
                <a:latin typeface="Times New Roman" panose="02020603050405020304"/>
              </a:rPr>
              <a:t>Plateauing / slowdown pathway</a:t>
            </a:r>
            <a:endParaRPr sz="1650" b="1">
              <a:solidFill>
                <a:srgbClr val="252B30"/>
              </a:solidFill>
              <a:latin typeface="Times New Roman" panose="02020603050405020304"/>
            </a:endParaRPr>
          </a:p>
        </p:txBody>
      </p:sp>
      <p:sp>
        <p:nvSpPr>
          <p:cNvPr id="37" name="anim_163"/>
          <p:cNvSpPr txBox="1"/>
          <p:nvPr/>
        </p:nvSpPr>
        <p:spPr>
          <a:xfrm>
            <a:off x="9784080" y="4142232"/>
            <a:ext cx="1417320" cy="45720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2500" b="1">
                <a:solidFill>
                  <a:srgbClr val="4F6E96"/>
                </a:solidFill>
                <a:latin typeface="Times New Roman" panose="02020603050405020304"/>
              </a:rPr>
              <a:t>169</a:t>
            </a:r>
            <a:r>
              <a:rPr sz="1300" b="0">
                <a:solidFill>
                  <a:srgbClr val="6E7672"/>
                </a:solidFill>
                <a:latin typeface="Times New Roman" panose="02020603050405020304"/>
              </a:rPr>
              <a:t> countries</a:t>
            </a:r>
            <a:endParaRPr sz="1300" b="0">
              <a:solidFill>
                <a:srgbClr val="6E7672"/>
              </a:solidFill>
              <a:latin typeface="Times New Roman" panose="02020603050405020304"/>
            </a:endParaRPr>
          </a:p>
        </p:txBody>
      </p:sp>
      <p:sp>
        <p:nvSpPr>
          <p:cNvPr id="38" name="anim_164"/>
          <p:cNvSpPr txBox="1"/>
          <p:nvPr/>
        </p:nvSpPr>
        <p:spPr>
          <a:xfrm>
            <a:off x="6108192" y="4590288"/>
            <a:ext cx="51206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Growth has flattened or turned down - yet this pathway still carries almost all of the current emissions burden.</a:t>
            </a:r>
            <a:endParaRPr sz="1350" b="1">
              <a:solidFill>
                <a:srgbClr val="4F6E96"/>
              </a:solidFill>
              <a:latin typeface="Times New Roman" panose="02020603050405020304"/>
            </a:endParaRPr>
          </a:p>
        </p:txBody>
      </p:sp>
      <p:sp>
        <p:nvSpPr>
          <p:cNvPr id="39" name="anim_165"/>
          <p:cNvSpPr/>
          <p:nvPr/>
        </p:nvSpPr>
        <p:spPr>
          <a:xfrm>
            <a:off x="6108192"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0" name="anim_166"/>
          <p:cNvSpPr txBox="1"/>
          <p:nvPr/>
        </p:nvSpPr>
        <p:spPr>
          <a:xfrm>
            <a:off x="6144768" y="5056632"/>
            <a:ext cx="1207008" cy="292608"/>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3.19 t</a:t>
            </a:r>
            <a:endParaRPr sz="1500" b="1">
              <a:solidFill>
                <a:srgbClr val="4F6E96"/>
              </a:solidFill>
              <a:latin typeface="Times New Roman" panose="02020603050405020304"/>
            </a:endParaRPr>
          </a:p>
        </p:txBody>
      </p:sp>
      <p:sp>
        <p:nvSpPr>
          <p:cNvPr id="41" name="anim_167"/>
          <p:cNvSpPr txBox="1"/>
          <p:nvPr/>
        </p:nvSpPr>
        <p:spPr>
          <a:xfrm>
            <a:off x="6144768"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CO2 per person</a:t>
            </a:r>
            <a:endParaRPr sz="1250" b="0">
              <a:solidFill>
                <a:srgbClr val="252B30"/>
              </a:solidFill>
              <a:latin typeface="Times New Roman" panose="02020603050405020304"/>
            </a:endParaRPr>
          </a:p>
        </p:txBody>
      </p:sp>
      <p:sp>
        <p:nvSpPr>
          <p:cNvPr id="42" name="anim_168"/>
          <p:cNvSpPr/>
          <p:nvPr/>
        </p:nvSpPr>
        <p:spPr>
          <a:xfrm>
            <a:off x="7424927"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3" name="anim_169"/>
          <p:cNvSpPr txBox="1"/>
          <p:nvPr/>
        </p:nvSpPr>
        <p:spPr>
          <a:xfrm>
            <a:off x="7461503"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-0.26%</a:t>
            </a:r>
            <a:endParaRPr sz="1500" b="1">
              <a:solidFill>
                <a:srgbClr val="4F6E96"/>
              </a:solidFill>
              <a:latin typeface="Times New Roman" panose="02020603050405020304"/>
            </a:endParaRPr>
          </a:p>
        </p:txBody>
      </p:sp>
      <p:sp>
        <p:nvSpPr>
          <p:cNvPr id="44" name="anim_170"/>
          <p:cNvSpPr txBox="1"/>
          <p:nvPr/>
        </p:nvSpPr>
        <p:spPr>
          <a:xfrm>
            <a:off x="7461503"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recent growth per year</a:t>
            </a:r>
            <a:endParaRPr sz="1250" b="0">
              <a:solidFill>
                <a:srgbClr val="252B30"/>
              </a:solidFill>
              <a:latin typeface="Times New Roman" panose="02020603050405020304"/>
            </a:endParaRPr>
          </a:p>
        </p:txBody>
      </p:sp>
      <p:sp>
        <p:nvSpPr>
          <p:cNvPr id="45" name="anim_171"/>
          <p:cNvSpPr/>
          <p:nvPr/>
        </p:nvSpPr>
        <p:spPr>
          <a:xfrm>
            <a:off x="8741663"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6" name="anim_172"/>
          <p:cNvSpPr txBox="1"/>
          <p:nvPr/>
        </p:nvSpPr>
        <p:spPr>
          <a:xfrm>
            <a:off x="8778239"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2009</a:t>
            </a:r>
            <a:endParaRPr sz="1500" b="1">
              <a:solidFill>
                <a:srgbClr val="4F6E96"/>
              </a:solidFill>
              <a:latin typeface="Times New Roman" panose="02020603050405020304"/>
            </a:endParaRPr>
          </a:p>
        </p:txBody>
      </p:sp>
      <p:sp>
        <p:nvSpPr>
          <p:cNvPr id="47" name="anim_173"/>
          <p:cNvSpPr txBox="1"/>
          <p:nvPr/>
        </p:nvSpPr>
        <p:spPr>
          <a:xfrm>
            <a:off x="8778239"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median peak year</a:t>
            </a:r>
            <a:endParaRPr sz="1250" b="0">
              <a:solidFill>
                <a:srgbClr val="252B30"/>
              </a:solidFill>
              <a:latin typeface="Times New Roman" panose="02020603050405020304"/>
            </a:endParaRPr>
          </a:p>
        </p:txBody>
      </p:sp>
      <p:sp>
        <p:nvSpPr>
          <p:cNvPr id="48" name="anim_174"/>
          <p:cNvSpPr/>
          <p:nvPr/>
        </p:nvSpPr>
        <p:spPr>
          <a:xfrm>
            <a:off x="10058399"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9" name="anim_175"/>
          <p:cNvSpPr txBox="1"/>
          <p:nvPr/>
        </p:nvSpPr>
        <p:spPr>
          <a:xfrm>
            <a:off x="10094975"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92.2%</a:t>
            </a:r>
            <a:endParaRPr sz="1500" b="1">
              <a:solidFill>
                <a:srgbClr val="4F6E96"/>
              </a:solidFill>
              <a:latin typeface="Times New Roman" panose="02020603050405020304"/>
            </a:endParaRPr>
          </a:p>
        </p:txBody>
      </p:sp>
      <p:sp>
        <p:nvSpPr>
          <p:cNvPr id="50" name="anim_176"/>
          <p:cNvSpPr txBox="1"/>
          <p:nvPr/>
        </p:nvSpPr>
        <p:spPr>
          <a:xfrm>
            <a:off x="10094975"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share of 2017-21 emissions</a:t>
            </a:r>
            <a:endParaRPr sz="1250" b="0">
              <a:solidFill>
                <a:srgbClr val="252B30"/>
              </a:solidFill>
              <a:latin typeface="Times New Roman" panose="02020603050405020304"/>
            </a:endParaRPr>
          </a:p>
        </p:txBody>
      </p:sp>
      <p:sp>
        <p:nvSpPr>
          <p:cNvPr id="51" name="anim_177"/>
          <p:cNvSpPr txBox="1"/>
          <p:nvPr/>
        </p:nvSpPr>
        <p:spPr>
          <a:xfrm>
            <a:off x="6108192" y="5852160"/>
            <a:ext cx="51206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1">
                <a:solidFill>
                  <a:srgbClr val="6E7672"/>
                </a:solidFill>
                <a:latin typeface="Times New Roman" panose="02020603050405020304"/>
              </a:rPr>
              <a:t>Median country shares  </a:t>
            </a:r>
            <a:r>
              <a:rPr sz="1300" b="1">
                <a:solidFill>
                  <a:srgbClr val="252B30"/>
                </a:solidFill>
                <a:latin typeface="Times New Roman" panose="02020603050405020304"/>
              </a:rPr>
              <a:t>coal 1% · gas 11%</a:t>
            </a:r>
            <a:r>
              <a:rPr sz="1300" b="0">
                <a:solidFill>
                  <a:srgbClr val="252B30"/>
                </a:solidFill>
                <a:latin typeface="Times New Roman" panose="02020603050405020304"/>
              </a:rPr>
              <a:t>   </a:t>
            </a:r>
            <a:r>
              <a:rPr sz="1300" b="0">
                <a:solidFill>
                  <a:srgbClr val="252B30"/>
                </a:solidFill>
                <a:latin typeface="Times New Roman" panose="02020603050405020304"/>
              </a:rPr>
              <a:t>e.g. China, United States</a:t>
            </a:r>
            <a:endParaRPr sz="13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66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79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9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par>
                          <p:cTn id="27" fill="hold">
                            <p:stCondLst>
                              <p:cond delay="1800"/>
                            </p:stCondLst>
                            <p:childTnLst>
                              <p:par>
                                <p:cTn id="28" presetID="10" presetClass="entr" presetSubtype="0" fill="hold" grpId="0" nodeType="afterEffect">
                                  <p:stCondLst>
                                    <p:cond delay="4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50"/>
                                        <p:tgtEl>
                                          <p:spTgt spid="21"/>
                                        </p:tgtEl>
                                      </p:cBhvr>
                                    </p:animEffect>
                                  </p:childTnLst>
                                </p:cTn>
                              </p:par>
                              <p:par>
                                <p:cTn id="31" presetID="10" presetClass="entr" presetSubtype="0" fill="hold" grpId="0" nodeType="withEffect">
                                  <p:stCondLst>
                                    <p:cond delay="53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450"/>
                                        <p:tgtEl>
                                          <p:spTgt spid="23"/>
                                        </p:tgtEl>
                                      </p:cBhvr>
                                    </p:animEffect>
                                  </p:childTnLst>
                                </p:cTn>
                              </p:par>
                            </p:childTnLst>
                          </p:cTn>
                        </p:par>
                        <p:par>
                          <p:cTn id="37" fill="hold">
                            <p:stCondLst>
                              <p:cond delay="2700"/>
                            </p:stCondLst>
                            <p:childTnLst>
                              <p:par>
                                <p:cTn id="38" presetID="10" presetClass="entr" presetSubtype="0" fill="hold" grpId="0" nodeType="afterEffect">
                                  <p:stCondLst>
                                    <p:cond delay="40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grpId="0" nodeType="withEffect">
                                  <p:stCondLst>
                                    <p:cond delay="53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50"/>
                                        <p:tgtEl>
                                          <p:spTgt spid="26"/>
                                        </p:tgtEl>
                                      </p:cBhvr>
                                    </p:animEffect>
                                  </p:childTnLst>
                                </p:cTn>
                              </p:par>
                            </p:childTnLst>
                          </p:cTn>
                        </p:par>
                        <p:par>
                          <p:cTn id="47" fill="hold">
                            <p:stCondLst>
                              <p:cond delay="3600"/>
                            </p:stCondLst>
                            <p:childTnLst>
                              <p:par>
                                <p:cTn id="48" presetID="10" presetClass="entr" presetSubtype="0" fill="hold" grpId="0" nodeType="afterEffect">
                                  <p:stCondLst>
                                    <p:cond delay="40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50"/>
                                        <p:tgtEl>
                                          <p:spTgt spid="27"/>
                                        </p:tgtEl>
                                      </p:cBhvr>
                                    </p:animEffect>
                                  </p:childTnLst>
                                </p:cTn>
                              </p:par>
                              <p:par>
                                <p:cTn id="51" presetID="10" presetClass="entr" presetSubtype="0" fill="hold" grpId="0" nodeType="withEffect">
                                  <p:stCondLst>
                                    <p:cond delay="53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450"/>
                                        <p:tgtEl>
                                          <p:spTgt spid="28"/>
                                        </p:tgtEl>
                                      </p:cBhvr>
                                    </p:animEffect>
                                  </p:childTnLst>
                                </p:cTn>
                              </p:par>
                              <p:par>
                                <p:cTn id="54" presetID="10" presetClass="entr" presetSubtype="0" fill="hold" grpId="0" nodeType="withEffect">
                                  <p:stCondLst>
                                    <p:cond delay="66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450"/>
                                        <p:tgtEl>
                                          <p:spTgt spid="29"/>
                                        </p:tgtEl>
                                      </p:cBhvr>
                                    </p:animEffect>
                                  </p:childTnLst>
                                </p:cTn>
                              </p:par>
                            </p:childTnLst>
                          </p:cTn>
                        </p:par>
                        <p:par>
                          <p:cTn id="57" fill="hold">
                            <p:stCondLst>
                              <p:cond delay="4500"/>
                            </p:stCondLst>
                            <p:childTnLst>
                              <p:par>
                                <p:cTn id="58" presetID="10" presetClass="entr" presetSubtype="0" fill="hold" grpId="0" nodeType="afterEffect">
                                  <p:stCondLst>
                                    <p:cond delay="40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par>
                                <p:cTn id="61" presetID="10" presetClass="entr" presetSubtype="0" fill="hold" grpId="0" nodeType="withEffect">
                                  <p:stCondLst>
                                    <p:cond delay="53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450"/>
                                        <p:tgtEl>
                                          <p:spTgt spid="31"/>
                                        </p:tgtEl>
                                      </p:cBhvr>
                                    </p:animEffect>
                                  </p:childTnLst>
                                </p:cTn>
                              </p:par>
                              <p:par>
                                <p:cTn id="64" presetID="10" presetClass="entr" presetSubtype="0" fill="hold" grpId="0" nodeType="withEffect">
                                  <p:stCondLst>
                                    <p:cond delay="66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450"/>
                                        <p:tgtEl>
                                          <p:spTgt spid="32"/>
                                        </p:tgtEl>
                                      </p:cBhvr>
                                    </p:animEffect>
                                  </p:childTnLst>
                                </p:cTn>
                              </p:par>
                            </p:childTnLst>
                          </p:cTn>
                        </p:par>
                        <p:par>
                          <p:cTn id="67" fill="hold">
                            <p:stCondLst>
                              <p:cond delay="5400"/>
                            </p:stCondLst>
                            <p:childTnLst>
                              <p:par>
                                <p:cTn id="68" presetID="10" presetClass="entr" presetSubtype="0" fill="hold" grpId="0" nodeType="afterEffect">
                                  <p:stCondLst>
                                    <p:cond delay="40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450"/>
                                        <p:tgtEl>
                                          <p:spTgt spid="33"/>
                                        </p:tgtEl>
                                      </p:cBhvr>
                                    </p:animEffect>
                                  </p:childTnLst>
                                </p:cTn>
                              </p:par>
                            </p:childTnLst>
                          </p:cTn>
                        </p:par>
                        <p:par>
                          <p:cTn id="71" fill="hold">
                            <p:stCondLst>
                              <p:cond delay="6300"/>
                            </p:stCondLst>
                            <p:childTnLst>
                              <p:par>
                                <p:cTn id="72" presetID="10" presetClass="entr" presetSubtype="0" fill="hold" grpId="0" nodeType="afterEffect">
                                  <p:stCondLst>
                                    <p:cond delay="40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50"/>
                                        <p:tgtEl>
                                          <p:spTgt spid="34"/>
                                        </p:tgtEl>
                                      </p:cBhvr>
                                    </p:animEffect>
                                  </p:childTnLst>
                                </p:cTn>
                              </p:par>
                              <p:par>
                                <p:cTn id="75" presetID="10" presetClass="entr" presetSubtype="0" fill="hold" grpId="0" nodeType="withEffect">
                                  <p:stCondLst>
                                    <p:cond delay="5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50"/>
                                        <p:tgtEl>
                                          <p:spTgt spid="35"/>
                                        </p:tgtEl>
                                      </p:cBhvr>
                                    </p:animEffect>
                                  </p:childTnLst>
                                </p:cTn>
                              </p:par>
                              <p:par>
                                <p:cTn id="78" presetID="10" presetClass="entr" presetSubtype="0" fill="hold" grpId="0" nodeType="withEffect">
                                  <p:stCondLst>
                                    <p:cond delay="66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50"/>
                                        <p:tgtEl>
                                          <p:spTgt spid="36"/>
                                        </p:tgtEl>
                                      </p:cBhvr>
                                    </p:animEffect>
                                  </p:childTnLst>
                                </p:cTn>
                              </p:par>
                              <p:par>
                                <p:cTn id="81" presetID="10" presetClass="entr" presetSubtype="0" fill="hold" grpId="0" nodeType="withEffect">
                                  <p:stCondLst>
                                    <p:cond delay="79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450"/>
                                        <p:tgtEl>
                                          <p:spTgt spid="37"/>
                                        </p:tgtEl>
                                      </p:cBhvr>
                                    </p:animEffect>
                                  </p:childTnLst>
                                </p:cTn>
                              </p:par>
                              <p:par>
                                <p:cTn id="84" presetID="10" presetClass="entr" presetSubtype="0" fill="hold" grpId="0" nodeType="withEffect">
                                  <p:stCondLst>
                                    <p:cond delay="92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450"/>
                                        <p:tgtEl>
                                          <p:spTgt spid="38"/>
                                        </p:tgtEl>
                                      </p:cBhvr>
                                    </p:animEffect>
                                  </p:childTnLst>
                                </p:cTn>
                              </p:par>
                            </p:childTnLst>
                          </p:cTn>
                        </p:par>
                        <p:par>
                          <p:cTn id="87" fill="hold">
                            <p:stCondLst>
                              <p:cond delay="7200"/>
                            </p:stCondLst>
                            <p:childTnLst>
                              <p:par>
                                <p:cTn id="88" presetID="10" presetClass="entr" presetSubtype="0" fill="hold" grpId="0" nodeType="afterEffect">
                                  <p:stCondLst>
                                    <p:cond delay="40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450"/>
                                        <p:tgtEl>
                                          <p:spTgt spid="39"/>
                                        </p:tgtEl>
                                      </p:cBhvr>
                                    </p:animEffect>
                                  </p:childTnLst>
                                </p:cTn>
                              </p:par>
                              <p:par>
                                <p:cTn id="91" presetID="10" presetClass="entr" presetSubtype="0" fill="hold" grpId="0" nodeType="withEffect">
                                  <p:stCondLst>
                                    <p:cond delay="53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450"/>
                                        <p:tgtEl>
                                          <p:spTgt spid="40"/>
                                        </p:tgtEl>
                                      </p:cBhvr>
                                    </p:animEffect>
                                  </p:childTnLst>
                                </p:cTn>
                              </p:par>
                              <p:par>
                                <p:cTn id="94" presetID="10" presetClass="entr" presetSubtype="0" fill="hold" grpId="0" nodeType="withEffect">
                                  <p:stCondLst>
                                    <p:cond delay="66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450"/>
                                        <p:tgtEl>
                                          <p:spTgt spid="41"/>
                                        </p:tgtEl>
                                      </p:cBhvr>
                                    </p:animEffect>
                                  </p:childTnLst>
                                </p:cTn>
                              </p:par>
                            </p:childTnLst>
                          </p:cTn>
                        </p:par>
                        <p:par>
                          <p:cTn id="97" fill="hold">
                            <p:stCondLst>
                              <p:cond delay="8100"/>
                            </p:stCondLst>
                            <p:childTnLst>
                              <p:par>
                                <p:cTn id="98" presetID="10" presetClass="entr" presetSubtype="0" fill="hold" grpId="0" nodeType="afterEffect">
                                  <p:stCondLst>
                                    <p:cond delay="40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50"/>
                                        <p:tgtEl>
                                          <p:spTgt spid="42"/>
                                        </p:tgtEl>
                                      </p:cBhvr>
                                    </p:animEffect>
                                  </p:childTnLst>
                                </p:cTn>
                              </p:par>
                              <p:par>
                                <p:cTn id="101" presetID="10" presetClass="entr" presetSubtype="0" fill="hold" grpId="0" nodeType="withEffect">
                                  <p:stCondLst>
                                    <p:cond delay="53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50"/>
                                        <p:tgtEl>
                                          <p:spTgt spid="43"/>
                                        </p:tgtEl>
                                      </p:cBhvr>
                                    </p:animEffect>
                                  </p:childTnLst>
                                </p:cTn>
                              </p:par>
                              <p:par>
                                <p:cTn id="104" presetID="10" presetClass="entr" presetSubtype="0" fill="hold" grpId="0" nodeType="withEffect">
                                  <p:stCondLst>
                                    <p:cond delay="66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50"/>
                                        <p:tgtEl>
                                          <p:spTgt spid="44"/>
                                        </p:tgtEl>
                                      </p:cBhvr>
                                    </p:animEffect>
                                  </p:childTnLst>
                                </p:cTn>
                              </p:par>
                            </p:childTnLst>
                          </p:cTn>
                        </p:par>
                        <p:par>
                          <p:cTn id="107" fill="hold">
                            <p:stCondLst>
                              <p:cond delay="9000"/>
                            </p:stCondLst>
                            <p:childTnLst>
                              <p:par>
                                <p:cTn id="108" presetID="10" presetClass="entr" presetSubtype="0" fill="hold" grpId="0" nodeType="afterEffect">
                                  <p:stCondLst>
                                    <p:cond delay="40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450"/>
                                        <p:tgtEl>
                                          <p:spTgt spid="45"/>
                                        </p:tgtEl>
                                      </p:cBhvr>
                                    </p:animEffect>
                                  </p:childTnLst>
                                </p:cTn>
                              </p:par>
                              <p:par>
                                <p:cTn id="111" presetID="10" presetClass="entr" presetSubtype="0" fill="hold" grpId="0" nodeType="withEffect">
                                  <p:stCondLst>
                                    <p:cond delay="530"/>
                                  </p:stCondLst>
                                  <p:childTnLst>
                                    <p:set>
                                      <p:cBhvr>
                                        <p:cTn id="112" dur="1" fill="hold">
                                          <p:stCondLst>
                                            <p:cond delay="0"/>
                                          </p:stCondLst>
                                        </p:cTn>
                                        <p:tgtEl>
                                          <p:spTgt spid="46"/>
                                        </p:tgtEl>
                                        <p:attrNameLst>
                                          <p:attrName>style.visibility</p:attrName>
                                        </p:attrNameLst>
                                      </p:cBhvr>
                                      <p:to>
                                        <p:strVal val="visible"/>
                                      </p:to>
                                    </p:set>
                                    <p:animEffect transition="in" filter="fade">
                                      <p:cBhvr>
                                        <p:cTn id="113" dur="450"/>
                                        <p:tgtEl>
                                          <p:spTgt spid="46"/>
                                        </p:tgtEl>
                                      </p:cBhvr>
                                    </p:animEffect>
                                  </p:childTnLst>
                                </p:cTn>
                              </p:par>
                              <p:par>
                                <p:cTn id="114" presetID="10" presetClass="entr" presetSubtype="0" fill="hold" grpId="0" nodeType="withEffect">
                                  <p:stCondLst>
                                    <p:cond delay="660"/>
                                  </p:stCondLst>
                                  <p:childTnLst>
                                    <p:set>
                                      <p:cBhvr>
                                        <p:cTn id="115" dur="1" fill="hold">
                                          <p:stCondLst>
                                            <p:cond delay="0"/>
                                          </p:stCondLst>
                                        </p:cTn>
                                        <p:tgtEl>
                                          <p:spTgt spid="47"/>
                                        </p:tgtEl>
                                        <p:attrNameLst>
                                          <p:attrName>style.visibility</p:attrName>
                                        </p:attrNameLst>
                                      </p:cBhvr>
                                      <p:to>
                                        <p:strVal val="visible"/>
                                      </p:to>
                                    </p:set>
                                    <p:animEffect transition="in" filter="fade">
                                      <p:cBhvr>
                                        <p:cTn id="116" dur="450"/>
                                        <p:tgtEl>
                                          <p:spTgt spid="47"/>
                                        </p:tgtEl>
                                      </p:cBhvr>
                                    </p:animEffect>
                                  </p:childTnLst>
                                </p:cTn>
                              </p:par>
                            </p:childTnLst>
                          </p:cTn>
                        </p:par>
                        <p:par>
                          <p:cTn id="117" fill="hold">
                            <p:stCondLst>
                              <p:cond delay="9900"/>
                            </p:stCondLst>
                            <p:childTnLst>
                              <p:par>
                                <p:cTn id="118" presetID="10" presetClass="entr" presetSubtype="0" fill="hold" grpId="0" nodeType="afterEffect">
                                  <p:stCondLst>
                                    <p:cond delay="400"/>
                                  </p:stCondLst>
                                  <p:childTnLst>
                                    <p:set>
                                      <p:cBhvr>
                                        <p:cTn id="119" dur="1" fill="hold">
                                          <p:stCondLst>
                                            <p:cond delay="0"/>
                                          </p:stCondLst>
                                        </p:cTn>
                                        <p:tgtEl>
                                          <p:spTgt spid="48"/>
                                        </p:tgtEl>
                                        <p:attrNameLst>
                                          <p:attrName>style.visibility</p:attrName>
                                        </p:attrNameLst>
                                      </p:cBhvr>
                                      <p:to>
                                        <p:strVal val="visible"/>
                                      </p:to>
                                    </p:set>
                                    <p:animEffect transition="in" filter="fade">
                                      <p:cBhvr>
                                        <p:cTn id="120" dur="450"/>
                                        <p:tgtEl>
                                          <p:spTgt spid="48"/>
                                        </p:tgtEl>
                                      </p:cBhvr>
                                    </p:animEffect>
                                  </p:childTnLst>
                                </p:cTn>
                              </p:par>
                              <p:par>
                                <p:cTn id="121" presetID="10" presetClass="entr" presetSubtype="0" fill="hold" grpId="0" nodeType="withEffect">
                                  <p:stCondLst>
                                    <p:cond delay="530"/>
                                  </p:stCondLst>
                                  <p:childTnLst>
                                    <p:set>
                                      <p:cBhvr>
                                        <p:cTn id="122" dur="1" fill="hold">
                                          <p:stCondLst>
                                            <p:cond delay="0"/>
                                          </p:stCondLst>
                                        </p:cTn>
                                        <p:tgtEl>
                                          <p:spTgt spid="49"/>
                                        </p:tgtEl>
                                        <p:attrNameLst>
                                          <p:attrName>style.visibility</p:attrName>
                                        </p:attrNameLst>
                                      </p:cBhvr>
                                      <p:to>
                                        <p:strVal val="visible"/>
                                      </p:to>
                                    </p:set>
                                    <p:animEffect transition="in" filter="fade">
                                      <p:cBhvr>
                                        <p:cTn id="123" dur="450"/>
                                        <p:tgtEl>
                                          <p:spTgt spid="49"/>
                                        </p:tgtEl>
                                      </p:cBhvr>
                                    </p:animEffect>
                                  </p:childTnLst>
                                </p:cTn>
                              </p:par>
                              <p:par>
                                <p:cTn id="124" presetID="10" presetClass="entr" presetSubtype="0" fill="hold" grpId="0" nodeType="withEffect">
                                  <p:stCondLst>
                                    <p:cond delay="660"/>
                                  </p:stCondLst>
                                  <p:childTnLst>
                                    <p:set>
                                      <p:cBhvr>
                                        <p:cTn id="125" dur="1" fill="hold">
                                          <p:stCondLst>
                                            <p:cond delay="0"/>
                                          </p:stCondLst>
                                        </p:cTn>
                                        <p:tgtEl>
                                          <p:spTgt spid="50"/>
                                        </p:tgtEl>
                                        <p:attrNameLst>
                                          <p:attrName>style.visibility</p:attrName>
                                        </p:attrNameLst>
                                      </p:cBhvr>
                                      <p:to>
                                        <p:strVal val="visible"/>
                                      </p:to>
                                    </p:set>
                                    <p:animEffect transition="in" filter="fade">
                                      <p:cBhvr>
                                        <p:cTn id="126" dur="450"/>
                                        <p:tgtEl>
                                          <p:spTgt spid="50"/>
                                        </p:tgtEl>
                                      </p:cBhvr>
                                    </p:animEffect>
                                  </p:childTnLst>
                                </p:cTn>
                              </p:par>
                            </p:childTnLst>
                          </p:cTn>
                        </p:par>
                        <p:par>
                          <p:cTn id="127" fill="hold">
                            <p:stCondLst>
                              <p:cond delay="10800"/>
                            </p:stCondLst>
                            <p:childTnLst>
                              <p:par>
                                <p:cTn id="128" presetID="10" presetClass="entr" presetSubtype="0" fill="hold" grpId="0" nodeType="afterEffect">
                                  <p:stCondLst>
                                    <p:cond delay="400"/>
                                  </p:stCondLst>
                                  <p:childTnLst>
                                    <p:set>
                                      <p:cBhvr>
                                        <p:cTn id="129" dur="1" fill="hold">
                                          <p:stCondLst>
                                            <p:cond delay="0"/>
                                          </p:stCondLst>
                                        </p:cTn>
                                        <p:tgtEl>
                                          <p:spTgt spid="51"/>
                                        </p:tgtEl>
                                        <p:attrNameLst>
                                          <p:attrName>style.visibility</p:attrName>
                                        </p:attrNameLst>
                                      </p:cBhvr>
                                      <p:to>
                                        <p:strVal val="visible"/>
                                      </p:to>
                                    </p:set>
                                    <p:animEffect transition="in" filter="fade">
                                      <p:cBhvr>
                                        <p:cTn id="130" dur="4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Why ranking countries by one number misleads</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Current burden and future pressure require different lenses</a:t>
            </a:r>
            <a:endParaRPr sz="21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REYIZA RESIBIEKE</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19</a:t>
            </a:r>
            <a:endParaRPr sz="1400" b="0">
              <a:solidFill>
                <a:srgbClr val="6E7672"/>
              </a:solidFill>
              <a:latin typeface="Times New Roman" panose="02020603050405020304"/>
            </a:endParaRPr>
          </a:p>
        </p:txBody>
      </p:sp>
      <p:pic>
        <p:nvPicPr>
          <p:cNvPr id="13" name="anim_178" descr="fig_burden_growth.png"/>
          <p:cNvPicPr>
            <a:picLocks noChangeAspect="1"/>
          </p:cNvPicPr>
          <p:nvPr/>
        </p:nvPicPr>
        <p:blipFill>
          <a:blip r:embed="rId2"/>
          <a:stretch>
            <a:fillRect/>
          </a:stretch>
        </p:blipFill>
        <p:spPr>
          <a:xfrm>
            <a:off x="256032" y="956054"/>
            <a:ext cx="8549640" cy="5028187"/>
          </a:xfrm>
          <a:prstGeom prst="rect">
            <a:avLst/>
          </a:prstGeom>
        </p:spPr>
      </p:pic>
      <p:sp>
        <p:nvSpPr>
          <p:cNvPr id="14" name="TextBox 13"/>
          <p:cNvSpPr txBox="1"/>
          <p:nvPr/>
        </p:nvSpPr>
        <p:spPr>
          <a:xfrm>
            <a:off x="8851392" y="1115568"/>
            <a:ext cx="27432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ONE LENS FAILS</a:t>
            </a:r>
            <a:endParaRPr sz="1350" b="1">
              <a:solidFill>
                <a:srgbClr val="2F5248"/>
              </a:solidFill>
              <a:latin typeface="Times New Roman" panose="02020603050405020304"/>
            </a:endParaRPr>
          </a:p>
        </p:txBody>
      </p:sp>
      <p:sp>
        <p:nvSpPr>
          <p:cNvPr id="15" name="anim_179"/>
          <p:cNvSpPr/>
          <p:nvPr/>
        </p:nvSpPr>
        <p:spPr>
          <a:xfrm>
            <a:off x="8851392" y="1444752"/>
            <a:ext cx="2560320" cy="201168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6" name="anim_180"/>
          <p:cNvSpPr txBox="1"/>
          <p:nvPr/>
        </p:nvSpPr>
        <p:spPr>
          <a:xfrm>
            <a:off x="9015984" y="1554480"/>
            <a:ext cx="2240280" cy="18288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Rank by emissions only </a:t>
            </a:r>
            <a:endParaRPr sz="1350" b="1">
              <a:solidFill>
                <a:srgbClr val="BE7F4E"/>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and you watch China, the US and India while missing small-base, fast-growing, late-peak countries in the upper left.</a:t>
            </a:r>
            <a:endParaRPr sz="1300" b="0">
              <a:solidFill>
                <a:srgbClr val="252B30"/>
              </a:solidFill>
              <a:latin typeface="Times New Roman" panose="02020603050405020304"/>
            </a:endParaRPr>
          </a:p>
        </p:txBody>
      </p:sp>
      <p:sp>
        <p:nvSpPr>
          <p:cNvPr id="17" name="anim_181"/>
          <p:cNvSpPr/>
          <p:nvPr/>
        </p:nvSpPr>
        <p:spPr>
          <a:xfrm>
            <a:off x="8851392" y="3611880"/>
            <a:ext cx="2560320" cy="201168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182"/>
          <p:cNvSpPr txBox="1"/>
          <p:nvPr/>
        </p:nvSpPr>
        <p:spPr>
          <a:xfrm>
            <a:off x="9015984" y="3721608"/>
            <a:ext cx="2240280" cy="18288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Rank by growth only </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and you overrate small economies while underrating the plateauing majors that hold 92.2% of 2017-21 emissions.</a:t>
            </a:r>
            <a:endParaRPr sz="13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5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childTnLst>
                          </p:cTn>
                        </p:par>
                        <p:par>
                          <p:cTn id="15" fill="hold">
                            <p:stCondLst>
                              <p:cond delay="1800"/>
                            </p:stCondLst>
                            <p:childTnLst>
                              <p:par>
                                <p:cTn id="16" presetID="10" presetClass="entr" presetSubtype="0" fill="hold" grpId="0" nodeType="afterEffect">
                                  <p:stCondLst>
                                    <p:cond delay="40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par>
                                <p:cTn id="19" presetID="10" presetClass="entr" presetSubtype="0" fill="hold" grpId="0" nodeType="withEffect">
                                  <p:stCondLst>
                                    <p:cond delay="53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Where each emission pattern is located</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Transition pressures are geographically uneven</a:t>
            </a:r>
            <a:endParaRPr sz="25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[1] [3]</a:t>
            </a:r>
            <a:endParaRPr sz="1300" b="0">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20</a:t>
            </a:r>
            <a:endParaRPr sz="1400" b="0">
              <a:solidFill>
                <a:srgbClr val="6E7672"/>
              </a:solidFill>
              <a:latin typeface="Times New Roman" panose="02020603050405020304"/>
            </a:endParaRPr>
          </a:p>
        </p:txBody>
      </p:sp>
      <p:pic>
        <p:nvPicPr>
          <p:cNvPr id="14" name="anim_183" descr="fig_pathway_map.png"/>
          <p:cNvPicPr>
            <a:picLocks noChangeAspect="1"/>
          </p:cNvPicPr>
          <p:nvPr/>
        </p:nvPicPr>
        <p:blipFill>
          <a:blip r:embed="rId2"/>
          <a:stretch>
            <a:fillRect/>
          </a:stretch>
        </p:blipFill>
        <p:spPr>
          <a:xfrm>
            <a:off x="274320" y="939422"/>
            <a:ext cx="11658600" cy="4823706"/>
          </a:xfrm>
          <a:prstGeom prst="rect">
            <a:avLst/>
          </a:prstGeom>
        </p:spPr>
      </p:pic>
      <p:sp>
        <p:nvSpPr>
          <p:cNvPr id="15" name="anim_184"/>
          <p:cNvSpPr txBox="1"/>
          <p:nvPr/>
        </p:nvSpPr>
        <p:spPr>
          <a:xfrm>
            <a:off x="566928" y="5815584"/>
            <a:ext cx="1088136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F5248"/>
                </a:solidFill>
                <a:latin typeface="Times New Roman" panose="02020603050405020304"/>
              </a:rPr>
              <a:t>The map locates monitoring tasks, not judgement: </a:t>
            </a:r>
            <a:r>
              <a:rPr sz="1500" b="0">
                <a:solidFill>
                  <a:srgbClr val="252B30"/>
                </a:solidFill>
                <a:latin typeface="Times New Roman" panose="02020603050405020304"/>
              </a:rPr>
              <a:t>rapid-growth pressure clusters in South and Southeast Asia; dark outlines flag the 10 boundary countries.</a:t>
            </a:r>
            <a:endParaRPr sz="15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How limited monitoring attention should be allocated</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Where emissions head decides where monitoring goes</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4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12" name="TextBox 11"/>
          <p:cNvSpPr txBox="1"/>
          <p:nvPr/>
        </p:nvSpPr>
        <p:spPr>
          <a:xfrm>
            <a:off x="7818120" y="6492240"/>
            <a:ext cx="2743200"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300" b="0">
                <a:solidFill>
                  <a:srgbClr val="6E7672"/>
                </a:solidFill>
                <a:latin typeface="Times New Roman" panose="02020603050405020304"/>
              </a:rPr>
              <a:t>[3]</a:t>
            </a:r>
            <a:endParaRPr sz="1300" b="0">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21</a:t>
            </a:r>
            <a:endParaRPr sz="1400" b="0">
              <a:solidFill>
                <a:srgbClr val="6E7672"/>
              </a:solidFill>
              <a:latin typeface="Times New Roman" panose="02020603050405020304"/>
            </a:endParaRPr>
          </a:p>
        </p:txBody>
      </p:sp>
      <p:pic>
        <p:nvPicPr>
          <p:cNvPr id="14" name="anim_185" descr="fig_pathway_centroids.png"/>
          <p:cNvPicPr>
            <a:picLocks noChangeAspect="1"/>
          </p:cNvPicPr>
          <p:nvPr/>
        </p:nvPicPr>
        <p:blipFill>
          <a:blip r:embed="rId2"/>
          <a:stretch>
            <a:fillRect/>
          </a:stretch>
        </p:blipFill>
        <p:spPr>
          <a:xfrm>
            <a:off x="423731" y="886968"/>
            <a:ext cx="7811904" cy="3977639"/>
          </a:xfrm>
          <a:prstGeom prst="rect">
            <a:avLst/>
          </a:prstGeom>
        </p:spPr>
      </p:pic>
      <p:sp>
        <p:nvSpPr>
          <p:cNvPr id="15" name="anim_186"/>
          <p:cNvSpPr/>
          <p:nvPr/>
        </p:nvSpPr>
        <p:spPr>
          <a:xfrm>
            <a:off x="457200" y="4828032"/>
            <a:ext cx="2404872" cy="93268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6" name="anim_187"/>
          <p:cNvSpPr txBox="1"/>
          <p:nvPr/>
        </p:nvSpPr>
        <p:spPr>
          <a:xfrm>
            <a:off x="603504" y="4864608"/>
            <a:ext cx="2103120" cy="3474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4F6E96"/>
                </a:solidFill>
                <a:latin typeface="Times New Roman" panose="02020603050405020304"/>
              </a:rPr>
              <a:t>15E to 44E</a:t>
            </a:r>
            <a:endParaRPr sz="1700" b="1">
              <a:solidFill>
                <a:srgbClr val="4F6E96"/>
              </a:solidFill>
              <a:latin typeface="Times New Roman" panose="02020603050405020304"/>
            </a:endParaRPr>
          </a:p>
        </p:txBody>
      </p:sp>
      <p:sp>
        <p:nvSpPr>
          <p:cNvPr id="17" name="anim_188"/>
          <p:cNvSpPr txBox="1"/>
          <p:nvPr/>
        </p:nvSpPr>
        <p:spPr>
          <a:xfrm>
            <a:off x="603504" y="5193792"/>
            <a:ext cx="2103120" cy="51206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252B30"/>
                </a:solidFill>
                <a:latin typeface="Times New Roman" panose="02020603050405020304"/>
              </a:rPr>
              <a:t>Centre of gravity of all 193 countries shifts east.</a:t>
            </a:r>
            <a:endParaRPr sz="1300" b="0">
              <a:solidFill>
                <a:srgbClr val="252B30"/>
              </a:solidFill>
              <a:latin typeface="Times New Roman" panose="02020603050405020304"/>
            </a:endParaRPr>
          </a:p>
        </p:txBody>
      </p:sp>
      <p:sp>
        <p:nvSpPr>
          <p:cNvPr id="18" name="anim_189"/>
          <p:cNvSpPr/>
          <p:nvPr/>
        </p:nvSpPr>
        <p:spPr>
          <a:xfrm>
            <a:off x="2944368" y="4828032"/>
            <a:ext cx="2404872" cy="932688"/>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190"/>
          <p:cNvSpPr txBox="1"/>
          <p:nvPr/>
        </p:nvSpPr>
        <p:spPr>
          <a:xfrm>
            <a:off x="3090672" y="4864608"/>
            <a:ext cx="2103120" cy="3474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BE7F4E"/>
                </a:solidFill>
                <a:latin typeface="Times New Roman" panose="02020603050405020304"/>
              </a:rPr>
              <a:t>+198%</a:t>
            </a:r>
            <a:endParaRPr sz="1700" b="1">
              <a:solidFill>
                <a:srgbClr val="BE7F4E"/>
              </a:solidFill>
              <a:latin typeface="Times New Roman" panose="02020603050405020304"/>
            </a:endParaRPr>
          </a:p>
        </p:txBody>
      </p:sp>
      <p:sp>
        <p:nvSpPr>
          <p:cNvPr id="20" name="anim_191"/>
          <p:cNvSpPr txBox="1"/>
          <p:nvPr/>
        </p:nvSpPr>
        <p:spPr>
          <a:xfrm>
            <a:off x="3090672" y="5193792"/>
            <a:ext cx="2103120" cy="51206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252B30"/>
                </a:solidFill>
                <a:latin typeface="Times New Roman" panose="02020603050405020304"/>
              </a:rPr>
              <a:t>Rapid-growth emissions since 1992; centre stays in South/Southeast Asia.</a:t>
            </a:r>
            <a:endParaRPr sz="1300" b="0">
              <a:solidFill>
                <a:srgbClr val="252B30"/>
              </a:solidFill>
              <a:latin typeface="Times New Roman" panose="02020603050405020304"/>
            </a:endParaRPr>
          </a:p>
        </p:txBody>
      </p:sp>
      <p:sp>
        <p:nvSpPr>
          <p:cNvPr id="21" name="anim_192"/>
          <p:cNvSpPr/>
          <p:nvPr/>
        </p:nvSpPr>
        <p:spPr>
          <a:xfrm>
            <a:off x="5431536" y="4828032"/>
            <a:ext cx="2404872" cy="93268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193"/>
          <p:cNvSpPr txBox="1"/>
          <p:nvPr/>
        </p:nvSpPr>
        <p:spPr>
          <a:xfrm>
            <a:off x="5577840" y="4864608"/>
            <a:ext cx="2103120" cy="3474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4F6E96"/>
                </a:solidFill>
                <a:latin typeface="Times New Roman" panose="02020603050405020304"/>
              </a:rPr>
              <a:t>+58%</a:t>
            </a:r>
            <a:endParaRPr sz="1700" b="1">
              <a:solidFill>
                <a:srgbClr val="4F6E96"/>
              </a:solidFill>
              <a:latin typeface="Times New Roman" panose="02020603050405020304"/>
            </a:endParaRPr>
          </a:p>
        </p:txBody>
      </p:sp>
      <p:sp>
        <p:nvSpPr>
          <p:cNvPr id="23" name="anim_194"/>
          <p:cNvSpPr txBox="1"/>
          <p:nvPr/>
        </p:nvSpPr>
        <p:spPr>
          <a:xfrm>
            <a:off x="5577840" y="5193792"/>
            <a:ext cx="2103120" cy="51206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252B30"/>
                </a:solidFill>
                <a:latin typeface="Times New Roman" panose="02020603050405020304"/>
              </a:rPr>
              <a:t>Plateauing emissions - 92.2% of 2017-21 emissions.</a:t>
            </a:r>
            <a:endParaRPr sz="1300" b="0">
              <a:solidFill>
                <a:srgbClr val="252B30"/>
              </a:solidFill>
              <a:latin typeface="Times New Roman" panose="02020603050405020304"/>
            </a:endParaRPr>
          </a:p>
        </p:txBody>
      </p:sp>
      <p:sp>
        <p:nvSpPr>
          <p:cNvPr id="24" name="anim_195"/>
          <p:cNvSpPr txBox="1"/>
          <p:nvPr/>
        </p:nvSpPr>
        <p:spPr>
          <a:xfrm>
            <a:off x="475488" y="5815584"/>
            <a:ext cx="758952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1">
                <a:solidFill>
                  <a:srgbClr val="2F5248"/>
                </a:solidFill>
                <a:latin typeface="Times New Roman" panose="02020603050405020304"/>
              </a:rPr>
              <a:t>Same symptom, different causes: </a:t>
            </a:r>
            <a:r>
              <a:rPr sz="1300" b="0">
                <a:solidFill>
                  <a:srgbClr val="6E7672"/>
                </a:solidFill>
                <a:latin typeface="Times New Roman" panose="02020603050405020304"/>
              </a:rPr>
              <a:t>flat emissions can mean expansion, slow post-peak decline or a real fuel shift.</a:t>
            </a:r>
            <a:endParaRPr sz="1300" b="0">
              <a:solidFill>
                <a:srgbClr val="6E7672"/>
              </a:solidFill>
              <a:latin typeface="Times New Roman" panose="02020603050405020304"/>
            </a:endParaRPr>
          </a:p>
        </p:txBody>
      </p:sp>
      <p:sp>
        <p:nvSpPr>
          <p:cNvPr id="25" name="TextBox 24"/>
          <p:cNvSpPr txBox="1"/>
          <p:nvPr/>
        </p:nvSpPr>
        <p:spPr>
          <a:xfrm>
            <a:off x="8522208" y="1005840"/>
            <a:ext cx="36576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MONITORING PRIORITIES</a:t>
            </a:r>
            <a:endParaRPr sz="1350" b="1">
              <a:solidFill>
                <a:srgbClr val="2F5248"/>
              </a:solidFill>
              <a:latin typeface="Times New Roman" panose="02020603050405020304"/>
            </a:endParaRPr>
          </a:p>
        </p:txBody>
      </p:sp>
      <p:sp>
        <p:nvSpPr>
          <p:cNvPr id="26" name="anim_196"/>
          <p:cNvSpPr/>
          <p:nvPr/>
        </p:nvSpPr>
        <p:spPr>
          <a:xfrm>
            <a:off x="8522208" y="1325880"/>
            <a:ext cx="3063240" cy="1536192"/>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197"/>
          <p:cNvSpPr/>
          <p:nvPr/>
        </p:nvSpPr>
        <p:spPr>
          <a:xfrm>
            <a:off x="8522208" y="1325880"/>
            <a:ext cx="64008" cy="1536192"/>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8" name="anim_198"/>
          <p:cNvSpPr txBox="1"/>
          <p:nvPr/>
        </p:nvSpPr>
        <p:spPr>
          <a:xfrm>
            <a:off x="8714232" y="1380744"/>
            <a:ext cx="2743200" cy="365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BE7F4E"/>
                </a:solidFill>
                <a:latin typeface="Times New Roman" panose="02020603050405020304"/>
              </a:rPr>
              <a:t>Rapid-growth pathway (24)</a:t>
            </a:r>
            <a:endParaRPr sz="1450" b="1">
              <a:solidFill>
                <a:srgbClr val="BE7F4E"/>
              </a:solidFill>
              <a:latin typeface="Times New Roman" panose="02020603050405020304"/>
            </a:endParaRPr>
          </a:p>
        </p:txBody>
      </p:sp>
      <p:sp>
        <p:nvSpPr>
          <p:cNvPr id="29" name="anim_199"/>
          <p:cNvSpPr txBox="1"/>
          <p:nvPr/>
        </p:nvSpPr>
        <p:spPr>
          <a:xfrm>
            <a:off x="8714232" y="1746504"/>
            <a:ext cx="2743200" cy="10515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Watch: growth rate · fuel shares · peak timing</a:t>
            </a:r>
            <a:endParaRPr sz="1350" b="0">
              <a:solidFill>
                <a:srgbClr val="252B30"/>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Progress = growth slows, high-carbon shares fall</a:t>
            </a:r>
            <a:endParaRPr sz="1350" b="0">
              <a:solidFill>
                <a:srgbClr val="252B30"/>
              </a:solidFill>
              <a:latin typeface="Times New Roman" panose="02020603050405020304"/>
            </a:endParaRPr>
          </a:p>
        </p:txBody>
      </p:sp>
      <p:sp>
        <p:nvSpPr>
          <p:cNvPr id="30" name="anim_200"/>
          <p:cNvSpPr/>
          <p:nvPr/>
        </p:nvSpPr>
        <p:spPr>
          <a:xfrm>
            <a:off x="8522208" y="2971800"/>
            <a:ext cx="3063240" cy="1536192"/>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201"/>
          <p:cNvSpPr/>
          <p:nvPr/>
        </p:nvSpPr>
        <p:spPr>
          <a:xfrm>
            <a:off x="8522208" y="2971800"/>
            <a:ext cx="64008" cy="1536192"/>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2" name="anim_202"/>
          <p:cNvSpPr txBox="1"/>
          <p:nvPr/>
        </p:nvSpPr>
        <p:spPr>
          <a:xfrm>
            <a:off x="8714232" y="3026664"/>
            <a:ext cx="2743200" cy="365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4F6E96"/>
                </a:solidFill>
                <a:latin typeface="Times New Roman" panose="02020603050405020304"/>
              </a:rPr>
              <a:t>Plateauing pathway (169)</a:t>
            </a:r>
            <a:endParaRPr sz="1450" b="1">
              <a:solidFill>
                <a:srgbClr val="4F6E96"/>
              </a:solidFill>
              <a:latin typeface="Times New Roman" panose="02020603050405020304"/>
            </a:endParaRPr>
          </a:p>
        </p:txBody>
      </p:sp>
      <p:sp>
        <p:nvSpPr>
          <p:cNvPr id="33" name="anim_203"/>
          <p:cNvSpPr txBox="1"/>
          <p:nvPr/>
        </p:nvSpPr>
        <p:spPr>
          <a:xfrm>
            <a:off x="8714232" y="3392424"/>
            <a:ext cx="2743200" cy="10515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Watch: total emissions · pace of decline</a:t>
            </a:r>
            <a:endParaRPr sz="1350" b="0">
              <a:solidFill>
                <a:srgbClr val="252B30"/>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Progress = absolute emissions fall structurally</a:t>
            </a:r>
            <a:endParaRPr sz="1350" b="0">
              <a:solidFill>
                <a:srgbClr val="252B30"/>
              </a:solidFill>
              <a:latin typeface="Times New Roman" panose="02020603050405020304"/>
            </a:endParaRPr>
          </a:p>
        </p:txBody>
      </p:sp>
      <p:sp>
        <p:nvSpPr>
          <p:cNvPr id="34" name="anim_204"/>
          <p:cNvSpPr/>
          <p:nvPr/>
        </p:nvSpPr>
        <p:spPr>
          <a:xfrm>
            <a:off x="8522208" y="4617720"/>
            <a:ext cx="3063240" cy="153619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205"/>
          <p:cNvSpPr/>
          <p:nvPr/>
        </p:nvSpPr>
        <p:spPr>
          <a:xfrm>
            <a:off x="8522208" y="4617720"/>
            <a:ext cx="64008" cy="1536192"/>
          </a:xfrm>
          <a:prstGeom prst="rect">
            <a:avLst/>
          </a:prstGeom>
          <a:solidFill>
            <a:srgbClr val="6E767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6" name="anim_206"/>
          <p:cNvSpPr txBox="1"/>
          <p:nvPr/>
        </p:nvSpPr>
        <p:spPr>
          <a:xfrm>
            <a:off x="8714232" y="4672583"/>
            <a:ext cx="2743200" cy="365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6E7672"/>
                </a:solidFill>
                <a:latin typeface="Times New Roman" panose="02020603050405020304"/>
              </a:rPr>
              <a:t>Boundary countries (10)</a:t>
            </a:r>
            <a:endParaRPr sz="1450" b="1">
              <a:solidFill>
                <a:srgbClr val="6E7672"/>
              </a:solidFill>
              <a:latin typeface="Times New Roman" panose="02020603050405020304"/>
            </a:endParaRPr>
          </a:p>
        </p:txBody>
      </p:sp>
      <p:sp>
        <p:nvSpPr>
          <p:cNvPr id="37" name="anim_207"/>
          <p:cNvSpPr txBox="1"/>
          <p:nvPr/>
        </p:nvSpPr>
        <p:spPr>
          <a:xfrm>
            <a:off x="8714232" y="5038344"/>
            <a:ext cx="2743200" cy="10515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Watch: data completeness · membership stability</a:t>
            </a:r>
            <a:endParaRPr sz="1350" b="0">
              <a:solidFill>
                <a:srgbClr val="252B30"/>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Progress = pathway membership stabilises with better data</a:t>
            </a:r>
            <a:endParaRPr sz="13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5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66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270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par>
                          <p:cTn id="38" fill="hold">
                            <p:stCondLst>
                              <p:cond delay="3600"/>
                            </p:stCondLst>
                            <p:childTnLst>
                              <p:par>
                                <p:cTn id="39" presetID="10" presetClass="entr" presetSubtype="0" fill="hold" grpId="0" nodeType="afterEffect">
                                  <p:stCondLst>
                                    <p:cond delay="4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childTnLst>
                          </p:cTn>
                        </p:par>
                        <p:par>
                          <p:cTn id="42" fill="hold">
                            <p:stCondLst>
                              <p:cond delay="4500"/>
                            </p:stCondLst>
                            <p:childTnLst>
                              <p:par>
                                <p:cTn id="43" presetID="10" presetClass="entr" presetSubtype="0" fill="hold" grpId="0" nodeType="afterEffect">
                                  <p:stCondLst>
                                    <p:cond delay="40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450"/>
                                        <p:tgtEl>
                                          <p:spTgt spid="26"/>
                                        </p:tgtEl>
                                      </p:cBhvr>
                                    </p:animEffect>
                                  </p:childTnLst>
                                </p:cTn>
                              </p:par>
                              <p:par>
                                <p:cTn id="46" presetID="10" presetClass="entr" presetSubtype="0" fill="hold" grpId="0" nodeType="withEffect">
                                  <p:stCondLst>
                                    <p:cond delay="53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450"/>
                                        <p:tgtEl>
                                          <p:spTgt spid="27"/>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450"/>
                                        <p:tgtEl>
                                          <p:spTgt spid="28"/>
                                        </p:tgtEl>
                                      </p:cBhvr>
                                    </p:animEffect>
                                  </p:childTnLst>
                                </p:cTn>
                              </p:par>
                              <p:par>
                                <p:cTn id="52" presetID="10" presetClass="entr" presetSubtype="0" fill="hold" grpId="0" nodeType="withEffect">
                                  <p:stCondLst>
                                    <p:cond delay="79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450"/>
                                        <p:tgtEl>
                                          <p:spTgt spid="29"/>
                                        </p:tgtEl>
                                      </p:cBhvr>
                                    </p:animEffect>
                                  </p:childTnLst>
                                </p:cTn>
                              </p:par>
                            </p:childTnLst>
                          </p:cTn>
                        </p:par>
                        <p:par>
                          <p:cTn id="55" fill="hold">
                            <p:stCondLst>
                              <p:cond delay="5400"/>
                            </p:stCondLst>
                            <p:childTnLst>
                              <p:par>
                                <p:cTn id="56" presetID="10" presetClass="entr" presetSubtype="0" fill="hold" grpId="0" nodeType="afterEffect">
                                  <p:stCondLst>
                                    <p:cond delay="40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50"/>
                                        <p:tgtEl>
                                          <p:spTgt spid="30"/>
                                        </p:tgtEl>
                                      </p:cBhvr>
                                    </p:animEffect>
                                  </p:childTnLst>
                                </p:cTn>
                              </p:par>
                              <p:par>
                                <p:cTn id="59" presetID="10" presetClass="entr" presetSubtype="0" fill="hold" grpId="0" nodeType="withEffect">
                                  <p:stCondLst>
                                    <p:cond delay="53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par>
                                <p:cTn id="62" presetID="10" presetClass="entr" presetSubtype="0" fill="hold" grpId="0" nodeType="withEffect">
                                  <p:stCondLst>
                                    <p:cond delay="66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childTnLst>
                                </p:cTn>
                              </p:par>
                              <p:par>
                                <p:cTn id="65" presetID="10" presetClass="entr" presetSubtype="0" fill="hold" grpId="0" nodeType="withEffect">
                                  <p:stCondLst>
                                    <p:cond delay="79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childTnLst>
                          </p:cTn>
                        </p:par>
                        <p:par>
                          <p:cTn id="68" fill="hold">
                            <p:stCondLst>
                              <p:cond delay="6300"/>
                            </p:stCondLst>
                            <p:childTnLst>
                              <p:par>
                                <p:cTn id="69" presetID="10" presetClass="entr" presetSubtype="0" fill="hold" grpId="0" nodeType="afterEffect">
                                  <p:stCondLst>
                                    <p:cond delay="40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450"/>
                                        <p:tgtEl>
                                          <p:spTgt spid="34"/>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450"/>
                                        <p:tgtEl>
                                          <p:spTgt spid="35"/>
                                        </p:tgtEl>
                                      </p:cBhvr>
                                    </p:animEffect>
                                  </p:childTnLst>
                                </p:cTn>
                              </p:par>
                              <p:par>
                                <p:cTn id="75" presetID="10" presetClass="entr" presetSubtype="0" fill="hold" grpId="0" nodeType="withEffect">
                                  <p:stCondLst>
                                    <p:cond delay="66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450"/>
                                        <p:tgtEl>
                                          <p:spTgt spid="36"/>
                                        </p:tgtEl>
                                      </p:cBhvr>
                                    </p:animEffect>
                                  </p:childTnLst>
                                </p:cTn>
                              </p:par>
                              <p:par>
                                <p:cTn id="78" presetID="10" presetClass="entr" presetSubtype="0" fill="hold" grpId="0" nodeType="withEffect">
                                  <p:stCondLst>
                                    <p:cond delay="79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CONCLUSIONS · What this investigation changes for climate monitoring</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From one emission total to pathway-specific monitoring</a:t>
            </a:r>
            <a:endParaRPr sz="2300" b="1">
              <a:solidFill>
                <a:srgbClr val="FFFFFF"/>
              </a:solidFill>
              <a:latin typeface="Georgia" panose="02040502050405020303"/>
            </a:endParaRPr>
          </a:p>
        </p:txBody>
      </p:sp>
      <p:sp>
        <p:nvSpPr>
          <p:cNvPr id="10" name="TextBox 9"/>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GROUP 30 - ALL MEMBERS</a:t>
            </a:r>
            <a:endParaRPr sz="1300" b="1">
              <a:solidFill>
                <a:srgbClr val="6E7672"/>
              </a:solidFill>
              <a:latin typeface="Times New Roman" panose="02020603050405020304"/>
            </a:endParaRPr>
          </a:p>
        </p:txBody>
      </p:sp>
      <p:sp>
        <p:nvSpPr>
          <p:cNvPr id="11" name="TextBox 10"/>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22</a:t>
            </a:r>
            <a:endParaRPr sz="1400" b="0">
              <a:solidFill>
                <a:srgbClr val="6E7672"/>
              </a:solidFill>
              <a:latin typeface="Times New Roman" panose="02020603050405020304"/>
            </a:endParaRPr>
          </a:p>
        </p:txBody>
      </p:sp>
      <p:sp>
        <p:nvSpPr>
          <p:cNvPr id="12" name="anim_208"/>
          <p:cNvSpPr/>
          <p:nvPr/>
        </p:nvSpPr>
        <p:spPr>
          <a:xfrm>
            <a:off x="457200" y="1188720"/>
            <a:ext cx="3566160" cy="214884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3" name="anim_209"/>
          <p:cNvSpPr/>
          <p:nvPr/>
        </p:nvSpPr>
        <p:spPr>
          <a:xfrm>
            <a:off x="457200" y="1188720"/>
            <a:ext cx="3566160" cy="91440"/>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210"/>
          <p:cNvSpPr txBox="1"/>
          <p:nvPr/>
        </p:nvSpPr>
        <p:spPr>
          <a:xfrm>
            <a:off x="621792" y="1353312"/>
            <a:ext cx="3246120" cy="3200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CURRENT BURDEN</a:t>
            </a:r>
            <a:endParaRPr sz="1350" b="1">
              <a:solidFill>
                <a:srgbClr val="4F6E96"/>
              </a:solidFill>
              <a:latin typeface="Times New Roman" panose="02020603050405020304"/>
            </a:endParaRPr>
          </a:p>
        </p:txBody>
      </p:sp>
      <p:sp>
        <p:nvSpPr>
          <p:cNvPr id="15" name="anim_211"/>
          <p:cNvSpPr txBox="1"/>
          <p:nvPr/>
        </p:nvSpPr>
        <p:spPr>
          <a:xfrm>
            <a:off x="621792" y="1700784"/>
            <a:ext cx="3246120" cy="8046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The 169-country plateauing pathway holds 92.2% of 2017-2021 sample emissions</a:t>
            </a:r>
            <a:endParaRPr sz="1400" b="1">
              <a:solidFill>
                <a:srgbClr val="252B30"/>
              </a:solidFill>
              <a:latin typeface="Times New Roman" panose="02020603050405020304"/>
            </a:endParaRPr>
          </a:p>
        </p:txBody>
      </p:sp>
      <p:sp>
        <p:nvSpPr>
          <p:cNvPr id="16" name="anim_212"/>
          <p:cNvSpPr txBox="1"/>
          <p:nvPr/>
        </p:nvSpPr>
        <p:spPr>
          <a:xfrm>
            <a:off x="621792" y="2523744"/>
            <a:ext cx="3246120" cy="7772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Push the plateau into absolute decline - this is the short-term mitigation lever.</a:t>
            </a:r>
            <a:endParaRPr sz="1350" b="0">
              <a:solidFill>
                <a:srgbClr val="252B30"/>
              </a:solidFill>
              <a:latin typeface="Times New Roman" panose="02020603050405020304"/>
            </a:endParaRPr>
          </a:p>
        </p:txBody>
      </p:sp>
      <p:sp>
        <p:nvSpPr>
          <p:cNvPr id="17" name="anim_213"/>
          <p:cNvSpPr/>
          <p:nvPr/>
        </p:nvSpPr>
        <p:spPr>
          <a:xfrm>
            <a:off x="4142232" y="1188720"/>
            <a:ext cx="3566160" cy="214884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214"/>
          <p:cNvSpPr/>
          <p:nvPr/>
        </p:nvSpPr>
        <p:spPr>
          <a:xfrm>
            <a:off x="4142232" y="1188720"/>
            <a:ext cx="3566160" cy="91440"/>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215"/>
          <p:cNvSpPr txBox="1"/>
          <p:nvPr/>
        </p:nvSpPr>
        <p:spPr>
          <a:xfrm>
            <a:off x="4306824" y="1353312"/>
            <a:ext cx="3246120" cy="3200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FUTURE PRESSURE</a:t>
            </a:r>
            <a:endParaRPr sz="1350" b="1">
              <a:solidFill>
                <a:srgbClr val="BE7F4E"/>
              </a:solidFill>
              <a:latin typeface="Times New Roman" panose="02020603050405020304"/>
            </a:endParaRPr>
          </a:p>
        </p:txBody>
      </p:sp>
      <p:sp>
        <p:nvSpPr>
          <p:cNvPr id="20" name="anim_216"/>
          <p:cNvSpPr txBox="1"/>
          <p:nvPr/>
        </p:nvSpPr>
        <p:spPr>
          <a:xfrm>
            <a:off x="4306824" y="1700784"/>
            <a:ext cx="3246120" cy="8046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The 24-country rapid-growth pathway: fast growth, late peaks, +198% since 1992</a:t>
            </a:r>
            <a:endParaRPr sz="1400" b="1">
              <a:solidFill>
                <a:srgbClr val="252B30"/>
              </a:solidFill>
              <a:latin typeface="Times New Roman" panose="02020603050405020304"/>
            </a:endParaRPr>
          </a:p>
        </p:txBody>
      </p:sp>
      <p:sp>
        <p:nvSpPr>
          <p:cNvPr id="21" name="anim_217"/>
          <p:cNvSpPr txBox="1"/>
          <p:nvPr/>
        </p:nvSpPr>
        <p:spPr>
          <a:xfrm>
            <a:off x="4306824" y="2523744"/>
            <a:ext cx="3246120" cy="7772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Track growth and lock-in signals now, before today's growth becomes tomorrow's burden.</a:t>
            </a:r>
            <a:endParaRPr sz="1350" b="0">
              <a:solidFill>
                <a:srgbClr val="252B30"/>
              </a:solidFill>
              <a:latin typeface="Times New Roman" panose="02020603050405020304"/>
            </a:endParaRPr>
          </a:p>
        </p:txBody>
      </p:sp>
      <p:sp>
        <p:nvSpPr>
          <p:cNvPr id="22" name="anim_218"/>
          <p:cNvSpPr/>
          <p:nvPr/>
        </p:nvSpPr>
        <p:spPr>
          <a:xfrm>
            <a:off x="7827264" y="1188720"/>
            <a:ext cx="3566160" cy="214884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219"/>
          <p:cNvSpPr/>
          <p:nvPr/>
        </p:nvSpPr>
        <p:spPr>
          <a:xfrm>
            <a:off x="7827264" y="1188720"/>
            <a:ext cx="3566160" cy="91440"/>
          </a:xfrm>
          <a:prstGeom prst="rect">
            <a:avLst/>
          </a:prstGeom>
          <a:solidFill>
            <a:srgbClr val="6E7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4" name="anim_220"/>
          <p:cNvSpPr txBox="1"/>
          <p:nvPr/>
        </p:nvSpPr>
        <p:spPr>
          <a:xfrm>
            <a:off x="7991856" y="1353312"/>
            <a:ext cx="3246120" cy="3200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6E7672"/>
                </a:solidFill>
                <a:latin typeface="Times New Roman" panose="02020603050405020304"/>
              </a:rPr>
              <a:t>BOUNDARY UNCERTAINTY</a:t>
            </a:r>
            <a:endParaRPr sz="1350" b="1">
              <a:solidFill>
                <a:srgbClr val="6E7672"/>
              </a:solidFill>
              <a:latin typeface="Times New Roman" panose="02020603050405020304"/>
            </a:endParaRPr>
          </a:p>
        </p:txBody>
      </p:sp>
      <p:sp>
        <p:nvSpPr>
          <p:cNvPr id="25" name="anim_221"/>
          <p:cNvSpPr txBox="1"/>
          <p:nvPr/>
        </p:nvSpPr>
        <p:spPr>
          <a:xfrm>
            <a:off x="7991856" y="1700784"/>
            <a:ext cx="3246120" cy="8046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10 low-confidence countries identified by soft membership</a:t>
            </a:r>
            <a:endParaRPr sz="1400" b="1">
              <a:solidFill>
                <a:srgbClr val="252B30"/>
              </a:solidFill>
              <a:latin typeface="Times New Roman" panose="02020603050405020304"/>
            </a:endParaRPr>
          </a:p>
        </p:txBody>
      </p:sp>
      <p:sp>
        <p:nvSpPr>
          <p:cNvPr id="26" name="anim_222"/>
          <p:cNvSpPr txBox="1"/>
          <p:nvPr/>
        </p:nvSpPr>
        <p:spPr>
          <a:xfrm>
            <a:off x="7991856" y="2523744"/>
            <a:ext cx="3246120" cy="7772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Observe them more frequently instead of forcing a fixed classification.</a:t>
            </a:r>
            <a:endParaRPr sz="1350" b="0">
              <a:solidFill>
                <a:srgbClr val="252B30"/>
              </a:solidFill>
              <a:latin typeface="Times New Roman" panose="02020603050405020304"/>
            </a:endParaRPr>
          </a:p>
        </p:txBody>
      </p:sp>
      <p:sp>
        <p:nvSpPr>
          <p:cNvPr id="27" name="anim_223"/>
          <p:cNvSpPr/>
          <p:nvPr/>
        </p:nvSpPr>
        <p:spPr>
          <a:xfrm>
            <a:off x="457200" y="3584448"/>
            <a:ext cx="10936224" cy="96926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224"/>
          <p:cNvSpPr txBox="1"/>
          <p:nvPr/>
        </p:nvSpPr>
        <p:spPr>
          <a:xfrm>
            <a:off x="658368" y="3675887"/>
            <a:ext cx="10515600" cy="8412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4F6E96"/>
                </a:solidFill>
                <a:latin typeface="Times New Roman" panose="02020603050405020304"/>
              </a:rPr>
              <a:t>What is novel here: </a:t>
            </a:r>
            <a:r>
              <a:rPr sz="1500" b="0">
                <a:solidFill>
                  <a:srgbClr val="252B30"/>
                </a:solidFill>
                <a:latin typeface="Times New Roman" panose="02020603050405020304"/>
              </a:rPr>
              <a:t>an 11-feature trajectory profile (level · direction · timing · fuel shift) that makes 30 years of history comparable per country, and a stability-checked K = 2 screen used as a monitoring tool - not as another league table.</a:t>
            </a:r>
            <a:endParaRPr sz="1500" b="0">
              <a:solidFill>
                <a:srgbClr val="252B30"/>
              </a:solidFill>
              <a:latin typeface="Times New Roman" panose="02020603050405020304"/>
            </a:endParaRPr>
          </a:p>
        </p:txBody>
      </p:sp>
      <p:sp>
        <p:nvSpPr>
          <p:cNvPr id="29" name="anim_225"/>
          <p:cNvSpPr/>
          <p:nvPr/>
        </p:nvSpPr>
        <p:spPr>
          <a:xfrm>
            <a:off x="457200" y="4681728"/>
            <a:ext cx="10936224" cy="969264"/>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0" name="anim_226"/>
          <p:cNvSpPr txBox="1"/>
          <p:nvPr/>
        </p:nvSpPr>
        <p:spPr>
          <a:xfrm>
            <a:off x="658368" y="4773168"/>
            <a:ext cx="10515600" cy="8412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F5248"/>
                </a:solidFill>
                <a:latin typeface="Times New Roman" panose="02020603050405020304"/>
              </a:rPr>
              <a:t>Honest limits: </a:t>
            </a:r>
            <a:r>
              <a:rPr sz="1500" b="0">
                <a:solidFill>
                  <a:srgbClr val="252B30"/>
                </a:solidFill>
                <a:latin typeface="Times New Roman" panose="02020603050405020304"/>
              </a:rPr>
              <a:t>pathways are empirical patterns in 1992-2021, not causes, forecasts or policy verdicts; with no policy or economic variables in the panel, the model prioritises deeper investigation - it does not replace it.</a:t>
            </a:r>
            <a:endParaRPr sz="1500" b="0">
              <a:solidFill>
                <a:srgbClr val="252B30"/>
              </a:solidFill>
              <a:latin typeface="Times New Roman" panose="02020603050405020304"/>
            </a:endParaRPr>
          </a:p>
        </p:txBody>
      </p:sp>
      <p:sp>
        <p:nvSpPr>
          <p:cNvPr id="31" name="Rectangle 30"/>
          <p:cNvSpPr/>
          <p:nvPr/>
        </p:nvSpPr>
        <p:spPr>
          <a:xfrm>
            <a:off x="5029200" y="5797296"/>
            <a:ext cx="2130552" cy="32004"/>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anim_227"/>
          <p:cNvSpPr txBox="1"/>
          <p:nvPr/>
        </p:nvSpPr>
        <p:spPr>
          <a:xfrm>
            <a:off x="457200" y="5888736"/>
            <a:ext cx="11274552" cy="36576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450" b="1">
                <a:solidFill>
                  <a:srgbClr val="2F5248"/>
                </a:solidFill>
                <a:latin typeface="Times New Roman" panose="02020603050405020304"/>
              </a:rPr>
              <a:t>The purpose is not to rank countries, but to identify where different transition pressures require different monitoring priorities.</a:t>
            </a:r>
            <a:endParaRPr sz="1450" b="1">
              <a:solidFill>
                <a:srgbClr val="2F5248"/>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childTnLst>
                          </p:cTn>
                        </p:par>
                        <p:par>
                          <p:cTn id="20" fill="hold">
                            <p:stCondLst>
                              <p:cond delay="900"/>
                            </p:stCondLst>
                            <p:childTnLst>
                              <p:par>
                                <p:cTn id="21" presetID="10" presetClass="entr" presetSubtype="0" fill="hold" grpId="0" nodeType="afterEffect">
                                  <p:stCondLst>
                                    <p:cond delay="40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53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66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79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92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childTnLst>
                          </p:cTn>
                        </p:par>
                        <p:par>
                          <p:cTn id="36" fill="hold">
                            <p:stCondLst>
                              <p:cond delay="1800"/>
                            </p:stCondLst>
                            <p:childTnLst>
                              <p:par>
                                <p:cTn id="37" presetID="10" presetClass="entr" presetSubtype="0" fill="hold" grpId="0" nodeType="afterEffect">
                                  <p:stCondLst>
                                    <p:cond delay="40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grpId="0" nodeType="withEffect">
                                  <p:stCondLst>
                                    <p:cond delay="53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3" presetID="10" presetClass="entr" presetSubtype="0" fill="hold" grpId="0" nodeType="withEffect">
                                  <p:stCondLst>
                                    <p:cond delay="66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6" presetID="10" presetClass="entr" presetSubtype="0" fill="hold" grpId="0" nodeType="withEffect">
                                  <p:stCondLst>
                                    <p:cond delay="79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par>
                                <p:cTn id="49" presetID="10" presetClass="entr" presetSubtype="0" fill="hold" grpId="0" nodeType="withEffect">
                                  <p:stCondLst>
                                    <p:cond delay="92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50"/>
                                        <p:tgtEl>
                                          <p:spTgt spid="26"/>
                                        </p:tgtEl>
                                      </p:cBhvr>
                                    </p:animEffect>
                                  </p:childTnLst>
                                </p:cTn>
                              </p:par>
                            </p:childTnLst>
                          </p:cTn>
                        </p:par>
                        <p:par>
                          <p:cTn id="52" fill="hold">
                            <p:stCondLst>
                              <p:cond delay="2700"/>
                            </p:stCondLst>
                            <p:childTnLst>
                              <p:par>
                                <p:cTn id="53" presetID="10" presetClass="entr" presetSubtype="0" fill="hold" grpId="0" nodeType="afterEffect">
                                  <p:stCondLst>
                                    <p:cond delay="40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50"/>
                                        <p:tgtEl>
                                          <p:spTgt spid="27"/>
                                        </p:tgtEl>
                                      </p:cBhvr>
                                    </p:animEffect>
                                  </p:childTnLst>
                                </p:cTn>
                              </p:par>
                              <p:par>
                                <p:cTn id="56" presetID="10" presetClass="entr" presetSubtype="0" fill="hold" grpId="0" nodeType="withEffect">
                                  <p:stCondLst>
                                    <p:cond delay="5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childTnLst>
                          </p:cTn>
                        </p:par>
                        <p:par>
                          <p:cTn id="59" fill="hold">
                            <p:stCondLst>
                              <p:cond delay="3600"/>
                            </p:stCondLst>
                            <p:childTnLst>
                              <p:par>
                                <p:cTn id="60" presetID="10" presetClass="entr" presetSubtype="0" fill="hold" grpId="0" nodeType="afterEffect">
                                  <p:stCondLst>
                                    <p:cond delay="40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50"/>
                                        <p:tgtEl>
                                          <p:spTgt spid="29"/>
                                        </p:tgtEl>
                                      </p:cBhvr>
                                    </p:animEffect>
                                  </p:childTnLst>
                                </p:cTn>
                              </p:par>
                              <p:par>
                                <p:cTn id="63" presetID="10" presetClass="entr" presetSubtype="0" fill="hold" grpId="0" nodeType="withEffect">
                                  <p:stCondLst>
                                    <p:cond delay="53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50"/>
                                        <p:tgtEl>
                                          <p:spTgt spid="30"/>
                                        </p:tgtEl>
                                      </p:cBhvr>
                                    </p:animEffect>
                                  </p:childTnLst>
                                </p:cTn>
                              </p:par>
                            </p:childTnLst>
                          </p:cTn>
                        </p:par>
                        <p:par>
                          <p:cTn id="66" fill="hold">
                            <p:stCondLst>
                              <p:cond delay="4500"/>
                            </p:stCondLst>
                            <p:childTnLst>
                              <p:par>
                                <p:cTn id="67" presetID="10" presetClass="entr" presetSubtype="0" fill="hold" grpId="0" nodeType="afterEffect">
                                  <p:stCondLst>
                                    <p:cond delay="40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2500" b="1">
                <a:solidFill>
                  <a:srgbClr val="FFFFFF"/>
                </a:solidFill>
                <a:latin typeface="Georgia" panose="02040502050405020303"/>
              </a:rPr>
              <a:t>Acknowledgements</a:t>
            </a:r>
            <a:endParaRPr sz="2500" b="1">
              <a:solidFill>
                <a:srgbClr val="FFFFFF"/>
              </a:solidFill>
              <a:latin typeface="Georgia" panose="02040502050405020303"/>
            </a:endParaRPr>
          </a:p>
        </p:txBody>
      </p:sp>
      <p:sp>
        <p:nvSpPr>
          <p:cNvPr id="10" name="TextBox 9"/>
          <p:cNvSpPr txBox="1"/>
          <p:nvPr/>
        </p:nvSpPr>
        <p:spPr>
          <a:xfrm>
            <a:off x="777240" y="1133856"/>
            <a:ext cx="676656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3000" b="1">
                <a:solidFill>
                  <a:srgbClr val="252B30"/>
                </a:solidFill>
                <a:latin typeface="Georgia" panose="02040502050405020303"/>
              </a:rPr>
              <a:t>Thank you</a:t>
            </a:r>
            <a:endParaRPr sz="3000" b="1">
              <a:solidFill>
                <a:srgbClr val="252B30"/>
              </a:solidFill>
              <a:latin typeface="Georgia" panose="02040502050405020303"/>
            </a:endParaRPr>
          </a:p>
          <a:p>
            <a:pPr algn="l">
              <a:spcBef>
                <a:spcPts val="600"/>
              </a:spcBef>
              <a:defRPr>
                <a:latin typeface="Times New Roman" panose="02020603050405020304"/>
              </a:defRPr>
            </a:pPr>
            <a:r>
              <a:rPr sz="1700" b="0">
                <a:solidFill>
                  <a:srgbClr val="6E7672"/>
                </a:solidFill>
                <a:latin typeface="Times New Roman" panose="02020603050405020304"/>
              </a:rPr>
              <a:t>for your attention and questions.</a:t>
            </a:r>
            <a:endParaRPr sz="1700" b="0">
              <a:solidFill>
                <a:srgbClr val="6E7672"/>
              </a:solidFill>
              <a:latin typeface="Times New Roman" panose="02020603050405020304"/>
            </a:endParaRPr>
          </a:p>
        </p:txBody>
      </p:sp>
      <p:sp>
        <p:nvSpPr>
          <p:cNvPr id="11" name="Rectangle 10"/>
          <p:cNvSpPr/>
          <p:nvPr/>
        </p:nvSpPr>
        <p:spPr>
          <a:xfrm>
            <a:off x="777240" y="2212848"/>
            <a:ext cx="1371600" cy="41148"/>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2" name="Rectangle 11"/>
          <p:cNvSpPr/>
          <p:nvPr/>
        </p:nvSpPr>
        <p:spPr>
          <a:xfrm>
            <a:off x="777240" y="2395728"/>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3" name="TextBox 12"/>
          <p:cNvSpPr txBox="1"/>
          <p:nvPr/>
        </p:nvSpPr>
        <p:spPr>
          <a:xfrm>
            <a:off x="987552" y="2395728"/>
            <a:ext cx="603504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Course</a:t>
            </a:r>
            <a:endParaRPr sz="1400" b="1">
              <a:solidFill>
                <a:srgbClr val="2F5248"/>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CA6002 AI UX &amp; Data Visualisation Design Principles, NTU.</a:t>
            </a:r>
            <a:endParaRPr sz="1300" b="0">
              <a:solidFill>
                <a:srgbClr val="252B30"/>
              </a:solidFill>
              <a:latin typeface="Times New Roman" panose="02020603050405020304"/>
            </a:endParaRPr>
          </a:p>
        </p:txBody>
      </p:sp>
      <p:sp>
        <p:nvSpPr>
          <p:cNvPr id="14" name="Rectangle 13"/>
          <p:cNvSpPr/>
          <p:nvPr/>
        </p:nvSpPr>
        <p:spPr>
          <a:xfrm>
            <a:off x="777240" y="3054096"/>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5" name="TextBox 14"/>
          <p:cNvSpPr txBox="1"/>
          <p:nvPr/>
        </p:nvSpPr>
        <p:spPr>
          <a:xfrm>
            <a:off x="987552" y="3054096"/>
            <a:ext cx="603504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Open-source tools</a:t>
            </a:r>
            <a:endParaRPr sz="1400" b="1">
              <a:solidFill>
                <a:srgbClr val="2F5248"/>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Python, pandas, scikit-learn, matplotlib, GeoPandas, python-pptx.</a:t>
            </a:r>
            <a:endParaRPr sz="1300" b="0">
              <a:solidFill>
                <a:srgbClr val="252B30"/>
              </a:solidFill>
              <a:latin typeface="Times New Roman" panose="02020603050405020304"/>
            </a:endParaRPr>
          </a:p>
        </p:txBody>
      </p:sp>
      <p:sp>
        <p:nvSpPr>
          <p:cNvPr id="16" name="Rectangle 15"/>
          <p:cNvSpPr/>
          <p:nvPr/>
        </p:nvSpPr>
        <p:spPr>
          <a:xfrm>
            <a:off x="777240" y="3712463"/>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7" name="TextBox 16"/>
          <p:cNvSpPr txBox="1"/>
          <p:nvPr/>
        </p:nvSpPr>
        <p:spPr>
          <a:xfrm>
            <a:off x="987552" y="3712463"/>
            <a:ext cx="603504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Generative AI</a:t>
            </a:r>
            <a:endParaRPr sz="1400" b="1">
              <a:solidFill>
                <a:srgbClr val="2F5248"/>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ChatGPT (OpenAI) assisted with Python plotting code; all data processing, results and interpretation are the group's own work.</a:t>
            </a:r>
            <a:endParaRPr sz="1300" b="0">
              <a:solidFill>
                <a:srgbClr val="252B30"/>
              </a:solidFill>
              <a:latin typeface="Times New Roman" panose="02020603050405020304"/>
            </a:endParaRPr>
          </a:p>
        </p:txBody>
      </p:sp>
      <p:pic>
        <p:nvPicPr>
          <p:cNvPr id="18" name="Picture 17" descr="fig_cover_art.png"/>
          <p:cNvPicPr>
            <a:picLocks noChangeAspect="1"/>
          </p:cNvPicPr>
          <p:nvPr/>
        </p:nvPicPr>
        <p:blipFill>
          <a:blip r:embed="rId2"/>
          <a:stretch>
            <a:fillRect/>
          </a:stretch>
        </p:blipFill>
        <p:spPr>
          <a:xfrm>
            <a:off x="7635240" y="1360976"/>
            <a:ext cx="4069080" cy="1676310"/>
          </a:xfrm>
          <a:prstGeom prst="rect">
            <a:avLst/>
          </a:prstGeom>
        </p:spPr>
      </p:pic>
      <p:sp>
        <p:nvSpPr>
          <p:cNvPr id="19" name="TextBox 18"/>
          <p:cNvSpPr txBox="1"/>
          <p:nvPr/>
        </p:nvSpPr>
        <p:spPr>
          <a:xfrm>
            <a:off x="7635240" y="3310128"/>
            <a:ext cx="4069080" cy="10058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2F5248"/>
                </a:solidFill>
                <a:latin typeface="Times New Roman" panose="02020603050405020304"/>
              </a:rPr>
              <a:t>Group 30</a:t>
            </a:r>
            <a:endParaRPr sz="1700" b="1">
              <a:solidFill>
                <a:srgbClr val="2F5248"/>
              </a:solidFill>
              <a:latin typeface="Times New Roman" panose="02020603050405020304"/>
            </a:endParaRPr>
          </a:p>
          <a:p>
            <a:pPr algn="l">
              <a:spcBef>
                <a:spcPts val="400"/>
              </a:spcBef>
              <a:defRPr>
                <a:latin typeface="Times New Roman" panose="02020603050405020304"/>
              </a:defRPr>
            </a:pPr>
            <a:r>
              <a:rPr sz="1400" b="1">
                <a:solidFill>
                  <a:srgbClr val="252B30"/>
                </a:solidFill>
                <a:latin typeface="Times New Roman" panose="02020603050405020304"/>
              </a:rPr>
              <a:t>RAN CHANGMING  ·  REN SIYU</a:t>
            </a:r>
            <a:endParaRPr sz="1400" b="1">
              <a:solidFill>
                <a:srgbClr val="252B30"/>
              </a:solidFill>
              <a:latin typeface="Times New Roman" panose="02020603050405020304"/>
            </a:endParaRPr>
          </a:p>
          <a:p>
            <a:pPr algn="l">
              <a:defRPr>
                <a:latin typeface="Times New Roman" panose="02020603050405020304"/>
              </a:defRPr>
            </a:pPr>
            <a:r>
              <a:rPr sz="1400" b="1">
                <a:solidFill>
                  <a:srgbClr val="252B30"/>
                </a:solidFill>
                <a:latin typeface="Times New Roman" panose="02020603050405020304"/>
              </a:rPr>
              <a:t>REYIZA RESIBIEKE  ·  SHEN RUITING</a:t>
            </a:r>
            <a:endParaRPr sz="1400" b="1">
              <a:solidFill>
                <a:srgbClr val="252B30"/>
              </a:solidFill>
              <a:latin typeface="Times New Roman" panose="02020603050405020304"/>
            </a:endParaRPr>
          </a:p>
        </p:txBody>
      </p:sp>
      <p:sp>
        <p:nvSpPr>
          <p:cNvPr id="20" name="TextBox 19"/>
          <p:cNvSpPr txBox="1"/>
          <p:nvPr/>
        </p:nvSpPr>
        <p:spPr>
          <a:xfrm>
            <a:off x="777240" y="4370832"/>
            <a:ext cx="36576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REFERENCES</a:t>
            </a:r>
            <a:endParaRPr sz="1350" b="1">
              <a:solidFill>
                <a:srgbClr val="2F5248"/>
              </a:solidFill>
              <a:latin typeface="Times New Roman" panose="02020603050405020304"/>
            </a:endParaRPr>
          </a:p>
        </p:txBody>
      </p:sp>
      <p:sp>
        <p:nvSpPr>
          <p:cNvPr id="21" name="TextBox 20"/>
          <p:cNvSpPr txBox="1"/>
          <p:nvPr/>
        </p:nvSpPr>
        <p:spPr>
          <a:xfrm>
            <a:off x="777240" y="4681728"/>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[1]</a:t>
            </a:r>
            <a:endParaRPr sz="1100" b="1">
              <a:solidFill>
                <a:srgbClr val="2F5248"/>
              </a:solidFill>
              <a:latin typeface="Times New Roman" panose="02020603050405020304"/>
            </a:endParaRPr>
          </a:p>
        </p:txBody>
      </p:sp>
      <p:sp>
        <p:nvSpPr>
          <p:cNvPr id="22" name="TextBox 21"/>
          <p:cNvSpPr txBox="1"/>
          <p:nvPr/>
        </p:nvSpPr>
        <p:spPr>
          <a:xfrm>
            <a:off x="1161288" y="4681728"/>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Ritchie, H., Rosado, P. &amp; Roser, M. (2023). CO₂ and Greenhouse Gas Emissions. Our World in Data.</a:t>
            </a:r>
            <a:endParaRPr sz="1300" b="0">
              <a:solidFill>
                <a:srgbClr val="6E7672"/>
              </a:solidFill>
              <a:latin typeface="Times New Roman" panose="02020603050405020304"/>
            </a:endParaRPr>
          </a:p>
        </p:txBody>
      </p:sp>
      <p:sp>
        <p:nvSpPr>
          <p:cNvPr id="23" name="TextBox 22"/>
          <p:cNvSpPr txBox="1"/>
          <p:nvPr/>
        </p:nvSpPr>
        <p:spPr>
          <a:xfrm>
            <a:off x="777240" y="5212080"/>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[2]</a:t>
            </a:r>
            <a:endParaRPr sz="1100" b="1">
              <a:solidFill>
                <a:srgbClr val="2F5248"/>
              </a:solidFill>
              <a:latin typeface="Times New Roman" panose="02020603050405020304"/>
            </a:endParaRPr>
          </a:p>
        </p:txBody>
      </p:sp>
      <p:sp>
        <p:nvSpPr>
          <p:cNvPr id="24" name="TextBox 23"/>
          <p:cNvSpPr txBox="1"/>
          <p:nvPr/>
        </p:nvSpPr>
        <p:spPr>
          <a:xfrm>
            <a:off x="1161288" y="5212080"/>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Friedlingstein, P. et al. (2022). Global Carbon Budget 2022. Earth Syst. Sci. Data, 14(11), 4811-4900.</a:t>
            </a:r>
            <a:endParaRPr sz="1300" b="0">
              <a:solidFill>
                <a:srgbClr val="6E7672"/>
              </a:solidFill>
              <a:latin typeface="Times New Roman" panose="02020603050405020304"/>
            </a:endParaRPr>
          </a:p>
        </p:txBody>
      </p:sp>
      <p:sp>
        <p:nvSpPr>
          <p:cNvPr id="25" name="TextBox 24"/>
          <p:cNvSpPr txBox="1"/>
          <p:nvPr/>
        </p:nvSpPr>
        <p:spPr>
          <a:xfrm>
            <a:off x="777240" y="5742432"/>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[3]</a:t>
            </a:r>
            <a:endParaRPr sz="1100" b="1">
              <a:solidFill>
                <a:srgbClr val="2F5248"/>
              </a:solidFill>
              <a:latin typeface="Times New Roman" panose="02020603050405020304"/>
            </a:endParaRPr>
          </a:p>
        </p:txBody>
      </p:sp>
      <p:sp>
        <p:nvSpPr>
          <p:cNvPr id="26" name="TextBox 25"/>
          <p:cNvSpPr txBox="1"/>
          <p:nvPr/>
        </p:nvSpPr>
        <p:spPr>
          <a:xfrm>
            <a:off x="1161288" y="5742432"/>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Natural Earth. Admin 0 - Countries, 1:110m Cultural Vectors (public domain).</a:t>
            </a:r>
            <a:endParaRPr sz="1300" b="0">
              <a:solidFill>
                <a:srgbClr val="6E7672"/>
              </a:solidFill>
              <a:latin typeface="Times New Roman" panose="02020603050405020304"/>
            </a:endParaRPr>
          </a:p>
        </p:txBody>
      </p:sp>
      <p:sp>
        <p:nvSpPr>
          <p:cNvPr id="27" name="TextBox 26"/>
          <p:cNvSpPr txBox="1"/>
          <p:nvPr/>
        </p:nvSpPr>
        <p:spPr>
          <a:xfrm>
            <a:off x="6172200" y="4681728"/>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[4]</a:t>
            </a:r>
            <a:endParaRPr sz="1100" b="1">
              <a:solidFill>
                <a:srgbClr val="2F5248"/>
              </a:solidFill>
              <a:latin typeface="Times New Roman" panose="02020603050405020304"/>
            </a:endParaRPr>
          </a:p>
        </p:txBody>
      </p:sp>
      <p:sp>
        <p:nvSpPr>
          <p:cNvPr id="28" name="TextBox 27"/>
          <p:cNvSpPr txBox="1"/>
          <p:nvPr/>
        </p:nvSpPr>
        <p:spPr>
          <a:xfrm>
            <a:off x="6556248" y="4681728"/>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Pedregosa, F. et al. (2011). Scikit-learn: Machine Learning in Python. JMLR, 12, 2825-2830.</a:t>
            </a:r>
            <a:endParaRPr sz="1300" b="0">
              <a:solidFill>
                <a:srgbClr val="6E7672"/>
              </a:solidFill>
              <a:latin typeface="Times New Roman" panose="02020603050405020304"/>
            </a:endParaRPr>
          </a:p>
        </p:txBody>
      </p:sp>
      <p:sp>
        <p:nvSpPr>
          <p:cNvPr id="29" name="TextBox 28"/>
          <p:cNvSpPr txBox="1"/>
          <p:nvPr/>
        </p:nvSpPr>
        <p:spPr>
          <a:xfrm>
            <a:off x="6172200" y="5212080"/>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[5]</a:t>
            </a:r>
            <a:endParaRPr sz="1100" b="1">
              <a:solidFill>
                <a:srgbClr val="2F5248"/>
              </a:solidFill>
              <a:latin typeface="Times New Roman" panose="02020603050405020304"/>
            </a:endParaRPr>
          </a:p>
        </p:txBody>
      </p:sp>
      <p:sp>
        <p:nvSpPr>
          <p:cNvPr id="30" name="TextBox 29"/>
          <p:cNvSpPr txBox="1"/>
          <p:nvPr/>
        </p:nvSpPr>
        <p:spPr>
          <a:xfrm>
            <a:off x="6556248" y="5212080"/>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Rousseeuw, P. J. (1987). Silhouettes: a graphical aid to cluster analysis. J. Comput. Appl. Math., 20, 53-65.</a:t>
            </a:r>
            <a:endParaRPr sz="1300" b="0">
              <a:solidFill>
                <a:srgbClr val="6E7672"/>
              </a:solidFill>
              <a:latin typeface="Times New Roman" panose="02020603050405020304"/>
            </a:endParaRPr>
          </a:p>
        </p:txBody>
      </p:sp>
      <p:sp>
        <p:nvSpPr>
          <p:cNvPr id="31" name="TextBox 30"/>
          <p:cNvSpPr txBox="1"/>
          <p:nvPr/>
        </p:nvSpPr>
        <p:spPr>
          <a:xfrm>
            <a:off x="6172200" y="5742432"/>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[6]</a:t>
            </a:r>
            <a:endParaRPr sz="1100" b="1">
              <a:solidFill>
                <a:srgbClr val="2F5248"/>
              </a:solidFill>
              <a:latin typeface="Times New Roman" panose="02020603050405020304"/>
            </a:endParaRPr>
          </a:p>
        </p:txBody>
      </p:sp>
      <p:sp>
        <p:nvSpPr>
          <p:cNvPr id="32" name="TextBox 31"/>
          <p:cNvSpPr txBox="1"/>
          <p:nvPr/>
        </p:nvSpPr>
        <p:spPr>
          <a:xfrm>
            <a:off x="6556248" y="5742432"/>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Hubert, L. &amp; Arabie, P. (1985). Comparing partitions. J. Classification, 2, 193-218.</a:t>
            </a:r>
            <a:endParaRPr sz="1300" b="0">
              <a:solidFill>
                <a:srgbClr val="6E7672"/>
              </a:solidFill>
              <a:latin typeface="Times New Roman" panose="02020603050405020304"/>
            </a:endParaRPr>
          </a:p>
        </p:txBody>
      </p:sp>
    </p:spTree>
  </p:cSld>
  <p:clrMapOvr>
    <a:masterClrMapping/>
  </p:clrMapOvr>
  <p:transition spd="med">
    <p:fade/>
  </p:transition>
</p:sld>
</file>

<file path=ppt/tags/tag1.xml><?xml version="1.0" encoding="utf-8"?>
<p:tagLst xmlns:p="http://schemas.openxmlformats.org/presentationml/2006/main">
  <p:tag name="commondata" val="eyJoZGlkIjoiZGQ0MGQwMzljZTE0ZTg5YjY4YTg1OTEzZmNiZWMxM2IifQ=="/>
  <p:tag name="resource_record_key" val="{&quot;13&quot;:[202096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16791</Words>
  <Application>WPS 演示</Application>
  <PresentationFormat>Converted Presentation</PresentationFormat>
  <Paragraphs>930</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宋体</vt:lpstr>
      <vt:lpstr>Wingdings</vt:lpstr>
      <vt:lpstr>Arial</vt:lpstr>
      <vt:lpstr>Times New Roman</vt:lpstr>
      <vt:lpstr>Georgia</vt:lpstr>
      <vt:lpstr>Arial Narrow</vt:lpstr>
      <vt:lpstr>微软雅黑</vt:lpstr>
      <vt:lpstr>Arial Unicode MS</vt:lpstr>
      <vt:lpstr>等线</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UX &amp; Data Visualisation Design Principles (CA6002)</dc:title>
  <dc:creator>Walnut Exporter</dc:creator>
  <cp:lastModifiedBy>沈瑞庭</cp:lastModifiedBy>
  <cp:revision>12</cp:revision>
  <dcterms:created xsi:type="dcterms:W3CDTF">2026-08-30T06:44:00Z</dcterms:created>
  <dcterms:modified xsi:type="dcterms:W3CDTF">2026-08-30T12:01:14Z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946010AEEC8C418DAEFDEEC71A2EAEFC_12</vt:lpwstr>
  </property>
  <property fmtid="{D5CDD505-2E9C-101B-9397-08002B2CF9AE}" pid="3" name="KSOProductBuildVer">
    <vt:lpwstr>2052-12.1.0.18276</vt:lpwstr>
  </property>
</Properties>
</file>