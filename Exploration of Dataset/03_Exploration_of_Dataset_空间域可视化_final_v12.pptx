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9" r:id="rId6"/>
  </p:sldIdLst>
  <p:sldSz cx="12191365" cy="6858000"/>
  <p:notesSz cx="6858000" cy="9144000"/>
  <p:custDataLst>
    <p:tags r:id="rId1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050">
                <a:solidFill>
                  <a:srgbClr val="232F44"/>
                </a:solidFill>
                <a:latin typeface="Segoe UI" panose="020B0502040204020203" charset="0"/>
                <a:cs typeface="Segoe UI" panose="020B0502040204020203" charset="0"/>
              </a:rPr>
              <a:t>This treemap is appropriate for a hierarchical part-to-whole comparison: area represents each country's share of 2021 global CO₂, while colour groups countries by region. The main pattern is strong concentration. Asia contributes 59.8% of global emissions, China alone contributes 31.4%, and the Top 20 countries account for 81.2%. The smallest cells are intentionally left unlabelled to avoid visual clutter; ISO-3 abbreviations are used where full names would not fit. The statistics were checked against the final 2021 panel. Generative AI assisted with code drafting and layout refinement; all calculations and visual claims were subsequently verified.</a:t>
            </a:r>
            <a:endParaRPr sz="1050">
              <a:solidFill>
                <a:srgbClr val="232F44"/>
              </a:solidFill>
              <a:latin typeface="Segoe UI" panose="020B0502040204020203" charset="0"/>
              <a:cs typeface="Segoe UI" panose="020B0502040204020203"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050">
                <a:solidFill>
                  <a:srgbClr val="232F44"/>
                </a:solidFill>
                <a:latin typeface="Segoe UI" panose="020B0502040204020203" charset="0"/>
                <a:cs typeface="Segoe UI" panose="020B0502040204020203" charset="0"/>
              </a:rPr>
              <a:t>This map deliberately combines two complementary measures. Land fill represents total CO₂ on a log₁₀ megatonne scale, while 3-D bar height and colour represent CO₂ per person in tonnes per person. The paired encodings reveal the contrast between national scale and emissions intensity: China leads total emissions, whereas Qatar has the highest per-capita value. Natural Earth 110m polygons match 169 of the 213 panel entities but still cover approximately 99.6% of global emissions. Some small islands and territories may therefore be absent from land fill; selected small-country bars are positioned separately. Generative AI assisted with implementation and layout; the underlying values were checked against the final panel.</a:t>
            </a:r>
            <a:endParaRPr sz="1050">
              <a:solidFill>
                <a:srgbClr val="232F44"/>
              </a:solidFill>
              <a:latin typeface="Segoe UI" panose="020B0502040204020203" charset="0"/>
              <a:cs typeface="Segoe UI" panose="020B0502040204020203"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050">
                <a:solidFill>
                  <a:srgbClr val="232F44"/>
                </a:solidFill>
                <a:latin typeface="Segoe UI" panose="020B0502040204020203" charset="0"/>
                <a:cs typeface="Segoe UI" panose="020B0502040204020203" charset="0"/>
              </a:rPr>
              <a:t>This categorical choropleth shows each country's dominant fossil-fuel source in 2021: coal, oil or gas. Pie charts provide the actual three-fuel shares for selected major emitters, preventing the dominant-category map from hiding mixed national profiles. White areas indicate missing or unreliable fuel profiles rather than a fourth fuel category. The map uses the same Natural Earth 110m coverage limitation as the previous map, so some small territories do not have visible polygons. The figure is intended to compare spatial regimes and fuel structure, not the magnitude of total emissions. Generative AI assisted with coding and layout; fuel shares and reliability flags were checked against the final panel.</a:t>
            </a:r>
            <a:endParaRPr sz="1050">
              <a:solidFill>
                <a:srgbClr val="232F44"/>
              </a:solidFill>
              <a:latin typeface="Segoe UI" panose="020B0502040204020203" charset="0"/>
              <a:cs typeface="Segoe UI" panose="020B0502040204020203"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5BCAD085-E8A6-8845-BD4E-CB4CCA059FC4}" type="datetimeFigureOut">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5BCAD085-E8A6-8845-BD4E-CB4CCA059FC4}" type="datetimeFigureOut">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5BCAD085-E8A6-8845-BD4E-CB4CCA059FC4}" type="datetimeFigureOut">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rPr/>
            </a:fld>
            <a:endParaRPr/>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4572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4572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4572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4572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4572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4572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4572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4572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5.png"/><Relationship Id="rId2" Type="http://schemas.openxmlformats.org/officeDocument/2006/relationships/tags" Target="../tags/tag2.xml"/><Relationship Id="rId11" Type="http://schemas.openxmlformats.org/officeDocument/2006/relationships/notesSlide" Target="../notesSlides/notesSlide3.xml"/><Relationship Id="rId10" Type="http://schemas.openxmlformats.org/officeDocument/2006/relationships/slideLayout" Target="../slideLayouts/slideLayout7.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BDE"/>
        </a:solidFill>
        <a:effectLst/>
      </p:bgPr>
    </p:bg>
    <p:spTree>
      <p:nvGrpSpPr>
        <p:cNvPr id="1" name=""/>
        <p:cNvGrpSpPr/>
        <p:nvPr/>
      </p:nvGrpSpPr>
      <p:grpSpPr/>
      <p:sp>
        <p:nvSpPr>
          <p:cNvPr id="2" name="Rectangle 1"/>
          <p:cNvSpPr>
            <a:spLocks noGrp="1"/>
          </p:cNvSpPr>
          <p:nvPr/>
        </p:nvSpPr>
        <p:spPr>
          <a:xfrm>
            <a:off x="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 name="Rectangle 2"/>
          <p:cNvSpPr>
            <a:spLocks noGrp="1"/>
          </p:cNvSpPr>
          <p:nvPr/>
        </p:nvSpPr>
        <p:spPr>
          <a:xfrm>
            <a:off x="3474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 name="Rectangle 3"/>
          <p:cNvSpPr>
            <a:spLocks noGrp="1"/>
          </p:cNvSpPr>
          <p:nvPr/>
        </p:nvSpPr>
        <p:spPr>
          <a:xfrm>
            <a:off x="6949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 name="Rectangle 4"/>
          <p:cNvSpPr>
            <a:spLocks noGrp="1"/>
          </p:cNvSpPr>
          <p:nvPr/>
        </p:nvSpPr>
        <p:spPr>
          <a:xfrm>
            <a:off x="10424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 name="Rectangle 5"/>
          <p:cNvSpPr>
            <a:spLocks noGrp="1"/>
          </p:cNvSpPr>
          <p:nvPr/>
        </p:nvSpPr>
        <p:spPr>
          <a:xfrm>
            <a:off x="13898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 name="Rectangle 6"/>
          <p:cNvSpPr>
            <a:spLocks noGrp="1"/>
          </p:cNvSpPr>
          <p:nvPr/>
        </p:nvSpPr>
        <p:spPr>
          <a:xfrm>
            <a:off x="17373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8" name="Rectangle 7"/>
          <p:cNvSpPr>
            <a:spLocks noGrp="1"/>
          </p:cNvSpPr>
          <p:nvPr/>
        </p:nvSpPr>
        <p:spPr>
          <a:xfrm>
            <a:off x="208483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9" name="Rectangle 8"/>
          <p:cNvSpPr>
            <a:spLocks noGrp="1"/>
          </p:cNvSpPr>
          <p:nvPr/>
        </p:nvSpPr>
        <p:spPr>
          <a:xfrm>
            <a:off x="243230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0" name="Rectangle 9"/>
          <p:cNvSpPr>
            <a:spLocks noGrp="1"/>
          </p:cNvSpPr>
          <p:nvPr/>
        </p:nvSpPr>
        <p:spPr>
          <a:xfrm>
            <a:off x="277977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1" name="Rectangle 10"/>
          <p:cNvSpPr>
            <a:spLocks noGrp="1"/>
          </p:cNvSpPr>
          <p:nvPr/>
        </p:nvSpPr>
        <p:spPr>
          <a:xfrm>
            <a:off x="312724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2" name="Rectangle 11"/>
          <p:cNvSpPr>
            <a:spLocks noGrp="1"/>
          </p:cNvSpPr>
          <p:nvPr/>
        </p:nvSpPr>
        <p:spPr>
          <a:xfrm>
            <a:off x="347471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3" name="Rectangle 12"/>
          <p:cNvSpPr>
            <a:spLocks noGrp="1"/>
          </p:cNvSpPr>
          <p:nvPr/>
        </p:nvSpPr>
        <p:spPr>
          <a:xfrm>
            <a:off x="382219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4" name="Rectangle 13"/>
          <p:cNvSpPr>
            <a:spLocks noGrp="1"/>
          </p:cNvSpPr>
          <p:nvPr/>
        </p:nvSpPr>
        <p:spPr>
          <a:xfrm>
            <a:off x="416966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5" name="Rectangle 14"/>
          <p:cNvSpPr>
            <a:spLocks noGrp="1"/>
          </p:cNvSpPr>
          <p:nvPr/>
        </p:nvSpPr>
        <p:spPr>
          <a:xfrm>
            <a:off x="451713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6" name="Rectangle 15"/>
          <p:cNvSpPr>
            <a:spLocks noGrp="1"/>
          </p:cNvSpPr>
          <p:nvPr/>
        </p:nvSpPr>
        <p:spPr>
          <a:xfrm>
            <a:off x="486460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7" name="Rectangle 16"/>
          <p:cNvSpPr>
            <a:spLocks noGrp="1"/>
          </p:cNvSpPr>
          <p:nvPr/>
        </p:nvSpPr>
        <p:spPr>
          <a:xfrm>
            <a:off x="521207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8" name="Rectangle 17"/>
          <p:cNvSpPr>
            <a:spLocks noGrp="1"/>
          </p:cNvSpPr>
          <p:nvPr/>
        </p:nvSpPr>
        <p:spPr>
          <a:xfrm>
            <a:off x="555955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9" name="Rectangle 18"/>
          <p:cNvSpPr>
            <a:spLocks noGrp="1"/>
          </p:cNvSpPr>
          <p:nvPr/>
        </p:nvSpPr>
        <p:spPr>
          <a:xfrm>
            <a:off x="590702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0" name="Rectangle 19"/>
          <p:cNvSpPr>
            <a:spLocks noGrp="1"/>
          </p:cNvSpPr>
          <p:nvPr/>
        </p:nvSpPr>
        <p:spPr>
          <a:xfrm>
            <a:off x="625449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1" name="Rectangle 20"/>
          <p:cNvSpPr>
            <a:spLocks noGrp="1"/>
          </p:cNvSpPr>
          <p:nvPr/>
        </p:nvSpPr>
        <p:spPr>
          <a:xfrm>
            <a:off x="660196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2" name="Rectangle 21"/>
          <p:cNvSpPr>
            <a:spLocks noGrp="1"/>
          </p:cNvSpPr>
          <p:nvPr/>
        </p:nvSpPr>
        <p:spPr>
          <a:xfrm>
            <a:off x="694943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3" name="Rectangle 22"/>
          <p:cNvSpPr>
            <a:spLocks noGrp="1"/>
          </p:cNvSpPr>
          <p:nvPr/>
        </p:nvSpPr>
        <p:spPr>
          <a:xfrm>
            <a:off x="729691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4" name="Rectangle 23"/>
          <p:cNvSpPr>
            <a:spLocks noGrp="1"/>
          </p:cNvSpPr>
          <p:nvPr/>
        </p:nvSpPr>
        <p:spPr>
          <a:xfrm>
            <a:off x="764438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5" name="Rectangle 24"/>
          <p:cNvSpPr>
            <a:spLocks noGrp="1"/>
          </p:cNvSpPr>
          <p:nvPr/>
        </p:nvSpPr>
        <p:spPr>
          <a:xfrm>
            <a:off x="799185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6" name="Rectangle 25"/>
          <p:cNvSpPr>
            <a:spLocks noGrp="1"/>
          </p:cNvSpPr>
          <p:nvPr/>
        </p:nvSpPr>
        <p:spPr>
          <a:xfrm>
            <a:off x="833932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7" name="Rectangle 26"/>
          <p:cNvSpPr>
            <a:spLocks noGrp="1"/>
          </p:cNvSpPr>
          <p:nvPr/>
        </p:nvSpPr>
        <p:spPr>
          <a:xfrm>
            <a:off x="868680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8" name="Rectangle 27"/>
          <p:cNvSpPr>
            <a:spLocks noGrp="1"/>
          </p:cNvSpPr>
          <p:nvPr/>
        </p:nvSpPr>
        <p:spPr>
          <a:xfrm>
            <a:off x="90342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9" name="Rectangle 28"/>
          <p:cNvSpPr>
            <a:spLocks noGrp="1"/>
          </p:cNvSpPr>
          <p:nvPr/>
        </p:nvSpPr>
        <p:spPr>
          <a:xfrm>
            <a:off x="93817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0" name="Rectangle 29"/>
          <p:cNvSpPr>
            <a:spLocks noGrp="1"/>
          </p:cNvSpPr>
          <p:nvPr/>
        </p:nvSpPr>
        <p:spPr>
          <a:xfrm>
            <a:off x="97292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1" name="Rectangle 30"/>
          <p:cNvSpPr>
            <a:spLocks noGrp="1"/>
          </p:cNvSpPr>
          <p:nvPr/>
        </p:nvSpPr>
        <p:spPr>
          <a:xfrm>
            <a:off x="100766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2" name="Rectangle 31"/>
          <p:cNvSpPr>
            <a:spLocks noGrp="1"/>
          </p:cNvSpPr>
          <p:nvPr/>
        </p:nvSpPr>
        <p:spPr>
          <a:xfrm>
            <a:off x="104241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3" name="Rectangle 32"/>
          <p:cNvSpPr>
            <a:spLocks noGrp="1"/>
          </p:cNvSpPr>
          <p:nvPr/>
        </p:nvSpPr>
        <p:spPr>
          <a:xfrm>
            <a:off x="1077163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4" name="Rectangle 33"/>
          <p:cNvSpPr>
            <a:spLocks noGrp="1"/>
          </p:cNvSpPr>
          <p:nvPr/>
        </p:nvSpPr>
        <p:spPr>
          <a:xfrm>
            <a:off x="1111910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5" name="Rectangle 34"/>
          <p:cNvSpPr>
            <a:spLocks noGrp="1"/>
          </p:cNvSpPr>
          <p:nvPr/>
        </p:nvSpPr>
        <p:spPr>
          <a:xfrm>
            <a:off x="1146657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6" name="Rectangle 35"/>
          <p:cNvSpPr>
            <a:spLocks noGrp="1"/>
          </p:cNvSpPr>
          <p:nvPr/>
        </p:nvSpPr>
        <p:spPr>
          <a:xfrm>
            <a:off x="1181404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7" name="Rectangle 36"/>
          <p:cNvSpPr>
            <a:spLocks noGrp="1"/>
          </p:cNvSpPr>
          <p:nvPr/>
        </p:nvSpPr>
        <p:spPr>
          <a:xfrm>
            <a:off x="1216152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8" name="Rectangle 37"/>
          <p:cNvSpPr>
            <a:spLocks noGrp="1"/>
          </p:cNvSpPr>
          <p:nvPr/>
        </p:nvSpPr>
        <p:spPr>
          <a:xfrm>
            <a:off x="0" y="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9" name="Rectangle 38"/>
          <p:cNvSpPr>
            <a:spLocks noGrp="1"/>
          </p:cNvSpPr>
          <p:nvPr/>
        </p:nvSpPr>
        <p:spPr>
          <a:xfrm>
            <a:off x="0" y="347472"/>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0" name="Rectangle 39"/>
          <p:cNvSpPr>
            <a:spLocks noGrp="1"/>
          </p:cNvSpPr>
          <p:nvPr/>
        </p:nvSpPr>
        <p:spPr>
          <a:xfrm>
            <a:off x="0" y="694944"/>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1" name="Rectangle 40"/>
          <p:cNvSpPr>
            <a:spLocks noGrp="1"/>
          </p:cNvSpPr>
          <p:nvPr/>
        </p:nvSpPr>
        <p:spPr>
          <a:xfrm>
            <a:off x="0" y="104241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2" name="Rectangle 41"/>
          <p:cNvSpPr>
            <a:spLocks noGrp="1"/>
          </p:cNvSpPr>
          <p:nvPr/>
        </p:nvSpPr>
        <p:spPr>
          <a:xfrm>
            <a:off x="0" y="1389888"/>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3" name="Rectangle 42"/>
          <p:cNvSpPr>
            <a:spLocks noGrp="1"/>
          </p:cNvSpPr>
          <p:nvPr/>
        </p:nvSpPr>
        <p:spPr>
          <a:xfrm>
            <a:off x="0" y="173736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4" name="Rectangle 43"/>
          <p:cNvSpPr>
            <a:spLocks noGrp="1"/>
          </p:cNvSpPr>
          <p:nvPr/>
        </p:nvSpPr>
        <p:spPr>
          <a:xfrm>
            <a:off x="0" y="208483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5" name="Rectangle 44"/>
          <p:cNvSpPr>
            <a:spLocks noGrp="1"/>
          </p:cNvSpPr>
          <p:nvPr/>
        </p:nvSpPr>
        <p:spPr>
          <a:xfrm>
            <a:off x="0" y="243230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6" name="Rectangle 45"/>
          <p:cNvSpPr>
            <a:spLocks noGrp="1"/>
          </p:cNvSpPr>
          <p:nvPr/>
        </p:nvSpPr>
        <p:spPr>
          <a:xfrm>
            <a:off x="0" y="277977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7" name="Rectangle 46"/>
          <p:cNvSpPr>
            <a:spLocks noGrp="1"/>
          </p:cNvSpPr>
          <p:nvPr/>
        </p:nvSpPr>
        <p:spPr>
          <a:xfrm>
            <a:off x="0" y="312724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8" name="Rectangle 47"/>
          <p:cNvSpPr>
            <a:spLocks noGrp="1"/>
          </p:cNvSpPr>
          <p:nvPr/>
        </p:nvSpPr>
        <p:spPr>
          <a:xfrm>
            <a:off x="0" y="347471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9" name="Rectangle 48"/>
          <p:cNvSpPr>
            <a:spLocks noGrp="1"/>
          </p:cNvSpPr>
          <p:nvPr/>
        </p:nvSpPr>
        <p:spPr>
          <a:xfrm>
            <a:off x="0" y="382219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0" name="Rectangle 49"/>
          <p:cNvSpPr>
            <a:spLocks noGrp="1"/>
          </p:cNvSpPr>
          <p:nvPr/>
        </p:nvSpPr>
        <p:spPr>
          <a:xfrm>
            <a:off x="0" y="416966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1" name="Rectangle 50"/>
          <p:cNvSpPr>
            <a:spLocks noGrp="1"/>
          </p:cNvSpPr>
          <p:nvPr/>
        </p:nvSpPr>
        <p:spPr>
          <a:xfrm>
            <a:off x="0" y="451713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2" name="Rectangle 51"/>
          <p:cNvSpPr>
            <a:spLocks noGrp="1"/>
          </p:cNvSpPr>
          <p:nvPr/>
        </p:nvSpPr>
        <p:spPr>
          <a:xfrm>
            <a:off x="0" y="486460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3" name="Rectangle 52"/>
          <p:cNvSpPr>
            <a:spLocks noGrp="1"/>
          </p:cNvSpPr>
          <p:nvPr/>
        </p:nvSpPr>
        <p:spPr>
          <a:xfrm>
            <a:off x="0" y="521207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4" name="Rectangle 53"/>
          <p:cNvSpPr>
            <a:spLocks noGrp="1"/>
          </p:cNvSpPr>
          <p:nvPr/>
        </p:nvSpPr>
        <p:spPr>
          <a:xfrm>
            <a:off x="0" y="555955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5" name="Rectangle 54"/>
          <p:cNvSpPr>
            <a:spLocks noGrp="1"/>
          </p:cNvSpPr>
          <p:nvPr/>
        </p:nvSpPr>
        <p:spPr>
          <a:xfrm>
            <a:off x="0" y="590702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6" name="Rectangle 55"/>
          <p:cNvSpPr>
            <a:spLocks noGrp="1"/>
          </p:cNvSpPr>
          <p:nvPr/>
        </p:nvSpPr>
        <p:spPr>
          <a:xfrm>
            <a:off x="0" y="625449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7" name="Rectangle 56"/>
          <p:cNvSpPr>
            <a:spLocks noGrp="1"/>
          </p:cNvSpPr>
          <p:nvPr/>
        </p:nvSpPr>
        <p:spPr>
          <a:xfrm>
            <a:off x="0" y="660196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8" name="Rectangle 57"/>
          <p:cNvSpPr>
            <a:spLocks noGrp="1"/>
          </p:cNvSpPr>
          <p:nvPr/>
        </p:nvSpPr>
        <p:spPr>
          <a:xfrm>
            <a:off x="292608" y="182880"/>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9" name="Rectangle 58"/>
          <p:cNvSpPr>
            <a:spLocks noGrp="1"/>
          </p:cNvSpPr>
          <p:nvPr/>
        </p:nvSpPr>
        <p:spPr>
          <a:xfrm>
            <a:off x="292608" y="6784848"/>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0" name="TextBox 59"/>
          <p:cNvSpPr>
            <a:spLocks noGrp="1"/>
          </p:cNvSpPr>
          <p:nvPr/>
        </p:nvSpPr>
        <p:spPr>
          <a:xfrm>
            <a:off x="292608" y="246888"/>
            <a:ext cx="7498079" cy="265176"/>
          </a:xfrm>
          <a:prstGeom prst="rect">
            <a:avLst/>
          </a:prstGeom>
          <a:noFill/>
          <a:ln>
            <a:noFill/>
          </a:ln>
        </p:spPr>
        <p:txBody>
          <a:bodyPr wrap="square">
            <a:spAutoFit/>
          </a:bodyPr>
          <a:lstStyle/>
          <a:p>
            <a:pPr algn="l">
              <a:lnSpc>
                <a:spcPct val="120000"/>
              </a:lnSpc>
              <a:buNone/>
            </a:pPr>
            <a:r>
              <a:rPr sz="950" b="1" i="0">
                <a:solidFill>
                  <a:srgbClr val="1F2BE0"/>
                </a:solidFill>
                <a:latin typeface="Consolas" panose="020B0609020204030204"/>
                <a:ea typeface="Consolas" panose="020B0609020204030204"/>
                <a:cs typeface="Consolas" panose="020B0609020204030204"/>
              </a:rPr>
              <a:t>EXPLORATION OF DATASET  ·  EMISSIONS CONCENTRATION</a:t>
            </a:r>
            <a:endParaRPr sz="950" b="1" i="0">
              <a:solidFill>
                <a:srgbClr val="1F2BE0"/>
              </a:solidFill>
              <a:latin typeface="Consolas" panose="020B0609020204030204"/>
              <a:ea typeface="Consolas" panose="020B0609020204030204"/>
              <a:cs typeface="Consolas" panose="020B0609020204030204"/>
            </a:endParaRPr>
          </a:p>
        </p:txBody>
      </p:sp>
      <p:sp>
        <p:nvSpPr>
          <p:cNvPr id="61" name="TextBox 60"/>
          <p:cNvSpPr>
            <a:spLocks noGrp="1"/>
          </p:cNvSpPr>
          <p:nvPr/>
        </p:nvSpPr>
        <p:spPr>
          <a:xfrm>
            <a:off x="10607040" y="6510528"/>
            <a:ext cx="1280160" cy="201168"/>
          </a:xfrm>
          <a:prstGeom prst="rect">
            <a:avLst/>
          </a:prstGeom>
          <a:noFill/>
          <a:ln>
            <a:noFill/>
          </a:ln>
        </p:spPr>
        <p:txBody>
          <a:bodyPr wrap="square">
            <a:spAutoFit/>
          </a:bodyPr>
          <a:lstStyle/>
          <a:p>
            <a:pPr algn="r">
              <a:lnSpc>
                <a:spcPct val="120000"/>
              </a:lnSpc>
              <a:buNone/>
            </a:pPr>
            <a:r>
              <a:rPr sz="950" b="0" i="0">
                <a:solidFill>
                  <a:srgbClr val="1F2BE0"/>
                </a:solidFill>
                <a:latin typeface="Consolas" panose="020B0609020204030204"/>
                <a:ea typeface="Consolas" panose="020B0609020204030204"/>
                <a:cs typeface="Consolas" panose="020B0609020204030204"/>
              </a:rPr>
              <a:t>01 / 03</a:t>
            </a:r>
            <a:endParaRPr sz="950" b="0" i="0">
              <a:solidFill>
                <a:srgbClr val="1F2BE0"/>
              </a:solidFill>
              <a:latin typeface="Consolas" panose="020B0609020204030204"/>
              <a:ea typeface="Consolas" panose="020B0609020204030204"/>
              <a:cs typeface="Consolas" panose="020B0609020204030204"/>
            </a:endParaRPr>
          </a:p>
        </p:txBody>
      </p:sp>
      <p:sp>
        <p:nvSpPr>
          <p:cNvPr id="63" name="Rectangle 62"/>
          <p:cNvSpPr>
            <a:spLocks noGrp="1"/>
          </p:cNvSpPr>
          <p:nvPr/>
        </p:nvSpPr>
        <p:spPr>
          <a:xfrm>
            <a:off x="11384280" y="283464"/>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4" name="Rectangle 63"/>
          <p:cNvSpPr>
            <a:spLocks noGrp="1"/>
          </p:cNvSpPr>
          <p:nvPr/>
        </p:nvSpPr>
        <p:spPr>
          <a:xfrm>
            <a:off x="11462004" y="333756"/>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5" name="Rectangle 64"/>
          <p:cNvSpPr>
            <a:spLocks noGrp="1"/>
          </p:cNvSpPr>
          <p:nvPr/>
        </p:nvSpPr>
        <p:spPr>
          <a:xfrm>
            <a:off x="11539728" y="384048"/>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6" name="Rectangle 65"/>
          <p:cNvSpPr>
            <a:spLocks noGrp="1"/>
          </p:cNvSpPr>
          <p:nvPr/>
        </p:nvSpPr>
        <p:spPr>
          <a:xfrm>
            <a:off x="11617452" y="434340"/>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7" name="Rectangle 66"/>
          <p:cNvSpPr>
            <a:spLocks noGrp="1"/>
          </p:cNvSpPr>
          <p:nvPr/>
        </p:nvSpPr>
        <p:spPr>
          <a:xfrm>
            <a:off x="11695176" y="484632"/>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8" name="TextBox 67"/>
          <p:cNvSpPr>
            <a:spLocks noGrp="1"/>
          </p:cNvSpPr>
          <p:nvPr/>
        </p:nvSpPr>
        <p:spPr>
          <a:xfrm>
            <a:off x="292608" y="566928"/>
            <a:ext cx="8229600" cy="757123"/>
          </a:xfrm>
          <a:prstGeom prst="rect">
            <a:avLst/>
          </a:prstGeom>
          <a:noFill/>
          <a:ln>
            <a:noFill/>
          </a:ln>
        </p:spPr>
        <p:txBody>
          <a:bodyPr wrap="square" lIns="19050" tIns="6350" rIns="19050" bIns="6350" anchor="t">
            <a:noAutofit/>
          </a:bodyPr>
          <a:lstStyle/>
          <a:p>
            <a:pPr marL="0" indent="0" algn="l">
              <a:lnSpc>
                <a:spcPct val="104000"/>
              </a:lnSpc>
              <a:spcBef>
                <a:spcPts val="0"/>
              </a:spcBef>
              <a:spcAft>
                <a:spcPts val="0"/>
              </a:spcAft>
              <a:buNone/>
            </a:pPr>
            <a:r>
              <a:rPr sz="2400" i="1">
                <a:solidFill>
                  <a:srgbClr val="1F2BE0"/>
                </a:solidFill>
                <a:latin typeface="Georgia" panose="02040502050405020303" charset="0"/>
                <a:ea typeface="Georgia" panose="02040502050405020303"/>
                <a:cs typeface="Georgia" panose="02040502050405020303" charset="0"/>
              </a:rPr>
              <a:t>Asia contributes 59.8% of global CO₂ — led by China.</a:t>
            </a:r>
            <a:endParaRPr sz="2400" i="1">
              <a:solidFill>
                <a:srgbClr val="1F2BE0"/>
              </a:solidFill>
              <a:latin typeface="Georgia" panose="02040502050405020303" charset="0"/>
              <a:ea typeface="Georgia" panose="02040502050405020303"/>
              <a:cs typeface="Georgia" panose="02040502050405020303" charset="0"/>
            </a:endParaRPr>
          </a:p>
        </p:txBody>
      </p:sp>
      <p:sp>
        <p:nvSpPr>
          <p:cNvPr id="69" name="Rectangle 68"/>
          <p:cNvSpPr>
            <a:spLocks noGrp="1"/>
          </p:cNvSpPr>
          <p:nvPr/>
        </p:nvSpPr>
        <p:spPr>
          <a:xfrm>
            <a:off x="274320" y="1371600"/>
            <a:ext cx="8321040" cy="5010912"/>
          </a:xfrm>
          <a:prstGeom prst="rect">
            <a:avLst/>
          </a:prstGeom>
          <a:solidFill>
            <a:srgbClr val="F0EBD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pic>
        <p:nvPicPr>
          <p:cNvPr id="78" name="图片 77" descr="P1_03_combo_top20_bars_cumshare_tinted_restored"/>
          <p:cNvPicPr>
            <a:picLocks noChangeAspect="1"/>
          </p:cNvPicPr>
          <p:nvPr/>
        </p:nvPicPr>
        <p:blipFill>
          <a:blip r:embed="rId1"/>
          <a:stretch>
            <a:fillRect/>
          </a:stretch>
        </p:blipFill>
        <p:spPr>
          <a:xfrm>
            <a:off x="664210" y="1416685"/>
            <a:ext cx="7540625" cy="4919345"/>
          </a:xfrm>
          <a:prstGeom prst="rect">
            <a:avLst/>
          </a:prstGeom>
        </p:spPr>
      </p:pic>
      <p:sp>
        <p:nvSpPr>
          <p:cNvPr id="71" name="Rectangle 70"/>
          <p:cNvSpPr>
            <a:spLocks noGrp="1"/>
          </p:cNvSpPr>
          <p:nvPr/>
        </p:nvSpPr>
        <p:spPr>
          <a:xfrm>
            <a:off x="8705088" y="566928"/>
            <a:ext cx="3212287" cy="6108192"/>
          </a:xfrm>
          <a:prstGeom prst="rect">
            <a:avLst/>
          </a:prstGeom>
          <a:solidFill>
            <a:srgbClr val="E6E0C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2" name="Rectangle 71"/>
          <p:cNvSpPr>
            <a:spLocks noGrp="1"/>
          </p:cNvSpPr>
          <p:nvPr/>
        </p:nvSpPr>
        <p:spPr>
          <a:xfrm>
            <a:off x="8705088" y="566928"/>
            <a:ext cx="54864" cy="6108192"/>
          </a:xfrm>
          <a:prstGeom prst="rect">
            <a:avLst/>
          </a:prstGeom>
          <a:solidFill>
            <a:srgbClr val="1F2BE0">
              <a:alpha val="15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3" name="Rectangle 72"/>
          <p:cNvSpPr>
            <a:spLocks noGrp="1"/>
          </p:cNvSpPr>
          <p:nvPr/>
        </p:nvSpPr>
        <p:spPr>
          <a:xfrm>
            <a:off x="8759952" y="566928"/>
            <a:ext cx="3157423" cy="22860"/>
          </a:xfrm>
          <a:prstGeom prst="rect">
            <a:avLst/>
          </a:prstGeom>
          <a:solidFill>
            <a:srgbClr val="1F2BE0">
              <a:alpha val="4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4" name="TextBox 73"/>
          <p:cNvSpPr>
            <a:spLocks noGrp="1"/>
          </p:cNvSpPr>
          <p:nvPr/>
        </p:nvSpPr>
        <p:spPr>
          <a:xfrm>
            <a:off x="8978900" y="822960"/>
            <a:ext cx="2708910" cy="1422400"/>
          </a:xfrm>
          <a:prstGeom prst="rect">
            <a:avLst/>
          </a:prstGeom>
          <a:noFill/>
          <a:ln>
            <a:noFill/>
          </a:ln>
        </p:spPr>
        <p:txBody>
          <a:bodyPr wrap="square" anchor="t">
            <a:noAutofit/>
          </a:bodyPr>
          <a:lstStyle/>
          <a:p>
            <a:pPr algn="l">
              <a:lnSpc>
                <a:spcPct val="130000"/>
              </a:lnSpc>
              <a:spcAft>
                <a:spcPts val="200"/>
              </a:spcAft>
              <a:buNone/>
            </a:pPr>
            <a:r>
              <a:rPr sz="1120" b="0" i="0">
                <a:solidFill>
                  <a:srgbClr val="5560E5"/>
                </a:solidFill>
                <a:latin typeface="Segoe UI" panose="020B0502040204020203"/>
                <a:ea typeface="Segoe UI" panose="020B0502040204020203"/>
                <a:cs typeface="Segoe UI" panose="020B0502040204020203"/>
              </a:rPr>
              <a:t>The treemap groups 2021 CO₂ emissions by region and country. Rectangle area represents each country’s share of the global total, making Asia’s weight—and China’s contribution—easy to compare.</a:t>
            </a:r>
            <a:endParaRPr sz="1120" b="0" i="0">
              <a:solidFill>
                <a:srgbClr val="5560E5"/>
              </a:solidFill>
              <a:latin typeface="Segoe UI" panose="020B0502040204020203"/>
              <a:ea typeface="Segoe UI" panose="020B0502040204020203"/>
              <a:cs typeface="Segoe UI" panose="020B0502040204020203"/>
            </a:endParaRPr>
          </a:p>
        </p:txBody>
      </p:sp>
      <p:sp>
        <p:nvSpPr>
          <p:cNvPr id="75" name="Rectangle 74"/>
          <p:cNvSpPr>
            <a:spLocks noGrp="1"/>
          </p:cNvSpPr>
          <p:nvPr/>
        </p:nvSpPr>
        <p:spPr>
          <a:xfrm>
            <a:off x="8979408" y="2139696"/>
            <a:ext cx="2709367" cy="6000"/>
          </a:xfrm>
          <a:prstGeom prst="rect">
            <a:avLst/>
          </a:prstGeom>
          <a:solidFill>
            <a:srgbClr val="D7D8F2">
              <a:alpha val="4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7" name="TextBox 76"/>
          <p:cNvSpPr>
            <a:spLocks noGrp="1"/>
          </p:cNvSpPr>
          <p:nvPr/>
        </p:nvSpPr>
        <p:spPr>
          <a:xfrm>
            <a:off x="8978900" y="2578100"/>
            <a:ext cx="2708910" cy="3914140"/>
          </a:xfrm>
          <a:prstGeom prst="rect">
            <a:avLst/>
          </a:prstGeom>
          <a:noFill/>
          <a:ln>
            <a:noFill/>
          </a:ln>
        </p:spPr>
        <p:txBody>
          <a:bodyPr wrap="square" lIns="19050" tIns="50800" rIns="19050" bIns="6350" anchor="t">
            <a:noAutofit/>
          </a:bodyPr>
          <a:lstStyle/>
          <a:p>
            <a:pPr marL="0" indent="0" algn="l">
              <a:lnSpc>
                <a:spcPct val="132000"/>
              </a:lnSpc>
              <a:spcBef>
                <a:spcPts val="0"/>
              </a:spcBef>
              <a:spcAft>
                <a:spcPts val="0"/>
              </a:spcAft>
              <a:buNone/>
            </a:pPr>
            <a:r>
              <a:rPr sz="1400" i="0">
                <a:solidFill>
                  <a:srgbClr val="1F2BE0"/>
                </a:solidFill>
                <a:latin typeface="Segoe UI" panose="020B0502040204020203" charset="0"/>
                <a:ea typeface="Segoe UI" panose="020B0502040204020203"/>
                <a:cs typeface="Segoe UI" panose="020B0502040204020203" charset="0"/>
              </a:rPr>
              <a:t>•  </a:t>
            </a:r>
            <a:r>
              <a:rPr sz="1400" b="1" i="0">
                <a:solidFill>
                  <a:srgbClr val="1F2BE0"/>
                </a:solidFill>
                <a:latin typeface="Segoe UI" panose="020B0502040204020203" charset="0"/>
                <a:ea typeface="Segoe UI" panose="020B0502040204020203"/>
                <a:cs typeface="Segoe UI" panose="020B0502040204020203" charset="0"/>
              </a:rPr>
              <a:t>81.2%</a:t>
            </a:r>
            <a:r>
              <a:rPr sz="1400" i="0">
                <a:solidFill>
                  <a:srgbClr val="1F2BE0"/>
                </a:solidFill>
                <a:latin typeface="Segoe UI" panose="020B0502040204020203" charset="0"/>
                <a:ea typeface="Segoe UI" panose="020B0502040204020203"/>
                <a:cs typeface="Segoe UI" panose="020B0502040204020203" charset="0"/>
              </a:rPr>
              <a:t>  — Top 20 countries' share of global CO₂.</a:t>
            </a:r>
            <a:endParaRPr sz="1400" i="0">
              <a:solidFill>
                <a:srgbClr val="1F2BE0"/>
              </a:solidFill>
              <a:latin typeface="Segoe UI" panose="020B0502040204020203" charset="0"/>
              <a:ea typeface="Segoe UI" panose="020B0502040204020203"/>
              <a:cs typeface="Segoe UI" panose="020B0502040204020203" charset="0"/>
            </a:endParaRPr>
          </a:p>
          <a:p>
            <a:pPr marL="0" indent="0" algn="l">
              <a:lnSpc>
                <a:spcPct val="132000"/>
              </a:lnSpc>
              <a:spcBef>
                <a:spcPts val="0"/>
              </a:spcBef>
              <a:spcAft>
                <a:spcPts val="0"/>
              </a:spcAft>
              <a:buNone/>
            </a:pPr>
            <a:endParaRPr sz="1400" i="0">
              <a:solidFill>
                <a:srgbClr val="1F2BE0"/>
              </a:solidFill>
              <a:latin typeface="Segoe UI" panose="020B0502040204020203" charset="0"/>
              <a:ea typeface="Segoe UI" panose="020B0502040204020203"/>
              <a:cs typeface="Segoe UI" panose="020B0502040204020203" charset="0"/>
            </a:endParaRPr>
          </a:p>
          <a:p>
            <a:pPr marL="0" indent="0" algn="l">
              <a:lnSpc>
                <a:spcPct val="132000"/>
              </a:lnSpc>
              <a:spcBef>
                <a:spcPts val="0"/>
              </a:spcBef>
              <a:spcAft>
                <a:spcPts val="0"/>
              </a:spcAft>
              <a:buNone/>
            </a:pPr>
            <a:r>
              <a:rPr sz="1400" i="0">
                <a:solidFill>
                  <a:srgbClr val="1F2BE0"/>
                </a:solidFill>
                <a:latin typeface="Segoe UI" panose="020B0502040204020203" charset="0"/>
                <a:ea typeface="Segoe UI" panose="020B0502040204020203"/>
                <a:cs typeface="Segoe UI" panose="020B0502040204020203" charset="0"/>
              </a:rPr>
              <a:t>•  </a:t>
            </a:r>
            <a:r>
              <a:rPr sz="1400" b="1" i="0">
                <a:solidFill>
                  <a:srgbClr val="1F2BE0"/>
                </a:solidFill>
                <a:latin typeface="Segoe UI" panose="020B0502040204020203" charset="0"/>
                <a:ea typeface="Segoe UI" panose="020B0502040204020203"/>
                <a:cs typeface="Segoe UI" panose="020B0502040204020203" charset="0"/>
              </a:rPr>
              <a:t>59.8%</a:t>
            </a:r>
            <a:r>
              <a:rPr sz="1400" i="0">
                <a:solidFill>
                  <a:srgbClr val="1F2BE0"/>
                </a:solidFill>
                <a:latin typeface="Segoe UI" panose="020B0502040204020203" charset="0"/>
                <a:ea typeface="Segoe UI" panose="020B0502040204020203"/>
                <a:cs typeface="Segoe UI" panose="020B0502040204020203" charset="0"/>
              </a:rPr>
              <a:t>  — Asia's share of global CO₂.</a:t>
            </a:r>
            <a:endParaRPr sz="1400" i="0">
              <a:solidFill>
                <a:srgbClr val="1F2BE0"/>
              </a:solidFill>
              <a:latin typeface="Segoe UI" panose="020B0502040204020203" charset="0"/>
              <a:ea typeface="Segoe UI" panose="020B0502040204020203"/>
              <a:cs typeface="Segoe UI" panose="020B0502040204020203" charset="0"/>
            </a:endParaRPr>
          </a:p>
          <a:p>
            <a:pPr marL="0" indent="0" algn="l">
              <a:lnSpc>
                <a:spcPct val="132000"/>
              </a:lnSpc>
              <a:spcBef>
                <a:spcPts val="0"/>
              </a:spcBef>
              <a:spcAft>
                <a:spcPts val="0"/>
              </a:spcAft>
              <a:buNone/>
            </a:pPr>
            <a:endParaRPr sz="1400" i="0">
              <a:solidFill>
                <a:srgbClr val="1F2BE0"/>
              </a:solidFill>
              <a:latin typeface="Segoe UI" panose="020B0502040204020203" charset="0"/>
              <a:ea typeface="Segoe UI" panose="020B0502040204020203"/>
              <a:cs typeface="Segoe UI" panose="020B0502040204020203" charset="0"/>
            </a:endParaRPr>
          </a:p>
          <a:p>
            <a:pPr marL="0" indent="0" algn="l">
              <a:lnSpc>
                <a:spcPct val="132000"/>
              </a:lnSpc>
              <a:spcBef>
                <a:spcPts val="0"/>
              </a:spcBef>
              <a:spcAft>
                <a:spcPts val="0"/>
              </a:spcAft>
              <a:buNone/>
            </a:pPr>
            <a:r>
              <a:rPr sz="1400" i="0">
                <a:solidFill>
                  <a:srgbClr val="1F2BE0"/>
                </a:solidFill>
                <a:latin typeface="Segoe UI" panose="020B0502040204020203" charset="0"/>
                <a:ea typeface="Segoe UI" panose="020B0502040204020203"/>
                <a:cs typeface="Segoe UI" panose="020B0502040204020203" charset="0"/>
              </a:rPr>
              <a:t>•  </a:t>
            </a:r>
            <a:r>
              <a:rPr sz="1400" b="1" i="0">
                <a:solidFill>
                  <a:srgbClr val="1F2BE0"/>
                </a:solidFill>
                <a:latin typeface="Segoe UI" panose="020B0502040204020203" charset="0"/>
                <a:ea typeface="Segoe UI" panose="020B0502040204020203"/>
                <a:cs typeface="Segoe UI" panose="020B0502040204020203" charset="0"/>
              </a:rPr>
              <a:t>31.4%</a:t>
            </a:r>
            <a:r>
              <a:rPr sz="1400" i="0">
                <a:solidFill>
                  <a:srgbClr val="1F2BE0"/>
                </a:solidFill>
                <a:latin typeface="Segoe UI" panose="020B0502040204020203" charset="0"/>
                <a:ea typeface="Segoe UI" panose="020B0502040204020203"/>
                <a:cs typeface="Segoe UI" panose="020B0502040204020203" charset="0"/>
              </a:rPr>
              <a:t>  — China's share alone.</a:t>
            </a:r>
            <a:endParaRPr sz="1400" i="0">
              <a:solidFill>
                <a:srgbClr val="1F2BE0"/>
              </a:solidFill>
              <a:latin typeface="Segoe UI" panose="020B0502040204020203" charset="0"/>
              <a:ea typeface="Segoe UI" panose="020B0502040204020203"/>
              <a:cs typeface="Segoe UI" panose="020B0502040204020203" charset="0"/>
            </a:endParaRPr>
          </a:p>
        </p:txBody>
      </p:sp>
      <p:sp>
        <p:nvSpPr>
          <p:cNvPr id="76" name="TextBox 75"/>
          <p:cNvSpPr>
            <a:spLocks noGrp="1"/>
          </p:cNvSpPr>
          <p:nvPr/>
        </p:nvSpPr>
        <p:spPr>
          <a:xfrm>
            <a:off x="8979408" y="2286000"/>
            <a:ext cx="1207008" cy="256032"/>
          </a:xfrm>
          <a:prstGeom prst="rect">
            <a:avLst/>
          </a:prstGeom>
          <a:solidFill>
            <a:srgbClr val="1F2BE0"/>
          </a:solidFill>
          <a:ln>
            <a:noFill/>
          </a:ln>
        </p:spPr>
        <p:txBody>
          <a:bodyPr wrap="square" lIns="73152" tIns="13716" rIns="45720" bIns="13716">
            <a:noAutofit/>
          </a:bodyPr>
          <a:lstStyle/>
          <a:p>
            <a:pPr algn="l">
              <a:lnSpc>
                <a:spcPct val="120000"/>
              </a:lnSpc>
              <a:buNone/>
            </a:pPr>
            <a:r>
              <a:rPr sz="950" b="1" i="0">
                <a:solidFill>
                  <a:srgbClr val="F0EBDE"/>
                </a:solidFill>
                <a:latin typeface="Consolas" panose="020B0609020204030204"/>
                <a:ea typeface="Consolas" panose="020B0609020204030204"/>
                <a:cs typeface="Consolas" panose="020B0609020204030204"/>
              </a:rPr>
              <a:t>KEY POINTS</a:t>
            </a:r>
            <a:endParaRPr sz="950" b="1" i="0">
              <a:solidFill>
                <a:srgbClr val="F0EBDE"/>
              </a:solidFill>
              <a:latin typeface="Consolas" panose="020B0609020204030204"/>
              <a:ea typeface="Consolas" panose="020B0609020204030204"/>
              <a:cs typeface="Consolas" panose="020B0609020204030204"/>
            </a:endParaRPr>
          </a:p>
        </p:txBody>
      </p:sp>
      <p:sp>
        <p:nvSpPr>
          <p:cNvPr id="70" name="TextBox 61"/>
          <p:cNvSpPr>
            <a:spLocks noGrp="1"/>
          </p:cNvSpPr>
          <p:nvPr/>
        </p:nvSpPr>
        <p:spPr>
          <a:xfrm>
            <a:off x="292608" y="6510528"/>
            <a:ext cx="2743200" cy="201168"/>
          </a:xfrm>
          <a:prstGeom prst="rect">
            <a:avLst/>
          </a:prstGeom>
          <a:noFill/>
          <a:ln>
            <a:noFill/>
          </a:ln>
        </p:spPr>
        <p:txBody>
          <a:bodyPr wrap="square" lIns="19050" tIns="6350" rIns="19050" bIns="6350" anchor="t">
            <a:noAutofit/>
          </a:bodyPr>
          <a:p>
            <a:pPr marL="0" indent="0" algn="l">
              <a:lnSpc>
                <a:spcPct val="120000"/>
              </a:lnSpc>
              <a:spcBef>
                <a:spcPts val="0"/>
              </a:spcBef>
              <a:spcAft>
                <a:spcPts val="0"/>
              </a:spcAft>
              <a:buNone/>
            </a:pPr>
            <a:r>
              <a:rPr sz="880" b="1" i="0">
                <a:solidFill>
                  <a:srgbClr val="607084"/>
                </a:solidFill>
                <a:latin typeface="Consolas" panose="020B0609020204030204" charset="0"/>
                <a:ea typeface="Consolas" panose="020B0609020204030204"/>
                <a:cs typeface="Consolas" panose="020B0609020204030204" charset="0"/>
              </a:rPr>
              <a:t>PREPARED BY · [</a:t>
            </a:r>
            <a:r>
              <a:rPr lang="en-US" sz="880" b="1" i="0">
                <a:solidFill>
                  <a:srgbClr val="607084"/>
                </a:solidFill>
                <a:latin typeface="Consolas" panose="020B0609020204030204" charset="0"/>
                <a:ea typeface="Consolas" panose="020B0609020204030204"/>
                <a:cs typeface="Consolas" panose="020B0609020204030204" charset="0"/>
              </a:rPr>
              <a:t>SHEN RUITING</a:t>
            </a:r>
            <a:r>
              <a:rPr sz="880" b="1" i="0">
                <a:solidFill>
                  <a:srgbClr val="607084"/>
                </a:solidFill>
                <a:latin typeface="Consolas" panose="020B0609020204030204" charset="0"/>
                <a:ea typeface="Consolas" panose="020B0609020204030204"/>
                <a:cs typeface="Consolas" panose="020B0609020204030204" charset="0"/>
              </a:rPr>
              <a:t>]</a:t>
            </a:r>
            <a:endParaRPr sz="880" b="1" i="0">
              <a:solidFill>
                <a:srgbClr val="607084"/>
              </a:solidFill>
              <a:latin typeface="Consolas" panose="020B0609020204030204" charset="0"/>
              <a:ea typeface="Consolas" panose="020B0609020204030204"/>
              <a:cs typeface="Consolas" panose="020B0609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BDE"/>
        </a:solidFill>
        <a:effectLst/>
      </p:bgPr>
    </p:bg>
    <p:spTree>
      <p:nvGrpSpPr>
        <p:cNvPr id="1" name=""/>
        <p:cNvGrpSpPr/>
        <p:nvPr/>
      </p:nvGrpSpPr>
      <p:grpSpPr/>
      <p:sp>
        <p:nvSpPr>
          <p:cNvPr id="2" name="Rectangle 1"/>
          <p:cNvSpPr>
            <a:spLocks noGrp="1"/>
          </p:cNvSpPr>
          <p:nvPr/>
        </p:nvSpPr>
        <p:spPr>
          <a:xfrm>
            <a:off x="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 name="Rectangle 2"/>
          <p:cNvSpPr>
            <a:spLocks noGrp="1"/>
          </p:cNvSpPr>
          <p:nvPr/>
        </p:nvSpPr>
        <p:spPr>
          <a:xfrm>
            <a:off x="3474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 name="Rectangle 3"/>
          <p:cNvSpPr>
            <a:spLocks noGrp="1"/>
          </p:cNvSpPr>
          <p:nvPr/>
        </p:nvSpPr>
        <p:spPr>
          <a:xfrm>
            <a:off x="6949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 name="Rectangle 4"/>
          <p:cNvSpPr>
            <a:spLocks noGrp="1"/>
          </p:cNvSpPr>
          <p:nvPr/>
        </p:nvSpPr>
        <p:spPr>
          <a:xfrm>
            <a:off x="10424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 name="Rectangle 5"/>
          <p:cNvSpPr>
            <a:spLocks noGrp="1"/>
          </p:cNvSpPr>
          <p:nvPr/>
        </p:nvSpPr>
        <p:spPr>
          <a:xfrm>
            <a:off x="13898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 name="Rectangle 6"/>
          <p:cNvSpPr>
            <a:spLocks noGrp="1"/>
          </p:cNvSpPr>
          <p:nvPr/>
        </p:nvSpPr>
        <p:spPr>
          <a:xfrm>
            <a:off x="17373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8" name="Rectangle 7"/>
          <p:cNvSpPr>
            <a:spLocks noGrp="1"/>
          </p:cNvSpPr>
          <p:nvPr/>
        </p:nvSpPr>
        <p:spPr>
          <a:xfrm>
            <a:off x="208483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9" name="Rectangle 8"/>
          <p:cNvSpPr>
            <a:spLocks noGrp="1"/>
          </p:cNvSpPr>
          <p:nvPr/>
        </p:nvSpPr>
        <p:spPr>
          <a:xfrm>
            <a:off x="243230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0" name="Rectangle 9"/>
          <p:cNvSpPr>
            <a:spLocks noGrp="1"/>
          </p:cNvSpPr>
          <p:nvPr/>
        </p:nvSpPr>
        <p:spPr>
          <a:xfrm>
            <a:off x="277977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1" name="Rectangle 10"/>
          <p:cNvSpPr>
            <a:spLocks noGrp="1"/>
          </p:cNvSpPr>
          <p:nvPr/>
        </p:nvSpPr>
        <p:spPr>
          <a:xfrm>
            <a:off x="312724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2" name="Rectangle 11"/>
          <p:cNvSpPr>
            <a:spLocks noGrp="1"/>
          </p:cNvSpPr>
          <p:nvPr/>
        </p:nvSpPr>
        <p:spPr>
          <a:xfrm>
            <a:off x="347471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3" name="Rectangle 12"/>
          <p:cNvSpPr>
            <a:spLocks noGrp="1"/>
          </p:cNvSpPr>
          <p:nvPr/>
        </p:nvSpPr>
        <p:spPr>
          <a:xfrm>
            <a:off x="382219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4" name="Rectangle 13"/>
          <p:cNvSpPr>
            <a:spLocks noGrp="1"/>
          </p:cNvSpPr>
          <p:nvPr/>
        </p:nvSpPr>
        <p:spPr>
          <a:xfrm>
            <a:off x="416966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5" name="Rectangle 14"/>
          <p:cNvSpPr>
            <a:spLocks noGrp="1"/>
          </p:cNvSpPr>
          <p:nvPr/>
        </p:nvSpPr>
        <p:spPr>
          <a:xfrm>
            <a:off x="451713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6" name="Rectangle 15"/>
          <p:cNvSpPr>
            <a:spLocks noGrp="1"/>
          </p:cNvSpPr>
          <p:nvPr/>
        </p:nvSpPr>
        <p:spPr>
          <a:xfrm>
            <a:off x="486460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7" name="Rectangle 16"/>
          <p:cNvSpPr>
            <a:spLocks noGrp="1"/>
          </p:cNvSpPr>
          <p:nvPr/>
        </p:nvSpPr>
        <p:spPr>
          <a:xfrm>
            <a:off x="521207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8" name="Rectangle 17"/>
          <p:cNvSpPr>
            <a:spLocks noGrp="1"/>
          </p:cNvSpPr>
          <p:nvPr/>
        </p:nvSpPr>
        <p:spPr>
          <a:xfrm>
            <a:off x="555955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9" name="Rectangle 18"/>
          <p:cNvSpPr>
            <a:spLocks noGrp="1"/>
          </p:cNvSpPr>
          <p:nvPr/>
        </p:nvSpPr>
        <p:spPr>
          <a:xfrm>
            <a:off x="590702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0" name="Rectangle 19"/>
          <p:cNvSpPr>
            <a:spLocks noGrp="1"/>
          </p:cNvSpPr>
          <p:nvPr/>
        </p:nvSpPr>
        <p:spPr>
          <a:xfrm>
            <a:off x="625449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1" name="Rectangle 20"/>
          <p:cNvSpPr>
            <a:spLocks noGrp="1"/>
          </p:cNvSpPr>
          <p:nvPr/>
        </p:nvSpPr>
        <p:spPr>
          <a:xfrm>
            <a:off x="660196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2" name="Rectangle 21"/>
          <p:cNvSpPr>
            <a:spLocks noGrp="1"/>
          </p:cNvSpPr>
          <p:nvPr/>
        </p:nvSpPr>
        <p:spPr>
          <a:xfrm>
            <a:off x="694943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3" name="Rectangle 22"/>
          <p:cNvSpPr>
            <a:spLocks noGrp="1"/>
          </p:cNvSpPr>
          <p:nvPr/>
        </p:nvSpPr>
        <p:spPr>
          <a:xfrm>
            <a:off x="729691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4" name="Rectangle 23"/>
          <p:cNvSpPr>
            <a:spLocks noGrp="1"/>
          </p:cNvSpPr>
          <p:nvPr/>
        </p:nvSpPr>
        <p:spPr>
          <a:xfrm>
            <a:off x="764438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5" name="Rectangle 24"/>
          <p:cNvSpPr>
            <a:spLocks noGrp="1"/>
          </p:cNvSpPr>
          <p:nvPr/>
        </p:nvSpPr>
        <p:spPr>
          <a:xfrm>
            <a:off x="799185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6" name="Rectangle 25"/>
          <p:cNvSpPr>
            <a:spLocks noGrp="1"/>
          </p:cNvSpPr>
          <p:nvPr/>
        </p:nvSpPr>
        <p:spPr>
          <a:xfrm>
            <a:off x="833932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7" name="Rectangle 26"/>
          <p:cNvSpPr>
            <a:spLocks noGrp="1"/>
          </p:cNvSpPr>
          <p:nvPr/>
        </p:nvSpPr>
        <p:spPr>
          <a:xfrm>
            <a:off x="868680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8" name="Rectangle 27"/>
          <p:cNvSpPr>
            <a:spLocks noGrp="1"/>
          </p:cNvSpPr>
          <p:nvPr/>
        </p:nvSpPr>
        <p:spPr>
          <a:xfrm>
            <a:off x="90342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9" name="Rectangle 28"/>
          <p:cNvSpPr>
            <a:spLocks noGrp="1"/>
          </p:cNvSpPr>
          <p:nvPr/>
        </p:nvSpPr>
        <p:spPr>
          <a:xfrm>
            <a:off x="93817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0" name="Rectangle 29"/>
          <p:cNvSpPr>
            <a:spLocks noGrp="1"/>
          </p:cNvSpPr>
          <p:nvPr/>
        </p:nvSpPr>
        <p:spPr>
          <a:xfrm>
            <a:off x="97292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1" name="Rectangle 30"/>
          <p:cNvSpPr>
            <a:spLocks noGrp="1"/>
          </p:cNvSpPr>
          <p:nvPr/>
        </p:nvSpPr>
        <p:spPr>
          <a:xfrm>
            <a:off x="100766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2" name="Rectangle 31"/>
          <p:cNvSpPr>
            <a:spLocks noGrp="1"/>
          </p:cNvSpPr>
          <p:nvPr/>
        </p:nvSpPr>
        <p:spPr>
          <a:xfrm>
            <a:off x="104241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3" name="Rectangle 32"/>
          <p:cNvSpPr>
            <a:spLocks noGrp="1"/>
          </p:cNvSpPr>
          <p:nvPr/>
        </p:nvSpPr>
        <p:spPr>
          <a:xfrm>
            <a:off x="1077163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4" name="Rectangle 33"/>
          <p:cNvSpPr>
            <a:spLocks noGrp="1"/>
          </p:cNvSpPr>
          <p:nvPr/>
        </p:nvSpPr>
        <p:spPr>
          <a:xfrm>
            <a:off x="1111910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5" name="Rectangle 34"/>
          <p:cNvSpPr>
            <a:spLocks noGrp="1"/>
          </p:cNvSpPr>
          <p:nvPr/>
        </p:nvSpPr>
        <p:spPr>
          <a:xfrm>
            <a:off x="1146657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6" name="Rectangle 35"/>
          <p:cNvSpPr>
            <a:spLocks noGrp="1"/>
          </p:cNvSpPr>
          <p:nvPr/>
        </p:nvSpPr>
        <p:spPr>
          <a:xfrm>
            <a:off x="1181404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7" name="Rectangle 36"/>
          <p:cNvSpPr>
            <a:spLocks noGrp="1"/>
          </p:cNvSpPr>
          <p:nvPr/>
        </p:nvSpPr>
        <p:spPr>
          <a:xfrm>
            <a:off x="1216152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8" name="Rectangle 37"/>
          <p:cNvSpPr>
            <a:spLocks noGrp="1"/>
          </p:cNvSpPr>
          <p:nvPr/>
        </p:nvSpPr>
        <p:spPr>
          <a:xfrm>
            <a:off x="0" y="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9" name="Rectangle 38"/>
          <p:cNvSpPr>
            <a:spLocks noGrp="1"/>
          </p:cNvSpPr>
          <p:nvPr/>
        </p:nvSpPr>
        <p:spPr>
          <a:xfrm>
            <a:off x="0" y="347472"/>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0" name="Rectangle 39"/>
          <p:cNvSpPr>
            <a:spLocks noGrp="1"/>
          </p:cNvSpPr>
          <p:nvPr/>
        </p:nvSpPr>
        <p:spPr>
          <a:xfrm>
            <a:off x="0" y="694944"/>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1" name="Rectangle 40"/>
          <p:cNvSpPr>
            <a:spLocks noGrp="1"/>
          </p:cNvSpPr>
          <p:nvPr/>
        </p:nvSpPr>
        <p:spPr>
          <a:xfrm>
            <a:off x="0" y="104241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2" name="Rectangle 41"/>
          <p:cNvSpPr>
            <a:spLocks noGrp="1"/>
          </p:cNvSpPr>
          <p:nvPr/>
        </p:nvSpPr>
        <p:spPr>
          <a:xfrm>
            <a:off x="0" y="1389888"/>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3" name="Rectangle 42"/>
          <p:cNvSpPr>
            <a:spLocks noGrp="1"/>
          </p:cNvSpPr>
          <p:nvPr/>
        </p:nvSpPr>
        <p:spPr>
          <a:xfrm>
            <a:off x="0" y="173736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4" name="Rectangle 43"/>
          <p:cNvSpPr>
            <a:spLocks noGrp="1"/>
          </p:cNvSpPr>
          <p:nvPr/>
        </p:nvSpPr>
        <p:spPr>
          <a:xfrm>
            <a:off x="0" y="208483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5" name="Rectangle 44"/>
          <p:cNvSpPr>
            <a:spLocks noGrp="1"/>
          </p:cNvSpPr>
          <p:nvPr/>
        </p:nvSpPr>
        <p:spPr>
          <a:xfrm>
            <a:off x="0" y="243230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6" name="Rectangle 45"/>
          <p:cNvSpPr>
            <a:spLocks noGrp="1"/>
          </p:cNvSpPr>
          <p:nvPr/>
        </p:nvSpPr>
        <p:spPr>
          <a:xfrm>
            <a:off x="0" y="277977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7" name="Rectangle 46"/>
          <p:cNvSpPr>
            <a:spLocks noGrp="1"/>
          </p:cNvSpPr>
          <p:nvPr/>
        </p:nvSpPr>
        <p:spPr>
          <a:xfrm>
            <a:off x="0" y="312724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8" name="Rectangle 47"/>
          <p:cNvSpPr>
            <a:spLocks noGrp="1"/>
          </p:cNvSpPr>
          <p:nvPr/>
        </p:nvSpPr>
        <p:spPr>
          <a:xfrm>
            <a:off x="0" y="347471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9" name="Rectangle 48"/>
          <p:cNvSpPr>
            <a:spLocks noGrp="1"/>
          </p:cNvSpPr>
          <p:nvPr/>
        </p:nvSpPr>
        <p:spPr>
          <a:xfrm>
            <a:off x="0" y="382219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0" name="Rectangle 49"/>
          <p:cNvSpPr>
            <a:spLocks noGrp="1"/>
          </p:cNvSpPr>
          <p:nvPr/>
        </p:nvSpPr>
        <p:spPr>
          <a:xfrm>
            <a:off x="0" y="416966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1" name="Rectangle 50"/>
          <p:cNvSpPr>
            <a:spLocks noGrp="1"/>
          </p:cNvSpPr>
          <p:nvPr/>
        </p:nvSpPr>
        <p:spPr>
          <a:xfrm>
            <a:off x="0" y="451713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2" name="Rectangle 51"/>
          <p:cNvSpPr>
            <a:spLocks noGrp="1"/>
          </p:cNvSpPr>
          <p:nvPr/>
        </p:nvSpPr>
        <p:spPr>
          <a:xfrm>
            <a:off x="0" y="486460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3" name="Rectangle 52"/>
          <p:cNvSpPr>
            <a:spLocks noGrp="1"/>
          </p:cNvSpPr>
          <p:nvPr/>
        </p:nvSpPr>
        <p:spPr>
          <a:xfrm>
            <a:off x="0" y="521207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4" name="Rectangle 53"/>
          <p:cNvSpPr>
            <a:spLocks noGrp="1"/>
          </p:cNvSpPr>
          <p:nvPr/>
        </p:nvSpPr>
        <p:spPr>
          <a:xfrm>
            <a:off x="0" y="555955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5" name="Rectangle 54"/>
          <p:cNvSpPr>
            <a:spLocks noGrp="1"/>
          </p:cNvSpPr>
          <p:nvPr/>
        </p:nvSpPr>
        <p:spPr>
          <a:xfrm>
            <a:off x="0" y="590702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6" name="Rectangle 55"/>
          <p:cNvSpPr>
            <a:spLocks noGrp="1"/>
          </p:cNvSpPr>
          <p:nvPr/>
        </p:nvSpPr>
        <p:spPr>
          <a:xfrm>
            <a:off x="0" y="625449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7" name="Rectangle 56"/>
          <p:cNvSpPr>
            <a:spLocks noGrp="1"/>
          </p:cNvSpPr>
          <p:nvPr/>
        </p:nvSpPr>
        <p:spPr>
          <a:xfrm>
            <a:off x="0" y="660196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8" name="Rectangle 57"/>
          <p:cNvSpPr>
            <a:spLocks noGrp="1"/>
          </p:cNvSpPr>
          <p:nvPr/>
        </p:nvSpPr>
        <p:spPr>
          <a:xfrm>
            <a:off x="292608" y="182880"/>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9" name="Rectangle 58"/>
          <p:cNvSpPr>
            <a:spLocks noGrp="1"/>
          </p:cNvSpPr>
          <p:nvPr/>
        </p:nvSpPr>
        <p:spPr>
          <a:xfrm>
            <a:off x="292608" y="6784848"/>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0" name="TextBox 59"/>
          <p:cNvSpPr>
            <a:spLocks noGrp="1"/>
          </p:cNvSpPr>
          <p:nvPr/>
        </p:nvSpPr>
        <p:spPr>
          <a:xfrm>
            <a:off x="292608" y="246888"/>
            <a:ext cx="7498079" cy="265176"/>
          </a:xfrm>
          <a:prstGeom prst="rect">
            <a:avLst/>
          </a:prstGeom>
          <a:noFill/>
          <a:ln>
            <a:noFill/>
          </a:ln>
        </p:spPr>
        <p:txBody>
          <a:bodyPr wrap="square">
            <a:spAutoFit/>
          </a:bodyPr>
          <a:lstStyle/>
          <a:p>
            <a:pPr algn="l">
              <a:lnSpc>
                <a:spcPct val="120000"/>
              </a:lnSpc>
              <a:buNone/>
            </a:pPr>
            <a:r>
              <a:rPr sz="950" b="1" i="0">
                <a:solidFill>
                  <a:srgbClr val="1F2BE0"/>
                </a:solidFill>
                <a:latin typeface="Consolas" panose="020B0609020204030204"/>
                <a:ea typeface="Consolas" panose="020B0609020204030204"/>
                <a:cs typeface="Consolas" panose="020B0609020204030204"/>
              </a:rPr>
              <a:t>EXPLORATION OF DATASET  ·  SCALE VS INTENSITY</a:t>
            </a:r>
            <a:endParaRPr sz="950" b="1" i="0">
              <a:solidFill>
                <a:srgbClr val="1F2BE0"/>
              </a:solidFill>
              <a:latin typeface="Consolas" panose="020B0609020204030204"/>
              <a:ea typeface="Consolas" panose="020B0609020204030204"/>
              <a:cs typeface="Consolas" panose="020B0609020204030204"/>
            </a:endParaRPr>
          </a:p>
        </p:txBody>
      </p:sp>
      <p:sp>
        <p:nvSpPr>
          <p:cNvPr id="61" name="TextBox 60"/>
          <p:cNvSpPr>
            <a:spLocks noGrp="1"/>
          </p:cNvSpPr>
          <p:nvPr/>
        </p:nvSpPr>
        <p:spPr>
          <a:xfrm>
            <a:off x="10607040" y="6510528"/>
            <a:ext cx="1280160" cy="201168"/>
          </a:xfrm>
          <a:prstGeom prst="rect">
            <a:avLst/>
          </a:prstGeom>
          <a:noFill/>
          <a:ln>
            <a:noFill/>
          </a:ln>
        </p:spPr>
        <p:txBody>
          <a:bodyPr wrap="square">
            <a:spAutoFit/>
          </a:bodyPr>
          <a:lstStyle/>
          <a:p>
            <a:pPr algn="r">
              <a:lnSpc>
                <a:spcPct val="120000"/>
              </a:lnSpc>
              <a:buNone/>
            </a:pPr>
            <a:r>
              <a:rPr sz="950" b="0" i="0">
                <a:solidFill>
                  <a:srgbClr val="1F2BE0"/>
                </a:solidFill>
                <a:latin typeface="Consolas" panose="020B0609020204030204"/>
                <a:ea typeface="Consolas" panose="020B0609020204030204"/>
                <a:cs typeface="Consolas" panose="020B0609020204030204"/>
              </a:rPr>
              <a:t>02 / 03</a:t>
            </a:r>
            <a:endParaRPr sz="950" b="0" i="0">
              <a:solidFill>
                <a:srgbClr val="1F2BE0"/>
              </a:solidFill>
              <a:latin typeface="Consolas" panose="020B0609020204030204"/>
              <a:ea typeface="Consolas" panose="020B0609020204030204"/>
              <a:cs typeface="Consolas" panose="020B0609020204030204"/>
            </a:endParaRPr>
          </a:p>
        </p:txBody>
      </p:sp>
      <p:sp>
        <p:nvSpPr>
          <p:cNvPr id="63" name="Rectangle 62"/>
          <p:cNvSpPr>
            <a:spLocks noGrp="1"/>
          </p:cNvSpPr>
          <p:nvPr/>
        </p:nvSpPr>
        <p:spPr>
          <a:xfrm>
            <a:off x="11384280" y="283464"/>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4" name="Rectangle 63"/>
          <p:cNvSpPr>
            <a:spLocks noGrp="1"/>
          </p:cNvSpPr>
          <p:nvPr/>
        </p:nvSpPr>
        <p:spPr>
          <a:xfrm>
            <a:off x="11462004" y="333756"/>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5" name="Rectangle 64"/>
          <p:cNvSpPr>
            <a:spLocks noGrp="1"/>
          </p:cNvSpPr>
          <p:nvPr/>
        </p:nvSpPr>
        <p:spPr>
          <a:xfrm>
            <a:off x="11539728" y="384048"/>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6" name="Rectangle 65"/>
          <p:cNvSpPr>
            <a:spLocks noGrp="1"/>
          </p:cNvSpPr>
          <p:nvPr/>
        </p:nvSpPr>
        <p:spPr>
          <a:xfrm>
            <a:off x="11617452" y="434340"/>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7" name="Rectangle 66"/>
          <p:cNvSpPr>
            <a:spLocks noGrp="1"/>
          </p:cNvSpPr>
          <p:nvPr/>
        </p:nvSpPr>
        <p:spPr>
          <a:xfrm>
            <a:off x="11695176" y="484632"/>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8" name="TextBox 67"/>
          <p:cNvSpPr>
            <a:spLocks noGrp="1"/>
          </p:cNvSpPr>
          <p:nvPr/>
        </p:nvSpPr>
        <p:spPr>
          <a:xfrm>
            <a:off x="292608" y="566928"/>
            <a:ext cx="8229600" cy="685800"/>
          </a:xfrm>
          <a:prstGeom prst="rect">
            <a:avLst/>
          </a:prstGeom>
          <a:noFill/>
          <a:ln>
            <a:noFill/>
          </a:ln>
        </p:spPr>
        <p:txBody>
          <a:bodyPr wrap="square">
            <a:spAutoFit/>
          </a:bodyPr>
          <a:lstStyle/>
          <a:p>
            <a:pPr algn="l">
              <a:lnSpc>
                <a:spcPct val="104000"/>
              </a:lnSpc>
              <a:buNone/>
            </a:pPr>
            <a:r>
              <a:rPr sz="2100" b="0" i="1">
                <a:solidFill>
                  <a:srgbClr val="1F2BE0"/>
                </a:solidFill>
                <a:latin typeface="Georgia" panose="02040502050405020303"/>
                <a:ea typeface="Georgia" panose="02040502050405020303"/>
                <a:cs typeface="Georgia" panose="02040502050405020303"/>
              </a:rPr>
              <a:t>Total emissions and per-capita emissions tell different stories.</a:t>
            </a:r>
            <a:endParaRPr sz="2100" b="0" i="1">
              <a:solidFill>
                <a:srgbClr val="1F2BE0"/>
              </a:solidFill>
              <a:latin typeface="Georgia" panose="02040502050405020303"/>
              <a:ea typeface="Georgia" panose="02040502050405020303"/>
              <a:cs typeface="Georgia" panose="02040502050405020303"/>
            </a:endParaRPr>
          </a:p>
        </p:txBody>
      </p:sp>
      <p:sp>
        <p:nvSpPr>
          <p:cNvPr id="69" name="TextBox 68"/>
          <p:cNvSpPr>
            <a:spLocks noGrp="1"/>
          </p:cNvSpPr>
          <p:nvPr/>
        </p:nvSpPr>
        <p:spPr>
          <a:xfrm>
            <a:off x="292608" y="1252728"/>
            <a:ext cx="8229600" cy="566928"/>
          </a:xfrm>
          <a:prstGeom prst="rect">
            <a:avLst/>
          </a:prstGeom>
          <a:noFill/>
          <a:ln>
            <a:noFill/>
          </a:ln>
        </p:spPr>
        <p:txBody>
          <a:bodyPr wrap="square">
            <a:spAutoFit/>
          </a:bodyPr>
          <a:lstStyle/>
          <a:p>
            <a:pPr algn="l">
              <a:lnSpc>
                <a:spcPct val="120000"/>
              </a:lnSpc>
              <a:buNone/>
            </a:pPr>
            <a:r>
              <a:rPr sz="1100" b="0" i="0">
                <a:solidFill>
                  <a:srgbClr val="5560E5"/>
                </a:solidFill>
                <a:latin typeface="Segoe UI" panose="020B0502040204020203"/>
                <a:ea typeface="Segoe UI" panose="020B0502040204020203"/>
                <a:cs typeface="Segoe UI" panose="020B0502040204020203"/>
              </a:rPr>
              <a:t>Land colour shows total CO₂ on a logarithmic scale; 3-D bar height and colour show CO₂ per person. Together they contrast national scale with emissions intensity.</a:t>
            </a:r>
            <a:endParaRPr sz="1100" b="0" i="0">
              <a:solidFill>
                <a:srgbClr val="5560E5"/>
              </a:solidFill>
              <a:latin typeface="Segoe UI" panose="020B0502040204020203"/>
              <a:ea typeface="Segoe UI" panose="020B0502040204020203"/>
              <a:cs typeface="Segoe UI" panose="020B0502040204020203"/>
            </a:endParaRPr>
          </a:p>
        </p:txBody>
      </p:sp>
      <p:sp>
        <p:nvSpPr>
          <p:cNvPr id="70" name="Rectangle 69"/>
          <p:cNvSpPr>
            <a:spLocks noGrp="1"/>
          </p:cNvSpPr>
          <p:nvPr/>
        </p:nvSpPr>
        <p:spPr>
          <a:xfrm>
            <a:off x="274320" y="1874519"/>
            <a:ext cx="8321040" cy="4507992"/>
          </a:xfrm>
          <a:prstGeom prst="rect">
            <a:avLst/>
          </a:prstGeom>
          <a:solidFill>
            <a:srgbClr val="F0EBD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pic>
        <p:nvPicPr>
          <p:cNvPr id="71" name="图片 70" descr="P1_01_map_bars_total_co2_2021_map_only_v2"/>
          <p:cNvPicPr>
            <a:picLocks noChangeAspect="1"/>
          </p:cNvPicPr>
          <p:nvPr/>
        </p:nvPicPr>
        <p:blipFill>
          <a:blip r:embed="rId1"/>
          <a:stretch>
            <a:fillRect/>
          </a:stretch>
        </p:blipFill>
        <p:spPr>
          <a:xfrm>
            <a:off x="320040" y="1968500"/>
            <a:ext cx="8229600" cy="3497580"/>
          </a:xfrm>
          <a:prstGeom prst="rect">
            <a:avLst/>
          </a:prstGeom>
        </p:spPr>
      </p:pic>
      <p:sp>
        <p:nvSpPr>
          <p:cNvPr id="72" name="Rectangle 71"/>
          <p:cNvSpPr>
            <a:spLocks noGrp="1"/>
          </p:cNvSpPr>
          <p:nvPr/>
        </p:nvSpPr>
        <p:spPr>
          <a:xfrm>
            <a:off x="8705088" y="713232"/>
            <a:ext cx="3212287" cy="5669280"/>
          </a:xfrm>
          <a:prstGeom prst="rect">
            <a:avLst/>
          </a:prstGeom>
          <a:solidFill>
            <a:srgbClr val="E6E0C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3" name="Rectangle 72"/>
          <p:cNvSpPr>
            <a:spLocks noGrp="1"/>
          </p:cNvSpPr>
          <p:nvPr/>
        </p:nvSpPr>
        <p:spPr>
          <a:xfrm>
            <a:off x="8705088" y="713232"/>
            <a:ext cx="54864" cy="5669280"/>
          </a:xfrm>
          <a:prstGeom prst="rect">
            <a:avLst/>
          </a:prstGeom>
          <a:solidFill>
            <a:srgbClr val="1F2BE0">
              <a:alpha val="15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4" name="Rectangle 73"/>
          <p:cNvSpPr>
            <a:spLocks noGrp="1"/>
          </p:cNvSpPr>
          <p:nvPr/>
        </p:nvSpPr>
        <p:spPr>
          <a:xfrm>
            <a:off x="8759952" y="713232"/>
            <a:ext cx="3157423" cy="22860"/>
          </a:xfrm>
          <a:prstGeom prst="rect">
            <a:avLst/>
          </a:prstGeom>
          <a:solidFill>
            <a:srgbClr val="1F2BE0">
              <a:alpha val="4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6" name="TextBox 75"/>
          <p:cNvSpPr>
            <a:spLocks noGrp="1"/>
          </p:cNvSpPr>
          <p:nvPr/>
        </p:nvSpPr>
        <p:spPr>
          <a:xfrm>
            <a:off x="8978900" y="1262380"/>
            <a:ext cx="2708910" cy="4937760"/>
          </a:xfrm>
          <a:prstGeom prst="rect">
            <a:avLst/>
          </a:prstGeom>
          <a:noFill/>
          <a:ln>
            <a:noFill/>
          </a:ln>
        </p:spPr>
        <p:txBody>
          <a:bodyPr wrap="square" tIns="50800" anchor="t">
            <a:noAutofit/>
          </a:bodyPr>
          <a:lstStyle/>
          <a:p>
            <a:pPr marL="0" indent="0" algn="l">
              <a:lnSpc>
                <a:spcPct val="132000"/>
              </a:lnSpc>
              <a:spcAft>
                <a:spcPts val="500"/>
              </a:spcAft>
              <a:buNone/>
            </a:pPr>
            <a:r>
              <a:rPr sz="1200" b="0" i="0">
                <a:solidFill>
                  <a:srgbClr val="5560E5"/>
                </a:solidFill>
                <a:latin typeface="Segoe UI" panose="020B0502040204020203"/>
                <a:ea typeface="Segoe UI" panose="020B0502040204020203"/>
                <a:cs typeface="Segoe UI" panose="020B0502040204020203"/>
              </a:rPr>
              <a:t>•  Two extremes  </a:t>
            </a:r>
            <a:r>
              <a:rPr sz="1200" b="0" i="0">
                <a:solidFill>
                  <a:srgbClr val="5560E5"/>
                </a:solidFill>
                <a:latin typeface="Segoe UI" panose="020B0502040204020203"/>
                <a:ea typeface="Segoe UI" panose="020B0502040204020203"/>
                <a:cs typeface="Segoe UI" panose="020B0502040204020203"/>
              </a:rPr>
              <a:t>China leads total emissions, while Qatar has the highest per-capita bar.</a:t>
            </a:r>
            <a:br>
              <a:rPr sz="1200" b="0" i="0">
                <a:solidFill>
                  <a:srgbClr val="5560E5"/>
                </a:solidFill>
                <a:latin typeface="Segoe UI" panose="020B0502040204020203"/>
                <a:ea typeface="Segoe UI" panose="020B0502040204020203"/>
                <a:cs typeface="Segoe UI" panose="020B0502040204020203"/>
              </a:rPr>
            </a:br>
            <a:r>
              <a:rPr sz="1200" b="0" i="0">
                <a:solidFill>
                  <a:srgbClr val="5560E5"/>
                </a:solidFill>
                <a:latin typeface="Segoe UI" panose="020B0502040204020203"/>
                <a:ea typeface="Segoe UI" panose="020B0502040204020203"/>
                <a:cs typeface="Segoe UI" panose="020B0502040204020203"/>
              </a:rPr>
              <a:t>•  Scale contrast  </a:t>
            </a:r>
            <a:r>
              <a:rPr sz="1200" b="0" i="0">
                <a:solidFill>
                  <a:srgbClr val="5560E5"/>
                </a:solidFill>
                <a:latin typeface="Segoe UI" panose="020B0502040204020203"/>
                <a:ea typeface="Segoe UI" panose="020B0502040204020203"/>
                <a:cs typeface="Segoe UI" panose="020B0502040204020203"/>
              </a:rPr>
              <a:t>large economies can dominate the total without ranking highest per person; small countries can show the reverse.</a:t>
            </a:r>
            <a:br>
              <a:rPr sz="1200" b="0" i="0">
                <a:solidFill>
                  <a:srgbClr val="5560E5"/>
                </a:solidFill>
                <a:latin typeface="Segoe UI" panose="020B0502040204020203"/>
                <a:ea typeface="Segoe UI" panose="020B0502040204020203"/>
                <a:cs typeface="Segoe UI" panose="020B0502040204020203"/>
              </a:rPr>
            </a:br>
            <a:r>
              <a:rPr sz="1200" b="0" i="0">
                <a:solidFill>
                  <a:srgbClr val="5560E5"/>
                </a:solidFill>
                <a:latin typeface="Segoe UI" panose="020B0502040204020203"/>
                <a:ea typeface="Segoe UI" panose="020B0502040204020203"/>
                <a:cs typeface="Segoe UI" panose="020B0502040204020203"/>
              </a:rPr>
              <a:t>•  Implication  </a:t>
            </a:r>
            <a:r>
              <a:rPr sz="1200" b="0" i="0">
                <a:solidFill>
                  <a:srgbClr val="5560E5"/>
                </a:solidFill>
                <a:latin typeface="Segoe UI" panose="020B0502040204020203"/>
                <a:ea typeface="Segoe UI" panose="020B0502040204020203"/>
                <a:cs typeface="Segoe UI" panose="020B0502040204020203"/>
              </a:rPr>
              <a:t>total and per-capita emissions must be read together when comparing countries.</a:t>
            </a:r>
            <a:endParaRPr sz="1200" b="0" i="0">
              <a:solidFill>
                <a:srgbClr val="5560E5"/>
              </a:solidFill>
              <a:latin typeface="Segoe UI" panose="020B0502040204020203"/>
              <a:ea typeface="Segoe UI" panose="020B0502040204020203"/>
              <a:cs typeface="Segoe UI" panose="020B0502040204020203"/>
            </a:endParaRPr>
          </a:p>
        </p:txBody>
      </p:sp>
      <p:sp>
        <p:nvSpPr>
          <p:cNvPr id="75" name="TextBox 74"/>
          <p:cNvSpPr>
            <a:spLocks noGrp="1"/>
          </p:cNvSpPr>
          <p:nvPr/>
        </p:nvSpPr>
        <p:spPr>
          <a:xfrm>
            <a:off x="8979408" y="969264"/>
            <a:ext cx="1207008" cy="256032"/>
          </a:xfrm>
          <a:prstGeom prst="rect">
            <a:avLst/>
          </a:prstGeom>
          <a:solidFill>
            <a:srgbClr val="1F2BE0"/>
          </a:solidFill>
          <a:ln>
            <a:noFill/>
          </a:ln>
        </p:spPr>
        <p:txBody>
          <a:bodyPr wrap="square" lIns="73152" tIns="13716" rIns="45720" bIns="13716">
            <a:noAutofit/>
          </a:bodyPr>
          <a:lstStyle/>
          <a:p>
            <a:pPr algn="l">
              <a:lnSpc>
                <a:spcPct val="120000"/>
              </a:lnSpc>
              <a:buNone/>
            </a:pPr>
            <a:r>
              <a:rPr sz="950" b="1" i="0">
                <a:solidFill>
                  <a:srgbClr val="F0EBDE"/>
                </a:solidFill>
                <a:latin typeface="Consolas" panose="020B0609020204030204"/>
                <a:ea typeface="Consolas" panose="020B0609020204030204"/>
                <a:cs typeface="Consolas" panose="020B0609020204030204"/>
              </a:rPr>
              <a:t>KEY POINTS</a:t>
            </a:r>
            <a:endParaRPr sz="950" b="1" i="0">
              <a:solidFill>
                <a:srgbClr val="F0EBDE"/>
              </a:solidFill>
              <a:latin typeface="Consolas" panose="020B0609020204030204"/>
              <a:ea typeface="Consolas" panose="020B0609020204030204"/>
              <a:cs typeface="Consolas" panose="020B0609020204030204"/>
            </a:endParaRPr>
          </a:p>
        </p:txBody>
      </p:sp>
      <p:sp>
        <p:nvSpPr>
          <p:cNvPr id="100" name="圆角矩形 99"/>
          <p:cNvSpPr/>
          <p:nvPr/>
        </p:nvSpPr>
        <p:spPr>
          <a:xfrm>
            <a:off x="533400" y="5867400"/>
            <a:ext cx="7823200" cy="444500"/>
          </a:xfrm>
          <a:prstGeom prst="roundRect">
            <a:avLst/>
          </a:prstGeom>
          <a:solidFill>
            <a:srgbClr val="FFFFFF"/>
          </a:solidFill>
          <a:ln w="8890">
            <a:solidFill>
              <a:srgbClr val="CDD6E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1" name="矩形 100"/>
          <p:cNvSpPr/>
          <p:nvPr/>
        </p:nvSpPr>
        <p:spPr>
          <a:xfrm>
            <a:off x="635000" y="5981700"/>
            <a:ext cx="215900" cy="139700"/>
          </a:xfrm>
          <a:prstGeom prst="rect">
            <a:avLst/>
          </a:prstGeom>
          <a:solidFill>
            <a:srgbClr val="E27B37"/>
          </a:solidFill>
          <a:ln w="889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2" name="矩形 101"/>
          <p:cNvSpPr/>
          <p:nvPr/>
        </p:nvSpPr>
        <p:spPr>
          <a:xfrm>
            <a:off x="800100" y="6019800"/>
            <a:ext cx="76200" cy="76200"/>
          </a:xfrm>
          <a:prstGeom prst="rect">
            <a:avLst/>
          </a:prstGeom>
          <a:solidFill>
            <a:srgbClr val="E27B37"/>
          </a:solidFill>
          <a:ln w="889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3" name="文本框 102"/>
          <p:cNvSpPr txBox="1"/>
          <p:nvPr/>
        </p:nvSpPr>
        <p:spPr>
          <a:xfrm>
            <a:off x="952500" y="5905500"/>
            <a:ext cx="11557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800" b="1">
                <a:solidFill>
                  <a:srgbClr val="232F44"/>
                </a:solidFill>
                <a:latin typeface="Segoe UI" panose="020B0502040204020203" charset="0"/>
                <a:cs typeface="Segoe UI" panose="020B0502040204020203" charset="0"/>
              </a:rPr>
              <a:t>LAND · TOTAL CO₂</a:t>
            </a:r>
            <a:endParaRPr lang="zh-CN" altLang="en-US" sz="800" b="1">
              <a:solidFill>
                <a:srgbClr val="232F44"/>
              </a:solidFill>
              <a:latin typeface="Segoe UI" panose="020B0502040204020203" charset="0"/>
              <a:cs typeface="Segoe UI" panose="020B0502040204020203" charset="0"/>
            </a:endParaRPr>
          </a:p>
        </p:txBody>
      </p:sp>
      <p:sp>
        <p:nvSpPr>
          <p:cNvPr id="104" name="文本框 103"/>
          <p:cNvSpPr txBox="1"/>
          <p:nvPr/>
        </p:nvSpPr>
        <p:spPr>
          <a:xfrm>
            <a:off x="952500" y="6083300"/>
            <a:ext cx="990600" cy="1270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680">
                <a:solidFill>
                  <a:srgbClr val="607084"/>
                </a:solidFill>
                <a:latin typeface="Segoe UI" panose="020B0502040204020203" charset="0"/>
                <a:cs typeface="Segoe UI" panose="020B0502040204020203" charset="0"/>
              </a:rPr>
              <a:t>FILL · log₁₀(Mt)</a:t>
            </a:r>
            <a:endParaRPr lang="zh-CN" altLang="en-US" sz="680">
              <a:solidFill>
                <a:srgbClr val="607084"/>
              </a:solidFill>
              <a:latin typeface="Segoe UI" panose="020B0502040204020203" charset="0"/>
              <a:cs typeface="Segoe UI" panose="020B0502040204020203" charset="0"/>
            </a:endParaRPr>
          </a:p>
        </p:txBody>
      </p:sp>
      <p:pic>
        <p:nvPicPr>
          <p:cNvPr id="105" name="图片 104" descr="legend_land_gradient"/>
          <p:cNvPicPr>
            <a:picLocks noChangeAspect="1"/>
          </p:cNvPicPr>
          <p:nvPr/>
        </p:nvPicPr>
        <p:blipFill>
          <a:blip r:embed="rId2"/>
          <a:stretch>
            <a:fillRect/>
          </a:stretch>
        </p:blipFill>
        <p:spPr>
          <a:xfrm>
            <a:off x="2108200" y="5956300"/>
            <a:ext cx="1371600" cy="88900"/>
          </a:xfrm>
          <a:prstGeom prst="rect">
            <a:avLst/>
          </a:prstGeom>
        </p:spPr>
      </p:pic>
      <p:sp>
        <p:nvSpPr>
          <p:cNvPr id="106" name="文本框 105"/>
          <p:cNvSpPr txBox="1"/>
          <p:nvPr/>
        </p:nvSpPr>
        <p:spPr>
          <a:xfrm>
            <a:off x="2070100" y="6083300"/>
            <a:ext cx="228600" cy="1143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650">
                <a:solidFill>
                  <a:srgbClr val="607084"/>
                </a:solidFill>
                <a:latin typeface="Consolas" panose="020B0609020204030204" charset="0"/>
                <a:cs typeface="Consolas" panose="020B0609020204030204" charset="0"/>
              </a:rPr>
              <a:t>−2</a:t>
            </a:r>
            <a:endParaRPr lang="zh-CN" altLang="en-US" sz="650">
              <a:solidFill>
                <a:srgbClr val="607084"/>
              </a:solidFill>
              <a:latin typeface="Consolas" panose="020B0609020204030204" charset="0"/>
              <a:cs typeface="Consolas" panose="020B0609020204030204" charset="0"/>
            </a:endParaRPr>
          </a:p>
        </p:txBody>
      </p:sp>
      <p:sp>
        <p:nvSpPr>
          <p:cNvPr id="107" name="文本框 106"/>
          <p:cNvSpPr txBox="1"/>
          <p:nvPr/>
        </p:nvSpPr>
        <p:spPr>
          <a:xfrm>
            <a:off x="3263900" y="6083300"/>
            <a:ext cx="254000" cy="114300"/>
          </a:xfrm>
          <a:prstGeom prst="rect">
            <a:avLst/>
          </a:prstGeom>
          <a:noFill/>
        </p:spPr>
        <p:txBody>
          <a:bodyPr wrap="square" lIns="15240" tIns="3810" rIns="15240" bIns="3810" rtlCol="0" anchor="t">
            <a:noAutofit/>
          </a:bodyPr>
          <a:p>
            <a:pPr indent="0" algn="ctr">
              <a:spcBef>
                <a:spcPts val="0"/>
              </a:spcBef>
              <a:spcAft>
                <a:spcPts val="0"/>
              </a:spcAft>
              <a:buNone/>
            </a:pPr>
            <a:r>
              <a:rPr lang="zh-CN" altLang="en-US" sz="650">
                <a:solidFill>
                  <a:srgbClr val="607084"/>
                </a:solidFill>
                <a:latin typeface="Consolas" panose="020B0609020204030204" charset="0"/>
                <a:cs typeface="Consolas" panose="020B0609020204030204" charset="0"/>
              </a:rPr>
              <a:t>4.1</a:t>
            </a:r>
            <a:endParaRPr lang="zh-CN" altLang="en-US" sz="650">
              <a:solidFill>
                <a:srgbClr val="607084"/>
              </a:solidFill>
              <a:latin typeface="Consolas" panose="020B0609020204030204" charset="0"/>
              <a:cs typeface="Consolas" panose="020B0609020204030204" charset="0"/>
            </a:endParaRPr>
          </a:p>
        </p:txBody>
      </p:sp>
      <p:sp>
        <p:nvSpPr>
          <p:cNvPr id="108" name="矩形 107"/>
          <p:cNvSpPr/>
          <p:nvPr/>
        </p:nvSpPr>
        <p:spPr>
          <a:xfrm>
            <a:off x="3708400" y="6057900"/>
            <a:ext cx="127000" cy="88900"/>
          </a:xfrm>
          <a:prstGeom prst="rect">
            <a:avLst/>
          </a:prstGeom>
          <a:solidFill>
            <a:srgbClr val="288448"/>
          </a:solidFill>
          <a:ln w="8890">
            <a:solidFill>
              <a:srgbClr val="288448"/>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9" name="矩形 108"/>
          <p:cNvSpPr/>
          <p:nvPr/>
        </p:nvSpPr>
        <p:spPr>
          <a:xfrm>
            <a:off x="3708400" y="5969000"/>
            <a:ext cx="127000" cy="88900"/>
          </a:xfrm>
          <a:prstGeom prst="rect">
            <a:avLst/>
          </a:prstGeom>
          <a:solidFill>
            <a:srgbClr val="FBC02D"/>
          </a:solidFill>
          <a:ln w="8890">
            <a:solidFill>
              <a:srgbClr val="FBC02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0" name="矩形 109"/>
          <p:cNvSpPr/>
          <p:nvPr/>
        </p:nvSpPr>
        <p:spPr>
          <a:xfrm>
            <a:off x="3708400" y="5880100"/>
            <a:ext cx="127000" cy="88900"/>
          </a:xfrm>
          <a:prstGeom prst="rect">
            <a:avLst/>
          </a:prstGeom>
          <a:solidFill>
            <a:srgbClr val="821818"/>
          </a:solidFill>
          <a:ln w="8890">
            <a:solidFill>
              <a:srgbClr val="821818"/>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1" name="文本框 110"/>
          <p:cNvSpPr txBox="1"/>
          <p:nvPr/>
        </p:nvSpPr>
        <p:spPr>
          <a:xfrm>
            <a:off x="3924300" y="5905500"/>
            <a:ext cx="18288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800" b="1">
                <a:solidFill>
                  <a:srgbClr val="232F44"/>
                </a:solidFill>
                <a:latin typeface="Segoe UI" panose="020B0502040204020203" charset="0"/>
                <a:cs typeface="Segoe UI" panose="020B0502040204020203" charset="0"/>
              </a:rPr>
              <a:t>BAR HEIGHT + COLOUR</a:t>
            </a:r>
            <a:endParaRPr lang="zh-CN" altLang="en-US" sz="800" b="1">
              <a:solidFill>
                <a:srgbClr val="232F44"/>
              </a:solidFill>
              <a:latin typeface="Segoe UI" panose="020B0502040204020203" charset="0"/>
              <a:cs typeface="Segoe UI" panose="020B0502040204020203" charset="0"/>
            </a:endParaRPr>
          </a:p>
        </p:txBody>
      </p:sp>
      <p:sp>
        <p:nvSpPr>
          <p:cNvPr id="112" name="文本框 111"/>
          <p:cNvSpPr txBox="1"/>
          <p:nvPr/>
        </p:nvSpPr>
        <p:spPr>
          <a:xfrm>
            <a:off x="3924300" y="6083300"/>
            <a:ext cx="1739900" cy="1270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680">
                <a:solidFill>
                  <a:srgbClr val="607084"/>
                </a:solidFill>
                <a:latin typeface="Segoe UI" panose="020B0502040204020203" charset="0"/>
                <a:cs typeface="Segoe UI" panose="020B0502040204020203" charset="0"/>
              </a:rPr>
              <a:t>per-capita CO₂ · t/person</a:t>
            </a:r>
            <a:endParaRPr lang="zh-CN" altLang="en-US" sz="680">
              <a:solidFill>
                <a:srgbClr val="607084"/>
              </a:solidFill>
              <a:latin typeface="Segoe UI" panose="020B0502040204020203" charset="0"/>
              <a:cs typeface="Segoe UI" panose="020B0502040204020203" charset="0"/>
            </a:endParaRPr>
          </a:p>
        </p:txBody>
      </p:sp>
      <p:pic>
        <p:nvPicPr>
          <p:cNvPr id="113" name="图片 112" descr="legend_percap_gradient"/>
          <p:cNvPicPr>
            <a:picLocks noChangeAspect="1"/>
          </p:cNvPicPr>
          <p:nvPr/>
        </p:nvPicPr>
        <p:blipFill>
          <a:blip r:embed="rId3"/>
          <a:stretch>
            <a:fillRect/>
          </a:stretch>
        </p:blipFill>
        <p:spPr>
          <a:xfrm>
            <a:off x="5765800" y="5956300"/>
            <a:ext cx="2298700" cy="88900"/>
          </a:xfrm>
          <a:prstGeom prst="rect">
            <a:avLst/>
          </a:prstGeom>
        </p:spPr>
      </p:pic>
      <p:sp>
        <p:nvSpPr>
          <p:cNvPr id="114" name="文本框 113"/>
          <p:cNvSpPr txBox="1"/>
          <p:nvPr/>
        </p:nvSpPr>
        <p:spPr>
          <a:xfrm>
            <a:off x="5727700" y="6083300"/>
            <a:ext cx="190500" cy="1143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650">
                <a:solidFill>
                  <a:srgbClr val="607084"/>
                </a:solidFill>
                <a:latin typeface="Consolas" panose="020B0609020204030204" charset="0"/>
                <a:cs typeface="Consolas" panose="020B0609020204030204" charset="0"/>
              </a:rPr>
              <a:t>0</a:t>
            </a:r>
            <a:endParaRPr lang="zh-CN" altLang="en-US" sz="650">
              <a:solidFill>
                <a:srgbClr val="607084"/>
              </a:solidFill>
              <a:latin typeface="Consolas" panose="020B0609020204030204" charset="0"/>
              <a:cs typeface="Consolas" panose="020B0609020204030204" charset="0"/>
            </a:endParaRPr>
          </a:p>
        </p:txBody>
      </p:sp>
      <p:sp>
        <p:nvSpPr>
          <p:cNvPr id="115" name="文本框 114"/>
          <p:cNvSpPr txBox="1"/>
          <p:nvPr/>
        </p:nvSpPr>
        <p:spPr>
          <a:xfrm>
            <a:off x="7835900" y="6083300"/>
            <a:ext cx="279400" cy="114300"/>
          </a:xfrm>
          <a:prstGeom prst="rect">
            <a:avLst/>
          </a:prstGeom>
          <a:noFill/>
        </p:spPr>
        <p:txBody>
          <a:bodyPr wrap="square" lIns="15240" tIns="3810" rIns="15240" bIns="3810" rtlCol="0" anchor="t">
            <a:noAutofit/>
          </a:bodyPr>
          <a:p>
            <a:pPr indent="0" algn="ctr">
              <a:spcBef>
                <a:spcPts val="0"/>
              </a:spcBef>
              <a:spcAft>
                <a:spcPts val="0"/>
              </a:spcAft>
              <a:buNone/>
            </a:pPr>
            <a:r>
              <a:rPr lang="zh-CN" altLang="en-US" sz="650">
                <a:solidFill>
                  <a:srgbClr val="607084"/>
                </a:solidFill>
                <a:latin typeface="Consolas" panose="020B0609020204030204" charset="0"/>
                <a:cs typeface="Consolas" panose="020B0609020204030204" charset="0"/>
              </a:rPr>
              <a:t>37+</a:t>
            </a:r>
            <a:endParaRPr lang="zh-CN" altLang="en-US" sz="650">
              <a:solidFill>
                <a:srgbClr val="607084"/>
              </a:solidFill>
              <a:latin typeface="Consolas" panose="020B0609020204030204" charset="0"/>
              <a:cs typeface="Consolas" panose="020B0609020204030204" charset="0"/>
            </a:endParaRPr>
          </a:p>
        </p:txBody>
      </p:sp>
      <p:sp>
        <p:nvSpPr>
          <p:cNvPr id="77" name="TextBox 61"/>
          <p:cNvSpPr>
            <a:spLocks noGrp="1"/>
          </p:cNvSpPr>
          <p:nvPr/>
        </p:nvSpPr>
        <p:spPr>
          <a:xfrm>
            <a:off x="292608" y="6510528"/>
            <a:ext cx="2743200" cy="20116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880" b="1" i="0">
                <a:solidFill>
                  <a:srgbClr val="607084"/>
                </a:solidFill>
                <a:latin typeface="Consolas" panose="020B0609020204030204" charset="0"/>
                <a:ea typeface="Consolas" panose="020B0609020204030204"/>
                <a:cs typeface="Consolas" panose="020B0609020204030204" charset="0"/>
              </a:rPr>
              <a:t>PREPARED BY · [</a:t>
            </a:r>
            <a:r>
              <a:rPr lang="en-US" sz="880" b="1" i="0">
                <a:solidFill>
                  <a:srgbClr val="607084"/>
                </a:solidFill>
                <a:latin typeface="Consolas" panose="020B0609020204030204" charset="0"/>
                <a:ea typeface="Consolas" panose="020B0609020204030204"/>
                <a:cs typeface="Consolas" panose="020B0609020204030204" charset="0"/>
              </a:rPr>
              <a:t>SHEN RUITING</a:t>
            </a:r>
            <a:r>
              <a:rPr sz="880" b="1" i="0">
                <a:solidFill>
                  <a:srgbClr val="607084"/>
                </a:solidFill>
                <a:latin typeface="Consolas" panose="020B0609020204030204" charset="0"/>
                <a:ea typeface="Consolas" panose="020B0609020204030204"/>
                <a:cs typeface="Consolas" panose="020B0609020204030204" charset="0"/>
              </a:rPr>
              <a:t>]</a:t>
            </a:r>
            <a:endParaRPr sz="880" b="1" i="0">
              <a:solidFill>
                <a:srgbClr val="607084"/>
              </a:solidFill>
              <a:latin typeface="Consolas" panose="020B0609020204030204" charset="0"/>
              <a:ea typeface="Consolas" panose="020B0609020204030204"/>
              <a:cs typeface="Consolas" panose="020B0609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500"/>
                                        <p:tgtEl>
                                          <p:spTgt spid="1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fade">
                                      <p:cBhvr>
                                        <p:cTn id="16" dur="500"/>
                                        <p:tgtEl>
                                          <p:spTgt spid="104"/>
                                        </p:tgtEl>
                                      </p:cBhvr>
                                    </p:animEffect>
                                  </p:childTnLst>
                                </p:cTn>
                              </p:par>
                              <p:par>
                                <p:cTn id="17" presetID="10" presetClass="entr" presetSubtype="0" fill="hold" nodeType="withEffect">
                                  <p:stCondLst>
                                    <p:cond delay="0"/>
                                  </p:stCondLst>
                                  <p:childTnLst>
                                    <p:set>
                                      <p:cBhvr>
                                        <p:cTn id="18" dur="1" fill="hold">
                                          <p:stCondLst>
                                            <p:cond delay="0"/>
                                          </p:stCondLst>
                                        </p:cTn>
                                        <p:tgtEl>
                                          <p:spTgt spid="105"/>
                                        </p:tgtEl>
                                        <p:attrNameLst>
                                          <p:attrName>style.visibility</p:attrName>
                                        </p:attrNameLst>
                                      </p:cBhvr>
                                      <p:to>
                                        <p:strVal val="visible"/>
                                      </p:to>
                                    </p:set>
                                    <p:animEffect transition="in" filter="fade">
                                      <p:cBhvr>
                                        <p:cTn id="19" dur="500"/>
                                        <p:tgtEl>
                                          <p:spTgt spid="10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fade">
                                      <p:cBhvr>
                                        <p:cTn id="22" dur="500"/>
                                        <p:tgtEl>
                                          <p:spTgt spid="10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7"/>
                                        </p:tgtEl>
                                        <p:attrNameLst>
                                          <p:attrName>style.visibility</p:attrName>
                                        </p:attrNameLst>
                                      </p:cBhvr>
                                      <p:to>
                                        <p:strVal val="visible"/>
                                      </p:to>
                                    </p:set>
                                    <p:animEffect transition="in" filter="fade">
                                      <p:cBhvr>
                                        <p:cTn id="25" dur="500"/>
                                        <p:tgtEl>
                                          <p:spTgt spid="10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8"/>
                                        </p:tgtEl>
                                        <p:attrNameLst>
                                          <p:attrName>style.visibility</p:attrName>
                                        </p:attrNameLst>
                                      </p:cBhvr>
                                      <p:to>
                                        <p:strVal val="visible"/>
                                      </p:to>
                                    </p:set>
                                    <p:animEffect transition="in" filter="fade">
                                      <p:cBhvr>
                                        <p:cTn id="30" dur="500"/>
                                        <p:tgtEl>
                                          <p:spTgt spid="10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fade">
                                      <p:cBhvr>
                                        <p:cTn id="36" dur="500"/>
                                        <p:tgtEl>
                                          <p:spTgt spid="1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1"/>
                                        </p:tgtEl>
                                        <p:attrNameLst>
                                          <p:attrName>style.visibility</p:attrName>
                                        </p:attrNameLst>
                                      </p:cBhvr>
                                      <p:to>
                                        <p:strVal val="visible"/>
                                      </p:to>
                                    </p:set>
                                    <p:animEffect transition="in" filter="fade">
                                      <p:cBhvr>
                                        <p:cTn id="39" dur="500"/>
                                        <p:tgtEl>
                                          <p:spTgt spid="1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2"/>
                                        </p:tgtEl>
                                        <p:attrNameLst>
                                          <p:attrName>style.visibility</p:attrName>
                                        </p:attrNameLst>
                                      </p:cBhvr>
                                      <p:to>
                                        <p:strVal val="visible"/>
                                      </p:to>
                                    </p:set>
                                    <p:animEffect transition="in" filter="fade">
                                      <p:cBhvr>
                                        <p:cTn id="42" dur="500"/>
                                        <p:tgtEl>
                                          <p:spTgt spid="112"/>
                                        </p:tgtEl>
                                      </p:cBhvr>
                                    </p:animEffect>
                                  </p:childTnLst>
                                </p:cTn>
                              </p:par>
                              <p:par>
                                <p:cTn id="43" presetID="10" presetClass="entr" presetSubtype="0" fill="hold" nodeType="withEffect">
                                  <p:stCondLst>
                                    <p:cond delay="0"/>
                                  </p:stCondLst>
                                  <p:childTnLst>
                                    <p:set>
                                      <p:cBhvr>
                                        <p:cTn id="44" dur="1" fill="hold">
                                          <p:stCondLst>
                                            <p:cond delay="0"/>
                                          </p:stCondLst>
                                        </p:cTn>
                                        <p:tgtEl>
                                          <p:spTgt spid="113"/>
                                        </p:tgtEl>
                                        <p:attrNameLst>
                                          <p:attrName>style.visibility</p:attrName>
                                        </p:attrNameLst>
                                      </p:cBhvr>
                                      <p:to>
                                        <p:strVal val="visible"/>
                                      </p:to>
                                    </p:set>
                                    <p:animEffect transition="in" filter="fade">
                                      <p:cBhvr>
                                        <p:cTn id="45" dur="500"/>
                                        <p:tgtEl>
                                          <p:spTgt spid="1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4"/>
                                        </p:tgtEl>
                                        <p:attrNameLst>
                                          <p:attrName>style.visibility</p:attrName>
                                        </p:attrNameLst>
                                      </p:cBhvr>
                                      <p:to>
                                        <p:strVal val="visible"/>
                                      </p:to>
                                    </p:set>
                                    <p:animEffect transition="in" filter="fade">
                                      <p:cBhvr>
                                        <p:cTn id="48" dur="500"/>
                                        <p:tgtEl>
                                          <p:spTgt spid="11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15"/>
                                        </p:tgtEl>
                                        <p:attrNameLst>
                                          <p:attrName>style.visibility</p:attrName>
                                        </p:attrNameLst>
                                      </p:cBhvr>
                                      <p:to>
                                        <p:strVal val="visible"/>
                                      </p:to>
                                    </p:set>
                                    <p:animEffect transition="in" filter="fade">
                                      <p:cBhvr>
                                        <p:cTn id="51"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p:bldP spid="104" grpId="0"/>
      <p:bldP spid="106" grpId="0"/>
      <p:bldP spid="107" grpId="0"/>
      <p:bldP spid="108" grpId="0" animBg="1"/>
      <p:bldP spid="109" grpId="0" animBg="1"/>
      <p:bldP spid="110" grpId="0" animBg="1"/>
      <p:bldP spid="111" grpId="0"/>
      <p:bldP spid="112" grpId="0"/>
      <p:bldP spid="114" grpId="0"/>
      <p:bldP spid="11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BDE"/>
        </a:solidFill>
        <a:effectLst/>
      </p:bgPr>
    </p:bg>
    <p:spTree>
      <p:nvGrpSpPr>
        <p:cNvPr id="1" name=""/>
        <p:cNvGrpSpPr/>
        <p:nvPr/>
      </p:nvGrpSpPr>
      <p:grpSpPr/>
      <p:sp>
        <p:nvSpPr>
          <p:cNvPr id="2" name="Rectangle 1"/>
          <p:cNvSpPr>
            <a:spLocks noGrp="1"/>
          </p:cNvSpPr>
          <p:nvPr/>
        </p:nvSpPr>
        <p:spPr>
          <a:xfrm>
            <a:off x="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 name="Rectangle 2"/>
          <p:cNvSpPr>
            <a:spLocks noGrp="1"/>
          </p:cNvSpPr>
          <p:nvPr/>
        </p:nvSpPr>
        <p:spPr>
          <a:xfrm>
            <a:off x="3474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 name="Rectangle 3"/>
          <p:cNvSpPr>
            <a:spLocks noGrp="1"/>
          </p:cNvSpPr>
          <p:nvPr/>
        </p:nvSpPr>
        <p:spPr>
          <a:xfrm>
            <a:off x="6949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 name="Rectangle 4"/>
          <p:cNvSpPr>
            <a:spLocks noGrp="1"/>
          </p:cNvSpPr>
          <p:nvPr/>
        </p:nvSpPr>
        <p:spPr>
          <a:xfrm>
            <a:off x="10424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 name="Rectangle 5"/>
          <p:cNvSpPr>
            <a:spLocks noGrp="1"/>
          </p:cNvSpPr>
          <p:nvPr/>
        </p:nvSpPr>
        <p:spPr>
          <a:xfrm>
            <a:off x="13898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 name="Rectangle 6"/>
          <p:cNvSpPr>
            <a:spLocks noGrp="1"/>
          </p:cNvSpPr>
          <p:nvPr/>
        </p:nvSpPr>
        <p:spPr>
          <a:xfrm>
            <a:off x="17373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8" name="Rectangle 7"/>
          <p:cNvSpPr>
            <a:spLocks noGrp="1"/>
          </p:cNvSpPr>
          <p:nvPr/>
        </p:nvSpPr>
        <p:spPr>
          <a:xfrm>
            <a:off x="208483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9" name="Rectangle 8"/>
          <p:cNvSpPr>
            <a:spLocks noGrp="1"/>
          </p:cNvSpPr>
          <p:nvPr/>
        </p:nvSpPr>
        <p:spPr>
          <a:xfrm>
            <a:off x="243230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0" name="Rectangle 9"/>
          <p:cNvSpPr>
            <a:spLocks noGrp="1"/>
          </p:cNvSpPr>
          <p:nvPr/>
        </p:nvSpPr>
        <p:spPr>
          <a:xfrm>
            <a:off x="277977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1" name="Rectangle 10"/>
          <p:cNvSpPr>
            <a:spLocks noGrp="1"/>
          </p:cNvSpPr>
          <p:nvPr/>
        </p:nvSpPr>
        <p:spPr>
          <a:xfrm>
            <a:off x="312724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2" name="Rectangle 11"/>
          <p:cNvSpPr>
            <a:spLocks noGrp="1"/>
          </p:cNvSpPr>
          <p:nvPr/>
        </p:nvSpPr>
        <p:spPr>
          <a:xfrm>
            <a:off x="347471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3" name="Rectangle 12"/>
          <p:cNvSpPr>
            <a:spLocks noGrp="1"/>
          </p:cNvSpPr>
          <p:nvPr/>
        </p:nvSpPr>
        <p:spPr>
          <a:xfrm>
            <a:off x="382219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4" name="Rectangle 13"/>
          <p:cNvSpPr>
            <a:spLocks noGrp="1"/>
          </p:cNvSpPr>
          <p:nvPr/>
        </p:nvSpPr>
        <p:spPr>
          <a:xfrm>
            <a:off x="416966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5" name="Rectangle 14"/>
          <p:cNvSpPr>
            <a:spLocks noGrp="1"/>
          </p:cNvSpPr>
          <p:nvPr/>
        </p:nvSpPr>
        <p:spPr>
          <a:xfrm>
            <a:off x="451713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6" name="Rectangle 15"/>
          <p:cNvSpPr>
            <a:spLocks noGrp="1"/>
          </p:cNvSpPr>
          <p:nvPr/>
        </p:nvSpPr>
        <p:spPr>
          <a:xfrm>
            <a:off x="486460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7" name="Rectangle 16"/>
          <p:cNvSpPr>
            <a:spLocks noGrp="1"/>
          </p:cNvSpPr>
          <p:nvPr/>
        </p:nvSpPr>
        <p:spPr>
          <a:xfrm>
            <a:off x="521207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8" name="Rectangle 17"/>
          <p:cNvSpPr>
            <a:spLocks noGrp="1"/>
          </p:cNvSpPr>
          <p:nvPr/>
        </p:nvSpPr>
        <p:spPr>
          <a:xfrm>
            <a:off x="555955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9" name="Rectangle 18"/>
          <p:cNvSpPr>
            <a:spLocks noGrp="1"/>
          </p:cNvSpPr>
          <p:nvPr/>
        </p:nvSpPr>
        <p:spPr>
          <a:xfrm>
            <a:off x="590702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0" name="Rectangle 19"/>
          <p:cNvSpPr>
            <a:spLocks noGrp="1"/>
          </p:cNvSpPr>
          <p:nvPr/>
        </p:nvSpPr>
        <p:spPr>
          <a:xfrm>
            <a:off x="625449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1" name="Rectangle 20"/>
          <p:cNvSpPr>
            <a:spLocks noGrp="1"/>
          </p:cNvSpPr>
          <p:nvPr/>
        </p:nvSpPr>
        <p:spPr>
          <a:xfrm>
            <a:off x="660196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2" name="Rectangle 21"/>
          <p:cNvSpPr>
            <a:spLocks noGrp="1"/>
          </p:cNvSpPr>
          <p:nvPr/>
        </p:nvSpPr>
        <p:spPr>
          <a:xfrm>
            <a:off x="694943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3" name="Rectangle 22"/>
          <p:cNvSpPr>
            <a:spLocks noGrp="1"/>
          </p:cNvSpPr>
          <p:nvPr/>
        </p:nvSpPr>
        <p:spPr>
          <a:xfrm>
            <a:off x="729691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4" name="Rectangle 23"/>
          <p:cNvSpPr>
            <a:spLocks noGrp="1"/>
          </p:cNvSpPr>
          <p:nvPr/>
        </p:nvSpPr>
        <p:spPr>
          <a:xfrm>
            <a:off x="764438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5" name="Rectangle 24"/>
          <p:cNvSpPr>
            <a:spLocks noGrp="1"/>
          </p:cNvSpPr>
          <p:nvPr/>
        </p:nvSpPr>
        <p:spPr>
          <a:xfrm>
            <a:off x="799185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6" name="Rectangle 25"/>
          <p:cNvSpPr>
            <a:spLocks noGrp="1"/>
          </p:cNvSpPr>
          <p:nvPr/>
        </p:nvSpPr>
        <p:spPr>
          <a:xfrm>
            <a:off x="833932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7" name="Rectangle 26"/>
          <p:cNvSpPr>
            <a:spLocks noGrp="1"/>
          </p:cNvSpPr>
          <p:nvPr/>
        </p:nvSpPr>
        <p:spPr>
          <a:xfrm>
            <a:off x="868680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8" name="Rectangle 27"/>
          <p:cNvSpPr>
            <a:spLocks noGrp="1"/>
          </p:cNvSpPr>
          <p:nvPr/>
        </p:nvSpPr>
        <p:spPr>
          <a:xfrm>
            <a:off x="90342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9" name="Rectangle 28"/>
          <p:cNvSpPr>
            <a:spLocks noGrp="1"/>
          </p:cNvSpPr>
          <p:nvPr/>
        </p:nvSpPr>
        <p:spPr>
          <a:xfrm>
            <a:off x="93817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0" name="Rectangle 29"/>
          <p:cNvSpPr>
            <a:spLocks noGrp="1"/>
          </p:cNvSpPr>
          <p:nvPr/>
        </p:nvSpPr>
        <p:spPr>
          <a:xfrm>
            <a:off x="97292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1" name="Rectangle 30"/>
          <p:cNvSpPr>
            <a:spLocks noGrp="1"/>
          </p:cNvSpPr>
          <p:nvPr/>
        </p:nvSpPr>
        <p:spPr>
          <a:xfrm>
            <a:off x="100766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2" name="Rectangle 31"/>
          <p:cNvSpPr>
            <a:spLocks noGrp="1"/>
          </p:cNvSpPr>
          <p:nvPr/>
        </p:nvSpPr>
        <p:spPr>
          <a:xfrm>
            <a:off x="104241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3" name="Rectangle 32"/>
          <p:cNvSpPr>
            <a:spLocks noGrp="1"/>
          </p:cNvSpPr>
          <p:nvPr/>
        </p:nvSpPr>
        <p:spPr>
          <a:xfrm>
            <a:off x="1077163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4" name="Rectangle 33"/>
          <p:cNvSpPr>
            <a:spLocks noGrp="1"/>
          </p:cNvSpPr>
          <p:nvPr/>
        </p:nvSpPr>
        <p:spPr>
          <a:xfrm>
            <a:off x="1111910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5" name="Rectangle 34"/>
          <p:cNvSpPr>
            <a:spLocks noGrp="1"/>
          </p:cNvSpPr>
          <p:nvPr/>
        </p:nvSpPr>
        <p:spPr>
          <a:xfrm>
            <a:off x="1146657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6" name="Rectangle 35"/>
          <p:cNvSpPr>
            <a:spLocks noGrp="1"/>
          </p:cNvSpPr>
          <p:nvPr/>
        </p:nvSpPr>
        <p:spPr>
          <a:xfrm>
            <a:off x="1181404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7" name="Rectangle 36"/>
          <p:cNvSpPr>
            <a:spLocks noGrp="1"/>
          </p:cNvSpPr>
          <p:nvPr/>
        </p:nvSpPr>
        <p:spPr>
          <a:xfrm>
            <a:off x="1216152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8" name="Rectangle 37"/>
          <p:cNvSpPr>
            <a:spLocks noGrp="1"/>
          </p:cNvSpPr>
          <p:nvPr/>
        </p:nvSpPr>
        <p:spPr>
          <a:xfrm>
            <a:off x="0" y="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9" name="Rectangle 38"/>
          <p:cNvSpPr>
            <a:spLocks noGrp="1"/>
          </p:cNvSpPr>
          <p:nvPr/>
        </p:nvSpPr>
        <p:spPr>
          <a:xfrm>
            <a:off x="0" y="347472"/>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0" name="Rectangle 39"/>
          <p:cNvSpPr>
            <a:spLocks noGrp="1"/>
          </p:cNvSpPr>
          <p:nvPr/>
        </p:nvSpPr>
        <p:spPr>
          <a:xfrm>
            <a:off x="0" y="694944"/>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1" name="Rectangle 40"/>
          <p:cNvSpPr>
            <a:spLocks noGrp="1"/>
          </p:cNvSpPr>
          <p:nvPr/>
        </p:nvSpPr>
        <p:spPr>
          <a:xfrm>
            <a:off x="0" y="104241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2" name="Rectangle 41"/>
          <p:cNvSpPr>
            <a:spLocks noGrp="1"/>
          </p:cNvSpPr>
          <p:nvPr/>
        </p:nvSpPr>
        <p:spPr>
          <a:xfrm>
            <a:off x="0" y="1389888"/>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3" name="Rectangle 42"/>
          <p:cNvSpPr>
            <a:spLocks noGrp="1"/>
          </p:cNvSpPr>
          <p:nvPr/>
        </p:nvSpPr>
        <p:spPr>
          <a:xfrm>
            <a:off x="0" y="173736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4" name="Rectangle 43"/>
          <p:cNvSpPr>
            <a:spLocks noGrp="1"/>
          </p:cNvSpPr>
          <p:nvPr/>
        </p:nvSpPr>
        <p:spPr>
          <a:xfrm>
            <a:off x="0" y="208483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5" name="Rectangle 44"/>
          <p:cNvSpPr>
            <a:spLocks noGrp="1"/>
          </p:cNvSpPr>
          <p:nvPr/>
        </p:nvSpPr>
        <p:spPr>
          <a:xfrm>
            <a:off x="0" y="243230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6" name="Rectangle 45"/>
          <p:cNvSpPr>
            <a:spLocks noGrp="1"/>
          </p:cNvSpPr>
          <p:nvPr/>
        </p:nvSpPr>
        <p:spPr>
          <a:xfrm>
            <a:off x="0" y="277977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7" name="Rectangle 46"/>
          <p:cNvSpPr>
            <a:spLocks noGrp="1"/>
          </p:cNvSpPr>
          <p:nvPr/>
        </p:nvSpPr>
        <p:spPr>
          <a:xfrm>
            <a:off x="0" y="312724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8" name="Rectangle 47"/>
          <p:cNvSpPr>
            <a:spLocks noGrp="1"/>
          </p:cNvSpPr>
          <p:nvPr/>
        </p:nvSpPr>
        <p:spPr>
          <a:xfrm>
            <a:off x="0" y="347471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9" name="Rectangle 48"/>
          <p:cNvSpPr>
            <a:spLocks noGrp="1"/>
          </p:cNvSpPr>
          <p:nvPr/>
        </p:nvSpPr>
        <p:spPr>
          <a:xfrm>
            <a:off x="0" y="382219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0" name="Rectangle 49"/>
          <p:cNvSpPr>
            <a:spLocks noGrp="1"/>
          </p:cNvSpPr>
          <p:nvPr/>
        </p:nvSpPr>
        <p:spPr>
          <a:xfrm>
            <a:off x="0" y="416966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1" name="Rectangle 50"/>
          <p:cNvSpPr>
            <a:spLocks noGrp="1"/>
          </p:cNvSpPr>
          <p:nvPr/>
        </p:nvSpPr>
        <p:spPr>
          <a:xfrm>
            <a:off x="0" y="451713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2" name="Rectangle 51"/>
          <p:cNvSpPr>
            <a:spLocks noGrp="1"/>
          </p:cNvSpPr>
          <p:nvPr/>
        </p:nvSpPr>
        <p:spPr>
          <a:xfrm>
            <a:off x="0" y="486460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3" name="Rectangle 52"/>
          <p:cNvSpPr>
            <a:spLocks noGrp="1"/>
          </p:cNvSpPr>
          <p:nvPr/>
        </p:nvSpPr>
        <p:spPr>
          <a:xfrm>
            <a:off x="0" y="521207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4" name="Rectangle 53"/>
          <p:cNvSpPr>
            <a:spLocks noGrp="1"/>
          </p:cNvSpPr>
          <p:nvPr/>
        </p:nvSpPr>
        <p:spPr>
          <a:xfrm>
            <a:off x="0" y="555955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5" name="Rectangle 54"/>
          <p:cNvSpPr>
            <a:spLocks noGrp="1"/>
          </p:cNvSpPr>
          <p:nvPr>
            <p:custDataLst>
              <p:tags r:id="rId1"/>
            </p:custDataLst>
          </p:nvPr>
        </p:nvSpPr>
        <p:spPr>
          <a:xfrm>
            <a:off x="0" y="590702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6" name="Rectangle 55"/>
          <p:cNvSpPr>
            <a:spLocks noGrp="1"/>
          </p:cNvSpPr>
          <p:nvPr>
            <p:custDataLst>
              <p:tags r:id="rId2"/>
            </p:custDataLst>
          </p:nvPr>
        </p:nvSpPr>
        <p:spPr>
          <a:xfrm>
            <a:off x="0" y="625449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7" name="Rectangle 56"/>
          <p:cNvSpPr>
            <a:spLocks noGrp="1"/>
          </p:cNvSpPr>
          <p:nvPr/>
        </p:nvSpPr>
        <p:spPr>
          <a:xfrm>
            <a:off x="0" y="660196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8" name="Rectangle 57"/>
          <p:cNvSpPr>
            <a:spLocks noGrp="1"/>
          </p:cNvSpPr>
          <p:nvPr/>
        </p:nvSpPr>
        <p:spPr>
          <a:xfrm>
            <a:off x="292608" y="182880"/>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9" name="Rectangle 58"/>
          <p:cNvSpPr>
            <a:spLocks noGrp="1"/>
          </p:cNvSpPr>
          <p:nvPr/>
        </p:nvSpPr>
        <p:spPr>
          <a:xfrm>
            <a:off x="292608" y="6784848"/>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0" name="TextBox 59"/>
          <p:cNvSpPr>
            <a:spLocks noGrp="1"/>
          </p:cNvSpPr>
          <p:nvPr/>
        </p:nvSpPr>
        <p:spPr>
          <a:xfrm>
            <a:off x="292608" y="246888"/>
            <a:ext cx="7498079" cy="265176"/>
          </a:xfrm>
          <a:prstGeom prst="rect">
            <a:avLst/>
          </a:prstGeom>
          <a:noFill/>
          <a:ln>
            <a:noFill/>
          </a:ln>
        </p:spPr>
        <p:txBody>
          <a:bodyPr wrap="square">
            <a:spAutoFit/>
          </a:bodyPr>
          <a:lstStyle/>
          <a:p>
            <a:pPr algn="l">
              <a:lnSpc>
                <a:spcPct val="120000"/>
              </a:lnSpc>
              <a:buNone/>
            </a:pPr>
            <a:r>
              <a:rPr sz="950" b="1" i="0">
                <a:solidFill>
                  <a:srgbClr val="1F2BE0"/>
                </a:solidFill>
                <a:latin typeface="Consolas" panose="020B0609020204030204"/>
                <a:ea typeface="Consolas" panose="020B0609020204030204"/>
                <a:cs typeface="Consolas" panose="020B0609020204030204"/>
              </a:rPr>
              <a:t>EXPLORATION OF DATASET  ·  FUEL MIX GEOGRAPHY</a:t>
            </a:r>
            <a:endParaRPr sz="950" b="1" i="0">
              <a:solidFill>
                <a:srgbClr val="1F2BE0"/>
              </a:solidFill>
              <a:latin typeface="Consolas" panose="020B0609020204030204"/>
              <a:ea typeface="Consolas" panose="020B0609020204030204"/>
              <a:cs typeface="Consolas" panose="020B0609020204030204"/>
            </a:endParaRPr>
          </a:p>
        </p:txBody>
      </p:sp>
      <p:sp>
        <p:nvSpPr>
          <p:cNvPr id="61" name="TextBox 60"/>
          <p:cNvSpPr>
            <a:spLocks noGrp="1"/>
          </p:cNvSpPr>
          <p:nvPr/>
        </p:nvSpPr>
        <p:spPr>
          <a:xfrm>
            <a:off x="10607040" y="6510528"/>
            <a:ext cx="1280160" cy="201168"/>
          </a:xfrm>
          <a:prstGeom prst="rect">
            <a:avLst/>
          </a:prstGeom>
          <a:noFill/>
          <a:ln>
            <a:noFill/>
          </a:ln>
        </p:spPr>
        <p:txBody>
          <a:bodyPr wrap="square">
            <a:spAutoFit/>
          </a:bodyPr>
          <a:lstStyle/>
          <a:p>
            <a:pPr algn="r">
              <a:lnSpc>
                <a:spcPct val="120000"/>
              </a:lnSpc>
              <a:buNone/>
            </a:pPr>
            <a:r>
              <a:rPr sz="950" b="0" i="0">
                <a:solidFill>
                  <a:srgbClr val="1F2BE0"/>
                </a:solidFill>
                <a:latin typeface="Consolas" panose="020B0609020204030204"/>
                <a:ea typeface="Consolas" panose="020B0609020204030204"/>
                <a:cs typeface="Consolas" panose="020B0609020204030204"/>
              </a:rPr>
              <a:t>03 / 03</a:t>
            </a:r>
            <a:endParaRPr sz="950" b="0" i="0">
              <a:solidFill>
                <a:srgbClr val="1F2BE0"/>
              </a:solidFill>
              <a:latin typeface="Consolas" panose="020B0609020204030204"/>
              <a:ea typeface="Consolas" panose="020B0609020204030204"/>
              <a:cs typeface="Consolas" panose="020B0609020204030204"/>
            </a:endParaRPr>
          </a:p>
        </p:txBody>
      </p:sp>
      <p:sp>
        <p:nvSpPr>
          <p:cNvPr id="63" name="Rectangle 62"/>
          <p:cNvSpPr>
            <a:spLocks noGrp="1"/>
          </p:cNvSpPr>
          <p:nvPr/>
        </p:nvSpPr>
        <p:spPr>
          <a:xfrm>
            <a:off x="11384280" y="283464"/>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4" name="Rectangle 63"/>
          <p:cNvSpPr>
            <a:spLocks noGrp="1"/>
          </p:cNvSpPr>
          <p:nvPr/>
        </p:nvSpPr>
        <p:spPr>
          <a:xfrm>
            <a:off x="11462004" y="333756"/>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5" name="Rectangle 64"/>
          <p:cNvSpPr>
            <a:spLocks noGrp="1"/>
          </p:cNvSpPr>
          <p:nvPr/>
        </p:nvSpPr>
        <p:spPr>
          <a:xfrm>
            <a:off x="11539728" y="384048"/>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6" name="Rectangle 65"/>
          <p:cNvSpPr>
            <a:spLocks noGrp="1"/>
          </p:cNvSpPr>
          <p:nvPr/>
        </p:nvSpPr>
        <p:spPr>
          <a:xfrm>
            <a:off x="11617452" y="434340"/>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7" name="Rectangle 66"/>
          <p:cNvSpPr>
            <a:spLocks noGrp="1"/>
          </p:cNvSpPr>
          <p:nvPr/>
        </p:nvSpPr>
        <p:spPr>
          <a:xfrm>
            <a:off x="11695176" y="484632"/>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8" name="TextBox 67"/>
          <p:cNvSpPr>
            <a:spLocks noGrp="1"/>
          </p:cNvSpPr>
          <p:nvPr/>
        </p:nvSpPr>
        <p:spPr>
          <a:xfrm>
            <a:off x="292608" y="566928"/>
            <a:ext cx="11521440" cy="757123"/>
          </a:xfrm>
          <a:prstGeom prst="rect">
            <a:avLst/>
          </a:prstGeom>
          <a:noFill/>
          <a:ln>
            <a:noFill/>
          </a:ln>
        </p:spPr>
        <p:txBody>
          <a:bodyPr wrap="square">
            <a:spAutoFit/>
          </a:bodyPr>
          <a:lstStyle/>
          <a:p>
            <a:pPr algn="l">
              <a:lnSpc>
                <a:spcPct val="104000"/>
              </a:lnSpc>
              <a:buNone/>
            </a:pPr>
            <a:r>
              <a:rPr sz="2100" b="0" i="1">
                <a:solidFill>
                  <a:srgbClr val="1F2BE0"/>
                </a:solidFill>
                <a:latin typeface="Georgia" panose="02040502050405020303"/>
                <a:ea typeface="Georgia" panose="02040502050405020303"/>
                <a:cs typeface="Georgia" panose="02040502050405020303"/>
              </a:rPr>
              <a:t>National fuel mixes vary sharply across countries and regions.</a:t>
            </a:r>
            <a:endParaRPr sz="2100" b="0" i="1">
              <a:solidFill>
                <a:srgbClr val="1F2BE0"/>
              </a:solidFill>
              <a:latin typeface="Georgia" panose="02040502050405020303"/>
              <a:ea typeface="Georgia" panose="02040502050405020303"/>
              <a:cs typeface="Georgia" panose="02040502050405020303"/>
            </a:endParaRPr>
          </a:p>
        </p:txBody>
      </p:sp>
      <p:sp>
        <p:nvSpPr>
          <p:cNvPr id="69" name="TextBox 68"/>
          <p:cNvSpPr>
            <a:spLocks noGrp="1"/>
          </p:cNvSpPr>
          <p:nvPr/>
        </p:nvSpPr>
        <p:spPr>
          <a:xfrm>
            <a:off x="292608" y="1252728"/>
            <a:ext cx="11384280" cy="56692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1100" i="0">
                <a:solidFill>
                  <a:srgbClr val="1F2BE0"/>
                </a:solidFill>
                <a:latin typeface="Segoe UI" panose="020B0502040204020203" charset="0"/>
                <a:ea typeface="Segoe UI" panose="020B0502040204020203"/>
                <a:cs typeface="Segoe UI" panose="020B0502040204020203" charset="0"/>
              </a:rPr>
              <a:t>Country colour shows the dominant fuel; pie charts show actual 2021 shares for major emitters. White = no data or unreliable profile.</a:t>
            </a:r>
            <a:endParaRPr sz="1100" i="0">
              <a:solidFill>
                <a:srgbClr val="1F2BE0"/>
              </a:solidFill>
              <a:latin typeface="Segoe UI" panose="020B0502040204020203" charset="0"/>
              <a:ea typeface="Segoe UI" panose="020B0502040204020203"/>
              <a:cs typeface="Segoe UI" panose="020B0502040204020203" charset="0"/>
            </a:endParaRPr>
          </a:p>
        </p:txBody>
      </p:sp>
      <p:sp>
        <p:nvSpPr>
          <p:cNvPr id="70" name="Rectangle 69"/>
          <p:cNvSpPr>
            <a:spLocks noGrp="1"/>
          </p:cNvSpPr>
          <p:nvPr/>
        </p:nvSpPr>
        <p:spPr>
          <a:xfrm>
            <a:off x="1490472" y="1828800"/>
            <a:ext cx="9208008" cy="3941063"/>
          </a:xfrm>
          <a:prstGeom prst="rect">
            <a:avLst/>
          </a:prstGeom>
          <a:solidFill>
            <a:srgbClr val="F0EBD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pic>
        <p:nvPicPr>
          <p:cNvPr id="71" name="图片 70" descr="P3_01_map_dominant_fuel_2021_compact"/>
          <p:cNvPicPr>
            <a:picLocks noChangeAspect="1"/>
          </p:cNvPicPr>
          <p:nvPr/>
        </p:nvPicPr>
        <p:blipFill>
          <a:blip r:embed="rId3"/>
          <a:stretch>
            <a:fillRect/>
          </a:stretch>
        </p:blipFill>
        <p:spPr>
          <a:xfrm>
            <a:off x="1563624" y="1901952"/>
            <a:ext cx="9061704" cy="3787930"/>
          </a:xfrm>
          <a:prstGeom prst="rect">
            <a:avLst/>
          </a:prstGeom>
        </p:spPr>
      </p:pic>
      <p:sp>
        <p:nvSpPr>
          <p:cNvPr id="72" name="Rounded Rectangle 71"/>
          <p:cNvSpPr/>
          <p:nvPr>
            <p:custDataLst>
              <p:tags r:id="rId4"/>
            </p:custDataLst>
          </p:nvPr>
        </p:nvSpPr>
        <p:spPr>
          <a:xfrm>
            <a:off x="384048" y="5870448"/>
            <a:ext cx="5532120" cy="512064"/>
          </a:xfrm>
          <a:prstGeom prst="roundRect">
            <a:avLst/>
          </a:prstGeom>
          <a:solidFill>
            <a:schemeClr val="accent1">
              <a:lumMod val="20000"/>
              <a:lumOff val="80000"/>
              <a:alpha val="60000"/>
            </a:schemeClr>
          </a:solidFill>
          <a:ln w="12700">
            <a:solidFill>
              <a:srgbClr val="1F2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custDataLst>
              <p:tags r:id="rId5"/>
            </p:custDataLst>
          </p:nvPr>
        </p:nvSpPr>
        <p:spPr>
          <a:xfrm>
            <a:off x="530352" y="5934456"/>
            <a:ext cx="1307592" cy="146304"/>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950" b="1">
                <a:solidFill>
                  <a:srgbClr val="1F2BE0"/>
                </a:solidFill>
                <a:latin typeface="Consolas" panose="020B0609020204030204"/>
              </a:rPr>
              <a:t>REGIONAL PATTERN</a:t>
            </a:r>
            <a:endParaRPr sz="950" b="1">
              <a:solidFill>
                <a:srgbClr val="1F2BE0"/>
              </a:solidFill>
              <a:latin typeface="Consolas" panose="020B0609020204030204"/>
            </a:endParaRPr>
          </a:p>
        </p:txBody>
      </p:sp>
      <p:sp>
        <p:nvSpPr>
          <p:cNvPr id="74" name="TextBox 73"/>
          <p:cNvSpPr txBox="1"/>
          <p:nvPr>
            <p:custDataLst>
              <p:tags r:id="rId6"/>
            </p:custDataLst>
          </p:nvPr>
        </p:nvSpPr>
        <p:spPr>
          <a:xfrm>
            <a:off x="1865376" y="5928106"/>
            <a:ext cx="3886200" cy="325120"/>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1000" b="0">
                <a:solidFill>
                  <a:srgbClr val="1F2BE0"/>
                </a:solidFill>
                <a:latin typeface="Segoe UI" panose="020B0502040204020203"/>
              </a:rPr>
              <a:t>Coal: Asia  ·  Oil: Africa, Middle East &amp; Americas</a:t>
            </a:r>
            <a:br>
              <a:rPr sz="1000" b="0">
                <a:solidFill>
                  <a:srgbClr val="1F2BE0"/>
                </a:solidFill>
                <a:latin typeface="Segoe UI" panose="020B0502040204020203"/>
              </a:rPr>
            </a:br>
            <a:r>
              <a:rPr sz="1000" b="0">
                <a:solidFill>
                  <a:srgbClr val="1F2BE0"/>
                </a:solidFill>
                <a:latin typeface="Segoe UI" panose="020B0502040204020203"/>
              </a:rPr>
              <a:t>Gas: Russia &amp; Central Asia</a:t>
            </a:r>
            <a:endParaRPr sz="1000" b="0">
              <a:solidFill>
                <a:srgbClr val="1F2BE0"/>
              </a:solidFill>
              <a:latin typeface="Segoe UI" panose="020B0502040204020203"/>
            </a:endParaRPr>
          </a:p>
        </p:txBody>
      </p:sp>
      <p:sp>
        <p:nvSpPr>
          <p:cNvPr id="75" name="Rounded Rectangle 74"/>
          <p:cNvSpPr/>
          <p:nvPr>
            <p:custDataLst>
              <p:tags r:id="rId7"/>
            </p:custDataLst>
          </p:nvPr>
        </p:nvSpPr>
        <p:spPr>
          <a:xfrm>
            <a:off x="6272784" y="5870448"/>
            <a:ext cx="5532120" cy="512064"/>
          </a:xfrm>
          <a:prstGeom prst="roundRect">
            <a:avLst/>
          </a:prstGeom>
          <a:solidFill>
            <a:schemeClr val="accent1">
              <a:lumMod val="20000"/>
              <a:lumOff val="80000"/>
              <a:alpha val="60000"/>
            </a:schemeClr>
          </a:solidFill>
          <a:ln w="12700">
            <a:solidFill>
              <a:srgbClr val="1F2BE0"/>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76" name="TextBox 75"/>
          <p:cNvSpPr txBox="1"/>
          <p:nvPr>
            <p:custDataLst>
              <p:tags r:id="rId8"/>
            </p:custDataLst>
          </p:nvPr>
        </p:nvSpPr>
        <p:spPr>
          <a:xfrm>
            <a:off x="6419088" y="5934456"/>
            <a:ext cx="1188720" cy="146304"/>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950" b="1">
                <a:solidFill>
                  <a:srgbClr val="1F2BE0"/>
                </a:solidFill>
                <a:latin typeface="Consolas" panose="020B0609020204030204"/>
              </a:rPr>
              <a:t>WHY IT MATTERS</a:t>
            </a:r>
            <a:endParaRPr sz="950" b="1">
              <a:solidFill>
                <a:srgbClr val="1F2BE0"/>
              </a:solidFill>
              <a:latin typeface="Consolas" panose="020B0609020204030204"/>
            </a:endParaRPr>
          </a:p>
        </p:txBody>
      </p:sp>
      <p:sp>
        <p:nvSpPr>
          <p:cNvPr id="77" name="TextBox 76"/>
          <p:cNvSpPr txBox="1"/>
          <p:nvPr>
            <p:custDataLst>
              <p:tags r:id="rId9"/>
            </p:custDataLst>
          </p:nvPr>
        </p:nvSpPr>
        <p:spPr>
          <a:xfrm>
            <a:off x="7662672" y="5909056"/>
            <a:ext cx="3950208" cy="325120"/>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1000" b="0">
                <a:solidFill>
                  <a:srgbClr val="1F2BE0"/>
                </a:solidFill>
                <a:latin typeface="Segoe UI" panose="020B0502040204020203"/>
              </a:rPr>
              <a:t>The same dominant fuel can mask different national mixes.</a:t>
            </a:r>
            <a:br>
              <a:rPr sz="1000" b="0">
                <a:solidFill>
                  <a:srgbClr val="1F2BE0"/>
                </a:solidFill>
                <a:latin typeface="Segoe UI" panose="020B0502040204020203"/>
              </a:rPr>
            </a:br>
            <a:r>
              <a:rPr sz="1000" b="0">
                <a:solidFill>
                  <a:srgbClr val="1F2BE0"/>
                </a:solidFill>
                <a:latin typeface="Segoe UI" panose="020B0502040204020203"/>
              </a:rPr>
              <a:t>Fuel shares add structure beyond scale and intensity.</a:t>
            </a:r>
            <a:endParaRPr sz="1000" b="0">
              <a:solidFill>
                <a:srgbClr val="1F2BE0"/>
              </a:solidFill>
              <a:latin typeface="Segoe UI" panose="020B0502040204020203"/>
            </a:endParaRPr>
          </a:p>
        </p:txBody>
      </p:sp>
      <p:sp>
        <p:nvSpPr>
          <p:cNvPr id="78" name="TextBox 61"/>
          <p:cNvSpPr>
            <a:spLocks noGrp="1"/>
          </p:cNvSpPr>
          <p:nvPr/>
        </p:nvSpPr>
        <p:spPr>
          <a:xfrm>
            <a:off x="292608" y="6510528"/>
            <a:ext cx="2743200" cy="20116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880" b="1" i="0">
                <a:solidFill>
                  <a:srgbClr val="607084"/>
                </a:solidFill>
                <a:latin typeface="Consolas" panose="020B0609020204030204" charset="0"/>
                <a:ea typeface="Consolas" panose="020B0609020204030204"/>
                <a:cs typeface="Consolas" panose="020B0609020204030204" charset="0"/>
              </a:rPr>
              <a:t>PREPARED BY · [</a:t>
            </a:r>
            <a:r>
              <a:rPr lang="en-US" sz="880" b="1" i="0">
                <a:solidFill>
                  <a:srgbClr val="607084"/>
                </a:solidFill>
                <a:latin typeface="Consolas" panose="020B0609020204030204" charset="0"/>
                <a:ea typeface="Consolas" panose="020B0609020204030204"/>
                <a:cs typeface="Consolas" panose="020B0609020204030204" charset="0"/>
              </a:rPr>
              <a:t>SHEN RUITING</a:t>
            </a:r>
            <a:r>
              <a:rPr sz="880" b="1" i="0">
                <a:solidFill>
                  <a:srgbClr val="607084"/>
                </a:solidFill>
                <a:latin typeface="Consolas" panose="020B0609020204030204" charset="0"/>
                <a:ea typeface="Consolas" panose="020B0609020204030204"/>
                <a:cs typeface="Consolas" panose="020B0609020204030204" charset="0"/>
              </a:rPr>
              <a:t>]</a:t>
            </a:r>
            <a:endParaRPr sz="880" b="1" i="0">
              <a:solidFill>
                <a:srgbClr val="607084"/>
              </a:solidFill>
              <a:latin typeface="Consolas" panose="020B0609020204030204" charset="0"/>
              <a:ea typeface="Consolas" panose="020B0609020204030204"/>
              <a:cs typeface="Consolas" panose="020B0609020204030204" charset="0"/>
            </a:endParaRPr>
          </a:p>
        </p:txBody>
      </p:sp>
    </p:spTree>
  </p:cSld>
  <p:clrMapOvr>
    <a:masterClrMapping/>
  </p:clrMapOvr>
</p:sld>
</file>

<file path=ppt/tags/tag1.xml><?xml version="1.0" encoding="utf-8"?>
<p:tagLst xmlns:p="http://schemas.openxmlformats.org/presentationml/2006/main">
  <p:tag name="KSO_WM_DIAGRAM_VIRTUALLY_FRAME" val="{&quot;height&quot;:40.31999999999998,&quot;left&quot;:0,&quot;top&quot;:462.23999999999995,&quot;width&quot;:959.9759842519685}"/>
</p:tagLst>
</file>

<file path=ppt/tags/tag2.xml><?xml version="1.0" encoding="utf-8"?>
<p:tagLst xmlns:p="http://schemas.openxmlformats.org/presentationml/2006/main">
  <p:tag name="KSO_WM_DIAGRAM_VIRTUALLY_FRAME" val="{&quot;height&quot;:40.31999999999998,&quot;left&quot;:0,&quot;top&quot;:462.23999999999995,&quot;width&quot;:959.9759842519685}"/>
</p:tagLst>
</file>

<file path=ppt/tags/tag3.xml><?xml version="1.0" encoding="utf-8"?>
<p:tagLst xmlns:p="http://schemas.openxmlformats.org/presentationml/2006/main">
  <p:tag name="KSO_WM_DIAGRAM_VIRTUALLY_FRAME" val="{&quot;height&quot;:40.31999999999998,&quot;left&quot;:0,&quot;top&quot;:462.23999999999995,&quot;width&quot;:959.9759842519685}"/>
</p:tagLst>
</file>

<file path=ppt/tags/tag4.xml><?xml version="1.0" encoding="utf-8"?>
<p:tagLst xmlns:p="http://schemas.openxmlformats.org/presentationml/2006/main">
  <p:tag name="KSO_WM_DIAGRAM_VIRTUALLY_FRAME" val="{&quot;height&quot;:40.31999999999998,&quot;left&quot;:0,&quot;top&quot;:462.23999999999995,&quot;width&quot;:959.9759842519685}"/>
</p:tagLst>
</file>

<file path=ppt/tags/tag5.xml><?xml version="1.0" encoding="utf-8"?>
<p:tagLst xmlns:p="http://schemas.openxmlformats.org/presentationml/2006/main">
  <p:tag name="KSO_WM_DIAGRAM_VIRTUALLY_FRAME" val="{&quot;height&quot;:40.31999999999998,&quot;left&quot;:0,&quot;top&quot;:462.23999999999995,&quot;width&quot;:959.9759842519685}"/>
</p:tagLst>
</file>

<file path=ppt/tags/tag6.xml><?xml version="1.0" encoding="utf-8"?>
<p:tagLst xmlns:p="http://schemas.openxmlformats.org/presentationml/2006/main">
  <p:tag name="KSO_WM_DIAGRAM_VIRTUALLY_FRAME" val="{&quot;height&quot;:40.31999999999998,&quot;left&quot;:0,&quot;top&quot;:462.23999999999995,&quot;width&quot;:959.9759842519685}"/>
</p:tagLst>
</file>

<file path=ppt/tags/tag7.xml><?xml version="1.0" encoding="utf-8"?>
<p:tagLst xmlns:p="http://schemas.openxmlformats.org/presentationml/2006/main">
  <p:tag name="KSO_WM_DIAGRAM_VIRTUALLY_FRAME" val="{&quot;height&quot;:40.31999999999998,&quot;left&quot;:0,&quot;top&quot;:462.23999999999995,&quot;width&quot;:959.9759842519685}"/>
</p:tagLst>
</file>

<file path=ppt/tags/tag8.xml><?xml version="1.0" encoding="utf-8"?>
<p:tagLst xmlns:p="http://schemas.openxmlformats.org/presentationml/2006/main">
  <p:tag name="KSO_WM_DIAGRAM_VIRTUALLY_FRAME" val="{&quot;height&quot;:40.31999999999998,&quot;left&quot;:0,&quot;top&quot;:462.23999999999995,&quot;width&quot;:959.9759842519685}"/>
</p:tagLst>
</file>

<file path=ppt/tags/tag9.xml><?xml version="1.0" encoding="utf-8"?>
<p:tagLst xmlns:p="http://schemas.openxmlformats.org/presentationml/2006/main">
  <p:tag name="commondata" val="eyJoZGlkIjoiZGQ0MGQwMzljZTE0ZTg5YjY4YTg1OTEzZmNiZWMxM2I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1669</Words>
  <Application>WPS 演示</Application>
  <PresentationFormat>Converted Presentation</PresentationFormat>
  <Paragraphs>66</Paragraphs>
  <Slides>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vt:i4>
      </vt:variant>
    </vt:vector>
  </HeadingPairs>
  <TitlesOfParts>
    <vt:vector size="14" baseType="lpstr">
      <vt:lpstr>Arial</vt:lpstr>
      <vt:lpstr>宋体</vt:lpstr>
      <vt:lpstr>Wingdings</vt:lpstr>
      <vt:lpstr>Arial</vt:lpstr>
      <vt:lpstr>Consolas</vt:lpstr>
      <vt:lpstr>Georgia</vt:lpstr>
      <vt:lpstr>Segoe UI</vt:lpstr>
      <vt:lpstr>Segoe UI</vt:lpstr>
      <vt:lpstr>Georgia</vt:lpstr>
      <vt:lpstr>Consolas</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沈瑞庭</cp:lastModifiedBy>
  <cp:revision>18</cp:revision>
  <dcterms:created xsi:type="dcterms:W3CDTF">2026-08-26T17:04:00Z</dcterms:created>
  <dcterms:modified xsi:type="dcterms:W3CDTF">2026-08-29T07:20:03Z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7BC8E20DF30147EDB3E070AB1FAADAD9_13</vt:lpwstr>
  </property>
  <property fmtid="{D5CDD505-2E9C-101B-9397-08002B2CF9AE}" pid="3" name="KSOProductBuildVer">
    <vt:lpwstr>2052-12.1.0.18276</vt:lpwstr>
  </property>
</Properties>
</file>