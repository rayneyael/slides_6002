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259" r:id="rId5"/>
    <p:sldId id="260" r:id="rId6"/>
  </p:sldIdLst>
  <p:sldSz cx="12191365" cy="6858000"/>
  <p:notesSz cx="6858000" cy="9144000"/>
  <p:custDataLst>
    <p:tags r:id="rId1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050">
                <a:solidFill>
                  <a:srgbClr val="232F44"/>
                </a:solidFill>
                <a:latin typeface="Segoe UI" panose="020B0502040204020203" charset="0"/>
                <a:cs typeface="Segoe UI" panose="020B0502040204020203" charset="0"/>
              </a:rPr>
              <a:t>This slide is a redraw blueprint for the final cluster-labelled country view. A scatter plot remains appropriate because position preserves two interpretable measures: total CO2 on the horizontal axis and CO2 per person on the vertical axis; bubble area represents population. After the final model is frozen, colour every country by its validated group and directly label only representative members. Replace the headline with the strongest verified finding rather than reporting K or silhouette again. Small countries may remain difficult to see, so use outlines or labels selectively. Generative AI supported layout wording and visual refinement; all numerical claims must be regenerated from the final labelled dataset.</a:t>
            </a:r>
            <a:endParaRPr sz="1050">
              <a:solidFill>
                <a:srgbClr val="232F44"/>
              </a:solidFill>
              <a:latin typeface="Segoe UI" panose="020B0502040204020203" charset="0"/>
              <a:cs typeface="Segoe UI" panose="020B0502040204020203"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050">
                <a:solidFill>
                  <a:srgbClr val="232F44"/>
                </a:solidFill>
                <a:latin typeface="Segoe UI" panose="020B0502040204020203" charset="0"/>
                <a:cs typeface="Segoe UI" panose="020B0502040204020203" charset="0"/>
              </a:rPr>
              <a:t>This slide reuses the established world-map composition but must be redrawn with the final K-means labels. Country fill should encode the fixed group colour, while selected labels identify representative or surprising members. If confidence or stability is available, use a restrained outline or transparency cue rather than adding a second large legend. The final headline must state the verified spatial pattern—for example, concentration, dispersion or regional mixing—rather than merely saying that groups exist. Countries excluded from modelling should appear in a neutral no-model-result colour. Generative AI supported the storyboard and layout refinement; the map, labels and all claims must be regenerated from the final model output.</a:t>
            </a:r>
            <a:endParaRPr sz="1050">
              <a:solidFill>
                <a:srgbClr val="232F44"/>
              </a:solidFill>
              <a:latin typeface="Segoe UI" panose="020B0502040204020203" charset="0"/>
              <a:cs typeface="Segoe UI" panose="020B0502040204020203"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050">
                <a:solidFill>
                  <a:srgbClr val="232F44"/>
                </a:solidFill>
                <a:latin typeface="Segoe UI" panose="020B0502040204020203" charset="0"/>
                <a:cs typeface="Segoe UI" panose="020B0502040204020203" charset="0"/>
              </a:rPr>
              <a:t>This slide is reserved for a group-level redraw of the existing time-space trajectory map. After final labels are available, join them back to the country-year panel and calculate an emissions-weighted geographic centre for each group at the same five two-year observations. Fixed group colours should match the scatter plot and choropleth. Circle size represents time, arrows indicate direction only, and movement distance must be labelled explicitly so viewers do not infer distance from arrow length. The final headline should name the most important contrast between groups and identify likely geographic drivers. Generative AI supported the storyboard and layout refinement; all trajectories and interpretations require verification from the labelled data.</a:t>
            </a:r>
            <a:endParaRPr sz="1050">
              <a:solidFill>
                <a:srgbClr val="232F44"/>
              </a:solidFill>
              <a:latin typeface="Segoe UI" panose="020B0502040204020203" charset="0"/>
              <a:cs typeface="Segoe UI" panose="020B0502040204020203" charset="0"/>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5BCAD085-E8A6-8845-BD4E-CB4CCA059FC4}" type="datetimeFigureOut">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5BCAD085-E8A6-8845-BD4E-CB4CCA059FC4}" type="datetimeFigureOut">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5BCAD085-E8A6-8845-BD4E-CB4CCA059FC4}" type="datetimeFigureOut">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rPr/>
            </a:fld>
            <a:endParaRPr/>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panose="020B0604020202020204"/>
        <a:buChar char="•"/>
        <a:defRPr sz="3200" kern="1200">
          <a:solidFill>
            <a:schemeClr val="tx1"/>
          </a:solidFill>
          <a:latin typeface="+mn-lt"/>
          <a:ea typeface="+mn-lt"/>
          <a:cs typeface="+mn-lt"/>
        </a:defRPr>
      </a:lvl1pPr>
      <a:lvl2pPr marL="742950" indent="-285750" algn="l" defTabSz="457200">
        <a:spcBef>
          <a:spcPct val="20000"/>
        </a:spcBef>
        <a:buFont typeface="Arial" panose="020B0604020202020204"/>
        <a:buChar char="–"/>
        <a:defRPr sz="2800" kern="1200">
          <a:solidFill>
            <a:schemeClr val="tx1"/>
          </a:solidFill>
          <a:latin typeface="+mn-lt"/>
          <a:ea typeface="+mn-lt"/>
          <a:cs typeface="+mn-lt"/>
        </a:defRPr>
      </a:lvl2pPr>
      <a:lvl3pPr marL="1143000" indent="-228600" algn="l" defTabSz="457200">
        <a:spcBef>
          <a:spcPct val="20000"/>
        </a:spcBef>
        <a:buFont typeface="Arial" panose="020B0604020202020204"/>
        <a:buChar char="•"/>
        <a:defRPr sz="2400" kern="1200">
          <a:solidFill>
            <a:schemeClr val="tx1"/>
          </a:solidFill>
          <a:latin typeface="+mn-lt"/>
          <a:ea typeface="+mn-lt"/>
          <a:cs typeface="+mn-lt"/>
        </a:defRPr>
      </a:lvl3pPr>
      <a:lvl4pPr marL="1600200" indent="-228600" algn="l" defTabSz="457200">
        <a:spcBef>
          <a:spcPct val="20000"/>
        </a:spcBef>
        <a:buFont typeface="Arial" panose="020B0604020202020204"/>
        <a:buChar char="–"/>
        <a:defRPr sz="2000" kern="1200">
          <a:solidFill>
            <a:schemeClr val="tx1"/>
          </a:solidFill>
          <a:latin typeface="+mn-lt"/>
          <a:ea typeface="+mn-lt"/>
          <a:cs typeface="+mn-lt"/>
        </a:defRPr>
      </a:lvl4pPr>
      <a:lvl5pPr marL="2057400" indent="-228600" algn="l" defTabSz="457200">
        <a:spcBef>
          <a:spcPct val="20000"/>
        </a:spcBef>
        <a:buFont typeface="Arial" panose="020B0604020202020204"/>
        <a:buChar char="»"/>
        <a:defRPr sz="2000" kern="1200">
          <a:solidFill>
            <a:schemeClr val="tx1"/>
          </a:solidFill>
          <a:latin typeface="+mn-lt"/>
          <a:ea typeface="+mn-lt"/>
          <a:cs typeface="+mn-lt"/>
        </a:defRPr>
      </a:lvl5pPr>
      <a:lvl6pPr marL="2514600" indent="-228600" algn="l" defTabSz="457200">
        <a:spcBef>
          <a:spcPct val="20000"/>
        </a:spcBef>
        <a:buFont typeface="Arial" panose="020B0604020202020204"/>
        <a:buChar char="•"/>
        <a:defRPr sz="2000" kern="1200">
          <a:solidFill>
            <a:schemeClr val="tx1"/>
          </a:solidFill>
          <a:latin typeface="+mn-lt"/>
          <a:ea typeface="+mn-lt"/>
          <a:cs typeface="+mn-lt"/>
        </a:defRPr>
      </a:lvl6pPr>
      <a:lvl7pPr marL="2971800" indent="-228600" algn="l" defTabSz="457200">
        <a:spcBef>
          <a:spcPct val="20000"/>
        </a:spcBef>
        <a:buFont typeface="Arial" panose="020B0604020202020204"/>
        <a:buChar char="•"/>
        <a:defRPr sz="2000" kern="1200">
          <a:solidFill>
            <a:schemeClr val="tx1"/>
          </a:solidFill>
          <a:latin typeface="+mn-lt"/>
          <a:ea typeface="+mn-lt"/>
          <a:cs typeface="+mn-lt"/>
        </a:defRPr>
      </a:lvl7pPr>
      <a:lvl8pPr marL="3429000" indent="-228600" algn="l" defTabSz="457200">
        <a:spcBef>
          <a:spcPct val="20000"/>
        </a:spcBef>
        <a:buFont typeface="Arial" panose="020B0604020202020204"/>
        <a:buChar char="•"/>
        <a:defRPr sz="2000" kern="1200">
          <a:solidFill>
            <a:schemeClr val="tx1"/>
          </a:solidFill>
          <a:latin typeface="+mn-lt"/>
          <a:ea typeface="+mn-lt"/>
          <a:cs typeface="+mn-lt"/>
        </a:defRPr>
      </a:lvl8pPr>
      <a:lvl9pPr marL="3886200" indent="-228600" algn="l" defTabSz="457200">
        <a:spcBef>
          <a:spcPct val="20000"/>
        </a:spcBef>
        <a:buFont typeface="Arial" panose="020B0604020202020204"/>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2.png"/><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BDE"/>
        </a:solidFill>
        <a:effectLst/>
      </p:bgPr>
    </p:bg>
    <p:spTree>
      <p:nvGrpSpPr>
        <p:cNvPr id="1" name=""/>
        <p:cNvGrpSpPr/>
        <p:nvPr/>
      </p:nvGrpSpPr>
      <p:grpSpPr/>
      <p:sp>
        <p:nvSpPr>
          <p:cNvPr id="2" name="Rectangle 1"/>
          <p:cNvSpPr>
            <a:spLocks noGrp="1"/>
          </p:cNvSpPr>
          <p:nvPr/>
        </p:nvSpPr>
        <p:spPr>
          <a:xfrm>
            <a:off x="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 name="Rectangle 2"/>
          <p:cNvSpPr>
            <a:spLocks noGrp="1"/>
          </p:cNvSpPr>
          <p:nvPr/>
        </p:nvSpPr>
        <p:spPr>
          <a:xfrm>
            <a:off x="3474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 name="Rectangle 3"/>
          <p:cNvSpPr>
            <a:spLocks noGrp="1"/>
          </p:cNvSpPr>
          <p:nvPr/>
        </p:nvSpPr>
        <p:spPr>
          <a:xfrm>
            <a:off x="6949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 name="Rectangle 4"/>
          <p:cNvSpPr>
            <a:spLocks noGrp="1"/>
          </p:cNvSpPr>
          <p:nvPr/>
        </p:nvSpPr>
        <p:spPr>
          <a:xfrm>
            <a:off x="10424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 name="Rectangle 5"/>
          <p:cNvSpPr>
            <a:spLocks noGrp="1"/>
          </p:cNvSpPr>
          <p:nvPr/>
        </p:nvSpPr>
        <p:spPr>
          <a:xfrm>
            <a:off x="13898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 name="Rectangle 6"/>
          <p:cNvSpPr>
            <a:spLocks noGrp="1"/>
          </p:cNvSpPr>
          <p:nvPr/>
        </p:nvSpPr>
        <p:spPr>
          <a:xfrm>
            <a:off x="17373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8" name="Rectangle 7"/>
          <p:cNvSpPr>
            <a:spLocks noGrp="1"/>
          </p:cNvSpPr>
          <p:nvPr/>
        </p:nvSpPr>
        <p:spPr>
          <a:xfrm>
            <a:off x="208483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9" name="Rectangle 8"/>
          <p:cNvSpPr>
            <a:spLocks noGrp="1"/>
          </p:cNvSpPr>
          <p:nvPr/>
        </p:nvSpPr>
        <p:spPr>
          <a:xfrm>
            <a:off x="243230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0" name="Rectangle 9"/>
          <p:cNvSpPr>
            <a:spLocks noGrp="1"/>
          </p:cNvSpPr>
          <p:nvPr/>
        </p:nvSpPr>
        <p:spPr>
          <a:xfrm>
            <a:off x="277977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1" name="Rectangle 10"/>
          <p:cNvSpPr>
            <a:spLocks noGrp="1"/>
          </p:cNvSpPr>
          <p:nvPr/>
        </p:nvSpPr>
        <p:spPr>
          <a:xfrm>
            <a:off x="312724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2" name="Rectangle 11"/>
          <p:cNvSpPr>
            <a:spLocks noGrp="1"/>
          </p:cNvSpPr>
          <p:nvPr/>
        </p:nvSpPr>
        <p:spPr>
          <a:xfrm>
            <a:off x="347471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3" name="Rectangle 12"/>
          <p:cNvSpPr>
            <a:spLocks noGrp="1"/>
          </p:cNvSpPr>
          <p:nvPr/>
        </p:nvSpPr>
        <p:spPr>
          <a:xfrm>
            <a:off x="382219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4" name="Rectangle 13"/>
          <p:cNvSpPr>
            <a:spLocks noGrp="1"/>
          </p:cNvSpPr>
          <p:nvPr/>
        </p:nvSpPr>
        <p:spPr>
          <a:xfrm>
            <a:off x="416966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5" name="Rectangle 14"/>
          <p:cNvSpPr>
            <a:spLocks noGrp="1"/>
          </p:cNvSpPr>
          <p:nvPr/>
        </p:nvSpPr>
        <p:spPr>
          <a:xfrm>
            <a:off x="451713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6" name="Rectangle 15"/>
          <p:cNvSpPr>
            <a:spLocks noGrp="1"/>
          </p:cNvSpPr>
          <p:nvPr/>
        </p:nvSpPr>
        <p:spPr>
          <a:xfrm>
            <a:off x="486460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7" name="Rectangle 16"/>
          <p:cNvSpPr>
            <a:spLocks noGrp="1"/>
          </p:cNvSpPr>
          <p:nvPr/>
        </p:nvSpPr>
        <p:spPr>
          <a:xfrm>
            <a:off x="521207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8" name="Rectangle 17"/>
          <p:cNvSpPr>
            <a:spLocks noGrp="1"/>
          </p:cNvSpPr>
          <p:nvPr/>
        </p:nvSpPr>
        <p:spPr>
          <a:xfrm>
            <a:off x="555955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9" name="Rectangle 18"/>
          <p:cNvSpPr>
            <a:spLocks noGrp="1"/>
          </p:cNvSpPr>
          <p:nvPr/>
        </p:nvSpPr>
        <p:spPr>
          <a:xfrm>
            <a:off x="590702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0" name="Rectangle 19"/>
          <p:cNvSpPr>
            <a:spLocks noGrp="1"/>
          </p:cNvSpPr>
          <p:nvPr/>
        </p:nvSpPr>
        <p:spPr>
          <a:xfrm>
            <a:off x="625449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1" name="Rectangle 20"/>
          <p:cNvSpPr>
            <a:spLocks noGrp="1"/>
          </p:cNvSpPr>
          <p:nvPr/>
        </p:nvSpPr>
        <p:spPr>
          <a:xfrm>
            <a:off x="660196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2" name="Rectangle 21"/>
          <p:cNvSpPr>
            <a:spLocks noGrp="1"/>
          </p:cNvSpPr>
          <p:nvPr/>
        </p:nvSpPr>
        <p:spPr>
          <a:xfrm>
            <a:off x="694943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3" name="Rectangle 22"/>
          <p:cNvSpPr>
            <a:spLocks noGrp="1"/>
          </p:cNvSpPr>
          <p:nvPr/>
        </p:nvSpPr>
        <p:spPr>
          <a:xfrm>
            <a:off x="729691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4" name="Rectangle 23"/>
          <p:cNvSpPr>
            <a:spLocks noGrp="1"/>
          </p:cNvSpPr>
          <p:nvPr/>
        </p:nvSpPr>
        <p:spPr>
          <a:xfrm>
            <a:off x="764438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5" name="Rectangle 24"/>
          <p:cNvSpPr>
            <a:spLocks noGrp="1"/>
          </p:cNvSpPr>
          <p:nvPr/>
        </p:nvSpPr>
        <p:spPr>
          <a:xfrm>
            <a:off x="799185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6" name="Rectangle 25"/>
          <p:cNvSpPr>
            <a:spLocks noGrp="1"/>
          </p:cNvSpPr>
          <p:nvPr/>
        </p:nvSpPr>
        <p:spPr>
          <a:xfrm>
            <a:off x="833932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7" name="Rectangle 26"/>
          <p:cNvSpPr>
            <a:spLocks noGrp="1"/>
          </p:cNvSpPr>
          <p:nvPr/>
        </p:nvSpPr>
        <p:spPr>
          <a:xfrm>
            <a:off x="868680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8" name="Rectangle 27"/>
          <p:cNvSpPr>
            <a:spLocks noGrp="1"/>
          </p:cNvSpPr>
          <p:nvPr/>
        </p:nvSpPr>
        <p:spPr>
          <a:xfrm>
            <a:off x="90342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9" name="Rectangle 28"/>
          <p:cNvSpPr>
            <a:spLocks noGrp="1"/>
          </p:cNvSpPr>
          <p:nvPr/>
        </p:nvSpPr>
        <p:spPr>
          <a:xfrm>
            <a:off x="93817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0" name="Rectangle 29"/>
          <p:cNvSpPr>
            <a:spLocks noGrp="1"/>
          </p:cNvSpPr>
          <p:nvPr/>
        </p:nvSpPr>
        <p:spPr>
          <a:xfrm>
            <a:off x="97292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1" name="Rectangle 30"/>
          <p:cNvSpPr>
            <a:spLocks noGrp="1"/>
          </p:cNvSpPr>
          <p:nvPr/>
        </p:nvSpPr>
        <p:spPr>
          <a:xfrm>
            <a:off x="100766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2" name="Rectangle 31"/>
          <p:cNvSpPr>
            <a:spLocks noGrp="1"/>
          </p:cNvSpPr>
          <p:nvPr/>
        </p:nvSpPr>
        <p:spPr>
          <a:xfrm>
            <a:off x="104241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3" name="Rectangle 32"/>
          <p:cNvSpPr>
            <a:spLocks noGrp="1"/>
          </p:cNvSpPr>
          <p:nvPr/>
        </p:nvSpPr>
        <p:spPr>
          <a:xfrm>
            <a:off x="1077163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4" name="Rectangle 33"/>
          <p:cNvSpPr>
            <a:spLocks noGrp="1"/>
          </p:cNvSpPr>
          <p:nvPr/>
        </p:nvSpPr>
        <p:spPr>
          <a:xfrm>
            <a:off x="1111910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5" name="Rectangle 34"/>
          <p:cNvSpPr>
            <a:spLocks noGrp="1"/>
          </p:cNvSpPr>
          <p:nvPr/>
        </p:nvSpPr>
        <p:spPr>
          <a:xfrm>
            <a:off x="1146657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6" name="Rectangle 35"/>
          <p:cNvSpPr>
            <a:spLocks noGrp="1"/>
          </p:cNvSpPr>
          <p:nvPr/>
        </p:nvSpPr>
        <p:spPr>
          <a:xfrm>
            <a:off x="1181404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7" name="Rectangle 36"/>
          <p:cNvSpPr>
            <a:spLocks noGrp="1"/>
          </p:cNvSpPr>
          <p:nvPr/>
        </p:nvSpPr>
        <p:spPr>
          <a:xfrm>
            <a:off x="1216152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8" name="Rectangle 37"/>
          <p:cNvSpPr>
            <a:spLocks noGrp="1"/>
          </p:cNvSpPr>
          <p:nvPr/>
        </p:nvSpPr>
        <p:spPr>
          <a:xfrm>
            <a:off x="0" y="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9" name="Rectangle 38"/>
          <p:cNvSpPr>
            <a:spLocks noGrp="1"/>
          </p:cNvSpPr>
          <p:nvPr/>
        </p:nvSpPr>
        <p:spPr>
          <a:xfrm>
            <a:off x="0" y="347472"/>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0" name="Rectangle 39"/>
          <p:cNvSpPr>
            <a:spLocks noGrp="1"/>
          </p:cNvSpPr>
          <p:nvPr/>
        </p:nvSpPr>
        <p:spPr>
          <a:xfrm>
            <a:off x="0" y="694944"/>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1" name="Rectangle 40"/>
          <p:cNvSpPr>
            <a:spLocks noGrp="1"/>
          </p:cNvSpPr>
          <p:nvPr/>
        </p:nvSpPr>
        <p:spPr>
          <a:xfrm>
            <a:off x="0" y="104241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2" name="Rectangle 41"/>
          <p:cNvSpPr>
            <a:spLocks noGrp="1"/>
          </p:cNvSpPr>
          <p:nvPr/>
        </p:nvSpPr>
        <p:spPr>
          <a:xfrm>
            <a:off x="0" y="1389888"/>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3" name="Rectangle 42"/>
          <p:cNvSpPr>
            <a:spLocks noGrp="1"/>
          </p:cNvSpPr>
          <p:nvPr/>
        </p:nvSpPr>
        <p:spPr>
          <a:xfrm>
            <a:off x="0" y="173736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4" name="Rectangle 43"/>
          <p:cNvSpPr>
            <a:spLocks noGrp="1"/>
          </p:cNvSpPr>
          <p:nvPr/>
        </p:nvSpPr>
        <p:spPr>
          <a:xfrm>
            <a:off x="0" y="208483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5" name="Rectangle 44"/>
          <p:cNvSpPr>
            <a:spLocks noGrp="1"/>
          </p:cNvSpPr>
          <p:nvPr/>
        </p:nvSpPr>
        <p:spPr>
          <a:xfrm>
            <a:off x="0" y="243230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6" name="Rectangle 45"/>
          <p:cNvSpPr>
            <a:spLocks noGrp="1"/>
          </p:cNvSpPr>
          <p:nvPr/>
        </p:nvSpPr>
        <p:spPr>
          <a:xfrm>
            <a:off x="0" y="277977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7" name="Rectangle 46"/>
          <p:cNvSpPr>
            <a:spLocks noGrp="1"/>
          </p:cNvSpPr>
          <p:nvPr/>
        </p:nvSpPr>
        <p:spPr>
          <a:xfrm>
            <a:off x="0" y="312724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8" name="Rectangle 47"/>
          <p:cNvSpPr>
            <a:spLocks noGrp="1"/>
          </p:cNvSpPr>
          <p:nvPr/>
        </p:nvSpPr>
        <p:spPr>
          <a:xfrm>
            <a:off x="0" y="347471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9" name="Rectangle 48"/>
          <p:cNvSpPr>
            <a:spLocks noGrp="1"/>
          </p:cNvSpPr>
          <p:nvPr/>
        </p:nvSpPr>
        <p:spPr>
          <a:xfrm>
            <a:off x="0" y="382219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0" name="Rectangle 49"/>
          <p:cNvSpPr>
            <a:spLocks noGrp="1"/>
          </p:cNvSpPr>
          <p:nvPr/>
        </p:nvSpPr>
        <p:spPr>
          <a:xfrm>
            <a:off x="0" y="416966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1" name="Rectangle 50"/>
          <p:cNvSpPr>
            <a:spLocks noGrp="1"/>
          </p:cNvSpPr>
          <p:nvPr/>
        </p:nvSpPr>
        <p:spPr>
          <a:xfrm>
            <a:off x="0" y="451713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2" name="Rectangle 51"/>
          <p:cNvSpPr>
            <a:spLocks noGrp="1"/>
          </p:cNvSpPr>
          <p:nvPr/>
        </p:nvSpPr>
        <p:spPr>
          <a:xfrm>
            <a:off x="0" y="486460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3" name="Rectangle 52"/>
          <p:cNvSpPr>
            <a:spLocks noGrp="1"/>
          </p:cNvSpPr>
          <p:nvPr/>
        </p:nvSpPr>
        <p:spPr>
          <a:xfrm>
            <a:off x="0" y="521207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4" name="Rectangle 53"/>
          <p:cNvSpPr>
            <a:spLocks noGrp="1"/>
          </p:cNvSpPr>
          <p:nvPr/>
        </p:nvSpPr>
        <p:spPr>
          <a:xfrm>
            <a:off x="0" y="555955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5" name="Rectangle 54"/>
          <p:cNvSpPr>
            <a:spLocks noGrp="1"/>
          </p:cNvSpPr>
          <p:nvPr/>
        </p:nvSpPr>
        <p:spPr>
          <a:xfrm>
            <a:off x="0" y="590702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6" name="Rectangle 55"/>
          <p:cNvSpPr>
            <a:spLocks noGrp="1"/>
          </p:cNvSpPr>
          <p:nvPr/>
        </p:nvSpPr>
        <p:spPr>
          <a:xfrm>
            <a:off x="0" y="625449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7" name="Rectangle 56"/>
          <p:cNvSpPr>
            <a:spLocks noGrp="1"/>
          </p:cNvSpPr>
          <p:nvPr/>
        </p:nvSpPr>
        <p:spPr>
          <a:xfrm>
            <a:off x="0" y="660196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8" name="Rectangle 57"/>
          <p:cNvSpPr>
            <a:spLocks noGrp="1"/>
          </p:cNvSpPr>
          <p:nvPr/>
        </p:nvSpPr>
        <p:spPr>
          <a:xfrm>
            <a:off x="292608" y="182880"/>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9" name="Rectangle 58"/>
          <p:cNvSpPr>
            <a:spLocks noGrp="1"/>
          </p:cNvSpPr>
          <p:nvPr/>
        </p:nvSpPr>
        <p:spPr>
          <a:xfrm>
            <a:off x="292608" y="6784848"/>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0" name="TextBox 59"/>
          <p:cNvSpPr>
            <a:spLocks noGrp="1"/>
          </p:cNvSpPr>
          <p:nvPr/>
        </p:nvSpPr>
        <p:spPr>
          <a:xfrm>
            <a:off x="292608" y="246888"/>
            <a:ext cx="7498079" cy="265176"/>
          </a:xfrm>
          <a:prstGeom prst="rect">
            <a:avLst/>
          </a:prstGeom>
          <a:noFill/>
          <a:ln>
            <a:noFill/>
          </a:ln>
        </p:spPr>
        <p:txBody>
          <a:bodyPr wrap="square">
            <a:spAutoFit/>
          </a:bodyPr>
          <a:lstStyle/>
          <a:p>
            <a:pPr algn="l">
              <a:lnSpc>
                <a:spcPct val="120000"/>
              </a:lnSpc>
              <a:buNone/>
            </a:pPr>
            <a:r>
              <a:rPr sz="950" b="1" i="0">
                <a:solidFill>
                  <a:srgbClr val="1F2BE0"/>
                </a:solidFill>
                <a:latin typeface="Consolas" panose="020B0609020204030204"/>
                <a:ea typeface="Consolas" panose="020B0609020204030204"/>
                <a:cs typeface="Consolas" panose="020B0609020204030204"/>
              </a:rPr>
              <a:t>STORY  ·  GROUP PROFILES  ·  REDRAW BLUEPRINT</a:t>
            </a:r>
            <a:endParaRPr sz="950" b="1" i="0">
              <a:solidFill>
                <a:srgbClr val="1F2BE0"/>
              </a:solidFill>
              <a:latin typeface="Consolas" panose="020B0609020204030204"/>
              <a:ea typeface="Consolas" panose="020B0609020204030204"/>
              <a:cs typeface="Consolas" panose="020B0609020204030204"/>
            </a:endParaRPr>
          </a:p>
        </p:txBody>
      </p:sp>
      <p:sp>
        <p:nvSpPr>
          <p:cNvPr id="61" name="TextBox 60"/>
          <p:cNvSpPr>
            <a:spLocks noGrp="1"/>
          </p:cNvSpPr>
          <p:nvPr/>
        </p:nvSpPr>
        <p:spPr>
          <a:xfrm>
            <a:off x="10607040" y="6510528"/>
            <a:ext cx="1280160" cy="201168"/>
          </a:xfrm>
          <a:prstGeom prst="rect">
            <a:avLst/>
          </a:prstGeom>
          <a:noFill/>
          <a:ln>
            <a:noFill/>
          </a:ln>
        </p:spPr>
        <p:txBody>
          <a:bodyPr wrap="square">
            <a:spAutoFit/>
          </a:bodyPr>
          <a:lstStyle/>
          <a:p>
            <a:pPr algn="r">
              <a:lnSpc>
                <a:spcPct val="120000"/>
              </a:lnSpc>
              <a:buNone/>
            </a:pPr>
            <a:r>
              <a:rPr sz="950" b="0" i="0">
                <a:solidFill>
                  <a:srgbClr val="1F2BE0"/>
                </a:solidFill>
                <a:latin typeface="Consolas" panose="020B0609020204030204"/>
                <a:ea typeface="Consolas" panose="020B0609020204030204"/>
                <a:cs typeface="Consolas" panose="020B0609020204030204"/>
              </a:rPr>
              <a:t>01 / 03</a:t>
            </a:r>
            <a:endParaRPr sz="950" b="0" i="0">
              <a:solidFill>
                <a:srgbClr val="1F2BE0"/>
              </a:solidFill>
              <a:latin typeface="Consolas" panose="020B0609020204030204"/>
              <a:ea typeface="Consolas" panose="020B0609020204030204"/>
              <a:cs typeface="Consolas" panose="020B0609020204030204"/>
            </a:endParaRPr>
          </a:p>
        </p:txBody>
      </p:sp>
      <p:sp>
        <p:nvSpPr>
          <p:cNvPr id="63" name="Rectangle 62"/>
          <p:cNvSpPr>
            <a:spLocks noGrp="1"/>
          </p:cNvSpPr>
          <p:nvPr/>
        </p:nvSpPr>
        <p:spPr>
          <a:xfrm>
            <a:off x="11384280" y="283464"/>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4" name="Rectangle 63"/>
          <p:cNvSpPr>
            <a:spLocks noGrp="1"/>
          </p:cNvSpPr>
          <p:nvPr/>
        </p:nvSpPr>
        <p:spPr>
          <a:xfrm>
            <a:off x="11462004" y="333756"/>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5" name="Rectangle 64"/>
          <p:cNvSpPr>
            <a:spLocks noGrp="1"/>
          </p:cNvSpPr>
          <p:nvPr/>
        </p:nvSpPr>
        <p:spPr>
          <a:xfrm>
            <a:off x="11539728" y="384048"/>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6" name="Rectangle 65"/>
          <p:cNvSpPr>
            <a:spLocks noGrp="1"/>
          </p:cNvSpPr>
          <p:nvPr/>
        </p:nvSpPr>
        <p:spPr>
          <a:xfrm>
            <a:off x="11617452" y="434340"/>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7" name="Rectangle 66"/>
          <p:cNvSpPr>
            <a:spLocks noGrp="1"/>
          </p:cNvSpPr>
          <p:nvPr/>
        </p:nvSpPr>
        <p:spPr>
          <a:xfrm>
            <a:off x="11695176" y="484632"/>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8" name="TextBox 67"/>
          <p:cNvSpPr>
            <a:spLocks noGrp="1"/>
          </p:cNvSpPr>
          <p:nvPr/>
        </p:nvSpPr>
        <p:spPr>
          <a:xfrm>
            <a:off x="3593592" y="566928"/>
            <a:ext cx="8321040" cy="757123"/>
          </a:xfrm>
          <a:prstGeom prst="rect">
            <a:avLst/>
          </a:prstGeom>
          <a:noFill/>
          <a:ln>
            <a:noFill/>
          </a:ln>
        </p:spPr>
        <p:txBody>
          <a:bodyPr wrap="square">
            <a:spAutoFit/>
          </a:bodyPr>
          <a:lstStyle/>
          <a:p>
            <a:pPr algn="l">
              <a:lnSpc>
                <a:spcPct val="104000"/>
              </a:lnSpc>
              <a:buNone/>
            </a:pPr>
            <a:r>
              <a:rPr sz="2100" b="0" i="1">
                <a:solidFill>
                  <a:srgbClr val="1F2BE0"/>
                </a:solidFill>
                <a:latin typeface="Georgia" panose="02040502050405020303"/>
                <a:ea typeface="Georgia" panose="02040502050405020303"/>
                <a:cs typeface="Georgia" panose="02040502050405020303"/>
              </a:rPr>
              <a:t>Model groups should reveal what simple rankings miss.</a:t>
            </a:r>
            <a:endParaRPr sz="2100" b="0" i="1">
              <a:solidFill>
                <a:srgbClr val="1F2BE0"/>
              </a:solidFill>
              <a:latin typeface="Georgia" panose="02040502050405020303"/>
              <a:ea typeface="Georgia" panose="02040502050405020303"/>
              <a:cs typeface="Georgia" panose="02040502050405020303"/>
            </a:endParaRPr>
          </a:p>
        </p:txBody>
      </p:sp>
      <p:sp>
        <p:nvSpPr>
          <p:cNvPr id="69" name="TextBox 68"/>
          <p:cNvSpPr>
            <a:spLocks noGrp="1"/>
          </p:cNvSpPr>
          <p:nvPr/>
        </p:nvSpPr>
        <p:spPr>
          <a:xfrm>
            <a:off x="3593592" y="1252728"/>
            <a:ext cx="8229600" cy="56692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1100" i="0">
                <a:solidFill>
                  <a:srgbClr val="1F2BE0"/>
                </a:solidFill>
                <a:latin typeface="Segoe UI" panose="020B0502040204020203" charset="0"/>
                <a:ea typeface="Segoe UI" panose="020B0502040204020203"/>
                <a:cs typeface="Segoe UI" panose="020B0502040204020203" charset="0"/>
              </a:rPr>
              <a:t>Final cluster labels will colour each country; position shows scale and intensity, while size keeps population visible.</a:t>
            </a:r>
            <a:endParaRPr sz="1100" i="0">
              <a:solidFill>
                <a:srgbClr val="1F2BE0"/>
              </a:solidFill>
              <a:latin typeface="Segoe UI" panose="020B0502040204020203" charset="0"/>
              <a:ea typeface="Segoe UI" panose="020B0502040204020203"/>
              <a:cs typeface="Segoe UI" panose="020B0502040204020203" charset="0"/>
            </a:endParaRPr>
          </a:p>
        </p:txBody>
      </p:sp>
      <p:sp>
        <p:nvSpPr>
          <p:cNvPr id="70" name="Rectangle 69"/>
          <p:cNvSpPr>
            <a:spLocks noGrp="1"/>
          </p:cNvSpPr>
          <p:nvPr/>
        </p:nvSpPr>
        <p:spPr>
          <a:xfrm>
            <a:off x="3593465" y="1729105"/>
            <a:ext cx="8321040" cy="4653280"/>
          </a:xfrm>
          <a:prstGeom prst="rect">
            <a:avLst/>
          </a:prstGeom>
          <a:solidFill>
            <a:srgbClr val="F0EBD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2" name="Rectangle 71"/>
          <p:cNvSpPr>
            <a:spLocks noGrp="1"/>
          </p:cNvSpPr>
          <p:nvPr/>
        </p:nvSpPr>
        <p:spPr>
          <a:xfrm>
            <a:off x="274320" y="713232"/>
            <a:ext cx="3212287" cy="5669280"/>
          </a:xfrm>
          <a:prstGeom prst="rect">
            <a:avLst/>
          </a:prstGeom>
          <a:solidFill>
            <a:srgbClr val="E6E0C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3" name="Rectangle 72"/>
          <p:cNvSpPr>
            <a:spLocks noGrp="1"/>
          </p:cNvSpPr>
          <p:nvPr/>
        </p:nvSpPr>
        <p:spPr>
          <a:xfrm>
            <a:off x="274320" y="713232"/>
            <a:ext cx="54864" cy="5669280"/>
          </a:xfrm>
          <a:prstGeom prst="rect">
            <a:avLst/>
          </a:prstGeom>
          <a:solidFill>
            <a:srgbClr val="1F2BE0">
              <a:alpha val="15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4" name="Rectangle 73"/>
          <p:cNvSpPr>
            <a:spLocks noGrp="1"/>
          </p:cNvSpPr>
          <p:nvPr/>
        </p:nvSpPr>
        <p:spPr>
          <a:xfrm>
            <a:off x="329184" y="713232"/>
            <a:ext cx="3157423" cy="22860"/>
          </a:xfrm>
          <a:prstGeom prst="rect">
            <a:avLst/>
          </a:prstGeom>
          <a:solidFill>
            <a:srgbClr val="1F2BE0">
              <a:alpha val="4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pic>
        <p:nvPicPr>
          <p:cNvPr id="76" name="图片 75" descr="P2_02_combo_bubble_scale_vs_intensity_tinted_enlarged"/>
          <p:cNvPicPr>
            <a:picLocks noChangeAspect="1"/>
          </p:cNvPicPr>
          <p:nvPr/>
        </p:nvPicPr>
        <p:blipFill>
          <a:blip r:embed="rId1"/>
          <a:stretch>
            <a:fillRect/>
          </a:stretch>
        </p:blipFill>
        <p:spPr>
          <a:xfrm>
            <a:off x="3636645" y="1744345"/>
            <a:ext cx="8252460" cy="3991610"/>
          </a:xfrm>
          <a:prstGeom prst="rect">
            <a:avLst/>
          </a:prstGeom>
        </p:spPr>
      </p:pic>
      <p:sp>
        <p:nvSpPr>
          <p:cNvPr id="80" name="椭圆 79"/>
          <p:cNvSpPr/>
          <p:nvPr/>
        </p:nvSpPr>
        <p:spPr>
          <a:xfrm>
            <a:off x="10421792" y="4362427"/>
            <a:ext cx="370321" cy="370321"/>
          </a:xfrm>
          <a:prstGeom prst="ellipse">
            <a:avLst/>
          </a:prstGeom>
          <a:noFill/>
          <a:ln w="19685">
            <a:solidFill>
              <a:srgbClr val="007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1" name="椭圆 80"/>
          <p:cNvSpPr/>
          <p:nvPr/>
        </p:nvSpPr>
        <p:spPr>
          <a:xfrm>
            <a:off x="10722493" y="4332801"/>
            <a:ext cx="162942" cy="162942"/>
          </a:xfrm>
          <a:prstGeom prst="ellipse">
            <a:avLst/>
          </a:prstGeom>
          <a:solidFill>
            <a:srgbClr val="0072B2"/>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T</a:t>
            </a:r>
            <a:endParaRPr lang="zh-CN" altLang="en-US" sz="720" b="1">
              <a:solidFill>
                <a:srgbClr val="FFFFFF"/>
              </a:solidFill>
              <a:latin typeface="Segoe UI" panose="020B0502040204020203" charset="0"/>
              <a:cs typeface="Segoe UI" panose="020B0502040204020203" charset="0"/>
            </a:endParaRPr>
          </a:p>
        </p:txBody>
      </p:sp>
      <p:sp>
        <p:nvSpPr>
          <p:cNvPr id="82" name="椭圆 81"/>
          <p:cNvSpPr/>
          <p:nvPr/>
        </p:nvSpPr>
        <p:spPr>
          <a:xfrm>
            <a:off x="10107762" y="3834349"/>
            <a:ext cx="281444" cy="281444"/>
          </a:xfrm>
          <a:prstGeom prst="ellipse">
            <a:avLst/>
          </a:prstGeom>
          <a:noFill/>
          <a:ln w="19685">
            <a:solidFill>
              <a:srgbClr val="007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3" name="椭圆 82"/>
          <p:cNvSpPr/>
          <p:nvPr/>
        </p:nvSpPr>
        <p:spPr>
          <a:xfrm>
            <a:off x="10337361" y="3799539"/>
            <a:ext cx="148129" cy="148129"/>
          </a:xfrm>
          <a:prstGeom prst="ellipse">
            <a:avLst/>
          </a:prstGeom>
          <a:solidFill>
            <a:srgbClr val="0072B2"/>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T</a:t>
            </a:r>
            <a:endParaRPr lang="zh-CN" altLang="en-US" sz="720" b="1">
              <a:solidFill>
                <a:srgbClr val="FFFFFF"/>
              </a:solidFill>
              <a:latin typeface="Segoe UI" panose="020B0502040204020203" charset="0"/>
              <a:cs typeface="Segoe UI" panose="020B0502040204020203" charset="0"/>
            </a:endParaRPr>
          </a:p>
        </p:txBody>
      </p:sp>
      <p:sp>
        <p:nvSpPr>
          <p:cNvPr id="84" name="椭圆 83"/>
          <p:cNvSpPr/>
          <p:nvPr/>
        </p:nvSpPr>
        <p:spPr>
          <a:xfrm>
            <a:off x="9804097" y="4889764"/>
            <a:ext cx="325882" cy="325882"/>
          </a:xfrm>
          <a:prstGeom prst="ellipse">
            <a:avLst/>
          </a:prstGeom>
          <a:noFill/>
          <a:ln w="19685">
            <a:solidFill>
              <a:srgbClr val="007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5" name="椭圆 84"/>
          <p:cNvSpPr/>
          <p:nvPr/>
        </p:nvSpPr>
        <p:spPr>
          <a:xfrm>
            <a:off x="10070729" y="4866064"/>
            <a:ext cx="148129" cy="148129"/>
          </a:xfrm>
          <a:prstGeom prst="ellipse">
            <a:avLst/>
          </a:prstGeom>
          <a:solidFill>
            <a:srgbClr val="0072B2"/>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T</a:t>
            </a:r>
            <a:endParaRPr lang="zh-CN" altLang="en-US" sz="720" b="1">
              <a:solidFill>
                <a:srgbClr val="FFFFFF"/>
              </a:solidFill>
              <a:latin typeface="Segoe UI" panose="020B0502040204020203" charset="0"/>
              <a:cs typeface="Segoe UI" panose="020B0502040204020203" charset="0"/>
            </a:endParaRPr>
          </a:p>
        </p:txBody>
      </p:sp>
      <p:sp>
        <p:nvSpPr>
          <p:cNvPr id="86" name="椭圆 85"/>
          <p:cNvSpPr/>
          <p:nvPr/>
        </p:nvSpPr>
        <p:spPr>
          <a:xfrm>
            <a:off x="9631528" y="4123200"/>
            <a:ext cx="251818" cy="251818"/>
          </a:xfrm>
          <a:prstGeom prst="ellipse">
            <a:avLst/>
          </a:prstGeom>
          <a:noFill/>
          <a:ln w="19685">
            <a:solidFill>
              <a:srgbClr val="007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7" name="椭圆 86"/>
          <p:cNvSpPr/>
          <p:nvPr/>
        </p:nvSpPr>
        <p:spPr>
          <a:xfrm>
            <a:off x="9833723" y="4095795"/>
            <a:ext cx="148129" cy="148129"/>
          </a:xfrm>
          <a:prstGeom prst="ellipse">
            <a:avLst/>
          </a:prstGeom>
          <a:solidFill>
            <a:srgbClr val="0072B2"/>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T</a:t>
            </a:r>
            <a:endParaRPr lang="zh-CN" altLang="en-US" sz="720" b="1">
              <a:solidFill>
                <a:srgbClr val="FFFFFF"/>
              </a:solidFill>
              <a:latin typeface="Segoe UI" panose="020B0502040204020203" charset="0"/>
              <a:cs typeface="Segoe UI" panose="020B0502040204020203" charset="0"/>
            </a:endParaRPr>
          </a:p>
        </p:txBody>
      </p:sp>
      <p:sp>
        <p:nvSpPr>
          <p:cNvPr id="88" name="椭圆 87"/>
          <p:cNvSpPr/>
          <p:nvPr/>
        </p:nvSpPr>
        <p:spPr>
          <a:xfrm>
            <a:off x="9435258" y="4387609"/>
            <a:ext cx="237005" cy="237005"/>
          </a:xfrm>
          <a:prstGeom prst="ellipse">
            <a:avLst/>
          </a:prstGeom>
          <a:noFill/>
          <a:ln w="19685">
            <a:solidFill>
              <a:srgbClr val="007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 name="椭圆 88"/>
          <p:cNvSpPr/>
          <p:nvPr/>
        </p:nvSpPr>
        <p:spPr>
          <a:xfrm>
            <a:off x="9626344" y="4347614"/>
            <a:ext cx="148129" cy="148129"/>
          </a:xfrm>
          <a:prstGeom prst="ellipse">
            <a:avLst/>
          </a:prstGeom>
          <a:solidFill>
            <a:srgbClr val="0072B2"/>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T</a:t>
            </a:r>
            <a:endParaRPr lang="zh-CN" altLang="en-US" sz="720" b="1">
              <a:solidFill>
                <a:srgbClr val="FFFFFF"/>
              </a:solidFill>
              <a:latin typeface="Segoe UI" panose="020B0502040204020203" charset="0"/>
              <a:cs typeface="Segoe UI" panose="020B0502040204020203" charset="0"/>
            </a:endParaRPr>
          </a:p>
        </p:txBody>
      </p:sp>
      <p:sp>
        <p:nvSpPr>
          <p:cNvPr id="93" name="椭圆 92"/>
          <p:cNvSpPr/>
          <p:nvPr/>
        </p:nvSpPr>
        <p:spPr>
          <a:xfrm>
            <a:off x="8414653" y="2004223"/>
            <a:ext cx="207380" cy="207380"/>
          </a:xfrm>
          <a:prstGeom prst="ellipse">
            <a:avLst/>
          </a:prstGeom>
          <a:noFill/>
          <a:ln w="19685">
            <a:solidFill>
              <a:srgbClr val="E69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4" name="椭圆 93"/>
          <p:cNvSpPr/>
          <p:nvPr/>
        </p:nvSpPr>
        <p:spPr>
          <a:xfrm>
            <a:off x="8574632" y="1947934"/>
            <a:ext cx="148129" cy="148129"/>
          </a:xfrm>
          <a:prstGeom prst="ellipse">
            <a:avLst/>
          </a:prstGeom>
          <a:solidFill>
            <a:srgbClr val="E69F0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472F00"/>
                </a:solidFill>
                <a:latin typeface="Segoe UI" panose="020B0502040204020203" charset="0"/>
                <a:cs typeface="Segoe UI" panose="020B0502040204020203" charset="0"/>
              </a:rPr>
              <a:t>P</a:t>
            </a:r>
            <a:endParaRPr lang="zh-CN" altLang="en-US" sz="720" b="1">
              <a:solidFill>
                <a:srgbClr val="472F00"/>
              </a:solidFill>
              <a:latin typeface="Segoe UI" panose="020B0502040204020203" charset="0"/>
              <a:cs typeface="Segoe UI" panose="020B0502040204020203" charset="0"/>
            </a:endParaRPr>
          </a:p>
        </p:txBody>
      </p:sp>
      <p:sp>
        <p:nvSpPr>
          <p:cNvPr id="95" name="椭圆 94"/>
          <p:cNvSpPr/>
          <p:nvPr/>
        </p:nvSpPr>
        <p:spPr>
          <a:xfrm>
            <a:off x="7448856" y="2945579"/>
            <a:ext cx="192567" cy="192567"/>
          </a:xfrm>
          <a:prstGeom prst="ellipse">
            <a:avLst/>
          </a:prstGeom>
          <a:noFill/>
          <a:ln w="19685">
            <a:solidFill>
              <a:srgbClr val="E69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6" name="椭圆 95"/>
          <p:cNvSpPr/>
          <p:nvPr/>
        </p:nvSpPr>
        <p:spPr>
          <a:xfrm>
            <a:off x="7596984" y="2895956"/>
            <a:ext cx="148129" cy="148129"/>
          </a:xfrm>
          <a:prstGeom prst="ellipse">
            <a:avLst/>
          </a:prstGeom>
          <a:solidFill>
            <a:srgbClr val="E69F0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472F00"/>
                </a:solidFill>
                <a:latin typeface="Segoe UI" panose="020B0502040204020203" charset="0"/>
                <a:cs typeface="Segoe UI" panose="020B0502040204020203" charset="0"/>
              </a:rPr>
              <a:t>P</a:t>
            </a:r>
            <a:endParaRPr lang="zh-CN" altLang="en-US" sz="720" b="1">
              <a:solidFill>
                <a:srgbClr val="472F00"/>
              </a:solidFill>
              <a:latin typeface="Segoe UI" panose="020B0502040204020203" charset="0"/>
              <a:cs typeface="Segoe UI" panose="020B0502040204020203" charset="0"/>
            </a:endParaRPr>
          </a:p>
        </p:txBody>
      </p:sp>
      <p:sp>
        <p:nvSpPr>
          <p:cNvPr id="97" name="椭圆 96"/>
          <p:cNvSpPr/>
          <p:nvPr/>
        </p:nvSpPr>
        <p:spPr>
          <a:xfrm>
            <a:off x="7931754" y="3056675"/>
            <a:ext cx="237005" cy="237005"/>
          </a:xfrm>
          <a:prstGeom prst="ellipse">
            <a:avLst/>
          </a:prstGeom>
          <a:noFill/>
          <a:ln w="19685">
            <a:solidFill>
              <a:srgbClr val="E69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8" name="椭圆 97"/>
          <p:cNvSpPr/>
          <p:nvPr/>
        </p:nvSpPr>
        <p:spPr>
          <a:xfrm>
            <a:off x="8115434" y="2999646"/>
            <a:ext cx="148129" cy="148129"/>
          </a:xfrm>
          <a:prstGeom prst="ellipse">
            <a:avLst/>
          </a:prstGeom>
          <a:solidFill>
            <a:srgbClr val="E69F0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472F00"/>
                </a:solidFill>
                <a:latin typeface="Segoe UI" panose="020B0502040204020203" charset="0"/>
                <a:cs typeface="Segoe UI" panose="020B0502040204020203" charset="0"/>
              </a:rPr>
              <a:t>P</a:t>
            </a:r>
            <a:endParaRPr lang="zh-CN" altLang="en-US" sz="720" b="1">
              <a:solidFill>
                <a:srgbClr val="472F00"/>
              </a:solidFill>
              <a:latin typeface="Segoe UI" panose="020B0502040204020203" charset="0"/>
              <a:cs typeface="Segoe UI" panose="020B0502040204020203" charset="0"/>
            </a:endParaRPr>
          </a:p>
        </p:txBody>
      </p:sp>
      <p:sp>
        <p:nvSpPr>
          <p:cNvPr id="99" name="椭圆 98"/>
          <p:cNvSpPr/>
          <p:nvPr/>
        </p:nvSpPr>
        <p:spPr>
          <a:xfrm>
            <a:off x="9227878" y="3219617"/>
            <a:ext cx="266631" cy="266631"/>
          </a:xfrm>
          <a:prstGeom prst="ellipse">
            <a:avLst/>
          </a:prstGeom>
          <a:noFill/>
          <a:ln w="19685">
            <a:solidFill>
              <a:srgbClr val="E69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0" name="椭圆 99"/>
          <p:cNvSpPr/>
          <p:nvPr/>
        </p:nvSpPr>
        <p:spPr>
          <a:xfrm>
            <a:off x="9448589" y="3177400"/>
            <a:ext cx="148129" cy="148129"/>
          </a:xfrm>
          <a:prstGeom prst="ellipse">
            <a:avLst/>
          </a:prstGeom>
          <a:solidFill>
            <a:srgbClr val="E69F0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472F00"/>
                </a:solidFill>
                <a:latin typeface="Segoe UI" panose="020B0502040204020203" charset="0"/>
                <a:cs typeface="Segoe UI" panose="020B0502040204020203" charset="0"/>
              </a:rPr>
              <a:t>P</a:t>
            </a:r>
            <a:endParaRPr lang="zh-CN" altLang="en-US" sz="720" b="1">
              <a:solidFill>
                <a:srgbClr val="472F00"/>
              </a:solidFill>
              <a:latin typeface="Segoe UI" panose="020B0502040204020203" charset="0"/>
              <a:cs typeface="Segoe UI" panose="020B0502040204020203" charset="0"/>
            </a:endParaRPr>
          </a:p>
        </p:txBody>
      </p:sp>
      <p:sp>
        <p:nvSpPr>
          <p:cNvPr id="105" name="椭圆 104"/>
          <p:cNvSpPr/>
          <p:nvPr/>
        </p:nvSpPr>
        <p:spPr>
          <a:xfrm>
            <a:off x="548132" y="1371600"/>
            <a:ext cx="101600" cy="101600"/>
          </a:xfrm>
          <a:prstGeom prst="ellipse">
            <a:avLst/>
          </a:prstGeom>
          <a:solidFill>
            <a:srgbClr val="1F2BE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a:t>
            </a:r>
            <a:endParaRPr lang="zh-CN" altLang="en-US" sz="720" b="1">
              <a:solidFill>
                <a:srgbClr val="FFFFFF"/>
              </a:solidFill>
              <a:latin typeface="Segoe UI" panose="020B0502040204020203" charset="0"/>
              <a:cs typeface="Segoe UI" panose="020B0502040204020203" charset="0"/>
            </a:endParaRPr>
          </a:p>
        </p:txBody>
      </p:sp>
      <p:sp>
        <p:nvSpPr>
          <p:cNvPr id="106" name="文本框 105"/>
          <p:cNvSpPr txBox="1"/>
          <p:nvPr/>
        </p:nvSpPr>
        <p:spPr>
          <a:xfrm>
            <a:off x="725932" y="1308100"/>
            <a:ext cx="2476500" cy="228600"/>
          </a:xfrm>
          <a:prstGeom prst="rect">
            <a:avLst/>
          </a:prstGeom>
          <a:noFill/>
        </p:spPr>
        <p:txBody>
          <a:bodyPr wrap="square" lIns="19050" tIns="6350" rIns="19050" bIns="6350" rtlCol="0" anchor="t">
            <a:noAutofit/>
          </a:bodyPr>
          <a:p>
            <a:pPr marL="0" indent="0" algn="l">
              <a:spcBef>
                <a:spcPts val="0"/>
              </a:spcBef>
              <a:spcAft>
                <a:spcPts val="0"/>
              </a:spcAft>
              <a:buNone/>
            </a:pPr>
            <a:r>
              <a:rPr lang="zh-CN" altLang="en-US" sz="1320" b="1">
                <a:solidFill>
                  <a:srgbClr val="1F2BE0"/>
                </a:solidFill>
                <a:latin typeface="Segoe UI" panose="020B0502040204020203" charset="0"/>
                <a:cs typeface="Segoe UI" panose="020B0502040204020203" charset="0"/>
              </a:rPr>
              <a:t>Profile separation</a:t>
            </a:r>
            <a:endParaRPr lang="zh-CN" altLang="en-US" sz="1320" b="1">
              <a:solidFill>
                <a:srgbClr val="1F2BE0"/>
              </a:solidFill>
              <a:latin typeface="Segoe UI" panose="020B0502040204020203" charset="0"/>
              <a:cs typeface="Segoe UI" panose="020B0502040204020203" charset="0"/>
            </a:endParaRPr>
          </a:p>
        </p:txBody>
      </p:sp>
      <p:sp>
        <p:nvSpPr>
          <p:cNvPr id="107" name="文本框 106"/>
          <p:cNvSpPr txBox="1"/>
          <p:nvPr/>
        </p:nvSpPr>
        <p:spPr>
          <a:xfrm>
            <a:off x="725932" y="1549400"/>
            <a:ext cx="2476500" cy="685800"/>
          </a:xfrm>
          <a:prstGeom prst="rect">
            <a:avLst/>
          </a:prstGeom>
          <a:noFill/>
        </p:spPr>
        <p:txBody>
          <a:bodyPr wrap="square" lIns="19050" tIns="6350" rIns="19050" bIns="6350" rtlCol="0" anchor="t">
            <a:noAutofit/>
          </a:bodyPr>
          <a:p>
            <a:pPr marL="0" indent="0" algn="l">
              <a:spcBef>
                <a:spcPts val="0"/>
              </a:spcBef>
              <a:spcAft>
                <a:spcPts val="0"/>
              </a:spcAft>
              <a:buNone/>
            </a:pPr>
            <a:r>
              <a:rPr lang="zh-CN" altLang="en-US" sz="1280">
                <a:solidFill>
                  <a:srgbClr val="1F2BE0"/>
                </a:solidFill>
                <a:latin typeface="Segoe UI" panose="020B0502040204020203" charset="0"/>
                <a:cs typeface="Segoe UI" panose="020B0502040204020203" charset="0"/>
              </a:rPr>
              <a:t>Explain which emissions features distinguish the validated groups.</a:t>
            </a:r>
            <a:endParaRPr lang="zh-CN" altLang="en-US" sz="1280">
              <a:solidFill>
                <a:srgbClr val="1F2BE0"/>
              </a:solidFill>
              <a:latin typeface="Segoe UI" panose="020B0502040204020203" charset="0"/>
              <a:cs typeface="Segoe UI" panose="020B0502040204020203" charset="0"/>
            </a:endParaRPr>
          </a:p>
        </p:txBody>
      </p:sp>
      <p:sp>
        <p:nvSpPr>
          <p:cNvPr id="108" name="椭圆 107"/>
          <p:cNvSpPr/>
          <p:nvPr/>
        </p:nvSpPr>
        <p:spPr>
          <a:xfrm>
            <a:off x="548132" y="2603500"/>
            <a:ext cx="101600" cy="101600"/>
          </a:xfrm>
          <a:prstGeom prst="ellipse">
            <a:avLst/>
          </a:prstGeom>
          <a:solidFill>
            <a:srgbClr val="1F2BE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a:t>
            </a:r>
            <a:endParaRPr lang="zh-CN" altLang="en-US" sz="720" b="1">
              <a:solidFill>
                <a:srgbClr val="FFFFFF"/>
              </a:solidFill>
              <a:latin typeface="Segoe UI" panose="020B0502040204020203" charset="0"/>
              <a:cs typeface="Segoe UI" panose="020B0502040204020203" charset="0"/>
            </a:endParaRPr>
          </a:p>
        </p:txBody>
      </p:sp>
      <p:sp>
        <p:nvSpPr>
          <p:cNvPr id="109" name="文本框 108"/>
          <p:cNvSpPr txBox="1"/>
          <p:nvPr/>
        </p:nvSpPr>
        <p:spPr>
          <a:xfrm>
            <a:off x="725932" y="2540000"/>
            <a:ext cx="2476500" cy="228600"/>
          </a:xfrm>
          <a:prstGeom prst="rect">
            <a:avLst/>
          </a:prstGeom>
          <a:noFill/>
        </p:spPr>
        <p:txBody>
          <a:bodyPr wrap="square" lIns="19050" tIns="6350" rIns="19050" bIns="6350" rtlCol="0" anchor="t">
            <a:noAutofit/>
          </a:bodyPr>
          <a:p>
            <a:pPr marL="0" indent="0" algn="l">
              <a:spcBef>
                <a:spcPts val="0"/>
              </a:spcBef>
              <a:spcAft>
                <a:spcPts val="0"/>
              </a:spcAft>
              <a:buNone/>
            </a:pPr>
            <a:r>
              <a:rPr lang="zh-CN" altLang="en-US" sz="1320" b="1">
                <a:solidFill>
                  <a:srgbClr val="1F2BE0"/>
                </a:solidFill>
                <a:latin typeface="Segoe UI" panose="020B0502040204020203" charset="0"/>
                <a:cs typeface="Segoe UI" panose="020B0502040204020203" charset="0"/>
              </a:rPr>
              <a:t>Representative countries</a:t>
            </a:r>
            <a:endParaRPr lang="zh-CN" altLang="en-US" sz="1320" b="1">
              <a:solidFill>
                <a:srgbClr val="1F2BE0"/>
              </a:solidFill>
              <a:latin typeface="Segoe UI" panose="020B0502040204020203" charset="0"/>
              <a:cs typeface="Segoe UI" panose="020B0502040204020203" charset="0"/>
            </a:endParaRPr>
          </a:p>
        </p:txBody>
      </p:sp>
      <p:sp>
        <p:nvSpPr>
          <p:cNvPr id="110" name="文本框 109"/>
          <p:cNvSpPr txBox="1"/>
          <p:nvPr/>
        </p:nvSpPr>
        <p:spPr>
          <a:xfrm>
            <a:off x="725932" y="2781300"/>
            <a:ext cx="2476500" cy="685800"/>
          </a:xfrm>
          <a:prstGeom prst="rect">
            <a:avLst/>
          </a:prstGeom>
          <a:noFill/>
        </p:spPr>
        <p:txBody>
          <a:bodyPr wrap="square" lIns="19050" tIns="6350" rIns="19050" bIns="6350" rtlCol="0" anchor="t">
            <a:noAutofit/>
          </a:bodyPr>
          <a:p>
            <a:pPr marL="0" indent="0" algn="l">
              <a:spcBef>
                <a:spcPts val="0"/>
              </a:spcBef>
              <a:spcAft>
                <a:spcPts val="0"/>
              </a:spcAft>
              <a:buNone/>
            </a:pPr>
            <a:r>
              <a:rPr lang="zh-CN" altLang="en-US" sz="1280">
                <a:solidFill>
                  <a:srgbClr val="1F2BE0"/>
                </a:solidFill>
                <a:latin typeface="Segoe UI" panose="020B0502040204020203" charset="0"/>
                <a:cs typeface="Segoe UI" panose="020B0502040204020203" charset="0"/>
              </a:rPr>
              <a:t>Name a few typical members only after the final labels are frozen.</a:t>
            </a:r>
            <a:endParaRPr lang="zh-CN" altLang="en-US" sz="1280">
              <a:solidFill>
                <a:srgbClr val="1F2BE0"/>
              </a:solidFill>
              <a:latin typeface="Segoe UI" panose="020B0502040204020203" charset="0"/>
              <a:cs typeface="Segoe UI" panose="020B0502040204020203" charset="0"/>
            </a:endParaRPr>
          </a:p>
        </p:txBody>
      </p:sp>
      <p:sp>
        <p:nvSpPr>
          <p:cNvPr id="111" name="椭圆 110"/>
          <p:cNvSpPr/>
          <p:nvPr/>
        </p:nvSpPr>
        <p:spPr>
          <a:xfrm>
            <a:off x="548132" y="3835400"/>
            <a:ext cx="101600" cy="101600"/>
          </a:xfrm>
          <a:prstGeom prst="ellipse">
            <a:avLst/>
          </a:prstGeom>
          <a:solidFill>
            <a:srgbClr val="1F2BE0"/>
          </a:solidFill>
          <a:ln w="1016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9050" tIns="6350" rIns="19050" bIns="6350" rtlCol="0" anchor="t">
            <a:noAutofit/>
          </a:bodyPr>
          <a:p>
            <a:pPr marL="0" indent="0" algn="ctr">
              <a:spcBef>
                <a:spcPts val="0"/>
              </a:spcBef>
              <a:spcAft>
                <a:spcPts val="0"/>
              </a:spcAft>
              <a:buNone/>
            </a:pPr>
            <a:r>
              <a:rPr lang="zh-CN" altLang="en-US" sz="720" b="1">
                <a:solidFill>
                  <a:srgbClr val="FFFFFF"/>
                </a:solidFill>
                <a:latin typeface="Segoe UI" panose="020B0502040204020203" charset="0"/>
                <a:cs typeface="Segoe UI" panose="020B0502040204020203" charset="0"/>
              </a:rPr>
              <a:t>·</a:t>
            </a:r>
            <a:endParaRPr lang="zh-CN" altLang="en-US" sz="720" b="1">
              <a:solidFill>
                <a:srgbClr val="FFFFFF"/>
              </a:solidFill>
              <a:latin typeface="Segoe UI" panose="020B0502040204020203" charset="0"/>
              <a:cs typeface="Segoe UI" panose="020B0502040204020203" charset="0"/>
            </a:endParaRPr>
          </a:p>
        </p:txBody>
      </p:sp>
      <p:sp>
        <p:nvSpPr>
          <p:cNvPr id="112" name="文本框 111"/>
          <p:cNvSpPr txBox="1"/>
          <p:nvPr/>
        </p:nvSpPr>
        <p:spPr>
          <a:xfrm>
            <a:off x="725932" y="3771900"/>
            <a:ext cx="2476500" cy="228600"/>
          </a:xfrm>
          <a:prstGeom prst="rect">
            <a:avLst/>
          </a:prstGeom>
          <a:noFill/>
        </p:spPr>
        <p:txBody>
          <a:bodyPr wrap="square" lIns="19050" tIns="6350" rIns="19050" bIns="6350" rtlCol="0" anchor="t">
            <a:noAutofit/>
          </a:bodyPr>
          <a:p>
            <a:pPr marL="0" indent="0" algn="l">
              <a:spcBef>
                <a:spcPts val="0"/>
              </a:spcBef>
              <a:spcAft>
                <a:spcPts val="0"/>
              </a:spcAft>
              <a:buNone/>
            </a:pPr>
            <a:r>
              <a:rPr lang="zh-CN" altLang="en-US" sz="1320" b="1">
                <a:solidFill>
                  <a:srgbClr val="1F2BE0"/>
                </a:solidFill>
                <a:latin typeface="Segoe UI" panose="020B0502040204020203" charset="0"/>
                <a:cs typeface="Segoe UI" panose="020B0502040204020203" charset="0"/>
              </a:rPr>
              <a:t>Why it matters</a:t>
            </a:r>
            <a:endParaRPr lang="zh-CN" altLang="en-US" sz="1320" b="1">
              <a:solidFill>
                <a:srgbClr val="1F2BE0"/>
              </a:solidFill>
              <a:latin typeface="Segoe UI" panose="020B0502040204020203" charset="0"/>
              <a:cs typeface="Segoe UI" panose="020B0502040204020203" charset="0"/>
            </a:endParaRPr>
          </a:p>
        </p:txBody>
      </p:sp>
      <p:sp>
        <p:nvSpPr>
          <p:cNvPr id="113" name="文本框 112"/>
          <p:cNvSpPr txBox="1"/>
          <p:nvPr/>
        </p:nvSpPr>
        <p:spPr>
          <a:xfrm>
            <a:off x="725932" y="4013200"/>
            <a:ext cx="2476500" cy="914400"/>
          </a:xfrm>
          <a:prstGeom prst="rect">
            <a:avLst/>
          </a:prstGeom>
          <a:noFill/>
        </p:spPr>
        <p:txBody>
          <a:bodyPr wrap="square" lIns="19050" tIns="6350" rIns="19050" bIns="6350" rtlCol="0" anchor="t">
            <a:noAutofit/>
          </a:bodyPr>
          <a:p>
            <a:pPr marL="0" indent="0" algn="l">
              <a:spcBef>
                <a:spcPts val="0"/>
              </a:spcBef>
              <a:spcAft>
                <a:spcPts val="0"/>
              </a:spcAft>
              <a:buNone/>
            </a:pPr>
            <a:r>
              <a:rPr lang="zh-CN" altLang="en-US" sz="1280">
                <a:solidFill>
                  <a:srgbClr val="1F2BE0"/>
                </a:solidFill>
                <a:latin typeface="Segoe UI" panose="020B0502040204020203" charset="0"/>
                <a:cs typeface="Segoe UI" panose="020B0502040204020203" charset="0"/>
              </a:rPr>
              <a:t>Show what the model adds beyond total and per-capita rankings.</a:t>
            </a:r>
            <a:endParaRPr lang="zh-CN" altLang="en-US" sz="1280">
              <a:solidFill>
                <a:srgbClr val="1F2BE0"/>
              </a:solidFill>
              <a:latin typeface="Segoe UI" panose="020B0502040204020203" charset="0"/>
              <a:cs typeface="Segoe UI" panose="020B0502040204020203" charset="0"/>
            </a:endParaRPr>
          </a:p>
        </p:txBody>
      </p:sp>
      <p:sp>
        <p:nvSpPr>
          <p:cNvPr id="75" name="TextBox 74"/>
          <p:cNvSpPr>
            <a:spLocks noGrp="1"/>
          </p:cNvSpPr>
          <p:nvPr/>
        </p:nvSpPr>
        <p:spPr>
          <a:xfrm>
            <a:off x="548640" y="969264"/>
            <a:ext cx="1207008" cy="256032"/>
          </a:xfrm>
          <a:prstGeom prst="rect">
            <a:avLst/>
          </a:prstGeom>
          <a:solidFill>
            <a:srgbClr val="1F2BE0"/>
          </a:solidFill>
          <a:ln>
            <a:noFill/>
          </a:ln>
        </p:spPr>
        <p:txBody>
          <a:bodyPr wrap="square" lIns="73152" tIns="13716" rIns="45720" bIns="13716">
            <a:noAutofit/>
          </a:bodyPr>
          <a:lstStyle/>
          <a:p>
            <a:pPr algn="l">
              <a:lnSpc>
                <a:spcPct val="120000"/>
              </a:lnSpc>
              <a:buNone/>
            </a:pPr>
            <a:r>
              <a:rPr sz="950" b="1" i="0">
                <a:solidFill>
                  <a:srgbClr val="F0EBDE"/>
                </a:solidFill>
                <a:latin typeface="Consolas" panose="020B0609020204030204"/>
                <a:ea typeface="Consolas" panose="020B0609020204030204"/>
                <a:cs typeface="Consolas" panose="020B0609020204030204"/>
              </a:rPr>
              <a:t>STORY TO TELL</a:t>
            </a:r>
            <a:endParaRPr sz="950" b="1" i="0">
              <a:solidFill>
                <a:srgbClr val="F0EBDE"/>
              </a:solidFill>
              <a:latin typeface="Consolas" panose="020B0609020204030204"/>
              <a:ea typeface="Consolas" panose="020B0609020204030204"/>
              <a:cs typeface="Consolas" panose="020B0609020204030204"/>
            </a:endParaRPr>
          </a:p>
        </p:txBody>
      </p:sp>
      <p:sp>
        <p:nvSpPr>
          <p:cNvPr id="77" name="圆角矩形 76"/>
          <p:cNvSpPr/>
          <p:nvPr/>
        </p:nvSpPr>
        <p:spPr>
          <a:xfrm>
            <a:off x="4665472" y="5778500"/>
            <a:ext cx="6362700" cy="393700"/>
          </a:xfrm>
          <a:prstGeom prst="roundRect">
            <a:avLst/>
          </a:prstGeom>
          <a:solidFill>
            <a:srgbClr val="FFFFFF"/>
          </a:solidFill>
          <a:ln w="8890">
            <a:solidFill>
              <a:srgbClr val="CDD6E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文本框 77"/>
          <p:cNvSpPr txBox="1"/>
          <p:nvPr/>
        </p:nvSpPr>
        <p:spPr>
          <a:xfrm>
            <a:off x="4792472" y="5905500"/>
            <a:ext cx="622300" cy="1397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80" b="1">
                <a:solidFill>
                  <a:srgbClr val="232F44"/>
                </a:solidFill>
                <a:latin typeface="Consolas" panose="020B0609020204030204" charset="0"/>
                <a:cs typeface="Consolas" panose="020B0609020204030204" charset="0"/>
              </a:rPr>
              <a:t>GROUPS</a:t>
            </a:r>
            <a:endParaRPr lang="zh-CN" altLang="en-US" sz="780" b="1">
              <a:solidFill>
                <a:srgbClr val="232F44"/>
              </a:solidFill>
              <a:latin typeface="Consolas" panose="020B0609020204030204" charset="0"/>
              <a:cs typeface="Consolas" panose="020B0609020204030204" charset="0"/>
            </a:endParaRPr>
          </a:p>
        </p:txBody>
      </p:sp>
      <p:sp>
        <p:nvSpPr>
          <p:cNvPr id="79" name="椭圆 78"/>
          <p:cNvSpPr/>
          <p:nvPr/>
        </p:nvSpPr>
        <p:spPr>
          <a:xfrm>
            <a:off x="5478272" y="5899150"/>
            <a:ext cx="152400" cy="152400"/>
          </a:xfrm>
          <a:prstGeom prst="ellipse">
            <a:avLst/>
          </a:prstGeom>
          <a:noFill/>
          <a:ln w="19685">
            <a:solidFill>
              <a:srgbClr val="0072B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0" name="椭圆 89"/>
          <p:cNvSpPr/>
          <p:nvPr/>
        </p:nvSpPr>
        <p:spPr>
          <a:xfrm>
            <a:off x="5656072" y="5905500"/>
            <a:ext cx="127000" cy="127000"/>
          </a:xfrm>
          <a:prstGeom prst="ellipse">
            <a:avLst/>
          </a:prstGeom>
          <a:solidFill>
            <a:srgbClr val="0072B2"/>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FFFFFF"/>
                </a:solidFill>
                <a:latin typeface="Segoe UI" panose="020B0502040204020203" charset="0"/>
                <a:cs typeface="Segoe UI" panose="020B0502040204020203" charset="0"/>
              </a:rPr>
              <a:t>T</a:t>
            </a:r>
            <a:endParaRPr lang="zh-CN" altLang="en-US" sz="680" b="1">
              <a:solidFill>
                <a:srgbClr val="FFFFFF"/>
              </a:solidFill>
              <a:latin typeface="Segoe UI" panose="020B0502040204020203" charset="0"/>
              <a:cs typeface="Segoe UI" panose="020B0502040204020203" charset="0"/>
            </a:endParaRPr>
          </a:p>
        </p:txBody>
      </p:sp>
      <p:sp>
        <p:nvSpPr>
          <p:cNvPr id="91" name="文本框 90"/>
          <p:cNvSpPr txBox="1"/>
          <p:nvPr/>
        </p:nvSpPr>
        <p:spPr>
          <a:xfrm>
            <a:off x="5833872" y="5892800"/>
            <a:ext cx="10414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80" b="1">
                <a:solidFill>
                  <a:srgbClr val="0072B2"/>
                </a:solidFill>
                <a:latin typeface="Segoe UI" panose="020B0502040204020203" charset="0"/>
                <a:cs typeface="Segoe UI" panose="020B0502040204020203" charset="0"/>
              </a:rPr>
              <a:t>Total Top-5</a:t>
            </a:r>
            <a:endParaRPr lang="zh-CN" altLang="en-US" sz="780" b="1">
              <a:solidFill>
                <a:srgbClr val="0072B2"/>
              </a:solidFill>
              <a:latin typeface="Segoe UI" panose="020B0502040204020203" charset="0"/>
              <a:cs typeface="Segoe UI" panose="020B0502040204020203" charset="0"/>
            </a:endParaRPr>
          </a:p>
        </p:txBody>
      </p:sp>
      <p:sp>
        <p:nvSpPr>
          <p:cNvPr id="92" name="椭圆 91"/>
          <p:cNvSpPr/>
          <p:nvPr/>
        </p:nvSpPr>
        <p:spPr>
          <a:xfrm>
            <a:off x="6976872" y="5899150"/>
            <a:ext cx="152400" cy="152400"/>
          </a:xfrm>
          <a:prstGeom prst="ellipse">
            <a:avLst/>
          </a:prstGeom>
          <a:noFill/>
          <a:ln w="19685">
            <a:solidFill>
              <a:srgbClr val="E69F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1" name="椭圆 100"/>
          <p:cNvSpPr/>
          <p:nvPr/>
        </p:nvSpPr>
        <p:spPr>
          <a:xfrm>
            <a:off x="7154672" y="5905500"/>
            <a:ext cx="127000" cy="127000"/>
          </a:xfrm>
          <a:prstGeom prst="ellipse">
            <a:avLst/>
          </a:prstGeom>
          <a:solidFill>
            <a:srgbClr val="E69F00"/>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472F00"/>
                </a:solidFill>
                <a:latin typeface="Segoe UI" panose="020B0502040204020203" charset="0"/>
                <a:cs typeface="Segoe UI" panose="020B0502040204020203" charset="0"/>
              </a:rPr>
              <a:t>P</a:t>
            </a:r>
            <a:endParaRPr lang="zh-CN" altLang="en-US" sz="680" b="1">
              <a:solidFill>
                <a:srgbClr val="472F00"/>
              </a:solidFill>
              <a:latin typeface="Segoe UI" panose="020B0502040204020203" charset="0"/>
              <a:cs typeface="Segoe UI" panose="020B0502040204020203" charset="0"/>
            </a:endParaRPr>
          </a:p>
        </p:txBody>
      </p:sp>
      <p:sp>
        <p:nvSpPr>
          <p:cNvPr id="102" name="文本框 101"/>
          <p:cNvSpPr txBox="1"/>
          <p:nvPr/>
        </p:nvSpPr>
        <p:spPr>
          <a:xfrm>
            <a:off x="7332472" y="5892800"/>
            <a:ext cx="13335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80" b="1">
                <a:solidFill>
                  <a:srgbClr val="472F00"/>
                </a:solidFill>
                <a:latin typeface="Segoe UI" panose="020B0502040204020203" charset="0"/>
                <a:cs typeface="Segoe UI" panose="020B0502040204020203" charset="0"/>
              </a:rPr>
              <a:t>Per-capita Top-5</a:t>
            </a:r>
            <a:endParaRPr lang="zh-CN" altLang="en-US" sz="780" b="1">
              <a:solidFill>
                <a:srgbClr val="472F00"/>
              </a:solidFill>
              <a:latin typeface="Segoe UI" panose="020B0502040204020203" charset="0"/>
              <a:cs typeface="Segoe UI" panose="020B0502040204020203" charset="0"/>
            </a:endParaRPr>
          </a:p>
        </p:txBody>
      </p:sp>
      <p:sp>
        <p:nvSpPr>
          <p:cNvPr id="103" name="椭圆 102"/>
          <p:cNvSpPr/>
          <p:nvPr/>
        </p:nvSpPr>
        <p:spPr>
          <a:xfrm>
            <a:off x="8818372" y="5918200"/>
            <a:ext cx="114300" cy="114300"/>
          </a:xfrm>
          <a:prstGeom prst="ellipse">
            <a:avLst/>
          </a:prstGeom>
          <a:solidFill>
            <a:srgbClr val="87A9BE"/>
          </a:solidFill>
          <a:ln w="6350">
            <a:solidFill>
              <a:srgbClr val="4D7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文本框 103"/>
          <p:cNvSpPr txBox="1"/>
          <p:nvPr/>
        </p:nvSpPr>
        <p:spPr>
          <a:xfrm>
            <a:off x="8996172" y="5892800"/>
            <a:ext cx="18796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40">
                <a:solidFill>
                  <a:srgbClr val="607084"/>
                </a:solidFill>
                <a:latin typeface="Segoe UI" panose="020B0502040204020203" charset="0"/>
                <a:cs typeface="Segoe UI" panose="020B0502040204020203" charset="0"/>
              </a:rPr>
              <a:t>Others · area = population</a:t>
            </a:r>
            <a:endParaRPr lang="zh-CN" altLang="en-US" sz="740">
              <a:solidFill>
                <a:srgbClr val="607084"/>
              </a:solidFill>
              <a:latin typeface="Segoe UI" panose="020B0502040204020203" charset="0"/>
              <a:cs typeface="Segoe UI" panose="020B0502040204020203" charset="0"/>
            </a:endParaRPr>
          </a:p>
        </p:txBody>
      </p:sp>
      <p:sp>
        <p:nvSpPr>
          <p:cNvPr id="71" name="TextBox 61"/>
          <p:cNvSpPr>
            <a:spLocks noGrp="1"/>
          </p:cNvSpPr>
          <p:nvPr/>
        </p:nvSpPr>
        <p:spPr>
          <a:xfrm>
            <a:off x="292608" y="6510528"/>
            <a:ext cx="2743200" cy="20116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880" b="1" i="0">
                <a:solidFill>
                  <a:srgbClr val="607084"/>
                </a:solidFill>
                <a:latin typeface="Consolas" panose="020B0609020204030204" charset="0"/>
                <a:ea typeface="Consolas" panose="020B0609020204030204"/>
                <a:cs typeface="Consolas" panose="020B0609020204030204" charset="0"/>
              </a:rPr>
              <a:t>PREPARED BY · [</a:t>
            </a:r>
            <a:r>
              <a:rPr lang="en-US" sz="880" b="1" i="0">
                <a:solidFill>
                  <a:srgbClr val="607084"/>
                </a:solidFill>
                <a:latin typeface="Consolas" panose="020B0609020204030204" charset="0"/>
                <a:ea typeface="Consolas" panose="020B0609020204030204"/>
                <a:cs typeface="Consolas" panose="020B0609020204030204" charset="0"/>
              </a:rPr>
              <a:t>SHEN RUITING</a:t>
            </a:r>
            <a:r>
              <a:rPr sz="880" b="1" i="0">
                <a:solidFill>
                  <a:srgbClr val="607084"/>
                </a:solidFill>
                <a:latin typeface="Consolas" panose="020B0609020204030204" charset="0"/>
                <a:ea typeface="Consolas" panose="020B0609020204030204"/>
                <a:cs typeface="Consolas" panose="020B0609020204030204" charset="0"/>
              </a:rPr>
              <a:t>]</a:t>
            </a:r>
            <a:endParaRPr sz="880" b="1" i="0">
              <a:solidFill>
                <a:srgbClr val="607084"/>
              </a:solidFill>
              <a:latin typeface="Consolas" panose="020B0609020204030204" charset="0"/>
              <a:ea typeface="Consolas" panose="020B0609020204030204"/>
              <a:cs typeface="Consolas" panose="020B0609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fade">
                                      <p:cBhvr>
                                        <p:cTn id="10" dur="500"/>
                                        <p:tgtEl>
                                          <p:spTgt spid="8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500"/>
                                        <p:tgtEl>
                                          <p:spTgt spid="8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3"/>
                                        </p:tgtEl>
                                        <p:attrNameLst>
                                          <p:attrName>style.visibility</p:attrName>
                                        </p:attrNameLst>
                                      </p:cBhvr>
                                      <p:to>
                                        <p:strVal val="visible"/>
                                      </p:to>
                                    </p:set>
                                    <p:animEffect transition="in" filter="fade">
                                      <p:cBhvr>
                                        <p:cTn id="16" dur="500"/>
                                        <p:tgtEl>
                                          <p:spTgt spid="8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4"/>
                                        </p:tgtEl>
                                        <p:attrNameLst>
                                          <p:attrName>style.visibility</p:attrName>
                                        </p:attrNameLst>
                                      </p:cBhvr>
                                      <p:to>
                                        <p:strVal val="visible"/>
                                      </p:to>
                                    </p:set>
                                    <p:animEffect transition="in" filter="fade">
                                      <p:cBhvr>
                                        <p:cTn id="19" dur="500"/>
                                        <p:tgtEl>
                                          <p:spTgt spid="8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500"/>
                                        <p:tgtEl>
                                          <p:spTgt spid="8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6"/>
                                        </p:tgtEl>
                                        <p:attrNameLst>
                                          <p:attrName>style.visibility</p:attrName>
                                        </p:attrNameLst>
                                      </p:cBhvr>
                                      <p:to>
                                        <p:strVal val="visible"/>
                                      </p:to>
                                    </p:set>
                                    <p:animEffect transition="in" filter="fade">
                                      <p:cBhvr>
                                        <p:cTn id="25" dur="500"/>
                                        <p:tgtEl>
                                          <p:spTgt spid="8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7"/>
                                        </p:tgtEl>
                                        <p:attrNameLst>
                                          <p:attrName>style.visibility</p:attrName>
                                        </p:attrNameLst>
                                      </p:cBhvr>
                                      <p:to>
                                        <p:strVal val="visible"/>
                                      </p:to>
                                    </p:set>
                                    <p:animEffect transition="in" filter="fade">
                                      <p:cBhvr>
                                        <p:cTn id="28" dur="500"/>
                                        <p:tgtEl>
                                          <p:spTgt spid="8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fade">
                                      <p:cBhvr>
                                        <p:cTn id="31" dur="500"/>
                                        <p:tgtEl>
                                          <p:spTgt spid="8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9"/>
                                        </p:tgtEl>
                                        <p:attrNameLst>
                                          <p:attrName>style.visibility</p:attrName>
                                        </p:attrNameLst>
                                      </p:cBhvr>
                                      <p:to>
                                        <p:strVal val="visible"/>
                                      </p:to>
                                    </p:set>
                                    <p:animEffect transition="in" filter="fade">
                                      <p:cBhvr>
                                        <p:cTn id="34" dur="500"/>
                                        <p:tgtEl>
                                          <p:spTgt spid="8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3"/>
                                        </p:tgtEl>
                                        <p:attrNameLst>
                                          <p:attrName>style.visibility</p:attrName>
                                        </p:attrNameLst>
                                      </p:cBhvr>
                                      <p:to>
                                        <p:strVal val="visible"/>
                                      </p:to>
                                    </p:set>
                                    <p:animEffect transition="in" filter="fade">
                                      <p:cBhvr>
                                        <p:cTn id="39" dur="500"/>
                                        <p:tgtEl>
                                          <p:spTgt spid="9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4"/>
                                        </p:tgtEl>
                                        <p:attrNameLst>
                                          <p:attrName>style.visibility</p:attrName>
                                        </p:attrNameLst>
                                      </p:cBhvr>
                                      <p:to>
                                        <p:strVal val="visible"/>
                                      </p:to>
                                    </p:set>
                                    <p:animEffect transition="in" filter="fade">
                                      <p:cBhvr>
                                        <p:cTn id="42" dur="500"/>
                                        <p:tgtEl>
                                          <p:spTgt spid="9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fade">
                                      <p:cBhvr>
                                        <p:cTn id="45" dur="500"/>
                                        <p:tgtEl>
                                          <p:spTgt spid="9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96"/>
                                        </p:tgtEl>
                                        <p:attrNameLst>
                                          <p:attrName>style.visibility</p:attrName>
                                        </p:attrNameLst>
                                      </p:cBhvr>
                                      <p:to>
                                        <p:strVal val="visible"/>
                                      </p:to>
                                    </p:set>
                                    <p:animEffect transition="in" filter="fade">
                                      <p:cBhvr>
                                        <p:cTn id="48" dur="500"/>
                                        <p:tgtEl>
                                          <p:spTgt spid="9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7"/>
                                        </p:tgtEl>
                                        <p:attrNameLst>
                                          <p:attrName>style.visibility</p:attrName>
                                        </p:attrNameLst>
                                      </p:cBhvr>
                                      <p:to>
                                        <p:strVal val="visible"/>
                                      </p:to>
                                    </p:set>
                                    <p:animEffect transition="in" filter="fade">
                                      <p:cBhvr>
                                        <p:cTn id="51" dur="500"/>
                                        <p:tgtEl>
                                          <p:spTgt spid="9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8"/>
                                        </p:tgtEl>
                                        <p:attrNameLst>
                                          <p:attrName>style.visibility</p:attrName>
                                        </p:attrNameLst>
                                      </p:cBhvr>
                                      <p:to>
                                        <p:strVal val="visible"/>
                                      </p:to>
                                    </p:set>
                                    <p:animEffect transition="in" filter="fade">
                                      <p:cBhvr>
                                        <p:cTn id="54" dur="500"/>
                                        <p:tgtEl>
                                          <p:spTgt spid="9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9"/>
                                        </p:tgtEl>
                                        <p:attrNameLst>
                                          <p:attrName>style.visibility</p:attrName>
                                        </p:attrNameLst>
                                      </p:cBhvr>
                                      <p:to>
                                        <p:strVal val="visible"/>
                                      </p:to>
                                    </p:set>
                                    <p:animEffect transition="in" filter="fade">
                                      <p:cBhvr>
                                        <p:cTn id="57" dur="500"/>
                                        <p:tgtEl>
                                          <p:spTgt spid="9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00"/>
                                        </p:tgtEl>
                                        <p:attrNameLst>
                                          <p:attrName>style.visibility</p:attrName>
                                        </p:attrNameLst>
                                      </p:cBhvr>
                                      <p:to>
                                        <p:strVal val="visible"/>
                                      </p:to>
                                    </p:set>
                                    <p:animEffect transition="in" filter="fade">
                                      <p:cBhvr>
                                        <p:cTn id="60"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bldLvl="0" animBg="1"/>
      <p:bldP spid="81" grpId="0" bldLvl="0" animBg="1"/>
      <p:bldP spid="82" grpId="0" bldLvl="0" animBg="1"/>
      <p:bldP spid="83" grpId="0" bldLvl="0" animBg="1"/>
      <p:bldP spid="84" grpId="0" bldLvl="0" animBg="1"/>
      <p:bldP spid="85" grpId="0" bldLvl="0" animBg="1"/>
      <p:bldP spid="86" grpId="0" bldLvl="0" animBg="1"/>
      <p:bldP spid="87" grpId="0" bldLvl="0" animBg="1"/>
      <p:bldP spid="88" grpId="0" bldLvl="0" animBg="1"/>
      <p:bldP spid="89" grpId="0" bldLvl="0" animBg="1"/>
      <p:bldP spid="93" grpId="0" bldLvl="0" animBg="1"/>
      <p:bldP spid="94" grpId="0" bldLvl="0" animBg="1"/>
      <p:bldP spid="95" grpId="0" bldLvl="0" animBg="1"/>
      <p:bldP spid="96" grpId="0" bldLvl="0" animBg="1"/>
      <p:bldP spid="97" grpId="0" bldLvl="0" animBg="1"/>
      <p:bldP spid="98" grpId="0" bldLvl="0" animBg="1"/>
      <p:bldP spid="99" grpId="0" bldLvl="0" animBg="1"/>
      <p:bldP spid="100"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BDE"/>
        </a:solidFill>
        <a:effectLst/>
      </p:bgPr>
    </p:bg>
    <p:spTree>
      <p:nvGrpSpPr>
        <p:cNvPr id="1" name=""/>
        <p:cNvGrpSpPr/>
        <p:nvPr/>
      </p:nvGrpSpPr>
      <p:grpSpPr/>
      <p:sp>
        <p:nvSpPr>
          <p:cNvPr id="2" name="Rectangle 1"/>
          <p:cNvSpPr>
            <a:spLocks noGrp="1"/>
          </p:cNvSpPr>
          <p:nvPr/>
        </p:nvSpPr>
        <p:spPr>
          <a:xfrm>
            <a:off x="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 name="Rectangle 2"/>
          <p:cNvSpPr>
            <a:spLocks noGrp="1"/>
          </p:cNvSpPr>
          <p:nvPr/>
        </p:nvSpPr>
        <p:spPr>
          <a:xfrm>
            <a:off x="3474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 name="Rectangle 3"/>
          <p:cNvSpPr>
            <a:spLocks noGrp="1"/>
          </p:cNvSpPr>
          <p:nvPr/>
        </p:nvSpPr>
        <p:spPr>
          <a:xfrm>
            <a:off x="6949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 name="Rectangle 4"/>
          <p:cNvSpPr>
            <a:spLocks noGrp="1"/>
          </p:cNvSpPr>
          <p:nvPr/>
        </p:nvSpPr>
        <p:spPr>
          <a:xfrm>
            <a:off x="10424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 name="Rectangle 5"/>
          <p:cNvSpPr>
            <a:spLocks noGrp="1"/>
          </p:cNvSpPr>
          <p:nvPr/>
        </p:nvSpPr>
        <p:spPr>
          <a:xfrm>
            <a:off x="13898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 name="Rectangle 6"/>
          <p:cNvSpPr>
            <a:spLocks noGrp="1"/>
          </p:cNvSpPr>
          <p:nvPr/>
        </p:nvSpPr>
        <p:spPr>
          <a:xfrm>
            <a:off x="17373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8" name="Rectangle 7"/>
          <p:cNvSpPr>
            <a:spLocks noGrp="1"/>
          </p:cNvSpPr>
          <p:nvPr/>
        </p:nvSpPr>
        <p:spPr>
          <a:xfrm>
            <a:off x="208483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9" name="Rectangle 8"/>
          <p:cNvSpPr>
            <a:spLocks noGrp="1"/>
          </p:cNvSpPr>
          <p:nvPr/>
        </p:nvSpPr>
        <p:spPr>
          <a:xfrm>
            <a:off x="243230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0" name="Rectangle 9"/>
          <p:cNvSpPr>
            <a:spLocks noGrp="1"/>
          </p:cNvSpPr>
          <p:nvPr/>
        </p:nvSpPr>
        <p:spPr>
          <a:xfrm>
            <a:off x="277977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1" name="Rectangle 10"/>
          <p:cNvSpPr>
            <a:spLocks noGrp="1"/>
          </p:cNvSpPr>
          <p:nvPr/>
        </p:nvSpPr>
        <p:spPr>
          <a:xfrm>
            <a:off x="312724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2" name="Rectangle 11"/>
          <p:cNvSpPr>
            <a:spLocks noGrp="1"/>
          </p:cNvSpPr>
          <p:nvPr/>
        </p:nvSpPr>
        <p:spPr>
          <a:xfrm>
            <a:off x="347471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3" name="Rectangle 12"/>
          <p:cNvSpPr>
            <a:spLocks noGrp="1"/>
          </p:cNvSpPr>
          <p:nvPr/>
        </p:nvSpPr>
        <p:spPr>
          <a:xfrm>
            <a:off x="382219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4" name="Rectangle 13"/>
          <p:cNvSpPr>
            <a:spLocks noGrp="1"/>
          </p:cNvSpPr>
          <p:nvPr/>
        </p:nvSpPr>
        <p:spPr>
          <a:xfrm>
            <a:off x="416966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5" name="Rectangle 14"/>
          <p:cNvSpPr>
            <a:spLocks noGrp="1"/>
          </p:cNvSpPr>
          <p:nvPr/>
        </p:nvSpPr>
        <p:spPr>
          <a:xfrm>
            <a:off x="451713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6" name="Rectangle 15"/>
          <p:cNvSpPr>
            <a:spLocks noGrp="1"/>
          </p:cNvSpPr>
          <p:nvPr/>
        </p:nvSpPr>
        <p:spPr>
          <a:xfrm>
            <a:off x="486460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7" name="Rectangle 16"/>
          <p:cNvSpPr>
            <a:spLocks noGrp="1"/>
          </p:cNvSpPr>
          <p:nvPr/>
        </p:nvSpPr>
        <p:spPr>
          <a:xfrm>
            <a:off x="521207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8" name="Rectangle 17"/>
          <p:cNvSpPr>
            <a:spLocks noGrp="1"/>
          </p:cNvSpPr>
          <p:nvPr/>
        </p:nvSpPr>
        <p:spPr>
          <a:xfrm>
            <a:off x="555955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9" name="Rectangle 18"/>
          <p:cNvSpPr>
            <a:spLocks noGrp="1"/>
          </p:cNvSpPr>
          <p:nvPr/>
        </p:nvSpPr>
        <p:spPr>
          <a:xfrm>
            <a:off x="590702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0" name="Rectangle 19"/>
          <p:cNvSpPr>
            <a:spLocks noGrp="1"/>
          </p:cNvSpPr>
          <p:nvPr/>
        </p:nvSpPr>
        <p:spPr>
          <a:xfrm>
            <a:off x="625449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1" name="Rectangle 20"/>
          <p:cNvSpPr>
            <a:spLocks noGrp="1"/>
          </p:cNvSpPr>
          <p:nvPr/>
        </p:nvSpPr>
        <p:spPr>
          <a:xfrm>
            <a:off x="660196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2" name="Rectangle 21"/>
          <p:cNvSpPr>
            <a:spLocks noGrp="1"/>
          </p:cNvSpPr>
          <p:nvPr/>
        </p:nvSpPr>
        <p:spPr>
          <a:xfrm>
            <a:off x="694943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3" name="Rectangle 22"/>
          <p:cNvSpPr>
            <a:spLocks noGrp="1"/>
          </p:cNvSpPr>
          <p:nvPr/>
        </p:nvSpPr>
        <p:spPr>
          <a:xfrm>
            <a:off x="729691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4" name="Rectangle 23"/>
          <p:cNvSpPr>
            <a:spLocks noGrp="1"/>
          </p:cNvSpPr>
          <p:nvPr/>
        </p:nvSpPr>
        <p:spPr>
          <a:xfrm>
            <a:off x="764438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5" name="Rectangle 24"/>
          <p:cNvSpPr>
            <a:spLocks noGrp="1"/>
          </p:cNvSpPr>
          <p:nvPr/>
        </p:nvSpPr>
        <p:spPr>
          <a:xfrm>
            <a:off x="799185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6" name="Rectangle 25"/>
          <p:cNvSpPr>
            <a:spLocks noGrp="1"/>
          </p:cNvSpPr>
          <p:nvPr/>
        </p:nvSpPr>
        <p:spPr>
          <a:xfrm>
            <a:off x="833932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7" name="Rectangle 26"/>
          <p:cNvSpPr>
            <a:spLocks noGrp="1"/>
          </p:cNvSpPr>
          <p:nvPr/>
        </p:nvSpPr>
        <p:spPr>
          <a:xfrm>
            <a:off x="868680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8" name="Rectangle 27"/>
          <p:cNvSpPr>
            <a:spLocks noGrp="1"/>
          </p:cNvSpPr>
          <p:nvPr/>
        </p:nvSpPr>
        <p:spPr>
          <a:xfrm>
            <a:off x="90342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9" name="Rectangle 28"/>
          <p:cNvSpPr>
            <a:spLocks noGrp="1"/>
          </p:cNvSpPr>
          <p:nvPr/>
        </p:nvSpPr>
        <p:spPr>
          <a:xfrm>
            <a:off x="93817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0" name="Rectangle 29"/>
          <p:cNvSpPr>
            <a:spLocks noGrp="1"/>
          </p:cNvSpPr>
          <p:nvPr/>
        </p:nvSpPr>
        <p:spPr>
          <a:xfrm>
            <a:off x="97292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1" name="Rectangle 30"/>
          <p:cNvSpPr>
            <a:spLocks noGrp="1"/>
          </p:cNvSpPr>
          <p:nvPr/>
        </p:nvSpPr>
        <p:spPr>
          <a:xfrm>
            <a:off x="100766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2" name="Rectangle 31"/>
          <p:cNvSpPr>
            <a:spLocks noGrp="1"/>
          </p:cNvSpPr>
          <p:nvPr/>
        </p:nvSpPr>
        <p:spPr>
          <a:xfrm>
            <a:off x="104241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3" name="Rectangle 32"/>
          <p:cNvSpPr>
            <a:spLocks noGrp="1"/>
          </p:cNvSpPr>
          <p:nvPr/>
        </p:nvSpPr>
        <p:spPr>
          <a:xfrm>
            <a:off x="1077163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4" name="Rectangle 33"/>
          <p:cNvSpPr>
            <a:spLocks noGrp="1"/>
          </p:cNvSpPr>
          <p:nvPr/>
        </p:nvSpPr>
        <p:spPr>
          <a:xfrm>
            <a:off x="1111910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5" name="Rectangle 34"/>
          <p:cNvSpPr>
            <a:spLocks noGrp="1"/>
          </p:cNvSpPr>
          <p:nvPr/>
        </p:nvSpPr>
        <p:spPr>
          <a:xfrm>
            <a:off x="1146657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6" name="Rectangle 35"/>
          <p:cNvSpPr>
            <a:spLocks noGrp="1"/>
          </p:cNvSpPr>
          <p:nvPr/>
        </p:nvSpPr>
        <p:spPr>
          <a:xfrm>
            <a:off x="1181404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7" name="Rectangle 36"/>
          <p:cNvSpPr>
            <a:spLocks noGrp="1"/>
          </p:cNvSpPr>
          <p:nvPr/>
        </p:nvSpPr>
        <p:spPr>
          <a:xfrm>
            <a:off x="1216152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8" name="Rectangle 37"/>
          <p:cNvSpPr>
            <a:spLocks noGrp="1"/>
          </p:cNvSpPr>
          <p:nvPr/>
        </p:nvSpPr>
        <p:spPr>
          <a:xfrm>
            <a:off x="0" y="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9" name="Rectangle 38"/>
          <p:cNvSpPr>
            <a:spLocks noGrp="1"/>
          </p:cNvSpPr>
          <p:nvPr/>
        </p:nvSpPr>
        <p:spPr>
          <a:xfrm>
            <a:off x="0" y="347472"/>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0" name="Rectangle 39"/>
          <p:cNvSpPr>
            <a:spLocks noGrp="1"/>
          </p:cNvSpPr>
          <p:nvPr/>
        </p:nvSpPr>
        <p:spPr>
          <a:xfrm>
            <a:off x="0" y="694944"/>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1" name="Rectangle 40"/>
          <p:cNvSpPr>
            <a:spLocks noGrp="1"/>
          </p:cNvSpPr>
          <p:nvPr/>
        </p:nvSpPr>
        <p:spPr>
          <a:xfrm>
            <a:off x="0" y="104241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2" name="Rectangle 41"/>
          <p:cNvSpPr>
            <a:spLocks noGrp="1"/>
          </p:cNvSpPr>
          <p:nvPr/>
        </p:nvSpPr>
        <p:spPr>
          <a:xfrm>
            <a:off x="0" y="1389888"/>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3" name="Rectangle 42"/>
          <p:cNvSpPr>
            <a:spLocks noGrp="1"/>
          </p:cNvSpPr>
          <p:nvPr/>
        </p:nvSpPr>
        <p:spPr>
          <a:xfrm>
            <a:off x="0" y="173736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4" name="Rectangle 43"/>
          <p:cNvSpPr>
            <a:spLocks noGrp="1"/>
          </p:cNvSpPr>
          <p:nvPr/>
        </p:nvSpPr>
        <p:spPr>
          <a:xfrm>
            <a:off x="0" y="208483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5" name="Rectangle 44"/>
          <p:cNvSpPr>
            <a:spLocks noGrp="1"/>
          </p:cNvSpPr>
          <p:nvPr/>
        </p:nvSpPr>
        <p:spPr>
          <a:xfrm>
            <a:off x="0" y="243230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6" name="Rectangle 45"/>
          <p:cNvSpPr>
            <a:spLocks noGrp="1"/>
          </p:cNvSpPr>
          <p:nvPr/>
        </p:nvSpPr>
        <p:spPr>
          <a:xfrm>
            <a:off x="0" y="277977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7" name="Rectangle 46"/>
          <p:cNvSpPr>
            <a:spLocks noGrp="1"/>
          </p:cNvSpPr>
          <p:nvPr/>
        </p:nvSpPr>
        <p:spPr>
          <a:xfrm>
            <a:off x="0" y="312724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8" name="Rectangle 47"/>
          <p:cNvSpPr>
            <a:spLocks noGrp="1"/>
          </p:cNvSpPr>
          <p:nvPr/>
        </p:nvSpPr>
        <p:spPr>
          <a:xfrm>
            <a:off x="0" y="347471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9" name="Rectangle 48"/>
          <p:cNvSpPr>
            <a:spLocks noGrp="1"/>
          </p:cNvSpPr>
          <p:nvPr/>
        </p:nvSpPr>
        <p:spPr>
          <a:xfrm>
            <a:off x="0" y="382219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0" name="Rectangle 49"/>
          <p:cNvSpPr>
            <a:spLocks noGrp="1"/>
          </p:cNvSpPr>
          <p:nvPr/>
        </p:nvSpPr>
        <p:spPr>
          <a:xfrm>
            <a:off x="0" y="416966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1" name="Rectangle 50"/>
          <p:cNvSpPr>
            <a:spLocks noGrp="1"/>
          </p:cNvSpPr>
          <p:nvPr/>
        </p:nvSpPr>
        <p:spPr>
          <a:xfrm>
            <a:off x="0" y="451713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2" name="Rectangle 51"/>
          <p:cNvSpPr>
            <a:spLocks noGrp="1"/>
          </p:cNvSpPr>
          <p:nvPr/>
        </p:nvSpPr>
        <p:spPr>
          <a:xfrm>
            <a:off x="0" y="486460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3" name="Rectangle 52"/>
          <p:cNvSpPr>
            <a:spLocks noGrp="1"/>
          </p:cNvSpPr>
          <p:nvPr/>
        </p:nvSpPr>
        <p:spPr>
          <a:xfrm>
            <a:off x="0" y="521207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4" name="Rectangle 53"/>
          <p:cNvSpPr>
            <a:spLocks noGrp="1"/>
          </p:cNvSpPr>
          <p:nvPr/>
        </p:nvSpPr>
        <p:spPr>
          <a:xfrm>
            <a:off x="0" y="555955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5" name="Rectangle 54"/>
          <p:cNvSpPr>
            <a:spLocks noGrp="1"/>
          </p:cNvSpPr>
          <p:nvPr>
            <p:custDataLst>
              <p:tags r:id="rId1"/>
            </p:custDataLst>
          </p:nvPr>
        </p:nvSpPr>
        <p:spPr>
          <a:xfrm>
            <a:off x="0" y="590702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6" name="Rectangle 55"/>
          <p:cNvSpPr>
            <a:spLocks noGrp="1"/>
          </p:cNvSpPr>
          <p:nvPr>
            <p:custDataLst>
              <p:tags r:id="rId2"/>
            </p:custDataLst>
          </p:nvPr>
        </p:nvSpPr>
        <p:spPr>
          <a:xfrm>
            <a:off x="0" y="625449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7" name="Rectangle 56"/>
          <p:cNvSpPr>
            <a:spLocks noGrp="1"/>
          </p:cNvSpPr>
          <p:nvPr/>
        </p:nvSpPr>
        <p:spPr>
          <a:xfrm>
            <a:off x="0" y="660196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8" name="Rectangle 57"/>
          <p:cNvSpPr>
            <a:spLocks noGrp="1"/>
          </p:cNvSpPr>
          <p:nvPr/>
        </p:nvSpPr>
        <p:spPr>
          <a:xfrm>
            <a:off x="292608" y="182880"/>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9" name="Rectangle 58"/>
          <p:cNvSpPr>
            <a:spLocks noGrp="1"/>
          </p:cNvSpPr>
          <p:nvPr/>
        </p:nvSpPr>
        <p:spPr>
          <a:xfrm>
            <a:off x="292608" y="6784848"/>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0" name="TextBox 59"/>
          <p:cNvSpPr>
            <a:spLocks noGrp="1"/>
          </p:cNvSpPr>
          <p:nvPr/>
        </p:nvSpPr>
        <p:spPr>
          <a:xfrm>
            <a:off x="292608" y="246888"/>
            <a:ext cx="7498079" cy="265176"/>
          </a:xfrm>
          <a:prstGeom prst="rect">
            <a:avLst/>
          </a:prstGeom>
          <a:noFill/>
          <a:ln>
            <a:noFill/>
          </a:ln>
        </p:spPr>
        <p:txBody>
          <a:bodyPr wrap="square">
            <a:spAutoFit/>
          </a:bodyPr>
          <a:lstStyle/>
          <a:p>
            <a:pPr algn="l">
              <a:lnSpc>
                <a:spcPct val="120000"/>
              </a:lnSpc>
              <a:buNone/>
            </a:pPr>
            <a:r>
              <a:rPr sz="950" b="1" i="0">
                <a:solidFill>
                  <a:srgbClr val="1F2BE0"/>
                </a:solidFill>
                <a:latin typeface="Consolas" panose="020B0609020204030204"/>
                <a:ea typeface="Consolas" panose="020B0609020204030204"/>
                <a:cs typeface="Consolas" panose="020B0609020204030204"/>
              </a:rPr>
              <a:t>STORY  ·  GROUP GEOGRAPHY  ·  REDRAW BLUEPRINT</a:t>
            </a:r>
            <a:endParaRPr sz="950" b="1" i="0">
              <a:solidFill>
                <a:srgbClr val="1F2BE0"/>
              </a:solidFill>
              <a:latin typeface="Consolas" panose="020B0609020204030204"/>
              <a:ea typeface="Consolas" panose="020B0609020204030204"/>
              <a:cs typeface="Consolas" panose="020B0609020204030204"/>
            </a:endParaRPr>
          </a:p>
        </p:txBody>
      </p:sp>
      <p:sp>
        <p:nvSpPr>
          <p:cNvPr id="61" name="TextBox 60"/>
          <p:cNvSpPr>
            <a:spLocks noGrp="1"/>
          </p:cNvSpPr>
          <p:nvPr/>
        </p:nvSpPr>
        <p:spPr>
          <a:xfrm>
            <a:off x="10607040" y="6510528"/>
            <a:ext cx="1280160" cy="201168"/>
          </a:xfrm>
          <a:prstGeom prst="rect">
            <a:avLst/>
          </a:prstGeom>
          <a:noFill/>
          <a:ln>
            <a:noFill/>
          </a:ln>
        </p:spPr>
        <p:txBody>
          <a:bodyPr wrap="square">
            <a:spAutoFit/>
          </a:bodyPr>
          <a:lstStyle/>
          <a:p>
            <a:pPr algn="r">
              <a:lnSpc>
                <a:spcPct val="120000"/>
              </a:lnSpc>
              <a:buNone/>
            </a:pPr>
            <a:r>
              <a:rPr sz="950" b="0" i="0">
                <a:solidFill>
                  <a:srgbClr val="1F2BE0"/>
                </a:solidFill>
                <a:latin typeface="Consolas" panose="020B0609020204030204"/>
                <a:ea typeface="Consolas" panose="020B0609020204030204"/>
                <a:cs typeface="Consolas" panose="020B0609020204030204"/>
              </a:rPr>
              <a:t>02 / 03</a:t>
            </a:r>
            <a:endParaRPr sz="950" b="0" i="0">
              <a:solidFill>
                <a:srgbClr val="1F2BE0"/>
              </a:solidFill>
              <a:latin typeface="Consolas" panose="020B0609020204030204"/>
              <a:ea typeface="Consolas" panose="020B0609020204030204"/>
              <a:cs typeface="Consolas" panose="020B0609020204030204"/>
            </a:endParaRPr>
          </a:p>
        </p:txBody>
      </p:sp>
      <p:sp>
        <p:nvSpPr>
          <p:cNvPr id="63" name="Rectangle 62"/>
          <p:cNvSpPr>
            <a:spLocks noGrp="1"/>
          </p:cNvSpPr>
          <p:nvPr/>
        </p:nvSpPr>
        <p:spPr>
          <a:xfrm>
            <a:off x="11384280" y="283464"/>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4" name="Rectangle 63"/>
          <p:cNvSpPr>
            <a:spLocks noGrp="1"/>
          </p:cNvSpPr>
          <p:nvPr/>
        </p:nvSpPr>
        <p:spPr>
          <a:xfrm>
            <a:off x="11462004" y="333756"/>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5" name="Rectangle 64"/>
          <p:cNvSpPr>
            <a:spLocks noGrp="1"/>
          </p:cNvSpPr>
          <p:nvPr/>
        </p:nvSpPr>
        <p:spPr>
          <a:xfrm>
            <a:off x="11539728" y="384048"/>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6" name="Rectangle 65"/>
          <p:cNvSpPr>
            <a:spLocks noGrp="1"/>
          </p:cNvSpPr>
          <p:nvPr/>
        </p:nvSpPr>
        <p:spPr>
          <a:xfrm>
            <a:off x="11617452" y="434340"/>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7" name="Rectangle 66"/>
          <p:cNvSpPr>
            <a:spLocks noGrp="1"/>
          </p:cNvSpPr>
          <p:nvPr/>
        </p:nvSpPr>
        <p:spPr>
          <a:xfrm>
            <a:off x="11695176" y="484632"/>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8" name="TextBox 67"/>
          <p:cNvSpPr>
            <a:spLocks noGrp="1"/>
          </p:cNvSpPr>
          <p:nvPr/>
        </p:nvSpPr>
        <p:spPr>
          <a:xfrm>
            <a:off x="292608" y="566928"/>
            <a:ext cx="11521440" cy="757123"/>
          </a:xfrm>
          <a:prstGeom prst="rect">
            <a:avLst/>
          </a:prstGeom>
          <a:noFill/>
          <a:ln>
            <a:noFill/>
          </a:ln>
        </p:spPr>
        <p:txBody>
          <a:bodyPr wrap="square">
            <a:spAutoFit/>
          </a:bodyPr>
          <a:lstStyle/>
          <a:p>
            <a:pPr algn="l">
              <a:lnSpc>
                <a:spcPct val="104000"/>
              </a:lnSpc>
              <a:buNone/>
            </a:pPr>
            <a:r>
              <a:rPr sz="2100" b="0" i="1">
                <a:solidFill>
                  <a:srgbClr val="1F2BE0"/>
                </a:solidFill>
                <a:latin typeface="Georgia" panose="02040502050405020303"/>
                <a:ea typeface="Georgia" panose="02040502050405020303"/>
                <a:cs typeface="Georgia" panose="02040502050405020303"/>
              </a:rPr>
              <a:t>The final groups will reveal whether emissions profiles follow geography.</a:t>
            </a:r>
            <a:endParaRPr sz="2100" b="0" i="1">
              <a:solidFill>
                <a:srgbClr val="1F2BE0"/>
              </a:solidFill>
              <a:latin typeface="Georgia" panose="02040502050405020303"/>
              <a:ea typeface="Georgia" panose="02040502050405020303"/>
              <a:cs typeface="Georgia" panose="02040502050405020303"/>
            </a:endParaRPr>
          </a:p>
        </p:txBody>
      </p:sp>
      <p:sp>
        <p:nvSpPr>
          <p:cNvPr id="69" name="TextBox 68"/>
          <p:cNvSpPr>
            <a:spLocks noGrp="1"/>
          </p:cNvSpPr>
          <p:nvPr/>
        </p:nvSpPr>
        <p:spPr>
          <a:xfrm>
            <a:off x="292608" y="1252728"/>
            <a:ext cx="11384280" cy="56692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1100" i="0">
                <a:solidFill>
                  <a:srgbClr val="1F2BE0"/>
                </a:solidFill>
                <a:latin typeface="Segoe UI" panose="020B0502040204020203" charset="0"/>
                <a:ea typeface="Segoe UI" panose="020B0502040204020203"/>
                <a:cs typeface="Segoe UI" panose="020B0502040204020203" charset="0"/>
              </a:rPr>
              <a:t>Country colour will show the final model group; labels will identify representative countries and regional concentrations.</a:t>
            </a:r>
            <a:endParaRPr sz="1100" i="0">
              <a:solidFill>
                <a:srgbClr val="1F2BE0"/>
              </a:solidFill>
              <a:latin typeface="Segoe UI" panose="020B0502040204020203" charset="0"/>
              <a:ea typeface="Segoe UI" panose="020B0502040204020203"/>
              <a:cs typeface="Segoe UI" panose="020B0502040204020203" charset="0"/>
            </a:endParaRPr>
          </a:p>
        </p:txBody>
      </p:sp>
      <p:sp>
        <p:nvSpPr>
          <p:cNvPr id="70" name="Rectangle 69"/>
          <p:cNvSpPr>
            <a:spLocks noGrp="1"/>
          </p:cNvSpPr>
          <p:nvPr/>
        </p:nvSpPr>
        <p:spPr>
          <a:xfrm>
            <a:off x="1490472" y="1828800"/>
            <a:ext cx="9208008" cy="3941063"/>
          </a:xfrm>
          <a:prstGeom prst="rect">
            <a:avLst/>
          </a:prstGeom>
          <a:solidFill>
            <a:srgbClr val="F0EBD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pic>
        <p:nvPicPr>
          <p:cNvPr id="71" name="图片 70" descr="P3_01_map_dominant_fuel_2021_compact"/>
          <p:cNvPicPr>
            <a:picLocks noChangeAspect="1"/>
          </p:cNvPicPr>
          <p:nvPr/>
        </p:nvPicPr>
        <p:blipFill>
          <a:blip r:embed="rId3"/>
          <a:stretch>
            <a:fillRect/>
          </a:stretch>
        </p:blipFill>
        <p:spPr>
          <a:xfrm>
            <a:off x="1563624" y="1901952"/>
            <a:ext cx="9061704" cy="3787930"/>
          </a:xfrm>
          <a:prstGeom prst="rect">
            <a:avLst/>
          </a:prstGeom>
        </p:spPr>
      </p:pic>
      <p:sp>
        <p:nvSpPr>
          <p:cNvPr id="72" name="Rounded Rectangle 71"/>
          <p:cNvSpPr/>
          <p:nvPr>
            <p:custDataLst>
              <p:tags r:id="rId4"/>
            </p:custDataLst>
          </p:nvPr>
        </p:nvSpPr>
        <p:spPr>
          <a:xfrm>
            <a:off x="384048" y="5870448"/>
            <a:ext cx="5532120" cy="512064"/>
          </a:xfrm>
          <a:prstGeom prst="roundRect">
            <a:avLst/>
          </a:prstGeom>
          <a:solidFill>
            <a:schemeClr val="accent1">
              <a:lumMod val="20000"/>
              <a:lumOff val="80000"/>
              <a:alpha val="60000"/>
            </a:schemeClr>
          </a:solidFill>
          <a:ln w="12700">
            <a:solidFill>
              <a:srgbClr val="1F2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custDataLst>
              <p:tags r:id="rId5"/>
            </p:custDataLst>
          </p:nvPr>
        </p:nvSpPr>
        <p:spPr>
          <a:xfrm>
            <a:off x="530352" y="5934456"/>
            <a:ext cx="1307592" cy="146304"/>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950" b="1">
                <a:solidFill>
                  <a:srgbClr val="1F2BE0"/>
                </a:solidFill>
                <a:latin typeface="Consolas" panose="020B0609020204030204"/>
              </a:rPr>
              <a:t>SPATIAL PATTERN</a:t>
            </a:r>
            <a:endParaRPr sz="950" b="1">
              <a:solidFill>
                <a:srgbClr val="1F2BE0"/>
              </a:solidFill>
              <a:latin typeface="Consolas" panose="020B0609020204030204"/>
            </a:endParaRPr>
          </a:p>
        </p:txBody>
      </p:sp>
      <p:sp>
        <p:nvSpPr>
          <p:cNvPr id="74" name="TextBox 73"/>
          <p:cNvSpPr txBox="1"/>
          <p:nvPr>
            <p:custDataLst>
              <p:tags r:id="rId6"/>
            </p:custDataLst>
          </p:nvPr>
        </p:nvSpPr>
        <p:spPr>
          <a:xfrm>
            <a:off x="1865376" y="5928106"/>
            <a:ext cx="3886200" cy="325120"/>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1000" b="0">
                <a:solidFill>
                  <a:srgbClr val="1F2BE0"/>
                </a:solidFill>
                <a:latin typeface="Segoe UI" panose="020B0502040204020203"/>
              </a:rPr>
              <a:t>Identify regional concentration or geographic mixing after labels are frozen.</a:t>
            </a:r>
            <a:endParaRPr sz="1000" b="0">
              <a:solidFill>
                <a:srgbClr val="1F2BE0"/>
              </a:solidFill>
              <a:latin typeface="Segoe UI" panose="020B0502040204020203"/>
            </a:endParaRPr>
          </a:p>
        </p:txBody>
      </p:sp>
      <p:sp>
        <p:nvSpPr>
          <p:cNvPr id="75" name="Rounded Rectangle 74"/>
          <p:cNvSpPr/>
          <p:nvPr>
            <p:custDataLst>
              <p:tags r:id="rId7"/>
            </p:custDataLst>
          </p:nvPr>
        </p:nvSpPr>
        <p:spPr>
          <a:xfrm>
            <a:off x="6272784" y="5870448"/>
            <a:ext cx="5532120" cy="512064"/>
          </a:xfrm>
          <a:prstGeom prst="roundRect">
            <a:avLst/>
          </a:prstGeom>
          <a:solidFill>
            <a:schemeClr val="accent1">
              <a:lumMod val="20000"/>
              <a:lumOff val="80000"/>
              <a:alpha val="60000"/>
            </a:schemeClr>
          </a:solidFill>
          <a:ln w="12700">
            <a:solidFill>
              <a:srgbClr val="1F2BE0"/>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a:sym typeface="+mn-ea"/>
            </a:endParaRPr>
          </a:p>
        </p:txBody>
      </p:sp>
      <p:sp>
        <p:nvSpPr>
          <p:cNvPr id="76" name="TextBox 75"/>
          <p:cNvSpPr txBox="1"/>
          <p:nvPr>
            <p:custDataLst>
              <p:tags r:id="rId8"/>
            </p:custDataLst>
          </p:nvPr>
        </p:nvSpPr>
        <p:spPr>
          <a:xfrm>
            <a:off x="6419088" y="5934456"/>
            <a:ext cx="1188720" cy="146304"/>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950" b="1">
                <a:solidFill>
                  <a:srgbClr val="1F2BE0"/>
                </a:solidFill>
                <a:latin typeface="Consolas" panose="020B0609020204030204"/>
              </a:rPr>
              <a:t>WHY IT MATTERS</a:t>
            </a:r>
            <a:endParaRPr sz="950" b="1">
              <a:solidFill>
                <a:srgbClr val="1F2BE0"/>
              </a:solidFill>
              <a:latin typeface="Consolas" panose="020B0609020204030204"/>
            </a:endParaRPr>
          </a:p>
        </p:txBody>
      </p:sp>
      <p:sp>
        <p:nvSpPr>
          <p:cNvPr id="77" name="TextBox 76"/>
          <p:cNvSpPr txBox="1"/>
          <p:nvPr>
            <p:custDataLst>
              <p:tags r:id="rId9"/>
            </p:custDataLst>
          </p:nvPr>
        </p:nvSpPr>
        <p:spPr>
          <a:xfrm>
            <a:off x="7662672" y="5909056"/>
            <a:ext cx="3950208" cy="325120"/>
          </a:xfrm>
          <a:prstGeom prst="rect">
            <a:avLst/>
          </a:prstGeom>
          <a:noFill/>
          <a:ln>
            <a:noFill/>
          </a:ln>
        </p:spPr>
        <p:txBody>
          <a:bodyPr wrap="square" lIns="9144" tIns="9144" rIns="9144" bIns="9144" anchor="ctr">
            <a:spAutoFit/>
          </a:bodyPr>
          <a:lstStyle/>
          <a:p>
            <a:pPr algn="l">
              <a:lnSpc>
                <a:spcPct val="100000"/>
              </a:lnSpc>
              <a:spcBef>
                <a:spcPts val="0"/>
              </a:spcBef>
              <a:spcAft>
                <a:spcPts val="0"/>
              </a:spcAft>
            </a:pPr>
            <a:r>
              <a:rPr sz="1000" b="0">
                <a:solidFill>
                  <a:srgbClr val="1F2BE0"/>
                </a:solidFill>
                <a:latin typeface="Segoe UI" panose="020B0502040204020203"/>
              </a:rPr>
              <a:t>Show whether similar emissions profiles cross regions—and whether neighbours differ.</a:t>
            </a:r>
            <a:endParaRPr sz="1000" b="0">
              <a:solidFill>
                <a:srgbClr val="1F2BE0"/>
              </a:solidFill>
              <a:latin typeface="Segoe UI" panose="020B0502040204020203"/>
            </a:endParaRPr>
          </a:p>
        </p:txBody>
      </p:sp>
      <p:sp>
        <p:nvSpPr>
          <p:cNvPr id="78" name="TextBox 61"/>
          <p:cNvSpPr>
            <a:spLocks noGrp="1"/>
          </p:cNvSpPr>
          <p:nvPr/>
        </p:nvSpPr>
        <p:spPr>
          <a:xfrm>
            <a:off x="292608" y="6510528"/>
            <a:ext cx="2743200" cy="20116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880" b="1" i="0">
                <a:solidFill>
                  <a:srgbClr val="607084"/>
                </a:solidFill>
                <a:latin typeface="Consolas" panose="020B0609020204030204" charset="0"/>
                <a:ea typeface="Consolas" panose="020B0609020204030204"/>
                <a:cs typeface="Consolas" panose="020B0609020204030204" charset="0"/>
              </a:rPr>
              <a:t>PREPARED BY · [</a:t>
            </a:r>
            <a:r>
              <a:rPr lang="en-US" sz="880" b="1" i="0">
                <a:solidFill>
                  <a:srgbClr val="607084"/>
                </a:solidFill>
                <a:latin typeface="Consolas" panose="020B0609020204030204" charset="0"/>
                <a:ea typeface="Consolas" panose="020B0609020204030204"/>
                <a:cs typeface="Consolas" panose="020B0609020204030204" charset="0"/>
              </a:rPr>
              <a:t>SHEN RUITING</a:t>
            </a:r>
            <a:r>
              <a:rPr sz="880" b="1" i="0">
                <a:solidFill>
                  <a:srgbClr val="607084"/>
                </a:solidFill>
                <a:latin typeface="Consolas" panose="020B0609020204030204" charset="0"/>
                <a:ea typeface="Consolas" panose="020B0609020204030204"/>
                <a:cs typeface="Consolas" panose="020B0609020204030204" charset="0"/>
              </a:rPr>
              <a:t>]</a:t>
            </a:r>
            <a:endParaRPr sz="880" b="1" i="0">
              <a:solidFill>
                <a:srgbClr val="607084"/>
              </a:solidFill>
              <a:latin typeface="Consolas" panose="020B0609020204030204" charset="0"/>
              <a:ea typeface="Consolas" panose="020B0609020204030204"/>
              <a:cs typeface="Consolas" panose="020B0609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BDE"/>
        </a:solidFill>
        <a:effectLst/>
      </p:bgPr>
    </p:bg>
    <p:spTree>
      <p:nvGrpSpPr>
        <p:cNvPr id="1" name=""/>
        <p:cNvGrpSpPr/>
        <p:nvPr/>
      </p:nvGrpSpPr>
      <p:grpSpPr/>
      <p:sp>
        <p:nvSpPr>
          <p:cNvPr id="2" name="Rectangle 1"/>
          <p:cNvSpPr>
            <a:spLocks noGrp="1"/>
          </p:cNvSpPr>
          <p:nvPr/>
        </p:nvSpPr>
        <p:spPr>
          <a:xfrm>
            <a:off x="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 name="Rectangle 2"/>
          <p:cNvSpPr>
            <a:spLocks noGrp="1"/>
          </p:cNvSpPr>
          <p:nvPr/>
        </p:nvSpPr>
        <p:spPr>
          <a:xfrm>
            <a:off x="3474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 name="Rectangle 3"/>
          <p:cNvSpPr>
            <a:spLocks noGrp="1"/>
          </p:cNvSpPr>
          <p:nvPr/>
        </p:nvSpPr>
        <p:spPr>
          <a:xfrm>
            <a:off x="6949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 name="Rectangle 4"/>
          <p:cNvSpPr>
            <a:spLocks noGrp="1"/>
          </p:cNvSpPr>
          <p:nvPr/>
        </p:nvSpPr>
        <p:spPr>
          <a:xfrm>
            <a:off x="10424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 name="Rectangle 5"/>
          <p:cNvSpPr>
            <a:spLocks noGrp="1"/>
          </p:cNvSpPr>
          <p:nvPr/>
        </p:nvSpPr>
        <p:spPr>
          <a:xfrm>
            <a:off x="13898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7" name="Rectangle 6"/>
          <p:cNvSpPr>
            <a:spLocks noGrp="1"/>
          </p:cNvSpPr>
          <p:nvPr/>
        </p:nvSpPr>
        <p:spPr>
          <a:xfrm>
            <a:off x="17373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8" name="Rectangle 7"/>
          <p:cNvSpPr>
            <a:spLocks noGrp="1"/>
          </p:cNvSpPr>
          <p:nvPr/>
        </p:nvSpPr>
        <p:spPr>
          <a:xfrm>
            <a:off x="208483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9" name="Rectangle 8"/>
          <p:cNvSpPr>
            <a:spLocks noGrp="1"/>
          </p:cNvSpPr>
          <p:nvPr/>
        </p:nvSpPr>
        <p:spPr>
          <a:xfrm>
            <a:off x="243230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0" name="Rectangle 9"/>
          <p:cNvSpPr>
            <a:spLocks noGrp="1"/>
          </p:cNvSpPr>
          <p:nvPr/>
        </p:nvSpPr>
        <p:spPr>
          <a:xfrm>
            <a:off x="277977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1" name="Rectangle 10"/>
          <p:cNvSpPr>
            <a:spLocks noGrp="1"/>
          </p:cNvSpPr>
          <p:nvPr/>
        </p:nvSpPr>
        <p:spPr>
          <a:xfrm>
            <a:off x="312724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2" name="Rectangle 11"/>
          <p:cNvSpPr>
            <a:spLocks noGrp="1"/>
          </p:cNvSpPr>
          <p:nvPr/>
        </p:nvSpPr>
        <p:spPr>
          <a:xfrm>
            <a:off x="347471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3" name="Rectangle 12"/>
          <p:cNvSpPr>
            <a:spLocks noGrp="1"/>
          </p:cNvSpPr>
          <p:nvPr/>
        </p:nvSpPr>
        <p:spPr>
          <a:xfrm>
            <a:off x="382219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4" name="Rectangle 13"/>
          <p:cNvSpPr>
            <a:spLocks noGrp="1"/>
          </p:cNvSpPr>
          <p:nvPr/>
        </p:nvSpPr>
        <p:spPr>
          <a:xfrm>
            <a:off x="416966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5" name="Rectangle 14"/>
          <p:cNvSpPr>
            <a:spLocks noGrp="1"/>
          </p:cNvSpPr>
          <p:nvPr/>
        </p:nvSpPr>
        <p:spPr>
          <a:xfrm>
            <a:off x="451713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6" name="Rectangle 15"/>
          <p:cNvSpPr>
            <a:spLocks noGrp="1"/>
          </p:cNvSpPr>
          <p:nvPr/>
        </p:nvSpPr>
        <p:spPr>
          <a:xfrm>
            <a:off x="486460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7" name="Rectangle 16"/>
          <p:cNvSpPr>
            <a:spLocks noGrp="1"/>
          </p:cNvSpPr>
          <p:nvPr/>
        </p:nvSpPr>
        <p:spPr>
          <a:xfrm>
            <a:off x="521207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8" name="Rectangle 17"/>
          <p:cNvSpPr>
            <a:spLocks noGrp="1"/>
          </p:cNvSpPr>
          <p:nvPr/>
        </p:nvSpPr>
        <p:spPr>
          <a:xfrm>
            <a:off x="555955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19" name="Rectangle 18"/>
          <p:cNvSpPr>
            <a:spLocks noGrp="1"/>
          </p:cNvSpPr>
          <p:nvPr/>
        </p:nvSpPr>
        <p:spPr>
          <a:xfrm>
            <a:off x="590702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0" name="Rectangle 19"/>
          <p:cNvSpPr>
            <a:spLocks noGrp="1"/>
          </p:cNvSpPr>
          <p:nvPr/>
        </p:nvSpPr>
        <p:spPr>
          <a:xfrm>
            <a:off x="6254495"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1" name="Rectangle 20"/>
          <p:cNvSpPr>
            <a:spLocks noGrp="1"/>
          </p:cNvSpPr>
          <p:nvPr/>
        </p:nvSpPr>
        <p:spPr>
          <a:xfrm>
            <a:off x="6601967"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2" name="Rectangle 21"/>
          <p:cNvSpPr>
            <a:spLocks noGrp="1"/>
          </p:cNvSpPr>
          <p:nvPr/>
        </p:nvSpPr>
        <p:spPr>
          <a:xfrm>
            <a:off x="6949439"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3" name="Rectangle 22"/>
          <p:cNvSpPr>
            <a:spLocks noGrp="1"/>
          </p:cNvSpPr>
          <p:nvPr/>
        </p:nvSpPr>
        <p:spPr>
          <a:xfrm>
            <a:off x="7296911"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4" name="Rectangle 23"/>
          <p:cNvSpPr>
            <a:spLocks noGrp="1"/>
          </p:cNvSpPr>
          <p:nvPr/>
        </p:nvSpPr>
        <p:spPr>
          <a:xfrm>
            <a:off x="7644383"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5" name="Rectangle 24"/>
          <p:cNvSpPr>
            <a:spLocks noGrp="1"/>
          </p:cNvSpPr>
          <p:nvPr/>
        </p:nvSpPr>
        <p:spPr>
          <a:xfrm>
            <a:off x="799185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6" name="Rectangle 25"/>
          <p:cNvSpPr>
            <a:spLocks noGrp="1"/>
          </p:cNvSpPr>
          <p:nvPr/>
        </p:nvSpPr>
        <p:spPr>
          <a:xfrm>
            <a:off x="833932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7" name="Rectangle 26"/>
          <p:cNvSpPr>
            <a:spLocks noGrp="1"/>
          </p:cNvSpPr>
          <p:nvPr/>
        </p:nvSpPr>
        <p:spPr>
          <a:xfrm>
            <a:off x="868680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8" name="Rectangle 27"/>
          <p:cNvSpPr>
            <a:spLocks noGrp="1"/>
          </p:cNvSpPr>
          <p:nvPr/>
        </p:nvSpPr>
        <p:spPr>
          <a:xfrm>
            <a:off x="903427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29" name="Rectangle 28"/>
          <p:cNvSpPr>
            <a:spLocks noGrp="1"/>
          </p:cNvSpPr>
          <p:nvPr/>
        </p:nvSpPr>
        <p:spPr>
          <a:xfrm>
            <a:off x="938174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0" name="Rectangle 29"/>
          <p:cNvSpPr>
            <a:spLocks noGrp="1"/>
          </p:cNvSpPr>
          <p:nvPr/>
        </p:nvSpPr>
        <p:spPr>
          <a:xfrm>
            <a:off x="972921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1" name="Rectangle 30"/>
          <p:cNvSpPr>
            <a:spLocks noGrp="1"/>
          </p:cNvSpPr>
          <p:nvPr/>
        </p:nvSpPr>
        <p:spPr>
          <a:xfrm>
            <a:off x="1007668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2" name="Rectangle 31"/>
          <p:cNvSpPr>
            <a:spLocks noGrp="1"/>
          </p:cNvSpPr>
          <p:nvPr/>
        </p:nvSpPr>
        <p:spPr>
          <a:xfrm>
            <a:off x="1042416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3" name="Rectangle 32"/>
          <p:cNvSpPr>
            <a:spLocks noGrp="1"/>
          </p:cNvSpPr>
          <p:nvPr/>
        </p:nvSpPr>
        <p:spPr>
          <a:xfrm>
            <a:off x="10771632"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4" name="Rectangle 33"/>
          <p:cNvSpPr>
            <a:spLocks noGrp="1"/>
          </p:cNvSpPr>
          <p:nvPr/>
        </p:nvSpPr>
        <p:spPr>
          <a:xfrm>
            <a:off x="11119104"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5" name="Rectangle 34"/>
          <p:cNvSpPr>
            <a:spLocks noGrp="1"/>
          </p:cNvSpPr>
          <p:nvPr/>
        </p:nvSpPr>
        <p:spPr>
          <a:xfrm>
            <a:off x="11466576"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6" name="Rectangle 35"/>
          <p:cNvSpPr>
            <a:spLocks noGrp="1"/>
          </p:cNvSpPr>
          <p:nvPr/>
        </p:nvSpPr>
        <p:spPr>
          <a:xfrm>
            <a:off x="11814048"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7" name="Rectangle 36"/>
          <p:cNvSpPr>
            <a:spLocks noGrp="1"/>
          </p:cNvSpPr>
          <p:nvPr/>
        </p:nvSpPr>
        <p:spPr>
          <a:xfrm>
            <a:off x="12161520" y="0"/>
            <a:ext cx="6500" cy="68580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8" name="Rectangle 37"/>
          <p:cNvSpPr>
            <a:spLocks noGrp="1"/>
          </p:cNvSpPr>
          <p:nvPr/>
        </p:nvSpPr>
        <p:spPr>
          <a:xfrm>
            <a:off x="0" y="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39" name="Rectangle 38"/>
          <p:cNvSpPr>
            <a:spLocks noGrp="1"/>
          </p:cNvSpPr>
          <p:nvPr/>
        </p:nvSpPr>
        <p:spPr>
          <a:xfrm>
            <a:off x="0" y="347472"/>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0" name="Rectangle 39"/>
          <p:cNvSpPr>
            <a:spLocks noGrp="1"/>
          </p:cNvSpPr>
          <p:nvPr/>
        </p:nvSpPr>
        <p:spPr>
          <a:xfrm>
            <a:off x="0" y="694944"/>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1" name="Rectangle 40"/>
          <p:cNvSpPr>
            <a:spLocks noGrp="1"/>
          </p:cNvSpPr>
          <p:nvPr/>
        </p:nvSpPr>
        <p:spPr>
          <a:xfrm>
            <a:off x="0" y="104241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2" name="Rectangle 41"/>
          <p:cNvSpPr>
            <a:spLocks noGrp="1"/>
          </p:cNvSpPr>
          <p:nvPr/>
        </p:nvSpPr>
        <p:spPr>
          <a:xfrm>
            <a:off x="0" y="1389888"/>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3" name="Rectangle 42"/>
          <p:cNvSpPr>
            <a:spLocks noGrp="1"/>
          </p:cNvSpPr>
          <p:nvPr/>
        </p:nvSpPr>
        <p:spPr>
          <a:xfrm>
            <a:off x="0" y="1737360"/>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4" name="Rectangle 43"/>
          <p:cNvSpPr>
            <a:spLocks noGrp="1"/>
          </p:cNvSpPr>
          <p:nvPr/>
        </p:nvSpPr>
        <p:spPr>
          <a:xfrm>
            <a:off x="0" y="208483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5" name="Rectangle 44"/>
          <p:cNvSpPr>
            <a:spLocks noGrp="1"/>
          </p:cNvSpPr>
          <p:nvPr/>
        </p:nvSpPr>
        <p:spPr>
          <a:xfrm>
            <a:off x="0" y="243230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6" name="Rectangle 45"/>
          <p:cNvSpPr>
            <a:spLocks noGrp="1"/>
          </p:cNvSpPr>
          <p:nvPr/>
        </p:nvSpPr>
        <p:spPr>
          <a:xfrm>
            <a:off x="0" y="277977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7" name="Rectangle 46"/>
          <p:cNvSpPr>
            <a:spLocks noGrp="1"/>
          </p:cNvSpPr>
          <p:nvPr/>
        </p:nvSpPr>
        <p:spPr>
          <a:xfrm>
            <a:off x="0" y="312724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8" name="Rectangle 47"/>
          <p:cNvSpPr>
            <a:spLocks noGrp="1"/>
          </p:cNvSpPr>
          <p:nvPr/>
        </p:nvSpPr>
        <p:spPr>
          <a:xfrm>
            <a:off x="0" y="347471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49" name="Rectangle 48"/>
          <p:cNvSpPr>
            <a:spLocks noGrp="1"/>
          </p:cNvSpPr>
          <p:nvPr/>
        </p:nvSpPr>
        <p:spPr>
          <a:xfrm>
            <a:off x="0" y="382219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0" name="Rectangle 49"/>
          <p:cNvSpPr>
            <a:spLocks noGrp="1"/>
          </p:cNvSpPr>
          <p:nvPr/>
        </p:nvSpPr>
        <p:spPr>
          <a:xfrm>
            <a:off x="0" y="416966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1" name="Rectangle 50"/>
          <p:cNvSpPr>
            <a:spLocks noGrp="1"/>
          </p:cNvSpPr>
          <p:nvPr/>
        </p:nvSpPr>
        <p:spPr>
          <a:xfrm>
            <a:off x="0" y="4517136"/>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2" name="Rectangle 51"/>
          <p:cNvSpPr>
            <a:spLocks noGrp="1"/>
          </p:cNvSpPr>
          <p:nvPr/>
        </p:nvSpPr>
        <p:spPr>
          <a:xfrm>
            <a:off x="0" y="486460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3" name="Rectangle 52"/>
          <p:cNvSpPr>
            <a:spLocks noGrp="1"/>
          </p:cNvSpPr>
          <p:nvPr/>
        </p:nvSpPr>
        <p:spPr>
          <a:xfrm>
            <a:off x="0" y="5212079"/>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4" name="Rectangle 53"/>
          <p:cNvSpPr>
            <a:spLocks noGrp="1"/>
          </p:cNvSpPr>
          <p:nvPr/>
        </p:nvSpPr>
        <p:spPr>
          <a:xfrm>
            <a:off x="0" y="5559551"/>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5" name="Rectangle 54"/>
          <p:cNvSpPr>
            <a:spLocks noGrp="1"/>
          </p:cNvSpPr>
          <p:nvPr/>
        </p:nvSpPr>
        <p:spPr>
          <a:xfrm>
            <a:off x="0" y="5907023"/>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6" name="Rectangle 55"/>
          <p:cNvSpPr>
            <a:spLocks noGrp="1"/>
          </p:cNvSpPr>
          <p:nvPr/>
        </p:nvSpPr>
        <p:spPr>
          <a:xfrm>
            <a:off x="0" y="6254495"/>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7" name="Rectangle 56"/>
          <p:cNvSpPr>
            <a:spLocks noGrp="1"/>
          </p:cNvSpPr>
          <p:nvPr/>
        </p:nvSpPr>
        <p:spPr>
          <a:xfrm>
            <a:off x="0" y="6601967"/>
            <a:ext cx="12191695" cy="6500"/>
          </a:xfrm>
          <a:prstGeom prst="rect">
            <a:avLst/>
          </a:prstGeom>
          <a:solidFill>
            <a:srgbClr val="D7D8F2">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8" name="Rectangle 57"/>
          <p:cNvSpPr>
            <a:spLocks noGrp="1"/>
          </p:cNvSpPr>
          <p:nvPr/>
        </p:nvSpPr>
        <p:spPr>
          <a:xfrm>
            <a:off x="292608" y="182880"/>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59" name="Rectangle 58"/>
          <p:cNvSpPr>
            <a:spLocks noGrp="1"/>
          </p:cNvSpPr>
          <p:nvPr/>
        </p:nvSpPr>
        <p:spPr>
          <a:xfrm>
            <a:off x="292608" y="6784848"/>
            <a:ext cx="11594592" cy="14000"/>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0" name="TextBox 59"/>
          <p:cNvSpPr>
            <a:spLocks noGrp="1"/>
          </p:cNvSpPr>
          <p:nvPr/>
        </p:nvSpPr>
        <p:spPr>
          <a:xfrm>
            <a:off x="292608" y="246888"/>
            <a:ext cx="7498079" cy="265176"/>
          </a:xfrm>
          <a:prstGeom prst="rect">
            <a:avLst/>
          </a:prstGeom>
          <a:noFill/>
          <a:ln>
            <a:noFill/>
          </a:ln>
        </p:spPr>
        <p:txBody>
          <a:bodyPr wrap="square">
            <a:spAutoFit/>
          </a:bodyPr>
          <a:lstStyle/>
          <a:p>
            <a:pPr algn="l">
              <a:lnSpc>
                <a:spcPct val="120000"/>
              </a:lnSpc>
              <a:buNone/>
            </a:pPr>
            <a:r>
              <a:rPr sz="950" b="1" i="0">
                <a:solidFill>
                  <a:srgbClr val="1F2BE0"/>
                </a:solidFill>
                <a:latin typeface="Consolas" panose="020B0609020204030204"/>
                <a:ea typeface="Consolas" panose="020B0609020204030204"/>
                <a:cs typeface="Consolas" panose="020B0609020204030204"/>
              </a:rPr>
              <a:t>STORY  ·  GROUP TRAJECTORIES  ·  REDRAW BLUEPRINT</a:t>
            </a:r>
            <a:endParaRPr sz="950" b="1" i="0">
              <a:solidFill>
                <a:srgbClr val="1F2BE0"/>
              </a:solidFill>
              <a:latin typeface="Consolas" panose="020B0609020204030204"/>
              <a:ea typeface="Consolas" panose="020B0609020204030204"/>
              <a:cs typeface="Consolas" panose="020B0609020204030204"/>
            </a:endParaRPr>
          </a:p>
        </p:txBody>
      </p:sp>
      <p:sp>
        <p:nvSpPr>
          <p:cNvPr id="61" name="TextBox 60"/>
          <p:cNvSpPr>
            <a:spLocks noGrp="1"/>
          </p:cNvSpPr>
          <p:nvPr/>
        </p:nvSpPr>
        <p:spPr>
          <a:xfrm>
            <a:off x="10607040" y="6510528"/>
            <a:ext cx="1280160" cy="201168"/>
          </a:xfrm>
          <a:prstGeom prst="rect">
            <a:avLst/>
          </a:prstGeom>
          <a:noFill/>
          <a:ln>
            <a:noFill/>
          </a:ln>
        </p:spPr>
        <p:txBody>
          <a:bodyPr wrap="square">
            <a:spAutoFit/>
          </a:bodyPr>
          <a:lstStyle/>
          <a:p>
            <a:pPr algn="r">
              <a:lnSpc>
                <a:spcPct val="120000"/>
              </a:lnSpc>
              <a:buNone/>
            </a:pPr>
            <a:r>
              <a:rPr sz="950" b="0" i="0">
                <a:solidFill>
                  <a:srgbClr val="1F2BE0"/>
                </a:solidFill>
                <a:latin typeface="Consolas" panose="020B0609020204030204"/>
                <a:ea typeface="Consolas" panose="020B0609020204030204"/>
                <a:cs typeface="Consolas" panose="020B0609020204030204"/>
              </a:rPr>
              <a:t>03 / 03</a:t>
            </a:r>
            <a:endParaRPr sz="950" b="0" i="0">
              <a:solidFill>
                <a:srgbClr val="1F2BE0"/>
              </a:solidFill>
              <a:latin typeface="Consolas" panose="020B0609020204030204"/>
              <a:ea typeface="Consolas" panose="020B0609020204030204"/>
              <a:cs typeface="Consolas" panose="020B0609020204030204"/>
            </a:endParaRPr>
          </a:p>
        </p:txBody>
      </p:sp>
      <p:sp>
        <p:nvSpPr>
          <p:cNvPr id="63" name="Rectangle 62"/>
          <p:cNvSpPr>
            <a:spLocks noGrp="1"/>
          </p:cNvSpPr>
          <p:nvPr/>
        </p:nvSpPr>
        <p:spPr>
          <a:xfrm>
            <a:off x="11384280" y="283464"/>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4" name="Rectangle 63"/>
          <p:cNvSpPr>
            <a:spLocks noGrp="1"/>
          </p:cNvSpPr>
          <p:nvPr/>
        </p:nvSpPr>
        <p:spPr>
          <a:xfrm>
            <a:off x="11462004" y="333756"/>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5" name="Rectangle 64"/>
          <p:cNvSpPr>
            <a:spLocks noGrp="1"/>
          </p:cNvSpPr>
          <p:nvPr/>
        </p:nvSpPr>
        <p:spPr>
          <a:xfrm>
            <a:off x="11539728" y="384048"/>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6" name="Rectangle 65"/>
          <p:cNvSpPr>
            <a:spLocks noGrp="1"/>
          </p:cNvSpPr>
          <p:nvPr/>
        </p:nvSpPr>
        <p:spPr>
          <a:xfrm>
            <a:off x="11617452" y="434340"/>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7" name="Rectangle 66"/>
          <p:cNvSpPr>
            <a:spLocks noGrp="1"/>
          </p:cNvSpPr>
          <p:nvPr/>
        </p:nvSpPr>
        <p:spPr>
          <a:xfrm>
            <a:off x="11695176" y="484632"/>
            <a:ext cx="59436" cy="59436"/>
          </a:xfrm>
          <a:prstGeom prst="rect">
            <a:avLst/>
          </a:prstGeom>
          <a:solidFill>
            <a:srgbClr val="1F2BE0">
              <a:alpha val="100000"/>
            </a:srgb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sp>
        <p:nvSpPr>
          <p:cNvPr id="68" name="TextBox 67"/>
          <p:cNvSpPr>
            <a:spLocks noGrp="1"/>
          </p:cNvSpPr>
          <p:nvPr/>
        </p:nvSpPr>
        <p:spPr>
          <a:xfrm>
            <a:off x="292608" y="566928"/>
            <a:ext cx="8229600" cy="756920"/>
          </a:xfrm>
          <a:prstGeom prst="rect">
            <a:avLst/>
          </a:prstGeom>
          <a:noFill/>
          <a:ln>
            <a:noFill/>
          </a:ln>
        </p:spPr>
        <p:txBody>
          <a:bodyPr wrap="square">
            <a:spAutoFit/>
          </a:bodyPr>
          <a:lstStyle/>
          <a:p>
            <a:pPr algn="l">
              <a:lnSpc>
                <a:spcPct val="104000"/>
              </a:lnSpc>
              <a:buNone/>
            </a:pPr>
            <a:r>
              <a:rPr sz="2100" b="0" i="1">
                <a:solidFill>
                  <a:srgbClr val="1F2BE0"/>
                </a:solidFill>
                <a:latin typeface="Georgia" panose="02040502050405020303"/>
                <a:ea typeface="Georgia" panose="02040502050405020303"/>
                <a:cs typeface="Georgia" panose="02040502050405020303"/>
              </a:rPr>
              <a:t>Group-level centres will connect model structure with spatial change.</a:t>
            </a:r>
            <a:endParaRPr sz="2100" b="0" i="1">
              <a:solidFill>
                <a:srgbClr val="1F2BE0"/>
              </a:solidFill>
              <a:latin typeface="Georgia" panose="02040502050405020303"/>
              <a:ea typeface="Georgia" panose="02040502050405020303"/>
              <a:cs typeface="Georgia" panose="02040502050405020303"/>
            </a:endParaRPr>
          </a:p>
        </p:txBody>
      </p:sp>
      <p:sp>
        <p:nvSpPr>
          <p:cNvPr id="69" name="TextBox 68"/>
          <p:cNvSpPr>
            <a:spLocks noGrp="1"/>
          </p:cNvSpPr>
          <p:nvPr/>
        </p:nvSpPr>
        <p:spPr>
          <a:xfrm>
            <a:off x="292608" y="1252728"/>
            <a:ext cx="8229600" cy="566928"/>
          </a:xfrm>
          <a:prstGeom prst="rect">
            <a:avLst/>
          </a:prstGeom>
          <a:noFill/>
          <a:ln>
            <a:noFill/>
          </a:ln>
        </p:spPr>
        <p:txBody>
          <a:bodyPr wrap="square">
            <a:spAutoFit/>
          </a:bodyPr>
          <a:lstStyle/>
          <a:p>
            <a:pPr algn="l">
              <a:lnSpc>
                <a:spcPct val="120000"/>
              </a:lnSpc>
              <a:buNone/>
            </a:pPr>
            <a:r>
              <a:rPr sz="1100" b="0" i="0">
                <a:solidFill>
                  <a:srgbClr val="5560E5"/>
                </a:solidFill>
                <a:latin typeface="Segoe UI" panose="020B0502040204020203"/>
                <a:ea typeface="Segoe UI" panose="020B0502040204020203"/>
                <a:cs typeface="Segoe UI" panose="020B0502040204020203"/>
              </a:rPr>
              <a:t>Emissions-weighted centres will be recalculated by final model group; point size marks time and arrows show direction only.</a:t>
            </a:r>
            <a:endParaRPr sz="1100" b="0" i="0">
              <a:solidFill>
                <a:srgbClr val="5560E5"/>
              </a:solidFill>
              <a:latin typeface="Segoe UI" panose="020B0502040204020203"/>
              <a:ea typeface="Segoe UI" panose="020B0502040204020203"/>
              <a:cs typeface="Segoe UI" panose="020B0502040204020203"/>
            </a:endParaRPr>
          </a:p>
        </p:txBody>
      </p:sp>
      <p:sp>
        <p:nvSpPr>
          <p:cNvPr id="70" name="Rectangle 69"/>
          <p:cNvSpPr>
            <a:spLocks noGrp="1"/>
          </p:cNvSpPr>
          <p:nvPr/>
        </p:nvSpPr>
        <p:spPr>
          <a:xfrm>
            <a:off x="127000" y="1874519"/>
            <a:ext cx="8851900" cy="4507992"/>
          </a:xfrm>
          <a:prstGeom prst="rect">
            <a:avLst/>
          </a:prstGeom>
          <a:solidFill>
            <a:srgbClr val="F0EBDE">
              <a:alpha val="100000"/>
            </a:srgbClr>
          </a:solidFill>
          <a:ln w="6350">
            <a:solidFill>
              <a:srgbClr val="1F2BE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p>
        </p:txBody>
      </p:sp>
      <p:pic>
        <p:nvPicPr>
          <p:cNvPr id="85" name="图片 84" descr="P3_06_trajectory_map_only_enlarged"/>
          <p:cNvPicPr>
            <a:picLocks noChangeAspect="1"/>
          </p:cNvPicPr>
          <p:nvPr/>
        </p:nvPicPr>
        <p:blipFill>
          <a:blip r:embed="rId1"/>
          <a:stretch>
            <a:fillRect/>
          </a:stretch>
        </p:blipFill>
        <p:spPr>
          <a:xfrm>
            <a:off x="190500" y="2095500"/>
            <a:ext cx="8763000" cy="3568065"/>
          </a:xfrm>
          <a:prstGeom prst="rect">
            <a:avLst/>
          </a:prstGeom>
        </p:spPr>
      </p:pic>
      <p:sp>
        <p:nvSpPr>
          <p:cNvPr id="72" name="圆角矩形 71"/>
          <p:cNvSpPr/>
          <p:nvPr/>
        </p:nvSpPr>
        <p:spPr>
          <a:xfrm>
            <a:off x="533400" y="5765800"/>
            <a:ext cx="8077200" cy="393700"/>
          </a:xfrm>
          <a:prstGeom prst="roundRect">
            <a:avLst/>
          </a:prstGeom>
          <a:solidFill>
            <a:srgbClr val="FFFFFF"/>
          </a:solidFill>
          <a:ln w="10160">
            <a:solidFill>
              <a:srgbClr val="CDD6E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3" name="文本框 72"/>
          <p:cNvSpPr txBox="1"/>
          <p:nvPr/>
        </p:nvSpPr>
        <p:spPr>
          <a:xfrm>
            <a:off x="635000" y="5892800"/>
            <a:ext cx="393700" cy="1397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50" b="1">
                <a:solidFill>
                  <a:srgbClr val="232F44"/>
                </a:solidFill>
                <a:latin typeface="Consolas" panose="020B0609020204030204" charset="0"/>
                <a:cs typeface="Consolas" panose="020B0609020204030204" charset="0"/>
              </a:rPr>
              <a:t>TIME</a:t>
            </a:r>
            <a:endParaRPr lang="zh-CN" altLang="en-US" sz="750" b="1">
              <a:solidFill>
                <a:srgbClr val="232F44"/>
              </a:solidFill>
              <a:latin typeface="Consolas" panose="020B0609020204030204" charset="0"/>
              <a:cs typeface="Consolas" panose="020B0609020204030204" charset="0"/>
            </a:endParaRPr>
          </a:p>
        </p:txBody>
      </p:sp>
      <p:sp>
        <p:nvSpPr>
          <p:cNvPr id="74" name="椭圆 73"/>
          <p:cNvSpPr/>
          <p:nvPr/>
        </p:nvSpPr>
        <p:spPr>
          <a:xfrm>
            <a:off x="1066800" y="5937250"/>
            <a:ext cx="50800" cy="50800"/>
          </a:xfrm>
          <a:prstGeom prst="ellipse">
            <a:avLst/>
          </a:prstGeom>
          <a:solidFill>
            <a:srgbClr val="87A9BE"/>
          </a:solidFill>
          <a:ln w="6350">
            <a:solidFill>
              <a:srgbClr val="4D7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椭圆 74"/>
          <p:cNvSpPr/>
          <p:nvPr/>
        </p:nvSpPr>
        <p:spPr>
          <a:xfrm>
            <a:off x="1206500" y="5924550"/>
            <a:ext cx="76200" cy="76200"/>
          </a:xfrm>
          <a:prstGeom prst="ellipse">
            <a:avLst/>
          </a:prstGeom>
          <a:solidFill>
            <a:srgbClr val="87A9BE"/>
          </a:solidFill>
          <a:ln w="6350">
            <a:solidFill>
              <a:srgbClr val="4D7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6" name="椭圆 75"/>
          <p:cNvSpPr/>
          <p:nvPr/>
        </p:nvSpPr>
        <p:spPr>
          <a:xfrm>
            <a:off x="1371600" y="5911850"/>
            <a:ext cx="101600" cy="101600"/>
          </a:xfrm>
          <a:prstGeom prst="ellipse">
            <a:avLst/>
          </a:prstGeom>
          <a:solidFill>
            <a:srgbClr val="87A9BE"/>
          </a:solidFill>
          <a:ln w="6350">
            <a:solidFill>
              <a:srgbClr val="4D7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7" name="椭圆 76"/>
          <p:cNvSpPr/>
          <p:nvPr/>
        </p:nvSpPr>
        <p:spPr>
          <a:xfrm>
            <a:off x="1562100" y="5899150"/>
            <a:ext cx="127000" cy="127000"/>
          </a:xfrm>
          <a:prstGeom prst="ellipse">
            <a:avLst/>
          </a:prstGeom>
          <a:solidFill>
            <a:srgbClr val="87A9BE"/>
          </a:solidFill>
          <a:ln w="6350">
            <a:solidFill>
              <a:srgbClr val="4D7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椭圆 77"/>
          <p:cNvSpPr/>
          <p:nvPr/>
        </p:nvSpPr>
        <p:spPr>
          <a:xfrm>
            <a:off x="1790700" y="5880100"/>
            <a:ext cx="165100" cy="165100"/>
          </a:xfrm>
          <a:prstGeom prst="ellipse">
            <a:avLst/>
          </a:prstGeom>
          <a:solidFill>
            <a:srgbClr val="87A9BE"/>
          </a:solidFill>
          <a:ln w="6350">
            <a:solidFill>
              <a:srgbClr val="4D7994"/>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文本框 78"/>
          <p:cNvSpPr txBox="1"/>
          <p:nvPr/>
        </p:nvSpPr>
        <p:spPr>
          <a:xfrm>
            <a:off x="2006600" y="5892800"/>
            <a:ext cx="838200" cy="1397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30" b="1">
                <a:solidFill>
                  <a:srgbClr val="232F44"/>
                </a:solidFill>
                <a:latin typeface="Consolas" panose="020B0609020204030204" charset="0"/>
                <a:cs typeface="Consolas" panose="020B0609020204030204" charset="0"/>
              </a:rPr>
              <a:t>2013 → 2021</a:t>
            </a:r>
            <a:endParaRPr lang="zh-CN" altLang="en-US" sz="730" b="1">
              <a:solidFill>
                <a:srgbClr val="232F44"/>
              </a:solidFill>
              <a:latin typeface="Consolas" panose="020B0609020204030204" charset="0"/>
              <a:cs typeface="Consolas" panose="020B0609020204030204" charset="0"/>
            </a:endParaRPr>
          </a:p>
        </p:txBody>
      </p:sp>
      <p:sp>
        <p:nvSpPr>
          <p:cNvPr id="80" name="椭圆 79"/>
          <p:cNvSpPr/>
          <p:nvPr/>
        </p:nvSpPr>
        <p:spPr>
          <a:xfrm>
            <a:off x="2895600" y="5892800"/>
            <a:ext cx="127000" cy="127000"/>
          </a:xfrm>
          <a:prstGeom prst="ellipse">
            <a:avLst/>
          </a:prstGeom>
          <a:solidFill>
            <a:srgbClr val="CC3333"/>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FFFFFF"/>
                </a:solidFill>
                <a:latin typeface="Segoe UI" panose="020B0502040204020203" charset="0"/>
                <a:cs typeface="Segoe UI" panose="020B0502040204020203" charset="0"/>
              </a:rPr>
              <a:t>+</a:t>
            </a:r>
            <a:endParaRPr lang="zh-CN" altLang="en-US" sz="680" b="1">
              <a:solidFill>
                <a:srgbClr val="FFFFFF"/>
              </a:solidFill>
              <a:latin typeface="Segoe UI" panose="020B0502040204020203" charset="0"/>
              <a:cs typeface="Segoe UI" panose="020B0502040204020203" charset="0"/>
            </a:endParaRPr>
          </a:p>
        </p:txBody>
      </p:sp>
      <p:sp>
        <p:nvSpPr>
          <p:cNvPr id="81" name="文本框 80"/>
          <p:cNvSpPr txBox="1"/>
          <p:nvPr/>
        </p:nvSpPr>
        <p:spPr>
          <a:xfrm>
            <a:off x="3060700" y="5880100"/>
            <a:ext cx="4445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00" b="1">
                <a:solidFill>
                  <a:srgbClr val="232F44"/>
                </a:solidFill>
                <a:latin typeface="Segoe UI" panose="020B0502040204020203" charset="0"/>
                <a:cs typeface="Segoe UI" panose="020B0502040204020203" charset="0"/>
              </a:rPr>
              <a:t>ROSE</a:t>
            </a:r>
            <a:endParaRPr lang="zh-CN" altLang="en-US" sz="700" b="1">
              <a:solidFill>
                <a:srgbClr val="232F44"/>
              </a:solidFill>
              <a:latin typeface="Segoe UI" panose="020B0502040204020203" charset="0"/>
              <a:cs typeface="Segoe UI" panose="020B0502040204020203" charset="0"/>
            </a:endParaRPr>
          </a:p>
        </p:txBody>
      </p:sp>
      <p:sp>
        <p:nvSpPr>
          <p:cNvPr id="82" name="椭圆 81"/>
          <p:cNvSpPr/>
          <p:nvPr/>
        </p:nvSpPr>
        <p:spPr>
          <a:xfrm>
            <a:off x="3581400" y="5892800"/>
            <a:ext cx="127000" cy="127000"/>
          </a:xfrm>
          <a:prstGeom prst="ellipse">
            <a:avLst/>
          </a:prstGeom>
          <a:solidFill>
            <a:srgbClr val="00855D"/>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FFFFFF"/>
                </a:solidFill>
                <a:latin typeface="Segoe UI" panose="020B0502040204020203" charset="0"/>
                <a:cs typeface="Segoe UI" panose="020B0502040204020203" charset="0"/>
              </a:rPr>
              <a:t>−</a:t>
            </a:r>
            <a:endParaRPr lang="zh-CN" altLang="en-US" sz="680" b="1">
              <a:solidFill>
                <a:srgbClr val="FFFFFF"/>
              </a:solidFill>
              <a:latin typeface="Segoe UI" panose="020B0502040204020203" charset="0"/>
              <a:cs typeface="Segoe UI" panose="020B0502040204020203" charset="0"/>
            </a:endParaRPr>
          </a:p>
        </p:txBody>
      </p:sp>
      <p:sp>
        <p:nvSpPr>
          <p:cNvPr id="83" name="文本框 82"/>
          <p:cNvSpPr txBox="1"/>
          <p:nvPr/>
        </p:nvSpPr>
        <p:spPr>
          <a:xfrm>
            <a:off x="3746500" y="5880100"/>
            <a:ext cx="4191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00" b="1">
                <a:solidFill>
                  <a:srgbClr val="232F44"/>
                </a:solidFill>
                <a:latin typeface="Segoe UI" panose="020B0502040204020203" charset="0"/>
                <a:cs typeface="Segoe UI" panose="020B0502040204020203" charset="0"/>
              </a:rPr>
              <a:t>FELL</a:t>
            </a:r>
            <a:endParaRPr lang="zh-CN" altLang="en-US" sz="700" b="1">
              <a:solidFill>
                <a:srgbClr val="232F44"/>
              </a:solidFill>
              <a:latin typeface="Segoe UI" panose="020B0502040204020203" charset="0"/>
              <a:cs typeface="Segoe UI" panose="020B0502040204020203" charset="0"/>
            </a:endParaRPr>
          </a:p>
        </p:txBody>
      </p:sp>
      <p:sp>
        <p:nvSpPr>
          <p:cNvPr id="84" name="文本框 83"/>
          <p:cNvSpPr txBox="1"/>
          <p:nvPr/>
        </p:nvSpPr>
        <p:spPr>
          <a:xfrm>
            <a:off x="4318000" y="5880100"/>
            <a:ext cx="17399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670" b="1">
                <a:solidFill>
                  <a:srgbClr val="CC3333"/>
                </a:solidFill>
                <a:latin typeface="Consolas" panose="020B0609020204030204" charset="0"/>
                <a:cs typeface="Consolas" panose="020B0609020204030204" charset="0"/>
              </a:rPr>
              <a:t>ARROWS = DIRECTION ONLY</a:t>
            </a:r>
            <a:endParaRPr lang="zh-CN" altLang="en-US" sz="670" b="1">
              <a:solidFill>
                <a:srgbClr val="CC3333"/>
              </a:solidFill>
              <a:latin typeface="Consolas" panose="020B0609020204030204" charset="0"/>
              <a:cs typeface="Consolas" panose="020B0609020204030204" charset="0"/>
            </a:endParaRPr>
          </a:p>
        </p:txBody>
      </p:sp>
      <p:sp>
        <p:nvSpPr>
          <p:cNvPr id="100" name="文本框 99"/>
          <p:cNvSpPr txBox="1"/>
          <p:nvPr/>
        </p:nvSpPr>
        <p:spPr>
          <a:xfrm>
            <a:off x="6223000" y="5880100"/>
            <a:ext cx="2235200" cy="152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700" b="1">
                <a:solidFill>
                  <a:srgbClr val="232F44"/>
                </a:solidFill>
                <a:latin typeface="Consolas" panose="020B0609020204030204" charset="0"/>
                <a:cs typeface="Consolas" panose="020B0609020204030204" charset="0"/>
              </a:rPr>
              <a:t>WORLD ≈585 km ESE</a:t>
            </a:r>
            <a:endParaRPr lang="zh-CN" altLang="en-US" sz="700" b="1">
              <a:solidFill>
                <a:srgbClr val="232F44"/>
              </a:solidFill>
              <a:latin typeface="Consolas" panose="020B0609020204030204" charset="0"/>
              <a:cs typeface="Consolas" panose="020B0609020204030204" charset="0"/>
            </a:endParaRPr>
          </a:p>
        </p:txBody>
      </p:sp>
      <p:sp>
        <p:nvSpPr>
          <p:cNvPr id="101" name="矩形 100"/>
          <p:cNvSpPr/>
          <p:nvPr/>
        </p:nvSpPr>
        <p:spPr>
          <a:xfrm>
            <a:off x="9017000" y="713740"/>
            <a:ext cx="2900045" cy="5668645"/>
          </a:xfrm>
          <a:prstGeom prst="rect">
            <a:avLst/>
          </a:prstGeom>
          <a:solidFill>
            <a:srgbClr val="E6E0CE"/>
          </a:solidFill>
          <a:ln w="10160">
            <a:solidFill>
              <a:srgbClr val="1F2BE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2" name="矩形 101"/>
          <p:cNvSpPr/>
          <p:nvPr/>
        </p:nvSpPr>
        <p:spPr>
          <a:xfrm>
            <a:off x="9017000" y="713740"/>
            <a:ext cx="54610" cy="5668645"/>
          </a:xfrm>
          <a:prstGeom prst="rect">
            <a:avLst/>
          </a:prstGeom>
          <a:solidFill>
            <a:srgbClr val="1F2BE0"/>
          </a:solidFill>
          <a:ln>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3" name="矩形 102"/>
          <p:cNvSpPr/>
          <p:nvPr/>
        </p:nvSpPr>
        <p:spPr>
          <a:xfrm>
            <a:off x="9072880" y="713740"/>
            <a:ext cx="2844800" cy="22860"/>
          </a:xfrm>
          <a:prstGeom prst="rect">
            <a:avLst/>
          </a:prstGeom>
          <a:solidFill>
            <a:srgbClr val="1F2BE0"/>
          </a:solidFill>
          <a:ln>
            <a:noFill/>
          </a:ln>
          <a:extLst>
            <a:ext uri="{91240B29-F687-4F45-9708-019B960494DF}">
              <a14:hiddenLine xmlns:a14="http://schemas.microsoft.com/office/drawing/2010/main">
                <a:solidFill>
                  <a:srgbClr val="FFFFFF"/>
                </a:solidFill>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4" name="矩形 103"/>
          <p:cNvSpPr/>
          <p:nvPr/>
        </p:nvSpPr>
        <p:spPr>
          <a:xfrm>
            <a:off x="9232900" y="969010"/>
            <a:ext cx="1206500" cy="256540"/>
          </a:xfrm>
          <a:prstGeom prst="rect">
            <a:avLst/>
          </a:prstGeom>
          <a:solidFill>
            <a:srgbClr val="1F2BE0"/>
          </a:solidFill>
          <a:ln>
            <a:solidFill>
              <a:srgbClr val="1F2BE0"/>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l">
              <a:spcBef>
                <a:spcPts val="0"/>
              </a:spcBef>
              <a:spcAft>
                <a:spcPts val="0"/>
              </a:spcAft>
              <a:buNone/>
            </a:pPr>
            <a:r>
              <a:rPr lang="zh-CN" altLang="en-US" sz="900" b="1">
                <a:solidFill>
                  <a:srgbClr val="FFFFFF"/>
                </a:solidFill>
                <a:latin typeface="Consolas" panose="020B0609020204030204" charset="0"/>
                <a:cs typeface="Consolas" panose="020B0609020204030204" charset="0"/>
              </a:rPr>
              <a:t>STORY TO TELL</a:t>
            </a:r>
            <a:endParaRPr lang="zh-CN" altLang="en-US" sz="900" b="1">
              <a:solidFill>
                <a:srgbClr val="FFFFFF"/>
              </a:solidFill>
              <a:latin typeface="Consolas" panose="020B0609020204030204" charset="0"/>
              <a:cs typeface="Consolas" panose="020B0609020204030204" charset="0"/>
            </a:endParaRPr>
          </a:p>
        </p:txBody>
      </p:sp>
      <p:sp>
        <p:nvSpPr>
          <p:cNvPr id="105" name="椭圆 104"/>
          <p:cNvSpPr/>
          <p:nvPr/>
        </p:nvSpPr>
        <p:spPr>
          <a:xfrm>
            <a:off x="9232900" y="1371600"/>
            <a:ext cx="101600" cy="101600"/>
          </a:xfrm>
          <a:prstGeom prst="ellipse">
            <a:avLst/>
          </a:prstGeom>
          <a:solidFill>
            <a:srgbClr val="1F2BE0"/>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FFFFFF"/>
                </a:solidFill>
                <a:latin typeface="Segoe UI" panose="020B0502040204020203" charset="0"/>
                <a:cs typeface="Segoe UI" panose="020B0502040204020203" charset="0"/>
              </a:rPr>
              <a:t>·</a:t>
            </a:r>
            <a:endParaRPr lang="zh-CN" altLang="en-US" sz="680" b="1">
              <a:solidFill>
                <a:srgbClr val="FFFFFF"/>
              </a:solidFill>
              <a:latin typeface="Segoe UI" panose="020B0502040204020203" charset="0"/>
              <a:cs typeface="Segoe UI" panose="020B0502040204020203" charset="0"/>
            </a:endParaRPr>
          </a:p>
        </p:txBody>
      </p:sp>
      <p:sp>
        <p:nvSpPr>
          <p:cNvPr id="106" name="文本框 105"/>
          <p:cNvSpPr txBox="1"/>
          <p:nvPr/>
        </p:nvSpPr>
        <p:spPr>
          <a:xfrm>
            <a:off x="9410700" y="1308100"/>
            <a:ext cx="2247900" cy="2286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1240" b="1">
                <a:solidFill>
                  <a:srgbClr val="1F2BE0"/>
                </a:solidFill>
                <a:latin typeface="Segoe UI" panose="020B0502040204020203" charset="0"/>
                <a:cs typeface="Segoe UI" panose="020B0502040204020203" charset="0"/>
              </a:rPr>
              <a:t>Time–space synthesis</a:t>
            </a:r>
            <a:endParaRPr lang="zh-CN" altLang="en-US" sz="1240" b="1">
              <a:solidFill>
                <a:srgbClr val="1F2BE0"/>
              </a:solidFill>
              <a:latin typeface="Segoe UI" panose="020B0502040204020203" charset="0"/>
              <a:cs typeface="Segoe UI" panose="020B0502040204020203" charset="0"/>
            </a:endParaRPr>
          </a:p>
        </p:txBody>
      </p:sp>
      <p:sp>
        <p:nvSpPr>
          <p:cNvPr id="107" name="文本框 106"/>
          <p:cNvSpPr txBox="1"/>
          <p:nvPr/>
        </p:nvSpPr>
        <p:spPr>
          <a:xfrm>
            <a:off x="9410700" y="1549400"/>
            <a:ext cx="2247900" cy="9144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1160">
                <a:solidFill>
                  <a:srgbClr val="1F2BE0"/>
                </a:solidFill>
                <a:latin typeface="Segoe UI" panose="020B0502040204020203" charset="0"/>
                <a:cs typeface="Segoe UI" panose="020B0502040204020203" charset="0"/>
              </a:rPr>
              <a:t>Recalculate five two-year centres for every validated model group.</a:t>
            </a:r>
            <a:endParaRPr lang="zh-CN" altLang="en-US" sz="1160">
              <a:solidFill>
                <a:srgbClr val="1F2BE0"/>
              </a:solidFill>
              <a:latin typeface="Segoe UI" panose="020B0502040204020203" charset="0"/>
              <a:cs typeface="Segoe UI" panose="020B0502040204020203" charset="0"/>
            </a:endParaRPr>
          </a:p>
        </p:txBody>
      </p:sp>
      <p:sp>
        <p:nvSpPr>
          <p:cNvPr id="108" name="椭圆 107"/>
          <p:cNvSpPr/>
          <p:nvPr/>
        </p:nvSpPr>
        <p:spPr>
          <a:xfrm>
            <a:off x="9232900" y="2819400"/>
            <a:ext cx="101600" cy="101600"/>
          </a:xfrm>
          <a:prstGeom prst="ellipse">
            <a:avLst/>
          </a:prstGeom>
          <a:solidFill>
            <a:srgbClr val="1F2BE0"/>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FFFFFF"/>
                </a:solidFill>
                <a:latin typeface="Segoe UI" panose="020B0502040204020203" charset="0"/>
                <a:cs typeface="Segoe UI" panose="020B0502040204020203" charset="0"/>
              </a:rPr>
              <a:t>·</a:t>
            </a:r>
            <a:endParaRPr lang="zh-CN" altLang="en-US" sz="680" b="1">
              <a:solidFill>
                <a:srgbClr val="FFFFFF"/>
              </a:solidFill>
              <a:latin typeface="Segoe UI" panose="020B0502040204020203" charset="0"/>
              <a:cs typeface="Segoe UI" panose="020B0502040204020203" charset="0"/>
            </a:endParaRPr>
          </a:p>
        </p:txBody>
      </p:sp>
      <p:sp>
        <p:nvSpPr>
          <p:cNvPr id="109" name="文本框 108"/>
          <p:cNvSpPr txBox="1"/>
          <p:nvPr/>
        </p:nvSpPr>
        <p:spPr>
          <a:xfrm>
            <a:off x="9410700" y="2755900"/>
            <a:ext cx="2247900" cy="2286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1240" b="1">
                <a:solidFill>
                  <a:srgbClr val="1F2BE0"/>
                </a:solidFill>
                <a:latin typeface="Segoe UI" panose="020B0502040204020203" charset="0"/>
                <a:cs typeface="Segoe UI" panose="020B0502040204020203" charset="0"/>
              </a:rPr>
              <a:t>Direction and distance</a:t>
            </a:r>
            <a:endParaRPr lang="zh-CN" altLang="en-US" sz="1240" b="1">
              <a:solidFill>
                <a:srgbClr val="1F2BE0"/>
              </a:solidFill>
              <a:latin typeface="Segoe UI" panose="020B0502040204020203" charset="0"/>
              <a:cs typeface="Segoe UI" panose="020B0502040204020203" charset="0"/>
            </a:endParaRPr>
          </a:p>
        </p:txBody>
      </p:sp>
      <p:sp>
        <p:nvSpPr>
          <p:cNvPr id="110" name="文本框 109"/>
          <p:cNvSpPr txBox="1"/>
          <p:nvPr/>
        </p:nvSpPr>
        <p:spPr>
          <a:xfrm>
            <a:off x="9410700" y="2997200"/>
            <a:ext cx="2247900" cy="9398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1160">
                <a:solidFill>
                  <a:srgbClr val="1F2BE0"/>
                </a:solidFill>
                <a:latin typeface="Segoe UI" panose="020B0502040204020203" charset="0"/>
                <a:cs typeface="Segoe UI" panose="020B0502040204020203" charset="0"/>
              </a:rPr>
              <a:t>Directly label the largest and smallest shifts in kilometres.</a:t>
            </a:r>
            <a:endParaRPr lang="zh-CN" altLang="en-US" sz="1160">
              <a:solidFill>
                <a:srgbClr val="1F2BE0"/>
              </a:solidFill>
              <a:latin typeface="Segoe UI" panose="020B0502040204020203" charset="0"/>
              <a:cs typeface="Segoe UI" panose="020B0502040204020203" charset="0"/>
            </a:endParaRPr>
          </a:p>
        </p:txBody>
      </p:sp>
      <p:sp>
        <p:nvSpPr>
          <p:cNvPr id="111" name="椭圆 110"/>
          <p:cNvSpPr/>
          <p:nvPr/>
        </p:nvSpPr>
        <p:spPr>
          <a:xfrm>
            <a:off x="9232900" y="4292600"/>
            <a:ext cx="101600" cy="101600"/>
          </a:xfrm>
          <a:prstGeom prst="ellipse">
            <a:avLst/>
          </a:prstGeom>
          <a:solidFill>
            <a:srgbClr val="1F2BE0"/>
          </a:solidFill>
          <a:ln w="6350">
            <a:solidFill>
              <a:srgbClr val="FFFFFF"/>
            </a:solidFill>
          </a:ln>
        </p:spPr>
        <p:style>
          <a:lnRef idx="2">
            <a:schemeClr val="accent1">
              <a:lumMod val="75000"/>
            </a:schemeClr>
          </a:lnRef>
          <a:fillRef idx="1">
            <a:schemeClr val="accent1"/>
          </a:fillRef>
          <a:effectRef idx="0">
            <a:srgbClr val="FFFFFF"/>
          </a:effectRef>
          <a:fontRef idx="minor">
            <a:schemeClr val="lt1"/>
          </a:fontRef>
        </p:style>
        <p:txBody>
          <a:bodyPr wrap="square" lIns="15240" tIns="3810" rIns="15240" bIns="3810" rtlCol="0" anchor="t">
            <a:noAutofit/>
          </a:bodyPr>
          <a:p>
            <a:pPr indent="0" algn="ctr">
              <a:spcBef>
                <a:spcPts val="0"/>
              </a:spcBef>
              <a:spcAft>
                <a:spcPts val="0"/>
              </a:spcAft>
              <a:buNone/>
            </a:pPr>
            <a:r>
              <a:rPr lang="zh-CN" altLang="en-US" sz="680" b="1">
                <a:solidFill>
                  <a:srgbClr val="FFFFFF"/>
                </a:solidFill>
                <a:latin typeface="Segoe UI" panose="020B0502040204020203" charset="0"/>
                <a:cs typeface="Segoe UI" panose="020B0502040204020203" charset="0"/>
              </a:rPr>
              <a:t>·</a:t>
            </a:r>
            <a:endParaRPr lang="zh-CN" altLang="en-US" sz="680" b="1">
              <a:solidFill>
                <a:srgbClr val="FFFFFF"/>
              </a:solidFill>
              <a:latin typeface="Segoe UI" panose="020B0502040204020203" charset="0"/>
              <a:cs typeface="Segoe UI" panose="020B0502040204020203" charset="0"/>
            </a:endParaRPr>
          </a:p>
        </p:txBody>
      </p:sp>
      <p:sp>
        <p:nvSpPr>
          <p:cNvPr id="112" name="文本框 111"/>
          <p:cNvSpPr txBox="1"/>
          <p:nvPr/>
        </p:nvSpPr>
        <p:spPr>
          <a:xfrm>
            <a:off x="9410700" y="4229100"/>
            <a:ext cx="2247900" cy="2286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1240" b="1">
                <a:solidFill>
                  <a:srgbClr val="1F2BE0"/>
                </a:solidFill>
                <a:latin typeface="Segoe UI" panose="020B0502040204020203" charset="0"/>
                <a:cs typeface="Segoe UI" panose="020B0502040204020203" charset="0"/>
              </a:rPr>
              <a:t>Interpretation</a:t>
            </a:r>
            <a:endParaRPr lang="zh-CN" altLang="en-US" sz="1240" b="1">
              <a:solidFill>
                <a:srgbClr val="1F2BE0"/>
              </a:solidFill>
              <a:latin typeface="Segoe UI" panose="020B0502040204020203" charset="0"/>
              <a:cs typeface="Segoe UI" panose="020B0502040204020203" charset="0"/>
            </a:endParaRPr>
          </a:p>
        </p:txBody>
      </p:sp>
      <p:sp>
        <p:nvSpPr>
          <p:cNvPr id="113" name="文本框 112"/>
          <p:cNvSpPr txBox="1"/>
          <p:nvPr/>
        </p:nvSpPr>
        <p:spPr>
          <a:xfrm>
            <a:off x="9410700" y="4470400"/>
            <a:ext cx="2247900" cy="1016000"/>
          </a:xfrm>
          <a:prstGeom prst="rect">
            <a:avLst/>
          </a:prstGeom>
          <a:noFill/>
        </p:spPr>
        <p:txBody>
          <a:bodyPr wrap="square" lIns="15240" tIns="3810" rIns="15240" bIns="3810" rtlCol="0" anchor="t">
            <a:noAutofit/>
          </a:bodyPr>
          <a:p>
            <a:pPr indent="0" algn="l">
              <a:spcBef>
                <a:spcPts val="0"/>
              </a:spcBef>
              <a:spcAft>
                <a:spcPts val="0"/>
              </a:spcAft>
              <a:buNone/>
            </a:pPr>
            <a:r>
              <a:rPr lang="zh-CN" altLang="en-US" sz="1160">
                <a:solidFill>
                  <a:srgbClr val="1F2BE0"/>
                </a:solidFill>
                <a:latin typeface="Segoe UI" panose="020B0502040204020203" charset="0"/>
                <a:cs typeface="Segoe UI" panose="020B0502040204020203" charset="0"/>
              </a:rPr>
              <a:t>Explain which countries or regions drive each group-level movement.</a:t>
            </a:r>
            <a:endParaRPr lang="zh-CN" altLang="en-US" sz="1160">
              <a:solidFill>
                <a:srgbClr val="1F2BE0"/>
              </a:solidFill>
              <a:latin typeface="Segoe UI" panose="020B0502040204020203" charset="0"/>
              <a:cs typeface="Segoe UI" panose="020B0502040204020203" charset="0"/>
            </a:endParaRPr>
          </a:p>
        </p:txBody>
      </p:sp>
      <p:sp>
        <p:nvSpPr>
          <p:cNvPr id="71" name="TextBox 61"/>
          <p:cNvSpPr>
            <a:spLocks noGrp="1"/>
          </p:cNvSpPr>
          <p:nvPr/>
        </p:nvSpPr>
        <p:spPr>
          <a:xfrm>
            <a:off x="292608" y="6510528"/>
            <a:ext cx="2743200" cy="201168"/>
          </a:xfrm>
          <a:prstGeom prst="rect">
            <a:avLst/>
          </a:prstGeom>
          <a:noFill/>
          <a:ln>
            <a:noFill/>
          </a:ln>
        </p:spPr>
        <p:txBody>
          <a:bodyPr wrap="square" lIns="19050" tIns="6350" rIns="19050" bIns="6350" anchor="t">
            <a:noAutofit/>
          </a:bodyPr>
          <a:lstStyle/>
          <a:p>
            <a:pPr marL="0" indent="0" algn="l">
              <a:lnSpc>
                <a:spcPct val="120000"/>
              </a:lnSpc>
              <a:spcBef>
                <a:spcPts val="0"/>
              </a:spcBef>
              <a:spcAft>
                <a:spcPts val="0"/>
              </a:spcAft>
              <a:buNone/>
            </a:pPr>
            <a:r>
              <a:rPr sz="880" b="1" i="0">
                <a:solidFill>
                  <a:srgbClr val="607084"/>
                </a:solidFill>
                <a:latin typeface="Consolas" panose="020B0609020204030204" charset="0"/>
                <a:ea typeface="Consolas" panose="020B0609020204030204"/>
                <a:cs typeface="Consolas" panose="020B0609020204030204" charset="0"/>
              </a:rPr>
              <a:t>PREPARED BY · [</a:t>
            </a:r>
            <a:r>
              <a:rPr lang="en-US" sz="880" b="1" i="0">
                <a:solidFill>
                  <a:srgbClr val="607084"/>
                </a:solidFill>
                <a:latin typeface="Consolas" panose="020B0609020204030204" charset="0"/>
                <a:ea typeface="Consolas" panose="020B0609020204030204"/>
                <a:cs typeface="Consolas" panose="020B0609020204030204" charset="0"/>
              </a:rPr>
              <a:t>SHEN RUITING</a:t>
            </a:r>
            <a:r>
              <a:rPr sz="880" b="1" i="0">
                <a:solidFill>
                  <a:srgbClr val="607084"/>
                </a:solidFill>
                <a:latin typeface="Consolas" panose="020B0609020204030204" charset="0"/>
                <a:ea typeface="Consolas" panose="020B0609020204030204"/>
                <a:cs typeface="Consolas" panose="020B0609020204030204" charset="0"/>
              </a:rPr>
              <a:t>]</a:t>
            </a:r>
            <a:endParaRPr sz="880" b="1" i="0">
              <a:solidFill>
                <a:srgbClr val="607084"/>
              </a:solidFill>
              <a:latin typeface="Consolas" panose="020B0609020204030204" charset="0"/>
              <a:ea typeface="Consolas" panose="020B0609020204030204"/>
              <a:cs typeface="Consolas" panose="020B0609020204030204" charset="0"/>
            </a:endParaRPr>
          </a:p>
        </p:txBody>
      </p:sp>
    </p:spTree>
  </p:cSld>
  <p:clrMapOvr>
    <a:masterClrMapping/>
  </p:clrMapOvr>
</p:sld>
</file>

<file path=ppt/tags/tag1.xml><?xml version="1.0" encoding="utf-8"?>
<p:tagLst xmlns:p="http://schemas.openxmlformats.org/presentationml/2006/main">
  <p:tag name="KSO_WM_DIAGRAM_VIRTUALLY_FRAME" val="{&quot;height&quot;:40.31999999999998,&quot;left&quot;:0,&quot;top&quot;:462.23999999999995,&quot;width&quot;:959.9759842519685}"/>
</p:tagLst>
</file>

<file path=ppt/tags/tag2.xml><?xml version="1.0" encoding="utf-8"?>
<p:tagLst xmlns:p="http://schemas.openxmlformats.org/presentationml/2006/main">
  <p:tag name="KSO_WM_DIAGRAM_VIRTUALLY_FRAME" val="{&quot;height&quot;:40.31999999999998,&quot;left&quot;:0,&quot;top&quot;:462.23999999999995,&quot;width&quot;:959.9759842519685}"/>
</p:tagLst>
</file>

<file path=ppt/tags/tag3.xml><?xml version="1.0" encoding="utf-8"?>
<p:tagLst xmlns:p="http://schemas.openxmlformats.org/presentationml/2006/main">
  <p:tag name="KSO_WM_DIAGRAM_VIRTUALLY_FRAME" val="{&quot;height&quot;:40.31999999999998,&quot;left&quot;:0,&quot;top&quot;:462.23999999999995,&quot;width&quot;:959.9759842519685}"/>
</p:tagLst>
</file>

<file path=ppt/tags/tag4.xml><?xml version="1.0" encoding="utf-8"?>
<p:tagLst xmlns:p="http://schemas.openxmlformats.org/presentationml/2006/main">
  <p:tag name="KSO_WM_DIAGRAM_VIRTUALLY_FRAME" val="{&quot;height&quot;:40.31999999999998,&quot;left&quot;:0,&quot;top&quot;:462.23999999999995,&quot;width&quot;:959.9759842519685}"/>
</p:tagLst>
</file>

<file path=ppt/tags/tag5.xml><?xml version="1.0" encoding="utf-8"?>
<p:tagLst xmlns:p="http://schemas.openxmlformats.org/presentationml/2006/main">
  <p:tag name="KSO_WM_DIAGRAM_VIRTUALLY_FRAME" val="{&quot;height&quot;:40.31999999999998,&quot;left&quot;:0,&quot;top&quot;:462.23999999999995,&quot;width&quot;:959.9759842519685}"/>
</p:tagLst>
</file>

<file path=ppt/tags/tag6.xml><?xml version="1.0" encoding="utf-8"?>
<p:tagLst xmlns:p="http://schemas.openxmlformats.org/presentationml/2006/main">
  <p:tag name="KSO_WM_DIAGRAM_VIRTUALLY_FRAME" val="{&quot;height&quot;:40.31999999999998,&quot;left&quot;:0,&quot;top&quot;:462.23999999999995,&quot;width&quot;:959.9759842519685}"/>
</p:tagLst>
</file>

<file path=ppt/tags/tag7.xml><?xml version="1.0" encoding="utf-8"?>
<p:tagLst xmlns:p="http://schemas.openxmlformats.org/presentationml/2006/main">
  <p:tag name="KSO_WM_DIAGRAM_VIRTUALLY_FRAME" val="{&quot;height&quot;:40.31999999999998,&quot;left&quot;:0,&quot;top&quot;:462.23999999999995,&quot;width&quot;:959.9759842519685}"/>
</p:tagLst>
</file>

<file path=ppt/tags/tag8.xml><?xml version="1.0" encoding="utf-8"?>
<p:tagLst xmlns:p="http://schemas.openxmlformats.org/presentationml/2006/main">
  <p:tag name="KSO_WM_DIAGRAM_VIRTUALLY_FRAME" val="{&quot;height&quot;:40.31999999999998,&quot;left&quot;:0,&quot;top&quot;:462.23999999999995,&quot;width&quot;:959.9759842519685}"/>
</p:tagLst>
</file>

<file path=ppt/tags/tag9.xml><?xml version="1.0" encoding="utf-8"?>
<p:tagLst xmlns:p="http://schemas.openxmlformats.org/presentationml/2006/main">
  <p:tag name="commondata" val="eyJoZGlkIjoiZGQ0MGQwMzljZTE0ZTg5YjY4YTg1OTEzZmNiZWMxM2I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1661</Words>
  <Application>WPS 演示</Application>
  <PresentationFormat>Converted Presentation</PresentationFormat>
  <Paragraphs>124</Paragraphs>
  <Slides>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vt:i4>
      </vt:variant>
    </vt:vector>
  </HeadingPairs>
  <TitlesOfParts>
    <vt:vector size="13" baseType="lpstr">
      <vt:lpstr>Arial</vt:lpstr>
      <vt:lpstr>宋体</vt:lpstr>
      <vt:lpstr>Wingdings</vt:lpstr>
      <vt:lpstr>Arial</vt:lpstr>
      <vt:lpstr>Consolas</vt:lpstr>
      <vt:lpstr>Georgia</vt:lpstr>
      <vt:lpstr>Segoe UI</vt:lpstr>
      <vt:lpstr>Segoe UI</vt:lpstr>
      <vt:lpstr>Consolas</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沈瑞庭</cp:lastModifiedBy>
  <cp:revision>19</cp:revision>
  <dcterms:created xsi:type="dcterms:W3CDTF">2026-08-26T17:04:00Z</dcterms:created>
  <dcterms:modified xsi:type="dcterms:W3CDTF">2026-08-29T07:21:37Z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7BC8E20DF30147EDB3E070AB1FAADAD9_13</vt:lpwstr>
  </property>
  <property fmtid="{D5CDD505-2E9C-101B-9397-08002B2CF9AE}" pid="3" name="KSOProductBuildVer">
    <vt:lpwstr>2052-12.1.0.18276</vt:lpwstr>
  </property>
</Properties>
</file>