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571" r:id="rId2"/>
    <p:sldId id="305" r:id="rId3"/>
    <p:sldId id="304" r:id="rId4"/>
    <p:sldId id="573" r:id="rId5"/>
    <p:sldId id="575" r:id="rId6"/>
    <p:sldId id="578" r:id="rId7"/>
    <p:sldId id="577" r:id="rId8"/>
    <p:sldId id="576" r:id="rId9"/>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ooi Boon Goh" initials="WBG" lastIdx="1" clrIdx="0">
    <p:extLst>
      <p:ext uri="{19B8F6BF-5375-455C-9EA6-DF929625EA0E}">
        <p15:presenceInfo xmlns:p15="http://schemas.microsoft.com/office/powerpoint/2012/main" userId="S::aswbgoh@staff.main.ntu.edu.sg::e7aa49db-7ce0-4d20-9747-01de960987c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CCCCFF"/>
    <a:srgbClr val="CCFFFF"/>
    <a:srgbClr val="FFFFCC"/>
    <a:srgbClr val="FFFF99"/>
    <a:srgbClr val="FFCCFF"/>
    <a:srgbClr val="CCFFCC"/>
    <a:srgbClr val="990000"/>
    <a:srgbClr val="00CC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6231" autoAdjust="0"/>
    <p:restoredTop sz="90823" autoAdjust="0"/>
  </p:normalViewPr>
  <p:slideViewPr>
    <p:cSldViewPr snapToGrid="0">
      <p:cViewPr varScale="1">
        <p:scale>
          <a:sx n="54" d="100"/>
          <a:sy n="54" d="100"/>
        </p:scale>
        <p:origin x="1032" y="52"/>
      </p:cViewPr>
      <p:guideLst/>
    </p:cSldViewPr>
  </p:slideViewPr>
  <p:notesTextViewPr>
    <p:cViewPr>
      <p:scale>
        <a:sx n="1" d="1"/>
        <a:sy n="1" d="1"/>
      </p:scale>
      <p:origin x="0" y="0"/>
    </p:cViewPr>
  </p:notesTextViewPr>
  <p:notesViewPr>
    <p:cSldViewPr snapToGrid="0">
      <p:cViewPr>
        <p:scale>
          <a:sx n="40" d="100"/>
          <a:sy n="40" d="100"/>
        </p:scale>
        <p:origin x="287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8135"/>
          </a:xfrm>
          <a:prstGeom prst="rect">
            <a:avLst/>
          </a:prstGeom>
        </p:spPr>
        <p:txBody>
          <a:bodyPr vert="horz" lIns="91433" tIns="45717" rIns="91433" bIns="45717" rtlCol="0"/>
          <a:lstStyle>
            <a:lvl1pPr algn="l">
              <a:defRPr sz="1200"/>
            </a:lvl1pPr>
          </a:lstStyle>
          <a:p>
            <a:endParaRPr lang="en-SG"/>
          </a:p>
        </p:txBody>
      </p:sp>
      <p:sp>
        <p:nvSpPr>
          <p:cNvPr id="3" name="Date Placeholder 2"/>
          <p:cNvSpPr>
            <a:spLocks noGrp="1"/>
          </p:cNvSpPr>
          <p:nvPr>
            <p:ph type="dt" idx="1"/>
          </p:nvPr>
        </p:nvSpPr>
        <p:spPr>
          <a:xfrm>
            <a:off x="3850444" y="0"/>
            <a:ext cx="2945659" cy="498135"/>
          </a:xfrm>
          <a:prstGeom prst="rect">
            <a:avLst/>
          </a:prstGeom>
        </p:spPr>
        <p:txBody>
          <a:bodyPr vert="horz" lIns="91433" tIns="45717" rIns="91433" bIns="45717" rtlCol="0"/>
          <a:lstStyle>
            <a:lvl1pPr algn="r">
              <a:defRPr sz="1200"/>
            </a:lvl1pPr>
          </a:lstStyle>
          <a:p>
            <a:fld id="{BB6DE9D2-2689-4A49-9AFA-266EE861AC1B}" type="datetimeFigureOut">
              <a:rPr lang="en-SG" smtClean="0"/>
              <a:t>31/12/2025</a:t>
            </a:fld>
            <a:endParaRPr lang="en-SG"/>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33" tIns="45717" rIns="91433" bIns="45717" rtlCol="0" anchor="ctr"/>
          <a:lstStyle/>
          <a:p>
            <a:endParaRPr lang="en-SG"/>
          </a:p>
        </p:txBody>
      </p:sp>
      <p:sp>
        <p:nvSpPr>
          <p:cNvPr id="5" name="Notes Placeholder 4"/>
          <p:cNvSpPr>
            <a:spLocks noGrp="1"/>
          </p:cNvSpPr>
          <p:nvPr>
            <p:ph type="body" sz="quarter" idx="3"/>
          </p:nvPr>
        </p:nvSpPr>
        <p:spPr>
          <a:xfrm>
            <a:off x="679768" y="4777959"/>
            <a:ext cx="5438140" cy="3909239"/>
          </a:xfrm>
          <a:prstGeom prst="rect">
            <a:avLst/>
          </a:prstGeom>
        </p:spPr>
        <p:txBody>
          <a:bodyPr vert="horz" lIns="91433" tIns="45717" rIns="91433" bIns="4571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1" y="9430091"/>
            <a:ext cx="2945659" cy="498134"/>
          </a:xfrm>
          <a:prstGeom prst="rect">
            <a:avLst/>
          </a:prstGeom>
        </p:spPr>
        <p:txBody>
          <a:bodyPr vert="horz" lIns="91433" tIns="45717" rIns="91433" bIns="45717" rtlCol="0" anchor="b"/>
          <a:lstStyle>
            <a:lvl1pPr algn="l">
              <a:defRPr sz="1200"/>
            </a:lvl1pPr>
          </a:lstStyle>
          <a:p>
            <a:endParaRPr lang="en-SG"/>
          </a:p>
        </p:txBody>
      </p:sp>
      <p:sp>
        <p:nvSpPr>
          <p:cNvPr id="7" name="Slide Number Placeholder 6"/>
          <p:cNvSpPr>
            <a:spLocks noGrp="1"/>
          </p:cNvSpPr>
          <p:nvPr>
            <p:ph type="sldNum" sz="quarter" idx="5"/>
          </p:nvPr>
        </p:nvSpPr>
        <p:spPr>
          <a:xfrm>
            <a:off x="3850444" y="9430091"/>
            <a:ext cx="2945659" cy="498134"/>
          </a:xfrm>
          <a:prstGeom prst="rect">
            <a:avLst/>
          </a:prstGeom>
        </p:spPr>
        <p:txBody>
          <a:bodyPr vert="horz" lIns="91433" tIns="45717" rIns="91433" bIns="45717" rtlCol="0" anchor="b"/>
          <a:lstStyle>
            <a:lvl1pPr algn="r">
              <a:defRPr sz="1200"/>
            </a:lvl1pPr>
          </a:lstStyle>
          <a:p>
            <a:fld id="{29BB6199-EBD7-4C5A-AD90-924BD363A649}" type="slidenum">
              <a:rPr lang="en-SG" smtClean="0"/>
              <a:t>‹#›</a:t>
            </a:fld>
            <a:endParaRPr lang="en-SG"/>
          </a:p>
        </p:txBody>
      </p:sp>
    </p:spTree>
    <p:extLst>
      <p:ext uri="{BB962C8B-B14F-4D97-AF65-F5344CB8AC3E}">
        <p14:creationId xmlns:p14="http://schemas.microsoft.com/office/powerpoint/2010/main" val="3529728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dirty="0">
                <a:latin typeface="Arial Narrow" panose="020B0606020202030204" pitchFamily="34" charset="0"/>
              </a:rPr>
              <a:t>You can summarise here what was the contribution and focus of each group member in this group assignment. </a:t>
            </a:r>
            <a:endParaRPr lang="en-SG" dirty="0"/>
          </a:p>
        </p:txBody>
      </p:sp>
      <p:sp>
        <p:nvSpPr>
          <p:cNvPr id="4" name="Slide Number Placeholder 3"/>
          <p:cNvSpPr>
            <a:spLocks noGrp="1"/>
          </p:cNvSpPr>
          <p:nvPr>
            <p:ph type="sldNum" sz="quarter" idx="5"/>
          </p:nvPr>
        </p:nvSpPr>
        <p:spPr/>
        <p:txBody>
          <a:bodyPr/>
          <a:lstStyle/>
          <a:p>
            <a:fld id="{29BB6199-EBD7-4C5A-AD90-924BD363A649}" type="slidenum">
              <a:rPr lang="en-SG" smtClean="0"/>
              <a:t>1</a:t>
            </a:fld>
            <a:endParaRPr lang="en-SG"/>
          </a:p>
        </p:txBody>
      </p:sp>
    </p:spTree>
    <p:extLst>
      <p:ext uri="{BB962C8B-B14F-4D97-AF65-F5344CB8AC3E}">
        <p14:creationId xmlns:p14="http://schemas.microsoft.com/office/powerpoint/2010/main" val="3732330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dirty="0">
                <a:latin typeface="Arial Narrow" panose="020B0606020202030204" pitchFamily="34" charset="0"/>
              </a:rPr>
              <a:t>You can summarise here what was the number of slides allocated for each of the topics covered. Give an estimated presentation time for each person and what topic he or she will be covering. Your total presentation time</a:t>
            </a:r>
          </a:p>
          <a:p>
            <a:endParaRPr lang="en-SG" dirty="0"/>
          </a:p>
        </p:txBody>
      </p:sp>
      <p:sp>
        <p:nvSpPr>
          <p:cNvPr id="4" name="Slide Number Placeholder 3"/>
          <p:cNvSpPr>
            <a:spLocks noGrp="1"/>
          </p:cNvSpPr>
          <p:nvPr>
            <p:ph type="sldNum" sz="quarter" idx="5"/>
          </p:nvPr>
        </p:nvSpPr>
        <p:spPr/>
        <p:txBody>
          <a:bodyPr/>
          <a:lstStyle/>
          <a:p>
            <a:fld id="{29BB6199-EBD7-4C5A-AD90-924BD363A649}" type="slidenum">
              <a:rPr lang="en-SG" smtClean="0"/>
              <a:t>2</a:t>
            </a:fld>
            <a:endParaRPr lang="en-SG"/>
          </a:p>
        </p:txBody>
      </p:sp>
    </p:spTree>
    <p:extLst>
      <p:ext uri="{BB962C8B-B14F-4D97-AF65-F5344CB8AC3E}">
        <p14:creationId xmlns:p14="http://schemas.microsoft.com/office/powerpoint/2010/main" val="721733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77958"/>
            <a:ext cx="5438140" cy="4929567"/>
          </a:xfrm>
        </p:spPr>
        <p:txBody>
          <a:bodyPr/>
          <a:lstStyle/>
          <a:p>
            <a:r>
              <a:rPr lang="en-SG" sz="1100" dirty="0">
                <a:latin typeface="Arial Narrow" panose="020B0606020202030204" pitchFamily="34" charset="0"/>
              </a:rPr>
              <a:t>Ensure that all slides are well-narrated and appropriately described in these notes. You can write the notes as if you will be presenting the contents of the slides. If there are animated sequencing in your slides, you can use a (</a:t>
            </a:r>
            <a:r>
              <a:rPr lang="en-SG" sz="1100" b="1" dirty="0">
                <a:latin typeface="Arial Narrow" panose="020B0606020202030204" pitchFamily="34" charset="0"/>
              </a:rPr>
              <a:t>Click</a:t>
            </a:r>
            <a:r>
              <a:rPr lang="en-SG" sz="1100" dirty="0">
                <a:latin typeface="Arial Narrow" panose="020B0606020202030204" pitchFamily="34" charset="0"/>
              </a:rPr>
              <a:t>) marker on a new line to indicate the transition. </a:t>
            </a:r>
          </a:p>
          <a:p>
            <a:r>
              <a:rPr lang="en-SG" sz="1100" dirty="0">
                <a:latin typeface="Arial Narrow" panose="020B0606020202030204" pitchFamily="34" charset="0"/>
              </a:rPr>
              <a:t>If possible, keep all your notes within one page for each slide. You can reduce to fonts to 10 point but no smaller. </a:t>
            </a:r>
          </a:p>
        </p:txBody>
      </p:sp>
      <p:sp>
        <p:nvSpPr>
          <p:cNvPr id="4" name="Slide Number Placeholder 3"/>
          <p:cNvSpPr>
            <a:spLocks noGrp="1"/>
          </p:cNvSpPr>
          <p:nvPr>
            <p:ph type="sldNum" sz="quarter" idx="5"/>
          </p:nvPr>
        </p:nvSpPr>
        <p:spPr/>
        <p:txBody>
          <a:bodyPr/>
          <a:lstStyle/>
          <a:p>
            <a:fld id="{29BB6199-EBD7-4C5A-AD90-924BD363A649}" type="slidenum">
              <a:rPr lang="en-SG" smtClean="0"/>
              <a:t>3</a:t>
            </a:fld>
            <a:endParaRPr lang="en-SG"/>
          </a:p>
        </p:txBody>
      </p:sp>
    </p:spTree>
    <p:extLst>
      <p:ext uri="{BB962C8B-B14F-4D97-AF65-F5344CB8AC3E}">
        <p14:creationId xmlns:p14="http://schemas.microsoft.com/office/powerpoint/2010/main" val="2219373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F92AD-725B-009A-9856-D48DB113E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A0369-92BA-2700-0E9E-BFBB59C83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0CEB54-DB8E-3671-0826-B43CB5ECB7EF}"/>
              </a:ext>
            </a:extLst>
          </p:cNvPr>
          <p:cNvSpPr>
            <a:spLocks noGrp="1"/>
          </p:cNvSpPr>
          <p:nvPr>
            <p:ph type="body" idx="1"/>
          </p:nvPr>
        </p:nvSpPr>
        <p:spPr>
          <a:xfrm>
            <a:off x="679768" y="4777958"/>
            <a:ext cx="5438140" cy="4929567"/>
          </a:xfrm>
        </p:spPr>
        <p:txBody>
          <a:bodyPr/>
          <a:lstStyle/>
          <a:p>
            <a:r>
              <a:rPr lang="en-SG" sz="1100" dirty="0">
                <a:latin typeface="Arial Narrow" panose="020B0606020202030204" pitchFamily="34" charset="0"/>
              </a:rPr>
              <a:t>Ensure that all slides are well-narrated and appropriately described in these notes. You can write the notes as if you will be presenting the contents of the slides. If there are animated sequencing in your slides, you can use a (</a:t>
            </a:r>
            <a:r>
              <a:rPr lang="en-SG" sz="1100" b="1" dirty="0">
                <a:latin typeface="Arial Narrow" panose="020B0606020202030204" pitchFamily="34" charset="0"/>
              </a:rPr>
              <a:t>Click</a:t>
            </a:r>
            <a:r>
              <a:rPr lang="en-SG" sz="1100" dirty="0">
                <a:latin typeface="Arial Narrow" panose="020B0606020202030204" pitchFamily="34" charset="0"/>
              </a:rPr>
              <a:t>) marker on a new line to indicate the transition. </a:t>
            </a:r>
          </a:p>
          <a:p>
            <a:r>
              <a:rPr lang="en-SG" sz="1100" dirty="0">
                <a:latin typeface="Arial Narrow" panose="020B0606020202030204" pitchFamily="34" charset="0"/>
              </a:rPr>
              <a:t>If possible, keep all your notes within one page for each slide. You can reduce to fonts to 10 point but no smaller. </a:t>
            </a:r>
          </a:p>
        </p:txBody>
      </p:sp>
      <p:sp>
        <p:nvSpPr>
          <p:cNvPr id="4" name="Slide Number Placeholder 3">
            <a:extLst>
              <a:ext uri="{FF2B5EF4-FFF2-40B4-BE49-F238E27FC236}">
                <a16:creationId xmlns:a16="http://schemas.microsoft.com/office/drawing/2014/main" id="{A6379621-7F3A-6DE0-D531-B3EFE74489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BB6199-EBD7-4C5A-AD90-924BD363A649}"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6076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2E406-94DA-473A-764C-8BCFFFBE72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D1BFAD-BF95-75BA-D3BD-710DB53B62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2F39D8-1365-2709-520F-FCB2CDEA5DD0}"/>
              </a:ext>
            </a:extLst>
          </p:cNvPr>
          <p:cNvSpPr>
            <a:spLocks noGrp="1"/>
          </p:cNvSpPr>
          <p:nvPr>
            <p:ph type="body" idx="1"/>
          </p:nvPr>
        </p:nvSpPr>
        <p:spPr>
          <a:xfrm>
            <a:off x="679768" y="4777958"/>
            <a:ext cx="5438140" cy="4929567"/>
          </a:xfrm>
        </p:spPr>
        <p:txBody>
          <a:bodyPr/>
          <a:lstStyle/>
          <a:p>
            <a:r>
              <a:rPr lang="en-SG" sz="1100" dirty="0">
                <a:latin typeface="Arial Narrow" panose="020B0606020202030204" pitchFamily="34" charset="0"/>
              </a:rPr>
              <a:t>Ensure that all slides are well-narrated and appropriately described in these notes. You can write the notes as if you will be presenting the contents of the slides. If there are animated sequencing in your slides, you can use a (</a:t>
            </a:r>
            <a:r>
              <a:rPr lang="en-SG" sz="1100" b="1" dirty="0">
                <a:latin typeface="Arial Narrow" panose="020B0606020202030204" pitchFamily="34" charset="0"/>
              </a:rPr>
              <a:t>Click</a:t>
            </a:r>
            <a:r>
              <a:rPr lang="en-SG" sz="1100" dirty="0">
                <a:latin typeface="Arial Narrow" panose="020B0606020202030204" pitchFamily="34" charset="0"/>
              </a:rPr>
              <a:t>) marker on a new line to indicate the transition. </a:t>
            </a:r>
          </a:p>
          <a:p>
            <a:r>
              <a:rPr lang="en-SG" sz="1100" dirty="0">
                <a:latin typeface="Arial Narrow" panose="020B0606020202030204" pitchFamily="34" charset="0"/>
              </a:rPr>
              <a:t>If possible, keep all your notes within one page for each slide. You can reduce to fonts to 10 point but no smaller. </a:t>
            </a:r>
          </a:p>
        </p:txBody>
      </p:sp>
      <p:sp>
        <p:nvSpPr>
          <p:cNvPr id="4" name="Slide Number Placeholder 3">
            <a:extLst>
              <a:ext uri="{FF2B5EF4-FFF2-40B4-BE49-F238E27FC236}">
                <a16:creationId xmlns:a16="http://schemas.microsoft.com/office/drawing/2014/main" id="{CC316A27-4BA8-8A48-28FB-BDB37072CC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BB6199-EBD7-4C5A-AD90-924BD363A649}"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4012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7BAC7-A5D9-F242-9CBD-0674FC1AB3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6D3EE-E509-9E65-CE6E-4EE81FD47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5699A-EDE2-6983-AF52-FD169CF004DA}"/>
              </a:ext>
            </a:extLst>
          </p:cNvPr>
          <p:cNvSpPr>
            <a:spLocks noGrp="1"/>
          </p:cNvSpPr>
          <p:nvPr>
            <p:ph type="body" idx="1"/>
          </p:nvPr>
        </p:nvSpPr>
        <p:spPr>
          <a:xfrm>
            <a:off x="679768" y="4777958"/>
            <a:ext cx="5438140" cy="4929567"/>
          </a:xfrm>
        </p:spPr>
        <p:txBody>
          <a:bodyPr/>
          <a:lstStyle/>
          <a:p>
            <a:r>
              <a:rPr lang="en-SG" sz="1100" dirty="0">
                <a:latin typeface="Arial Narrow" panose="020B0606020202030204" pitchFamily="34" charset="0"/>
              </a:rPr>
              <a:t>Ensure that all slides are well-narrated and appropriately described in these notes. You can write the notes as if you will be presenting the contents of the slides. If there are animated sequencing in your slides, you can use a (</a:t>
            </a:r>
            <a:r>
              <a:rPr lang="en-SG" sz="1100" b="1" dirty="0">
                <a:latin typeface="Arial Narrow" panose="020B0606020202030204" pitchFamily="34" charset="0"/>
              </a:rPr>
              <a:t>Click</a:t>
            </a:r>
            <a:r>
              <a:rPr lang="en-SG" sz="1100" dirty="0">
                <a:latin typeface="Arial Narrow" panose="020B0606020202030204" pitchFamily="34" charset="0"/>
              </a:rPr>
              <a:t>) marker on a new line to indicate the transition. </a:t>
            </a:r>
          </a:p>
          <a:p>
            <a:r>
              <a:rPr lang="en-SG" sz="1100" dirty="0">
                <a:latin typeface="Arial Narrow" panose="020B0606020202030204" pitchFamily="34" charset="0"/>
              </a:rPr>
              <a:t>If possible, keep all your notes within one page for each slide. You can reduce to fonts to 10 point but no smaller. </a:t>
            </a:r>
          </a:p>
        </p:txBody>
      </p:sp>
      <p:sp>
        <p:nvSpPr>
          <p:cNvPr id="4" name="Slide Number Placeholder 3">
            <a:extLst>
              <a:ext uri="{FF2B5EF4-FFF2-40B4-BE49-F238E27FC236}">
                <a16:creationId xmlns:a16="http://schemas.microsoft.com/office/drawing/2014/main" id="{43B362E1-ED8C-DB02-D3EF-8919DBD421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BB6199-EBD7-4C5A-AD90-924BD363A649}"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2249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6EBE1-3074-D998-A3B8-C0F2DBA77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C9602D-A040-CD29-1952-CC7511607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7F0DB9-3872-8576-B46E-E3A1885A6265}"/>
              </a:ext>
            </a:extLst>
          </p:cNvPr>
          <p:cNvSpPr>
            <a:spLocks noGrp="1"/>
          </p:cNvSpPr>
          <p:nvPr>
            <p:ph type="body" idx="1"/>
          </p:nvPr>
        </p:nvSpPr>
        <p:spPr>
          <a:xfrm>
            <a:off x="679768" y="4777958"/>
            <a:ext cx="5438140" cy="4929567"/>
          </a:xfrm>
        </p:spPr>
        <p:txBody>
          <a:bodyPr/>
          <a:lstStyle/>
          <a:p>
            <a:r>
              <a:rPr lang="en-SG" sz="1100" dirty="0">
                <a:latin typeface="Arial Narrow" panose="020B0606020202030204" pitchFamily="34" charset="0"/>
              </a:rPr>
              <a:t>Ensure that all slides are well-narrated and appropriately described in these notes. You can write the notes as if you will be presenting the contents of the slides. If there are animated sequencing in your slides, you can use a (</a:t>
            </a:r>
            <a:r>
              <a:rPr lang="en-SG" sz="1100" b="1" dirty="0">
                <a:latin typeface="Arial Narrow" panose="020B0606020202030204" pitchFamily="34" charset="0"/>
              </a:rPr>
              <a:t>Click</a:t>
            </a:r>
            <a:r>
              <a:rPr lang="en-SG" sz="1100" dirty="0">
                <a:latin typeface="Arial Narrow" panose="020B0606020202030204" pitchFamily="34" charset="0"/>
              </a:rPr>
              <a:t>) marker on a new line to indicate the transition. </a:t>
            </a:r>
          </a:p>
          <a:p>
            <a:r>
              <a:rPr lang="en-SG" sz="1100" dirty="0">
                <a:latin typeface="Arial Narrow" panose="020B0606020202030204" pitchFamily="34" charset="0"/>
              </a:rPr>
              <a:t>If possible, keep all your notes within one page for each slide. You can reduce to fonts to 10 point but no smaller. </a:t>
            </a:r>
          </a:p>
        </p:txBody>
      </p:sp>
      <p:sp>
        <p:nvSpPr>
          <p:cNvPr id="4" name="Slide Number Placeholder 3">
            <a:extLst>
              <a:ext uri="{FF2B5EF4-FFF2-40B4-BE49-F238E27FC236}">
                <a16:creationId xmlns:a16="http://schemas.microsoft.com/office/drawing/2014/main" id="{326D667B-5014-4E5B-36FB-E26426650F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BB6199-EBD7-4C5A-AD90-924BD363A649}"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96198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2D2DE-128E-F3B9-C167-FA9227DD3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3F520A-0FC0-08D5-9173-159130D0DA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4D845-2732-BC43-391D-4C76DB56C748}"/>
              </a:ext>
            </a:extLst>
          </p:cNvPr>
          <p:cNvSpPr>
            <a:spLocks noGrp="1"/>
          </p:cNvSpPr>
          <p:nvPr>
            <p:ph type="body" idx="1"/>
          </p:nvPr>
        </p:nvSpPr>
        <p:spPr>
          <a:xfrm>
            <a:off x="679768" y="4777958"/>
            <a:ext cx="5438140" cy="4929567"/>
          </a:xfrm>
        </p:spPr>
        <p:txBody>
          <a:bodyPr/>
          <a:lstStyle/>
          <a:p>
            <a:r>
              <a:rPr lang="en-SG" sz="1100" dirty="0">
                <a:latin typeface="Arial Narrow" panose="020B0606020202030204" pitchFamily="34" charset="0"/>
              </a:rPr>
              <a:t>Ensure that all slides are well-narrated and appropriately described in these notes. You can write the notes as if you will be presenting the contents of the slides. If there are animated sequencing in your slides, you can use a (</a:t>
            </a:r>
            <a:r>
              <a:rPr lang="en-SG" sz="1100" b="1" dirty="0">
                <a:latin typeface="Arial Narrow" panose="020B0606020202030204" pitchFamily="34" charset="0"/>
              </a:rPr>
              <a:t>Click</a:t>
            </a:r>
            <a:r>
              <a:rPr lang="en-SG" sz="1100" dirty="0">
                <a:latin typeface="Arial Narrow" panose="020B0606020202030204" pitchFamily="34" charset="0"/>
              </a:rPr>
              <a:t>) marker on a new line to indicate the transition. </a:t>
            </a:r>
          </a:p>
          <a:p>
            <a:r>
              <a:rPr lang="en-SG" sz="1100" dirty="0">
                <a:latin typeface="Arial Narrow" panose="020B0606020202030204" pitchFamily="34" charset="0"/>
              </a:rPr>
              <a:t>If possible, keep all your notes within one page for each slide. You can reduce to fonts to 10 point but no smaller. </a:t>
            </a:r>
          </a:p>
        </p:txBody>
      </p:sp>
      <p:sp>
        <p:nvSpPr>
          <p:cNvPr id="4" name="Slide Number Placeholder 3">
            <a:extLst>
              <a:ext uri="{FF2B5EF4-FFF2-40B4-BE49-F238E27FC236}">
                <a16:creationId xmlns:a16="http://schemas.microsoft.com/office/drawing/2014/main" id="{CF3747A7-27C0-4810-968B-242DBF5A12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BB6199-EBD7-4C5A-AD90-924BD363A649}"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4725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267D5-2E00-4FBE-822D-6381C5624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1E3E57BE-2A89-4EEC-AA68-F301690333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0EA5CBD-F562-4E52-AF59-349C526E68B5}"/>
              </a:ext>
            </a:extLst>
          </p:cNvPr>
          <p:cNvSpPr>
            <a:spLocks noGrp="1"/>
          </p:cNvSpPr>
          <p:nvPr>
            <p:ph type="dt" sz="half" idx="10"/>
          </p:nvPr>
        </p:nvSpPr>
        <p:spPr/>
        <p:txBody>
          <a:bodyPr/>
          <a:lstStyle/>
          <a:p>
            <a:fld id="{54D28968-2D6D-48A2-B9D0-F55DF243ED4A}" type="datetime1">
              <a:rPr lang="en-SG" smtClean="0"/>
              <a:t>31/12/2025</a:t>
            </a:fld>
            <a:endParaRPr lang="en-SG"/>
          </a:p>
        </p:txBody>
      </p:sp>
      <p:sp>
        <p:nvSpPr>
          <p:cNvPr id="5" name="Footer Placeholder 4">
            <a:extLst>
              <a:ext uri="{FF2B5EF4-FFF2-40B4-BE49-F238E27FC236}">
                <a16:creationId xmlns:a16="http://schemas.microsoft.com/office/drawing/2014/main" id="{A882737E-B083-4635-BA0E-F1073AA98B9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8871F23-94F2-4D70-8757-1B7FA929E282}"/>
              </a:ext>
            </a:extLst>
          </p:cNvPr>
          <p:cNvSpPr>
            <a:spLocks noGrp="1"/>
          </p:cNvSpPr>
          <p:nvPr>
            <p:ph type="sldNum" sz="quarter" idx="12"/>
          </p:nvPr>
        </p:nvSpPr>
        <p:spPr/>
        <p:txBody>
          <a:bodyPr/>
          <a:lstStyle/>
          <a:p>
            <a:fld id="{C55F2AC1-5349-40F4-976A-E0D325BAD41D}" type="slidenum">
              <a:rPr lang="en-SG" smtClean="0"/>
              <a:t>‹#›</a:t>
            </a:fld>
            <a:endParaRPr lang="en-SG"/>
          </a:p>
        </p:txBody>
      </p:sp>
    </p:spTree>
    <p:extLst>
      <p:ext uri="{BB962C8B-B14F-4D97-AF65-F5344CB8AC3E}">
        <p14:creationId xmlns:p14="http://schemas.microsoft.com/office/powerpoint/2010/main" val="4081819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CC28D-9054-4BFB-94EF-04872F666C32}"/>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C0EA3632-6368-48D5-A35C-08D193B215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E5D03AC7-26EB-4621-8DCF-B6E09A00A7BC}"/>
              </a:ext>
            </a:extLst>
          </p:cNvPr>
          <p:cNvSpPr>
            <a:spLocks noGrp="1"/>
          </p:cNvSpPr>
          <p:nvPr>
            <p:ph type="dt" sz="half" idx="10"/>
          </p:nvPr>
        </p:nvSpPr>
        <p:spPr/>
        <p:txBody>
          <a:bodyPr/>
          <a:lstStyle/>
          <a:p>
            <a:fld id="{228C1780-0C29-4D1C-AB97-38613CB3A71B}" type="datetime1">
              <a:rPr lang="en-SG" smtClean="0"/>
              <a:t>31/12/2025</a:t>
            </a:fld>
            <a:endParaRPr lang="en-SG"/>
          </a:p>
        </p:txBody>
      </p:sp>
      <p:sp>
        <p:nvSpPr>
          <p:cNvPr id="5" name="Footer Placeholder 4">
            <a:extLst>
              <a:ext uri="{FF2B5EF4-FFF2-40B4-BE49-F238E27FC236}">
                <a16:creationId xmlns:a16="http://schemas.microsoft.com/office/drawing/2014/main" id="{FCFDC6EC-2DAD-4DD8-A04A-0102B134F4E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ADECFE7-F624-482F-95B2-938451A4B6EC}"/>
              </a:ext>
            </a:extLst>
          </p:cNvPr>
          <p:cNvSpPr>
            <a:spLocks noGrp="1"/>
          </p:cNvSpPr>
          <p:nvPr>
            <p:ph type="sldNum" sz="quarter" idx="12"/>
          </p:nvPr>
        </p:nvSpPr>
        <p:spPr/>
        <p:txBody>
          <a:bodyPr/>
          <a:lstStyle/>
          <a:p>
            <a:fld id="{C55F2AC1-5349-40F4-976A-E0D325BAD41D}" type="slidenum">
              <a:rPr lang="en-SG" smtClean="0"/>
              <a:t>‹#›</a:t>
            </a:fld>
            <a:endParaRPr lang="en-SG"/>
          </a:p>
        </p:txBody>
      </p:sp>
    </p:spTree>
    <p:extLst>
      <p:ext uri="{BB962C8B-B14F-4D97-AF65-F5344CB8AC3E}">
        <p14:creationId xmlns:p14="http://schemas.microsoft.com/office/powerpoint/2010/main" val="24133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BFA40-5314-4C88-BC07-63BB7E557C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11DB8E47-132C-4C2D-8CE1-60FAE8575A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D76779-94B8-4804-B499-125091D2C3CA}"/>
              </a:ext>
            </a:extLst>
          </p:cNvPr>
          <p:cNvSpPr>
            <a:spLocks noGrp="1"/>
          </p:cNvSpPr>
          <p:nvPr>
            <p:ph type="dt" sz="half" idx="10"/>
          </p:nvPr>
        </p:nvSpPr>
        <p:spPr/>
        <p:txBody>
          <a:bodyPr/>
          <a:lstStyle/>
          <a:p>
            <a:fld id="{1E6AE7E8-3716-469C-989E-87A700822FC8}" type="datetime1">
              <a:rPr lang="en-SG" smtClean="0"/>
              <a:t>31/12/2025</a:t>
            </a:fld>
            <a:endParaRPr lang="en-SG"/>
          </a:p>
        </p:txBody>
      </p:sp>
      <p:sp>
        <p:nvSpPr>
          <p:cNvPr id="5" name="Footer Placeholder 4">
            <a:extLst>
              <a:ext uri="{FF2B5EF4-FFF2-40B4-BE49-F238E27FC236}">
                <a16:creationId xmlns:a16="http://schemas.microsoft.com/office/drawing/2014/main" id="{A8831A9A-458B-4BBD-9139-955926815160}"/>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70D720B-6C64-4E17-B1BE-15FEA5BB9754}"/>
              </a:ext>
            </a:extLst>
          </p:cNvPr>
          <p:cNvSpPr>
            <a:spLocks noGrp="1"/>
          </p:cNvSpPr>
          <p:nvPr>
            <p:ph type="sldNum" sz="quarter" idx="12"/>
          </p:nvPr>
        </p:nvSpPr>
        <p:spPr/>
        <p:txBody>
          <a:bodyPr/>
          <a:lstStyle/>
          <a:p>
            <a:fld id="{C55F2AC1-5349-40F4-976A-E0D325BAD41D}" type="slidenum">
              <a:rPr lang="en-SG" smtClean="0"/>
              <a:t>‹#›</a:t>
            </a:fld>
            <a:endParaRPr lang="en-SG"/>
          </a:p>
        </p:txBody>
      </p:sp>
    </p:spTree>
    <p:extLst>
      <p:ext uri="{BB962C8B-B14F-4D97-AF65-F5344CB8AC3E}">
        <p14:creationId xmlns:p14="http://schemas.microsoft.com/office/powerpoint/2010/main" val="4276648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C0592-E81E-4A45-9C3D-E4E87B70BB75}"/>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0F79E3E3-6DEA-4D15-A39E-B62D97DCCE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5D81A704-23CE-423E-80F6-A19B00E239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8ECEE571-E053-4759-82DE-4EC10640C35A}"/>
              </a:ext>
            </a:extLst>
          </p:cNvPr>
          <p:cNvSpPr>
            <a:spLocks noGrp="1"/>
          </p:cNvSpPr>
          <p:nvPr>
            <p:ph type="dt" sz="half" idx="10"/>
          </p:nvPr>
        </p:nvSpPr>
        <p:spPr/>
        <p:txBody>
          <a:bodyPr/>
          <a:lstStyle/>
          <a:p>
            <a:fld id="{6C0DE861-2440-4F5E-88B3-6FDE4E57ECD4}" type="datetime1">
              <a:rPr lang="en-SG" smtClean="0"/>
              <a:t>31/12/2025</a:t>
            </a:fld>
            <a:endParaRPr lang="en-SG"/>
          </a:p>
        </p:txBody>
      </p:sp>
      <p:sp>
        <p:nvSpPr>
          <p:cNvPr id="6" name="Footer Placeholder 5">
            <a:extLst>
              <a:ext uri="{FF2B5EF4-FFF2-40B4-BE49-F238E27FC236}">
                <a16:creationId xmlns:a16="http://schemas.microsoft.com/office/drawing/2014/main" id="{06F4E671-0BF8-4F83-952A-D102866C366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4FCE9A6F-2C8B-4C58-BBA2-BC9A84D69640}"/>
              </a:ext>
            </a:extLst>
          </p:cNvPr>
          <p:cNvSpPr>
            <a:spLocks noGrp="1"/>
          </p:cNvSpPr>
          <p:nvPr>
            <p:ph type="sldNum" sz="quarter" idx="12"/>
          </p:nvPr>
        </p:nvSpPr>
        <p:spPr/>
        <p:txBody>
          <a:bodyPr/>
          <a:lstStyle/>
          <a:p>
            <a:fld id="{C55F2AC1-5349-40F4-976A-E0D325BAD41D}" type="slidenum">
              <a:rPr lang="en-SG" smtClean="0"/>
              <a:t>‹#›</a:t>
            </a:fld>
            <a:endParaRPr lang="en-SG"/>
          </a:p>
        </p:txBody>
      </p:sp>
    </p:spTree>
    <p:extLst>
      <p:ext uri="{BB962C8B-B14F-4D97-AF65-F5344CB8AC3E}">
        <p14:creationId xmlns:p14="http://schemas.microsoft.com/office/powerpoint/2010/main" val="934445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0D5F5-AF04-49C2-A529-C80E881215D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0CEF52D8-1CC9-4B55-81F8-28254274B1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227795-2D83-452C-905D-7ADF3C86D5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6E57276C-A8F3-4097-B9E5-3845B24A0B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470DD1-BA5D-46FC-9D24-30B45955D4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37D7CBB5-0EF6-4CCF-9B2D-B13045BB9F37}"/>
              </a:ext>
            </a:extLst>
          </p:cNvPr>
          <p:cNvSpPr>
            <a:spLocks noGrp="1"/>
          </p:cNvSpPr>
          <p:nvPr>
            <p:ph type="dt" sz="half" idx="10"/>
          </p:nvPr>
        </p:nvSpPr>
        <p:spPr/>
        <p:txBody>
          <a:bodyPr/>
          <a:lstStyle/>
          <a:p>
            <a:fld id="{1F805EA7-111E-4CDD-9BA2-5013606D53E8}" type="datetime1">
              <a:rPr lang="en-SG" smtClean="0"/>
              <a:t>31/12/2025</a:t>
            </a:fld>
            <a:endParaRPr lang="en-SG"/>
          </a:p>
        </p:txBody>
      </p:sp>
      <p:sp>
        <p:nvSpPr>
          <p:cNvPr id="8" name="Footer Placeholder 7">
            <a:extLst>
              <a:ext uri="{FF2B5EF4-FFF2-40B4-BE49-F238E27FC236}">
                <a16:creationId xmlns:a16="http://schemas.microsoft.com/office/drawing/2014/main" id="{83FB74C9-B197-45FE-BDBA-1A921863C4AE}"/>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2B1F55BC-B94D-4D8A-87A0-913545601EFE}"/>
              </a:ext>
            </a:extLst>
          </p:cNvPr>
          <p:cNvSpPr>
            <a:spLocks noGrp="1"/>
          </p:cNvSpPr>
          <p:nvPr>
            <p:ph type="sldNum" sz="quarter" idx="12"/>
          </p:nvPr>
        </p:nvSpPr>
        <p:spPr/>
        <p:txBody>
          <a:bodyPr/>
          <a:lstStyle/>
          <a:p>
            <a:fld id="{C55F2AC1-5349-40F4-976A-E0D325BAD41D}" type="slidenum">
              <a:rPr lang="en-SG" smtClean="0"/>
              <a:t>‹#›</a:t>
            </a:fld>
            <a:endParaRPr lang="en-SG"/>
          </a:p>
        </p:txBody>
      </p:sp>
    </p:spTree>
    <p:extLst>
      <p:ext uri="{BB962C8B-B14F-4D97-AF65-F5344CB8AC3E}">
        <p14:creationId xmlns:p14="http://schemas.microsoft.com/office/powerpoint/2010/main" val="405549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62CB0-0281-4006-ADC6-3A0401808BED}"/>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A1024ACF-2570-4F16-AF49-C834296EC613}"/>
              </a:ext>
            </a:extLst>
          </p:cNvPr>
          <p:cNvSpPr>
            <a:spLocks noGrp="1"/>
          </p:cNvSpPr>
          <p:nvPr>
            <p:ph type="dt" sz="half" idx="10"/>
          </p:nvPr>
        </p:nvSpPr>
        <p:spPr/>
        <p:txBody>
          <a:bodyPr/>
          <a:lstStyle/>
          <a:p>
            <a:fld id="{A16C0091-ECFB-4ECB-BB63-5B53D407EE7E}" type="datetime1">
              <a:rPr lang="en-SG" smtClean="0"/>
              <a:t>31/12/2025</a:t>
            </a:fld>
            <a:endParaRPr lang="en-SG"/>
          </a:p>
        </p:txBody>
      </p:sp>
      <p:sp>
        <p:nvSpPr>
          <p:cNvPr id="4" name="Footer Placeholder 3">
            <a:extLst>
              <a:ext uri="{FF2B5EF4-FFF2-40B4-BE49-F238E27FC236}">
                <a16:creationId xmlns:a16="http://schemas.microsoft.com/office/drawing/2014/main" id="{DED51BEC-C14B-48AA-9646-13A8A145CC96}"/>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67BE8B83-BB67-4D26-8F75-0C36D0633455}"/>
              </a:ext>
            </a:extLst>
          </p:cNvPr>
          <p:cNvSpPr>
            <a:spLocks noGrp="1"/>
          </p:cNvSpPr>
          <p:nvPr>
            <p:ph type="sldNum" sz="quarter" idx="12"/>
          </p:nvPr>
        </p:nvSpPr>
        <p:spPr/>
        <p:txBody>
          <a:bodyPr/>
          <a:lstStyle/>
          <a:p>
            <a:fld id="{C55F2AC1-5349-40F4-976A-E0D325BAD41D}" type="slidenum">
              <a:rPr lang="en-SG" smtClean="0"/>
              <a:t>‹#›</a:t>
            </a:fld>
            <a:endParaRPr lang="en-SG"/>
          </a:p>
        </p:txBody>
      </p:sp>
    </p:spTree>
    <p:extLst>
      <p:ext uri="{BB962C8B-B14F-4D97-AF65-F5344CB8AC3E}">
        <p14:creationId xmlns:p14="http://schemas.microsoft.com/office/powerpoint/2010/main" val="3085888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C6379E-5BDE-47EC-91D1-AA863588A324}"/>
              </a:ext>
            </a:extLst>
          </p:cNvPr>
          <p:cNvSpPr>
            <a:spLocks noGrp="1"/>
          </p:cNvSpPr>
          <p:nvPr>
            <p:ph type="dt" sz="half" idx="10"/>
          </p:nvPr>
        </p:nvSpPr>
        <p:spPr/>
        <p:txBody>
          <a:bodyPr/>
          <a:lstStyle/>
          <a:p>
            <a:fld id="{B1DFA363-8673-4E94-B192-6D142E51F388}" type="datetime1">
              <a:rPr lang="en-SG" smtClean="0"/>
              <a:t>31/12/2025</a:t>
            </a:fld>
            <a:endParaRPr lang="en-SG"/>
          </a:p>
        </p:txBody>
      </p:sp>
      <p:sp>
        <p:nvSpPr>
          <p:cNvPr id="3" name="Footer Placeholder 2">
            <a:extLst>
              <a:ext uri="{FF2B5EF4-FFF2-40B4-BE49-F238E27FC236}">
                <a16:creationId xmlns:a16="http://schemas.microsoft.com/office/drawing/2014/main" id="{5E7E1699-A541-44D9-9361-0619FDB374A8}"/>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7366F6C3-13BF-4E6C-A195-53CA86111252}"/>
              </a:ext>
            </a:extLst>
          </p:cNvPr>
          <p:cNvSpPr>
            <a:spLocks noGrp="1"/>
          </p:cNvSpPr>
          <p:nvPr>
            <p:ph type="sldNum" sz="quarter" idx="12"/>
          </p:nvPr>
        </p:nvSpPr>
        <p:spPr/>
        <p:txBody>
          <a:bodyPr/>
          <a:lstStyle/>
          <a:p>
            <a:fld id="{C55F2AC1-5349-40F4-976A-E0D325BAD41D}" type="slidenum">
              <a:rPr lang="en-SG" smtClean="0"/>
              <a:t>‹#›</a:t>
            </a:fld>
            <a:endParaRPr lang="en-SG"/>
          </a:p>
        </p:txBody>
      </p:sp>
    </p:spTree>
    <p:extLst>
      <p:ext uri="{BB962C8B-B14F-4D97-AF65-F5344CB8AC3E}">
        <p14:creationId xmlns:p14="http://schemas.microsoft.com/office/powerpoint/2010/main" val="2997300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33E99-837E-46A6-AE8C-D1077F4F0B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0EF0AC33-0913-467F-978F-AEC232125A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07D23896-8E30-4942-BE7C-5752AF599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FD48C9-2048-4745-9678-804753CD8BC9}"/>
              </a:ext>
            </a:extLst>
          </p:cNvPr>
          <p:cNvSpPr>
            <a:spLocks noGrp="1"/>
          </p:cNvSpPr>
          <p:nvPr>
            <p:ph type="dt" sz="half" idx="10"/>
          </p:nvPr>
        </p:nvSpPr>
        <p:spPr/>
        <p:txBody>
          <a:bodyPr/>
          <a:lstStyle/>
          <a:p>
            <a:fld id="{C2ADB4DB-8147-4901-B0BF-07F7F41BD534}" type="datetime1">
              <a:rPr lang="en-SG" smtClean="0"/>
              <a:t>31/12/2025</a:t>
            </a:fld>
            <a:endParaRPr lang="en-SG"/>
          </a:p>
        </p:txBody>
      </p:sp>
      <p:sp>
        <p:nvSpPr>
          <p:cNvPr id="6" name="Footer Placeholder 5">
            <a:extLst>
              <a:ext uri="{FF2B5EF4-FFF2-40B4-BE49-F238E27FC236}">
                <a16:creationId xmlns:a16="http://schemas.microsoft.com/office/drawing/2014/main" id="{4D0F255D-B290-4ABB-BE93-CCC31AB679F3}"/>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FCA2B3C8-5BB6-40F6-A25E-07A65292324E}"/>
              </a:ext>
            </a:extLst>
          </p:cNvPr>
          <p:cNvSpPr>
            <a:spLocks noGrp="1"/>
          </p:cNvSpPr>
          <p:nvPr>
            <p:ph type="sldNum" sz="quarter" idx="12"/>
          </p:nvPr>
        </p:nvSpPr>
        <p:spPr/>
        <p:txBody>
          <a:bodyPr/>
          <a:lstStyle/>
          <a:p>
            <a:fld id="{C55F2AC1-5349-40F4-976A-E0D325BAD41D}" type="slidenum">
              <a:rPr lang="en-SG" smtClean="0"/>
              <a:t>‹#›</a:t>
            </a:fld>
            <a:endParaRPr lang="en-SG"/>
          </a:p>
        </p:txBody>
      </p:sp>
    </p:spTree>
    <p:extLst>
      <p:ext uri="{BB962C8B-B14F-4D97-AF65-F5344CB8AC3E}">
        <p14:creationId xmlns:p14="http://schemas.microsoft.com/office/powerpoint/2010/main" val="302693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EDE21-289B-476D-8709-1AFFC16877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B5E60944-3289-4B78-B0EC-FE26977562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61E52BB3-5A2A-42D5-8E3B-9E100DF9AD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457E24-A6B5-4C7A-931A-1AB204E500AC}"/>
              </a:ext>
            </a:extLst>
          </p:cNvPr>
          <p:cNvSpPr>
            <a:spLocks noGrp="1"/>
          </p:cNvSpPr>
          <p:nvPr>
            <p:ph type="dt" sz="half" idx="10"/>
          </p:nvPr>
        </p:nvSpPr>
        <p:spPr/>
        <p:txBody>
          <a:bodyPr/>
          <a:lstStyle/>
          <a:p>
            <a:fld id="{546F6B78-6B32-470A-8391-BA66CA49170D}" type="datetime1">
              <a:rPr lang="en-SG" smtClean="0"/>
              <a:t>31/12/2025</a:t>
            </a:fld>
            <a:endParaRPr lang="en-SG"/>
          </a:p>
        </p:txBody>
      </p:sp>
      <p:sp>
        <p:nvSpPr>
          <p:cNvPr id="6" name="Footer Placeholder 5">
            <a:extLst>
              <a:ext uri="{FF2B5EF4-FFF2-40B4-BE49-F238E27FC236}">
                <a16:creationId xmlns:a16="http://schemas.microsoft.com/office/drawing/2014/main" id="{CB6C87C5-5EB1-4313-9D4E-D31BF91FF189}"/>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B98555E1-4F2C-401C-AA69-681E93603C85}"/>
              </a:ext>
            </a:extLst>
          </p:cNvPr>
          <p:cNvSpPr>
            <a:spLocks noGrp="1"/>
          </p:cNvSpPr>
          <p:nvPr>
            <p:ph type="sldNum" sz="quarter" idx="12"/>
          </p:nvPr>
        </p:nvSpPr>
        <p:spPr/>
        <p:txBody>
          <a:bodyPr/>
          <a:lstStyle/>
          <a:p>
            <a:fld id="{C55F2AC1-5349-40F4-976A-E0D325BAD41D}" type="slidenum">
              <a:rPr lang="en-SG" smtClean="0"/>
              <a:t>‹#›</a:t>
            </a:fld>
            <a:endParaRPr lang="en-SG"/>
          </a:p>
        </p:txBody>
      </p:sp>
    </p:spTree>
    <p:extLst>
      <p:ext uri="{BB962C8B-B14F-4D97-AF65-F5344CB8AC3E}">
        <p14:creationId xmlns:p14="http://schemas.microsoft.com/office/powerpoint/2010/main" val="187265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1A54B-EDA5-4F87-AB1A-CEDA149D1633}"/>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4AAE5372-2710-4EF4-8013-C90928691F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55353F7-9D3F-4031-9E65-4887FEB7B49C}"/>
              </a:ext>
            </a:extLst>
          </p:cNvPr>
          <p:cNvSpPr>
            <a:spLocks noGrp="1"/>
          </p:cNvSpPr>
          <p:nvPr>
            <p:ph type="dt" sz="half" idx="10"/>
          </p:nvPr>
        </p:nvSpPr>
        <p:spPr/>
        <p:txBody>
          <a:bodyPr/>
          <a:lstStyle/>
          <a:p>
            <a:fld id="{16FCA152-08ED-4419-B653-34979455CF6A}" type="datetime1">
              <a:rPr lang="en-SG" smtClean="0"/>
              <a:t>31/12/2025</a:t>
            </a:fld>
            <a:endParaRPr lang="en-SG"/>
          </a:p>
        </p:txBody>
      </p:sp>
      <p:sp>
        <p:nvSpPr>
          <p:cNvPr id="5" name="Footer Placeholder 4">
            <a:extLst>
              <a:ext uri="{FF2B5EF4-FFF2-40B4-BE49-F238E27FC236}">
                <a16:creationId xmlns:a16="http://schemas.microsoft.com/office/drawing/2014/main" id="{453F53B5-98DB-4835-9BED-21E787F4E6D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F0F49B5-E00A-4E83-9AAA-1A379574C1AD}"/>
              </a:ext>
            </a:extLst>
          </p:cNvPr>
          <p:cNvSpPr>
            <a:spLocks noGrp="1"/>
          </p:cNvSpPr>
          <p:nvPr>
            <p:ph type="sldNum" sz="quarter" idx="12"/>
          </p:nvPr>
        </p:nvSpPr>
        <p:spPr/>
        <p:txBody>
          <a:bodyPr/>
          <a:lstStyle/>
          <a:p>
            <a:fld id="{C55F2AC1-5349-40F4-976A-E0D325BAD41D}" type="slidenum">
              <a:rPr lang="en-SG" smtClean="0"/>
              <a:t>‹#›</a:t>
            </a:fld>
            <a:endParaRPr lang="en-SG"/>
          </a:p>
        </p:txBody>
      </p:sp>
    </p:spTree>
    <p:extLst>
      <p:ext uri="{BB962C8B-B14F-4D97-AF65-F5344CB8AC3E}">
        <p14:creationId xmlns:p14="http://schemas.microsoft.com/office/powerpoint/2010/main" val="1761946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2FA189-C7F3-4371-9015-92915607419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946AD32-BA98-4D09-B338-3453C3FE32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4B64AF1-AEEF-49C4-991E-9092F62185CC}"/>
              </a:ext>
            </a:extLst>
          </p:cNvPr>
          <p:cNvSpPr>
            <a:spLocks noGrp="1"/>
          </p:cNvSpPr>
          <p:nvPr>
            <p:ph type="dt" sz="half" idx="10"/>
          </p:nvPr>
        </p:nvSpPr>
        <p:spPr/>
        <p:txBody>
          <a:bodyPr/>
          <a:lstStyle/>
          <a:p>
            <a:fld id="{463BF55D-C37F-422E-A25A-70054E1EEFAD}" type="datetime1">
              <a:rPr lang="en-SG" smtClean="0"/>
              <a:t>31/12/2025</a:t>
            </a:fld>
            <a:endParaRPr lang="en-SG"/>
          </a:p>
        </p:txBody>
      </p:sp>
      <p:sp>
        <p:nvSpPr>
          <p:cNvPr id="5" name="Footer Placeholder 4">
            <a:extLst>
              <a:ext uri="{FF2B5EF4-FFF2-40B4-BE49-F238E27FC236}">
                <a16:creationId xmlns:a16="http://schemas.microsoft.com/office/drawing/2014/main" id="{B873B59E-5F25-482E-B2D4-BC9A37A66073}"/>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FEA8811-E66D-4737-95AD-DA52764622C3}"/>
              </a:ext>
            </a:extLst>
          </p:cNvPr>
          <p:cNvSpPr>
            <a:spLocks noGrp="1"/>
          </p:cNvSpPr>
          <p:nvPr>
            <p:ph type="sldNum" sz="quarter" idx="12"/>
          </p:nvPr>
        </p:nvSpPr>
        <p:spPr/>
        <p:txBody>
          <a:bodyPr/>
          <a:lstStyle/>
          <a:p>
            <a:fld id="{C55F2AC1-5349-40F4-976A-E0D325BAD41D}" type="slidenum">
              <a:rPr lang="en-SG" smtClean="0"/>
              <a:t>‹#›</a:t>
            </a:fld>
            <a:endParaRPr lang="en-SG"/>
          </a:p>
        </p:txBody>
      </p:sp>
    </p:spTree>
    <p:extLst>
      <p:ext uri="{BB962C8B-B14F-4D97-AF65-F5344CB8AC3E}">
        <p14:creationId xmlns:p14="http://schemas.microsoft.com/office/powerpoint/2010/main" val="3404842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EA920E-CF26-4AB4-AC76-88732BE105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C7E0D72D-69A1-4EE9-8758-91FED3DEF9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9193C324-27A4-434A-95E1-6D810D1C00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52A40C-D177-43C1-8C81-1F22F41E983D}" type="datetime1">
              <a:rPr lang="en-SG" smtClean="0"/>
              <a:t>31/12/2025</a:t>
            </a:fld>
            <a:endParaRPr lang="en-SG"/>
          </a:p>
        </p:txBody>
      </p:sp>
      <p:sp>
        <p:nvSpPr>
          <p:cNvPr id="5" name="Footer Placeholder 4">
            <a:extLst>
              <a:ext uri="{FF2B5EF4-FFF2-40B4-BE49-F238E27FC236}">
                <a16:creationId xmlns:a16="http://schemas.microsoft.com/office/drawing/2014/main" id="{50118935-5A84-4AF3-B923-B808DBD8E3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C096F1AE-8C5E-4F1D-8B66-274BCC9C2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5F2AC1-5349-40F4-976A-E0D325BAD41D}" type="slidenum">
              <a:rPr lang="en-SG" smtClean="0"/>
              <a:t>‹#›</a:t>
            </a:fld>
            <a:endParaRPr lang="en-SG"/>
          </a:p>
        </p:txBody>
      </p:sp>
    </p:spTree>
    <p:extLst>
      <p:ext uri="{BB962C8B-B14F-4D97-AF65-F5344CB8AC3E}">
        <p14:creationId xmlns:p14="http://schemas.microsoft.com/office/powerpoint/2010/main" val="3008892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8C194-EAB9-49FE-87C6-35C333192316}"/>
              </a:ext>
            </a:extLst>
          </p:cNvPr>
          <p:cNvSpPr>
            <a:spLocks noGrp="1"/>
          </p:cNvSpPr>
          <p:nvPr>
            <p:ph type="ctrTitle"/>
          </p:nvPr>
        </p:nvSpPr>
        <p:spPr>
          <a:xfrm>
            <a:off x="-1" y="228917"/>
            <a:ext cx="12192000" cy="1499191"/>
          </a:xfrm>
        </p:spPr>
        <p:txBody>
          <a:bodyPr lIns="288000" anchor="ctr" anchorCtr="0">
            <a:noAutofit/>
          </a:bodyPr>
          <a:lstStyle/>
          <a:p>
            <a:r>
              <a:rPr lang="en-SG" sz="3200" b="1" dirty="0">
                <a:solidFill>
                  <a:srgbClr val="800000"/>
                </a:solidFill>
                <a:latin typeface="Arial" panose="020B0604020202020204" pitchFamily="34" charset="0"/>
                <a:cs typeface="Arial" panose="020B0604020202020204" pitchFamily="34" charset="0"/>
              </a:rPr>
              <a:t>AI UX &amp; Data Visualisation Design Principles (CA6002)</a:t>
            </a:r>
          </a:p>
        </p:txBody>
      </p:sp>
      <p:sp>
        <p:nvSpPr>
          <p:cNvPr id="8" name="Slide Number Placeholder 7">
            <a:extLst>
              <a:ext uri="{FF2B5EF4-FFF2-40B4-BE49-F238E27FC236}">
                <a16:creationId xmlns:a16="http://schemas.microsoft.com/office/drawing/2014/main" id="{A631653B-9739-4887-B1AA-8B0E7F58E614}"/>
              </a:ext>
            </a:extLst>
          </p:cNvPr>
          <p:cNvSpPr>
            <a:spLocks noGrp="1"/>
          </p:cNvSpPr>
          <p:nvPr>
            <p:ph type="sldNum" sz="quarter" idx="12"/>
          </p:nvPr>
        </p:nvSpPr>
        <p:spPr>
          <a:xfrm>
            <a:off x="11041625" y="6356350"/>
            <a:ext cx="1020097" cy="378747"/>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F2AC1-5349-40F4-976A-E0D325BAD41D}" type="slidenum">
              <a:rPr kumimoji="0" lang="en-SG" sz="2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SG"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C15F68F0-1D3B-1823-3530-90DF37A6E413}"/>
              </a:ext>
            </a:extLst>
          </p:cNvPr>
          <p:cNvSpPr txBox="1"/>
          <p:nvPr/>
        </p:nvSpPr>
        <p:spPr>
          <a:xfrm>
            <a:off x="0" y="3175604"/>
            <a:ext cx="12191999" cy="481740"/>
          </a:xfrm>
          <a:prstGeom prst="rect">
            <a:avLst/>
          </a:prstGeom>
          <a:noFill/>
        </p:spPr>
        <p:txBody>
          <a:bodyPr wrap="square" rtlCol="0">
            <a:noAutofit/>
          </a:bodyPr>
          <a:lstStyle/>
          <a:p>
            <a:pPr algn="ctr"/>
            <a:r>
              <a:rPr lang="en-SG" sz="2800" b="1" dirty="0">
                <a:latin typeface="Arial" panose="020B0604020202020204" pitchFamily="34" charset="0"/>
                <a:cs typeface="Arial" panose="020B0604020202020204" pitchFamily="34" charset="0"/>
              </a:rPr>
              <a:t>Write Your Group Number</a:t>
            </a:r>
          </a:p>
        </p:txBody>
      </p:sp>
      <p:sp>
        <p:nvSpPr>
          <p:cNvPr id="10" name="TextBox 9">
            <a:extLst>
              <a:ext uri="{FF2B5EF4-FFF2-40B4-BE49-F238E27FC236}">
                <a16:creationId xmlns:a16="http://schemas.microsoft.com/office/drawing/2014/main" id="{7DF17EB1-A610-3910-0723-2EAE5CC2F972}"/>
              </a:ext>
            </a:extLst>
          </p:cNvPr>
          <p:cNvSpPr txBox="1"/>
          <p:nvPr/>
        </p:nvSpPr>
        <p:spPr>
          <a:xfrm>
            <a:off x="1" y="4438682"/>
            <a:ext cx="12191999" cy="619269"/>
          </a:xfrm>
          <a:prstGeom prst="rect">
            <a:avLst/>
          </a:prstGeom>
          <a:noFill/>
        </p:spPr>
        <p:txBody>
          <a:bodyPr wrap="square" rtlCol="0">
            <a:noAutofit/>
          </a:bodyPr>
          <a:lstStyle/>
          <a:p>
            <a:pPr algn="ctr">
              <a:spcAft>
                <a:spcPts val="600"/>
              </a:spcAft>
            </a:pPr>
            <a:r>
              <a:rPr lang="en-SG" sz="2000" dirty="0">
                <a:solidFill>
                  <a:srgbClr val="0000CC"/>
                </a:solidFill>
                <a:latin typeface="Arial" panose="020B0604020202020204" pitchFamily="34" charset="0"/>
                <a:cs typeface="Arial" panose="020B0604020202020204" pitchFamily="34" charset="0"/>
              </a:rPr>
              <a:t>email: </a:t>
            </a:r>
            <a:r>
              <a:rPr lang="en-SG" sz="2000" i="1" dirty="0">
                <a:latin typeface="Arial" panose="020B0604020202020204" pitchFamily="34" charset="0"/>
                <a:cs typeface="Arial" panose="020B0604020202020204" pitchFamily="34" charset="0"/>
              </a:rPr>
              <a:t>email addresses of group leader and members</a:t>
            </a:r>
          </a:p>
        </p:txBody>
      </p:sp>
      <p:sp>
        <p:nvSpPr>
          <p:cNvPr id="11" name="TextBox 10">
            <a:extLst>
              <a:ext uri="{FF2B5EF4-FFF2-40B4-BE49-F238E27FC236}">
                <a16:creationId xmlns:a16="http://schemas.microsoft.com/office/drawing/2014/main" id="{8CA4BF02-4E22-5F71-1FAE-35B01EC83DEB}"/>
              </a:ext>
            </a:extLst>
          </p:cNvPr>
          <p:cNvSpPr txBox="1"/>
          <p:nvPr/>
        </p:nvSpPr>
        <p:spPr>
          <a:xfrm>
            <a:off x="2711688" y="1747571"/>
            <a:ext cx="7177696" cy="708440"/>
          </a:xfrm>
          <a:prstGeom prst="rect">
            <a:avLst/>
          </a:prstGeom>
          <a:noFill/>
        </p:spPr>
        <p:txBody>
          <a:bodyPr wrap="square" rtlCol="0">
            <a:noAutofit/>
          </a:bodyPr>
          <a:lstStyle/>
          <a:p>
            <a:pPr algn="ctr"/>
            <a:r>
              <a:rPr lang="en-SG" sz="3200" b="1" dirty="0">
                <a:solidFill>
                  <a:srgbClr val="0000CC"/>
                </a:solidFill>
                <a:latin typeface="Arial" panose="020B0604020202020204" pitchFamily="34" charset="0"/>
                <a:cs typeface="Arial" panose="020B0604020202020204" pitchFamily="34" charset="0"/>
              </a:rPr>
              <a:t>Assignment Title</a:t>
            </a:r>
          </a:p>
        </p:txBody>
      </p:sp>
      <p:sp>
        <p:nvSpPr>
          <p:cNvPr id="12" name="TextBox 11">
            <a:extLst>
              <a:ext uri="{FF2B5EF4-FFF2-40B4-BE49-F238E27FC236}">
                <a16:creationId xmlns:a16="http://schemas.microsoft.com/office/drawing/2014/main" id="{A2AE5CF0-3AB3-8DE1-6C93-5D252EB03486}"/>
              </a:ext>
            </a:extLst>
          </p:cNvPr>
          <p:cNvSpPr txBox="1"/>
          <p:nvPr/>
        </p:nvSpPr>
        <p:spPr>
          <a:xfrm>
            <a:off x="5006053" y="2435813"/>
            <a:ext cx="2588965" cy="481740"/>
          </a:xfrm>
          <a:prstGeom prst="rect">
            <a:avLst/>
          </a:prstGeom>
          <a:noFill/>
        </p:spPr>
        <p:txBody>
          <a:bodyPr wrap="square" rtlCol="0">
            <a:noAutofit/>
          </a:bodyPr>
          <a:lstStyle/>
          <a:p>
            <a:pPr algn="ctr"/>
            <a:r>
              <a:rPr lang="en-SG" sz="2800" b="1" dirty="0">
                <a:solidFill>
                  <a:srgbClr val="0000CC"/>
                </a:solidFill>
                <a:latin typeface="Arial" panose="020B0604020202020204" pitchFamily="34" charset="0"/>
                <a:cs typeface="Arial" panose="020B0604020202020204" pitchFamily="34" charset="0"/>
              </a:rPr>
              <a:t>by</a:t>
            </a:r>
          </a:p>
        </p:txBody>
      </p:sp>
      <p:sp>
        <p:nvSpPr>
          <p:cNvPr id="13" name="Speech Bubble: Rectangle 12">
            <a:extLst>
              <a:ext uri="{FF2B5EF4-FFF2-40B4-BE49-F238E27FC236}">
                <a16:creationId xmlns:a16="http://schemas.microsoft.com/office/drawing/2014/main" id="{529BECA2-B4DD-B429-4406-BC304C86FC47}"/>
              </a:ext>
            </a:extLst>
          </p:cNvPr>
          <p:cNvSpPr/>
          <p:nvPr/>
        </p:nvSpPr>
        <p:spPr>
          <a:xfrm>
            <a:off x="9965909" y="1656140"/>
            <a:ext cx="2141316" cy="1159668"/>
          </a:xfrm>
          <a:prstGeom prst="wedgeRectCallout">
            <a:avLst>
              <a:gd name="adj1" fmla="val -72745"/>
              <a:gd name="adj2" fmla="val -17500"/>
            </a:avLst>
          </a:prstGeom>
          <a:solidFill>
            <a:srgbClr val="FFFFCC"/>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latin typeface="Arial Narrow" panose="020B0606020202030204" pitchFamily="34" charset="0"/>
              </a:rPr>
              <a:t>This title slide will not be counted in your maximum 20 slide limit </a:t>
            </a:r>
          </a:p>
        </p:txBody>
      </p:sp>
      <p:sp>
        <p:nvSpPr>
          <p:cNvPr id="3" name="Speech Bubble: Rectangle 2">
            <a:extLst>
              <a:ext uri="{FF2B5EF4-FFF2-40B4-BE49-F238E27FC236}">
                <a16:creationId xmlns:a16="http://schemas.microsoft.com/office/drawing/2014/main" id="{BA23D159-0878-D9A0-B4B4-7A6DC6A9DB12}"/>
              </a:ext>
            </a:extLst>
          </p:cNvPr>
          <p:cNvSpPr/>
          <p:nvPr/>
        </p:nvSpPr>
        <p:spPr>
          <a:xfrm>
            <a:off x="416170" y="1884119"/>
            <a:ext cx="2588964" cy="1617225"/>
          </a:xfrm>
          <a:prstGeom prst="wedgeRectCallout">
            <a:avLst>
              <a:gd name="adj1" fmla="val -65865"/>
              <a:gd name="adj2" fmla="val -39529"/>
            </a:avLst>
          </a:prstGeom>
          <a:solidFill>
            <a:srgbClr val="FFFFCC"/>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2800" b="1" dirty="0">
                <a:solidFill>
                  <a:srgbClr val="C00000"/>
                </a:solidFill>
                <a:effectLst>
                  <a:outerShdw blurRad="38100" dist="38100" dir="2700000" algn="tl">
                    <a:srgbClr val="000000">
                      <a:alpha val="43137"/>
                    </a:srgbClr>
                  </a:outerShdw>
                </a:effectLst>
                <a:latin typeface="Arial Narrow" panose="020B0606020202030204" pitchFamily="34" charset="0"/>
              </a:rPr>
              <a:t>Use this PPTX template for your assignment.</a:t>
            </a:r>
          </a:p>
        </p:txBody>
      </p:sp>
    </p:spTree>
    <p:extLst>
      <p:ext uri="{BB962C8B-B14F-4D97-AF65-F5344CB8AC3E}">
        <p14:creationId xmlns:p14="http://schemas.microsoft.com/office/powerpoint/2010/main" val="1425486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8C194-EAB9-49FE-87C6-35C333192316}"/>
              </a:ext>
            </a:extLst>
          </p:cNvPr>
          <p:cNvSpPr>
            <a:spLocks noGrp="1"/>
          </p:cNvSpPr>
          <p:nvPr>
            <p:ph type="ctrTitle"/>
          </p:nvPr>
        </p:nvSpPr>
        <p:spPr>
          <a:xfrm>
            <a:off x="0" y="0"/>
            <a:ext cx="12192000" cy="1371600"/>
          </a:xfrm>
        </p:spPr>
        <p:txBody>
          <a:bodyPr lIns="288000" anchor="ctr" anchorCtr="0">
            <a:noAutofit/>
          </a:bodyPr>
          <a:lstStyle/>
          <a:p>
            <a:r>
              <a:rPr lang="it-IT" sz="2400" b="1" dirty="0">
                <a:solidFill>
                  <a:srgbClr val="800000"/>
                </a:solidFill>
                <a:latin typeface="Arial" panose="020B0604020202020204" pitchFamily="34" charset="0"/>
                <a:cs typeface="Arial" panose="020B0604020202020204" pitchFamily="34" charset="0"/>
              </a:rPr>
              <a:t>AI UX &amp; Data Visualisation Design Principles (CA6002)</a:t>
            </a:r>
            <a:br>
              <a:rPr lang="en-SG" sz="3200" b="1" dirty="0">
                <a:solidFill>
                  <a:srgbClr val="800000"/>
                </a:solidFill>
                <a:latin typeface="Arial" panose="020B0604020202020204" pitchFamily="34" charset="0"/>
                <a:cs typeface="Arial" panose="020B0604020202020204" pitchFamily="34" charset="0"/>
              </a:rPr>
            </a:br>
            <a:r>
              <a:rPr lang="en-SG" sz="3200" b="1" dirty="0">
                <a:solidFill>
                  <a:srgbClr val="800000"/>
                </a:solidFill>
                <a:latin typeface="Arial" panose="020B0604020202020204" pitchFamily="34" charset="0"/>
                <a:cs typeface="Arial" panose="020B0604020202020204" pitchFamily="34" charset="0"/>
              </a:rPr>
              <a:t>Assignment</a:t>
            </a:r>
          </a:p>
        </p:txBody>
      </p:sp>
      <p:sp>
        <p:nvSpPr>
          <p:cNvPr id="4" name="TextBox 3">
            <a:extLst>
              <a:ext uri="{FF2B5EF4-FFF2-40B4-BE49-F238E27FC236}">
                <a16:creationId xmlns:a16="http://schemas.microsoft.com/office/drawing/2014/main" id="{618DF5E8-B5CE-4EE8-900A-80409F197D79}"/>
              </a:ext>
            </a:extLst>
          </p:cNvPr>
          <p:cNvSpPr txBox="1"/>
          <p:nvPr/>
        </p:nvSpPr>
        <p:spPr>
          <a:xfrm>
            <a:off x="573439" y="1624081"/>
            <a:ext cx="11260598" cy="4253006"/>
          </a:xfrm>
          <a:prstGeom prst="rect">
            <a:avLst/>
          </a:prstGeom>
          <a:noFill/>
        </p:spPr>
        <p:txBody>
          <a:bodyPr wrap="square" rtlCol="0">
            <a:noAutofit/>
          </a:bodyPr>
          <a:lstStyle/>
          <a:p>
            <a:pPr marL="514350" indent="-514350">
              <a:spcAft>
                <a:spcPts val="1000"/>
              </a:spcAft>
              <a:buFont typeface="+mj-lt"/>
              <a:buAutoNum type="arabicPeriod"/>
            </a:pPr>
            <a:r>
              <a:rPr lang="en-SG" sz="2800" dirty="0">
                <a:latin typeface="Arial" panose="020B0604020202020204" pitchFamily="34" charset="0"/>
                <a:cs typeface="Arial" panose="020B0604020202020204" pitchFamily="34" charset="0"/>
              </a:rPr>
              <a:t>Introduction</a:t>
            </a:r>
          </a:p>
          <a:p>
            <a:pPr marL="514350" indent="-514350">
              <a:spcAft>
                <a:spcPts val="1000"/>
              </a:spcAft>
              <a:buFont typeface="+mj-lt"/>
              <a:buAutoNum type="arabicPeriod"/>
            </a:pPr>
            <a:r>
              <a:rPr lang="en-SG" sz="2800" dirty="0">
                <a:latin typeface="Arial" panose="020B0604020202020204" pitchFamily="34" charset="0"/>
                <a:cs typeface="Arial" panose="020B0604020202020204" pitchFamily="34" charset="0"/>
              </a:rPr>
              <a:t>Exploration of Dataset</a:t>
            </a:r>
          </a:p>
          <a:p>
            <a:pPr marL="514350" indent="-514350">
              <a:spcAft>
                <a:spcPts val="1000"/>
              </a:spcAft>
              <a:buFont typeface="+mj-lt"/>
              <a:buAutoNum type="arabicPeriod"/>
            </a:pPr>
            <a:r>
              <a:rPr lang="en-SG" sz="2800" dirty="0">
                <a:latin typeface="Arial" panose="020B0604020202020204" pitchFamily="34" charset="0"/>
                <a:cs typeface="Arial" panose="020B0604020202020204" pitchFamily="34" charset="0"/>
              </a:rPr>
              <a:t>Design of AI Algorithm</a:t>
            </a:r>
          </a:p>
          <a:p>
            <a:pPr marL="514350" indent="-514350">
              <a:spcAft>
                <a:spcPts val="1000"/>
              </a:spcAft>
              <a:buFont typeface="+mj-lt"/>
              <a:buAutoNum type="arabicPeriod"/>
            </a:pPr>
            <a:r>
              <a:rPr lang="en-SG" sz="2800" dirty="0">
                <a:latin typeface="Arial" panose="020B0604020202020204" pitchFamily="34" charset="0"/>
                <a:cs typeface="Arial" panose="020B0604020202020204" pitchFamily="34" charset="0"/>
              </a:rPr>
              <a:t>Model Evaluation and Performance</a:t>
            </a:r>
          </a:p>
          <a:p>
            <a:pPr marL="514350" indent="-514350">
              <a:spcAft>
                <a:spcPts val="1000"/>
              </a:spcAft>
              <a:buFont typeface="+mj-lt"/>
              <a:buAutoNum type="arabicPeriod"/>
            </a:pPr>
            <a:r>
              <a:rPr lang="en-SG" sz="2800" dirty="0">
                <a:latin typeface="Arial" panose="020B0604020202020204" pitchFamily="34" charset="0"/>
                <a:cs typeface="Arial" panose="020B0604020202020204" pitchFamily="34" charset="0"/>
              </a:rPr>
              <a:t>Visual Storytelling</a:t>
            </a:r>
          </a:p>
          <a:p>
            <a:pPr marL="514350" indent="-514350">
              <a:spcAft>
                <a:spcPts val="1000"/>
              </a:spcAft>
              <a:buFont typeface="+mj-lt"/>
              <a:buAutoNum type="arabicPeriod"/>
            </a:pPr>
            <a:r>
              <a:rPr lang="en-SG" sz="2800" dirty="0">
                <a:latin typeface="Arial" panose="020B0604020202020204" pitchFamily="34" charset="0"/>
                <a:cs typeface="Arial" panose="020B0604020202020204" pitchFamily="34" charset="0"/>
              </a:rPr>
              <a:t>Conclusions</a:t>
            </a:r>
          </a:p>
        </p:txBody>
      </p:sp>
      <p:sp>
        <p:nvSpPr>
          <p:cNvPr id="5" name="Slide Number Placeholder 4">
            <a:extLst>
              <a:ext uri="{FF2B5EF4-FFF2-40B4-BE49-F238E27FC236}">
                <a16:creationId xmlns:a16="http://schemas.microsoft.com/office/drawing/2014/main" id="{16562473-3F9E-4AF6-AA1D-5C26241A1CF6}"/>
              </a:ext>
            </a:extLst>
          </p:cNvPr>
          <p:cNvSpPr>
            <a:spLocks noGrp="1"/>
          </p:cNvSpPr>
          <p:nvPr>
            <p:ph type="sldNum" sz="quarter" idx="12"/>
          </p:nvPr>
        </p:nvSpPr>
        <p:spPr/>
        <p:txBody>
          <a:bodyPr/>
          <a:lstStyle/>
          <a:p>
            <a:fld id="{C55F2AC1-5349-40F4-976A-E0D325BAD41D}" type="slidenum">
              <a:rPr lang="en-SG" smtClean="0"/>
              <a:t>2</a:t>
            </a:fld>
            <a:endParaRPr lang="en-SG"/>
          </a:p>
        </p:txBody>
      </p:sp>
      <p:sp>
        <p:nvSpPr>
          <p:cNvPr id="10" name="TextBox 9">
            <a:extLst>
              <a:ext uri="{FF2B5EF4-FFF2-40B4-BE49-F238E27FC236}">
                <a16:creationId xmlns:a16="http://schemas.microsoft.com/office/drawing/2014/main" id="{4504A702-E3B5-47F3-94BB-4A13887354D4}"/>
              </a:ext>
            </a:extLst>
          </p:cNvPr>
          <p:cNvSpPr txBox="1"/>
          <p:nvPr/>
        </p:nvSpPr>
        <p:spPr>
          <a:xfrm>
            <a:off x="946298" y="980913"/>
            <a:ext cx="4727908" cy="447593"/>
          </a:xfrm>
          <a:prstGeom prst="rect">
            <a:avLst/>
          </a:prstGeom>
          <a:noFill/>
        </p:spPr>
        <p:txBody>
          <a:bodyPr wrap="square" rtlCol="0">
            <a:noAutofit/>
          </a:bodyPr>
          <a:lstStyle/>
          <a:p>
            <a:r>
              <a:rPr lang="en-SG" sz="2800" b="1" dirty="0">
                <a:latin typeface="Arial" panose="020B0604020202020204" pitchFamily="34" charset="0"/>
                <a:cs typeface="Arial" panose="020B0604020202020204" pitchFamily="34" charset="0"/>
              </a:rPr>
              <a:t>Contents</a:t>
            </a:r>
          </a:p>
        </p:txBody>
      </p:sp>
      <p:sp>
        <p:nvSpPr>
          <p:cNvPr id="3" name="Speech Bubble: Rectangle 2">
            <a:extLst>
              <a:ext uri="{FF2B5EF4-FFF2-40B4-BE49-F238E27FC236}">
                <a16:creationId xmlns:a16="http://schemas.microsoft.com/office/drawing/2014/main" id="{A6C94E95-AB1A-4167-A234-970FC536E141}"/>
              </a:ext>
            </a:extLst>
          </p:cNvPr>
          <p:cNvSpPr/>
          <p:nvPr/>
        </p:nvSpPr>
        <p:spPr>
          <a:xfrm>
            <a:off x="9982200" y="1144818"/>
            <a:ext cx="2141316" cy="1159668"/>
          </a:xfrm>
          <a:prstGeom prst="wedgeRectCallout">
            <a:avLst>
              <a:gd name="adj1" fmla="val -72745"/>
              <a:gd name="adj2" fmla="val -17500"/>
            </a:avLst>
          </a:prstGeom>
          <a:solidFill>
            <a:srgbClr val="FFFFCC"/>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latin typeface="Arial Narrow" panose="020B0606020202030204" pitchFamily="34" charset="0"/>
              </a:rPr>
              <a:t>This content slide will not be counted in your maximum 20 slide limit </a:t>
            </a:r>
          </a:p>
        </p:txBody>
      </p:sp>
    </p:spTree>
    <p:extLst>
      <p:ext uri="{BB962C8B-B14F-4D97-AF65-F5344CB8AC3E}">
        <p14:creationId xmlns:p14="http://schemas.microsoft.com/office/powerpoint/2010/main" val="642745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8C194-EAB9-49FE-87C6-35C333192316}"/>
              </a:ext>
            </a:extLst>
          </p:cNvPr>
          <p:cNvSpPr>
            <a:spLocks noGrp="1"/>
          </p:cNvSpPr>
          <p:nvPr>
            <p:ph type="ctrTitle"/>
          </p:nvPr>
        </p:nvSpPr>
        <p:spPr>
          <a:xfrm>
            <a:off x="0" y="0"/>
            <a:ext cx="12192000" cy="688065"/>
          </a:xfrm>
        </p:spPr>
        <p:txBody>
          <a:bodyPr lIns="288000" anchor="ctr" anchorCtr="0">
            <a:noAutofit/>
          </a:bodyPr>
          <a:lstStyle/>
          <a:p>
            <a:pPr algn="l"/>
            <a:r>
              <a:rPr lang="en-SG" sz="3200" b="1" dirty="0">
                <a:solidFill>
                  <a:srgbClr val="800000"/>
                </a:solidFill>
                <a:latin typeface="Arial" panose="020B0604020202020204" pitchFamily="34" charset="0"/>
                <a:cs typeface="Arial" panose="020B0604020202020204" pitchFamily="34" charset="0"/>
              </a:rPr>
              <a:t>Introduction</a:t>
            </a:r>
          </a:p>
        </p:txBody>
      </p:sp>
      <p:sp>
        <p:nvSpPr>
          <p:cNvPr id="5" name="Slide Number Placeholder 4">
            <a:extLst>
              <a:ext uri="{FF2B5EF4-FFF2-40B4-BE49-F238E27FC236}">
                <a16:creationId xmlns:a16="http://schemas.microsoft.com/office/drawing/2014/main" id="{16562473-3F9E-4AF6-AA1D-5C26241A1CF6}"/>
              </a:ext>
            </a:extLst>
          </p:cNvPr>
          <p:cNvSpPr>
            <a:spLocks noGrp="1"/>
          </p:cNvSpPr>
          <p:nvPr>
            <p:ph type="sldNum" sz="quarter" idx="12"/>
          </p:nvPr>
        </p:nvSpPr>
        <p:spPr>
          <a:xfrm>
            <a:off x="11561522" y="6356350"/>
            <a:ext cx="518786" cy="362485"/>
          </a:xfrm>
        </p:spPr>
        <p:txBody>
          <a:bodyPr/>
          <a:lstStyle/>
          <a:p>
            <a:fld id="{C55F2AC1-5349-40F4-976A-E0D325BAD41D}" type="slidenum">
              <a:rPr lang="en-SG" sz="2000" smtClean="0">
                <a:latin typeface="Arial Narrow" panose="020B0606020202030204" pitchFamily="34" charset="0"/>
              </a:rPr>
              <a:t>3</a:t>
            </a:fld>
            <a:endParaRPr lang="en-SG" sz="2000">
              <a:latin typeface="Arial Narrow" panose="020B0606020202030204" pitchFamily="34" charset="0"/>
            </a:endParaRPr>
          </a:p>
        </p:txBody>
      </p:sp>
      <p:sp>
        <p:nvSpPr>
          <p:cNvPr id="8" name="TextBox 7">
            <a:extLst>
              <a:ext uri="{FF2B5EF4-FFF2-40B4-BE49-F238E27FC236}">
                <a16:creationId xmlns:a16="http://schemas.microsoft.com/office/drawing/2014/main" id="{7292E53E-144A-4C1E-A60C-466AB9A3DC25}"/>
              </a:ext>
            </a:extLst>
          </p:cNvPr>
          <p:cNvSpPr txBox="1"/>
          <p:nvPr/>
        </p:nvSpPr>
        <p:spPr>
          <a:xfrm>
            <a:off x="188931" y="598909"/>
            <a:ext cx="11814135" cy="362484"/>
          </a:xfrm>
          <a:prstGeom prst="rect">
            <a:avLst/>
          </a:prstGeom>
          <a:noFill/>
        </p:spPr>
        <p:txBody>
          <a:bodyPr wrap="square" rtlCol="0">
            <a:noAutofit/>
          </a:bodyPr>
          <a:lstStyle/>
          <a:p>
            <a:pPr>
              <a:spcAft>
                <a:spcPts val="600"/>
              </a:spcAft>
            </a:pPr>
            <a:r>
              <a:rPr lang="en-SG" sz="1600" b="1" dirty="0">
                <a:solidFill>
                  <a:srgbClr val="0000CC"/>
                </a:solidFill>
                <a:latin typeface="Arial" panose="020B0604020202020204" pitchFamily="34" charset="0"/>
                <a:cs typeface="Arial" panose="020B0604020202020204" pitchFamily="34" charset="0"/>
              </a:rPr>
              <a:t>What you can cover</a:t>
            </a:r>
            <a:r>
              <a:rPr lang="en-SG" sz="1600" dirty="0">
                <a:solidFill>
                  <a:srgbClr val="0000CC"/>
                </a:solidFill>
                <a:latin typeface="Arial" panose="020B0604020202020204" pitchFamily="34" charset="0"/>
                <a:cs typeface="Arial" panose="020B0604020202020204" pitchFamily="34" charset="0"/>
              </a:rPr>
              <a:t>: Project objectives, motivation, process overview</a:t>
            </a:r>
          </a:p>
        </p:txBody>
      </p:sp>
      <p:sp>
        <p:nvSpPr>
          <p:cNvPr id="10" name="Speech Bubble: Rectangle 9">
            <a:extLst>
              <a:ext uri="{FF2B5EF4-FFF2-40B4-BE49-F238E27FC236}">
                <a16:creationId xmlns:a16="http://schemas.microsoft.com/office/drawing/2014/main" id="{BFCC89BD-8C78-4812-9C9E-3CA3E3FC8D30}"/>
              </a:ext>
            </a:extLst>
          </p:cNvPr>
          <p:cNvSpPr/>
          <p:nvPr/>
        </p:nvSpPr>
        <p:spPr>
          <a:xfrm>
            <a:off x="12750956" y="453892"/>
            <a:ext cx="2141316" cy="1159668"/>
          </a:xfrm>
          <a:prstGeom prst="wedgeRectCallout">
            <a:avLst>
              <a:gd name="adj1" fmla="val -72745"/>
              <a:gd name="adj2" fmla="val -17500"/>
            </a:avLst>
          </a:prstGeom>
          <a:solidFill>
            <a:srgbClr val="FFFFCC"/>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latin typeface="Arial Narrow" panose="020B0606020202030204" pitchFamily="34" charset="0"/>
              </a:rPr>
              <a:t>Delete description (</a:t>
            </a:r>
            <a:r>
              <a:rPr lang="en-SG" dirty="0">
                <a:solidFill>
                  <a:srgbClr val="0000CC"/>
                </a:solidFill>
                <a:latin typeface="Arial Narrow" panose="020B0606020202030204" pitchFamily="34" charset="0"/>
              </a:rPr>
              <a:t>in blue</a:t>
            </a:r>
            <a:r>
              <a:rPr lang="en-SG" dirty="0">
                <a:solidFill>
                  <a:schemeClr val="tx1"/>
                </a:solidFill>
                <a:latin typeface="Arial Narrow" panose="020B0606020202030204" pitchFamily="34" charset="0"/>
              </a:rPr>
              <a:t>) in your submitted slides</a:t>
            </a:r>
          </a:p>
        </p:txBody>
      </p:sp>
      <p:sp>
        <p:nvSpPr>
          <p:cNvPr id="4" name="TextBox 3">
            <a:extLst>
              <a:ext uri="{FF2B5EF4-FFF2-40B4-BE49-F238E27FC236}">
                <a16:creationId xmlns:a16="http://schemas.microsoft.com/office/drawing/2014/main" id="{1D3D5BFA-3759-6B2C-EEBD-F08C34D54104}"/>
              </a:ext>
            </a:extLst>
          </p:cNvPr>
          <p:cNvSpPr txBox="1"/>
          <p:nvPr/>
        </p:nvSpPr>
        <p:spPr>
          <a:xfrm>
            <a:off x="1993900" y="6234075"/>
            <a:ext cx="9194800" cy="533248"/>
          </a:xfrm>
          <a:prstGeom prst="rect">
            <a:avLst/>
          </a:prstGeom>
          <a:noFill/>
        </p:spPr>
        <p:txBody>
          <a:bodyPr wrap="square" rtlCol="0">
            <a:noAutofit/>
          </a:bodyPr>
          <a:lstStyle/>
          <a:p>
            <a:r>
              <a:rPr lang="en-SG" sz="2400" b="1" dirty="0">
                <a:latin typeface="Arial Narrow" panose="020B0606020202030204" pitchFamily="34" charset="0"/>
                <a:cs typeface="Arial" panose="020B0604020202020204" pitchFamily="34" charset="0"/>
              </a:rPr>
              <a:t>Write name of person(s) responsible for slide</a:t>
            </a:r>
          </a:p>
        </p:txBody>
      </p:sp>
      <p:sp>
        <p:nvSpPr>
          <p:cNvPr id="6" name="TextBox 5">
            <a:extLst>
              <a:ext uri="{FF2B5EF4-FFF2-40B4-BE49-F238E27FC236}">
                <a16:creationId xmlns:a16="http://schemas.microsoft.com/office/drawing/2014/main" id="{C410A549-167F-8DC0-0161-1333B48E70D5}"/>
              </a:ext>
            </a:extLst>
          </p:cNvPr>
          <p:cNvSpPr txBox="1"/>
          <p:nvPr/>
        </p:nvSpPr>
        <p:spPr>
          <a:xfrm>
            <a:off x="338320" y="1033726"/>
            <a:ext cx="11664746" cy="775175"/>
          </a:xfrm>
          <a:prstGeom prst="rect">
            <a:avLst/>
          </a:prstGeom>
          <a:noFill/>
        </p:spPr>
        <p:txBody>
          <a:bodyPr wrap="square" rtlCol="0">
            <a:noAutofit/>
          </a:bodyPr>
          <a:lstStyle/>
          <a:p>
            <a:pPr marL="342900" lvl="0" indent="-342900">
              <a:spcAft>
                <a:spcPts val="1000"/>
              </a:spcAft>
              <a:buFont typeface="Arial" panose="020B0604020202020204" pitchFamily="34" charset="0"/>
              <a:buChar cha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a:t>
            </a:r>
            <a:r>
              <a:rPr kumimoji="0" lang="en-SG" sz="2400" b="1"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1 </a:t>
            </a:r>
            <a:r>
              <a:rPr lang="en-SG" sz="2400" dirty="0">
                <a:solidFill>
                  <a:prstClr val="black"/>
                </a:solidFill>
                <a:latin typeface="Arial" panose="020B0604020202020204" pitchFamily="34" charset="0"/>
                <a:cs typeface="Arial" panose="020B0604020202020204" pitchFamily="34" charset="0"/>
              </a:rPr>
              <a:t>– Avoid going below 20 point font in order to keep your text legible during presentation.</a:t>
            </a:r>
            <a:endPar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TextBox 12">
            <a:extLst>
              <a:ext uri="{FF2B5EF4-FFF2-40B4-BE49-F238E27FC236}">
                <a16:creationId xmlns:a16="http://schemas.microsoft.com/office/drawing/2014/main" id="{8060DE69-B657-FF57-B280-6EFB4F739654}"/>
              </a:ext>
            </a:extLst>
          </p:cNvPr>
          <p:cNvSpPr txBox="1"/>
          <p:nvPr/>
        </p:nvSpPr>
        <p:spPr>
          <a:xfrm>
            <a:off x="338320" y="2011217"/>
            <a:ext cx="11664746" cy="775175"/>
          </a:xfrm>
          <a:prstGeom prst="rect">
            <a:avLst/>
          </a:prstGeom>
          <a:noFill/>
        </p:spPr>
        <p:txBody>
          <a:bodyPr wrap="square" rtlCol="0">
            <a:noAutofit/>
          </a:bodyPr>
          <a:lstStyle/>
          <a:p>
            <a:pPr marL="342900" lvl="0" indent="-342900">
              <a:spcAft>
                <a:spcPts val="1000"/>
              </a:spcAft>
              <a:buFont typeface="Arial" panose="020B0604020202020204" pitchFamily="34" charset="0"/>
              <a:buChar cha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a:t>
            </a:r>
            <a:r>
              <a:rPr kumimoji="0" lang="en-SG" sz="2400" b="1"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2 </a:t>
            </a:r>
            <a:r>
              <a:rPr lang="en-SG" sz="2400" dirty="0">
                <a:solidFill>
                  <a:prstClr val="black"/>
                </a:solidFill>
                <a:latin typeface="Arial" panose="020B0604020202020204" pitchFamily="34" charset="0"/>
                <a:cs typeface="Arial" panose="020B0604020202020204" pitchFamily="34" charset="0"/>
              </a:rPr>
              <a:t>– To safe time, you can present all you bullets in one go. Only use sequencing if it significantly helps improve the clarity of your presentation.</a:t>
            </a:r>
            <a:endPar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TextBox 15">
            <a:extLst>
              <a:ext uri="{FF2B5EF4-FFF2-40B4-BE49-F238E27FC236}">
                <a16:creationId xmlns:a16="http://schemas.microsoft.com/office/drawing/2014/main" id="{FDE4D561-6F5B-DB4B-98D5-74867B1A449A}"/>
              </a:ext>
            </a:extLst>
          </p:cNvPr>
          <p:cNvSpPr txBox="1"/>
          <p:nvPr/>
        </p:nvSpPr>
        <p:spPr>
          <a:xfrm>
            <a:off x="338320" y="2988708"/>
            <a:ext cx="11664746" cy="775175"/>
          </a:xfrm>
          <a:prstGeom prst="rect">
            <a:avLst/>
          </a:prstGeom>
          <a:noFill/>
        </p:spPr>
        <p:txBody>
          <a:bodyPr wrap="square" rtlCol="0">
            <a:noAutofit/>
          </a:bodyPr>
          <a:lstStyle/>
          <a:p>
            <a:pPr marL="342900" lvl="0" indent="-342900">
              <a:spcAft>
                <a:spcPts val="1000"/>
              </a:spcAft>
              <a:buFont typeface="Arial" panose="020B0604020202020204" pitchFamily="34" charset="0"/>
              <a:buChar cha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a:t>
            </a:r>
            <a:r>
              <a:rPr kumimoji="0" lang="en-SG" sz="2400" b="1"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3 </a:t>
            </a:r>
            <a:r>
              <a:rPr lang="en-SG" sz="2400" dirty="0">
                <a:solidFill>
                  <a:prstClr val="black"/>
                </a:solidFill>
                <a:latin typeface="Arial" panose="020B0604020202020204" pitchFamily="34" charset="0"/>
                <a:cs typeface="Arial" panose="020B0604020202020204" pitchFamily="34" charset="0"/>
              </a:rPr>
              <a:t>– Ensure you use adequate figures in your slides as the assignment is mainly focused on your data visualisation techniques……… </a:t>
            </a:r>
            <a:endPar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17" name="Group 16">
            <a:extLst>
              <a:ext uri="{FF2B5EF4-FFF2-40B4-BE49-F238E27FC236}">
                <a16:creationId xmlns:a16="http://schemas.microsoft.com/office/drawing/2014/main" id="{7A855552-0624-1AF7-C653-E95A9E348484}"/>
              </a:ext>
            </a:extLst>
          </p:cNvPr>
          <p:cNvGrpSpPr/>
          <p:nvPr/>
        </p:nvGrpSpPr>
        <p:grpSpPr>
          <a:xfrm>
            <a:off x="2738295" y="3962667"/>
            <a:ext cx="6715406" cy="1249135"/>
            <a:chOff x="3164773" y="3475265"/>
            <a:chExt cx="8398662" cy="1249135"/>
          </a:xfrm>
        </p:grpSpPr>
        <p:sp>
          <p:nvSpPr>
            <p:cNvPr id="18" name="Rectangle 17">
              <a:extLst>
                <a:ext uri="{FF2B5EF4-FFF2-40B4-BE49-F238E27FC236}">
                  <a16:creationId xmlns:a16="http://schemas.microsoft.com/office/drawing/2014/main" id="{F84D940F-01A4-849B-3838-8655E02DDEB5}"/>
                </a:ext>
              </a:extLst>
            </p:cNvPr>
            <p:cNvSpPr/>
            <p:nvPr/>
          </p:nvSpPr>
          <p:spPr>
            <a:xfrm>
              <a:off x="3164773" y="3475265"/>
              <a:ext cx="8398662" cy="1249135"/>
            </a:xfrm>
            <a:prstGeom prst="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6000" rtlCol="0" anchor="t" anchorCtr="0"/>
            <a:lstStyle/>
            <a:p>
              <a:pPr>
                <a:tabLst>
                  <a:tab pos="5467350" algn="l"/>
                  <a:tab pos="6819900" algn="l"/>
                </a:tabLst>
              </a:pPr>
              <a:r>
                <a:rPr lang="en-SG" sz="1400" b="1" dirty="0">
                  <a:solidFill>
                    <a:srgbClr val="C00000"/>
                  </a:solidFill>
                  <a:latin typeface="Arial" panose="020B0604020202020204" pitchFamily="34" charset="0"/>
                  <a:cs typeface="Arial" panose="020B0604020202020204" pitchFamily="34" charset="0"/>
                </a:rPr>
                <a:t> Introduction</a:t>
              </a:r>
              <a:r>
                <a:rPr lang="en-SG" sz="1400" b="1" dirty="0">
                  <a:solidFill>
                    <a:schemeClr val="tx1"/>
                  </a:solidFill>
                  <a:latin typeface="Arial" panose="020B0604020202020204" pitchFamily="34" charset="0"/>
                  <a:cs typeface="Arial" panose="020B0604020202020204" pitchFamily="34" charset="0"/>
                </a:rPr>
                <a:t>	 Conclusion</a:t>
              </a:r>
            </a:p>
          </p:txBody>
        </p:sp>
        <p:grpSp>
          <p:nvGrpSpPr>
            <p:cNvPr id="19" name="Group 18">
              <a:extLst>
                <a:ext uri="{FF2B5EF4-FFF2-40B4-BE49-F238E27FC236}">
                  <a16:creationId xmlns:a16="http://schemas.microsoft.com/office/drawing/2014/main" id="{3AD7A79A-51C8-63E9-E533-C9A83FBB9176}"/>
                </a:ext>
              </a:extLst>
            </p:cNvPr>
            <p:cNvGrpSpPr/>
            <p:nvPr/>
          </p:nvGrpSpPr>
          <p:grpSpPr>
            <a:xfrm>
              <a:off x="3357416" y="3897010"/>
              <a:ext cx="8086462" cy="696837"/>
              <a:chOff x="707077" y="7992801"/>
              <a:chExt cx="10298377" cy="1128778"/>
            </a:xfrm>
          </p:grpSpPr>
          <p:sp>
            <p:nvSpPr>
              <p:cNvPr id="20" name="Rectangle 19">
                <a:extLst>
                  <a:ext uri="{FF2B5EF4-FFF2-40B4-BE49-F238E27FC236}">
                    <a16:creationId xmlns:a16="http://schemas.microsoft.com/office/drawing/2014/main" id="{1FE03AF7-6918-D90D-940D-3D119CA1A677}"/>
                  </a:ext>
                </a:extLst>
              </p:cNvPr>
              <p:cNvSpPr/>
              <p:nvPr/>
            </p:nvSpPr>
            <p:spPr>
              <a:xfrm>
                <a:off x="707077" y="7997142"/>
                <a:ext cx="1991421"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1"/>
                    </a:solidFill>
                    <a:latin typeface="Arial" panose="020B0604020202020204" pitchFamily="34" charset="0"/>
                    <a:cs typeface="Arial" panose="020B0604020202020204" pitchFamily="34" charset="0"/>
                  </a:rPr>
                  <a:t>Exploration of Dataset</a:t>
                </a:r>
                <a:endParaRPr lang="en-GB" sz="1400" b="1" dirty="0">
                  <a:solidFill>
                    <a:schemeClr val="tx1"/>
                  </a:solidFill>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C71725D8-CF2D-D7D1-A5FF-DC494EC22067}"/>
                  </a:ext>
                </a:extLst>
              </p:cNvPr>
              <p:cNvSpPr/>
              <p:nvPr/>
            </p:nvSpPr>
            <p:spPr>
              <a:xfrm>
                <a:off x="3456873" y="79928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1"/>
                    </a:solidFill>
                    <a:latin typeface="Arial" panose="020B0604020202020204" pitchFamily="34" charset="0"/>
                    <a:cs typeface="Arial" panose="020B0604020202020204" pitchFamily="34" charset="0"/>
                  </a:rPr>
                  <a:t>Design of AI Algorithm</a:t>
                </a:r>
                <a:endParaRPr lang="en-GB" sz="1400" b="1" dirty="0">
                  <a:solidFill>
                    <a:schemeClr val="tx1"/>
                  </a:solidFill>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039F51D2-00EB-7B1C-6D43-09C7BB4ADFE5}"/>
                  </a:ext>
                </a:extLst>
              </p:cNvPr>
              <p:cNvSpPr/>
              <p:nvPr/>
            </p:nvSpPr>
            <p:spPr>
              <a:xfrm>
                <a:off x="6232732" y="79928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1"/>
                    </a:solidFill>
                    <a:latin typeface="Arial" panose="020B0604020202020204" pitchFamily="34" charset="0"/>
                    <a:cs typeface="Arial" panose="020B0604020202020204" pitchFamily="34" charset="0"/>
                  </a:rPr>
                  <a:t>Model Evaluation</a:t>
                </a:r>
                <a:endParaRPr lang="en-GB" sz="1400" b="1" dirty="0">
                  <a:solidFill>
                    <a:schemeClr val="tx1"/>
                  </a:solidFill>
                  <a:latin typeface="Arial" panose="020B0604020202020204" pitchFamily="34" charset="0"/>
                  <a:cs typeface="Arial" panose="020B0604020202020204" pitchFamily="34" charset="0"/>
                </a:endParaRPr>
              </a:p>
            </p:txBody>
          </p:sp>
          <p:sp>
            <p:nvSpPr>
              <p:cNvPr id="23" name="Arrow: Right 22">
                <a:extLst>
                  <a:ext uri="{FF2B5EF4-FFF2-40B4-BE49-F238E27FC236}">
                    <a16:creationId xmlns:a16="http://schemas.microsoft.com/office/drawing/2014/main" id="{3A7D98F2-690D-06E3-16EE-2C7740E43C76}"/>
                  </a:ext>
                </a:extLst>
              </p:cNvPr>
              <p:cNvSpPr/>
              <p:nvPr/>
            </p:nvSpPr>
            <p:spPr>
              <a:xfrm>
                <a:off x="2770082" y="8254710"/>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4" name="Arrow: Right 23">
                <a:extLst>
                  <a:ext uri="{FF2B5EF4-FFF2-40B4-BE49-F238E27FC236}">
                    <a16:creationId xmlns:a16="http://schemas.microsoft.com/office/drawing/2014/main" id="{E71DD21E-0D64-C1C6-1E61-30CF7E4520F4}"/>
                  </a:ext>
                </a:extLst>
              </p:cNvPr>
              <p:cNvSpPr/>
              <p:nvPr/>
            </p:nvSpPr>
            <p:spPr>
              <a:xfrm>
                <a:off x="5564605" y="82624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5" name="Rectangle 24">
                <a:extLst>
                  <a:ext uri="{FF2B5EF4-FFF2-40B4-BE49-F238E27FC236}">
                    <a16:creationId xmlns:a16="http://schemas.microsoft.com/office/drawing/2014/main" id="{93CBD0C3-568E-40F7-6C9C-FE00FC288021}"/>
                  </a:ext>
                </a:extLst>
              </p:cNvPr>
              <p:cNvSpPr/>
              <p:nvPr/>
            </p:nvSpPr>
            <p:spPr>
              <a:xfrm>
                <a:off x="9014032" y="80182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1"/>
                    </a:solidFill>
                    <a:latin typeface="Arial" panose="020B0604020202020204" pitchFamily="34" charset="0"/>
                    <a:cs typeface="Arial" panose="020B0604020202020204" pitchFamily="34" charset="0"/>
                  </a:rPr>
                  <a:t>Visual Storytelling</a:t>
                </a:r>
                <a:endParaRPr lang="en-GB" sz="1400" b="1" dirty="0">
                  <a:solidFill>
                    <a:schemeClr val="tx1"/>
                  </a:solidFill>
                  <a:latin typeface="Arial" panose="020B0604020202020204" pitchFamily="34" charset="0"/>
                  <a:cs typeface="Arial" panose="020B0604020202020204" pitchFamily="34" charset="0"/>
                </a:endParaRPr>
              </a:p>
            </p:txBody>
          </p:sp>
          <p:sp>
            <p:nvSpPr>
              <p:cNvPr id="26" name="Arrow: Right 25">
                <a:extLst>
                  <a:ext uri="{FF2B5EF4-FFF2-40B4-BE49-F238E27FC236}">
                    <a16:creationId xmlns:a16="http://schemas.microsoft.com/office/drawing/2014/main" id="{6661D110-B61F-53EE-D979-E5D8A533A8B2}"/>
                  </a:ext>
                </a:extLst>
              </p:cNvPr>
              <p:cNvSpPr/>
              <p:nvPr/>
            </p:nvSpPr>
            <p:spPr>
              <a:xfrm>
                <a:off x="8358605" y="82878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grpSp>
      </p:grpSp>
      <p:sp>
        <p:nvSpPr>
          <p:cNvPr id="27" name="TextBox 26">
            <a:extLst>
              <a:ext uri="{FF2B5EF4-FFF2-40B4-BE49-F238E27FC236}">
                <a16:creationId xmlns:a16="http://schemas.microsoft.com/office/drawing/2014/main" id="{D440ADAF-21BA-D1BA-0068-C8C4A4C7DA03}"/>
              </a:ext>
            </a:extLst>
          </p:cNvPr>
          <p:cNvSpPr txBox="1"/>
          <p:nvPr/>
        </p:nvSpPr>
        <p:spPr>
          <a:xfrm>
            <a:off x="338320" y="5335351"/>
            <a:ext cx="11664746" cy="775175"/>
          </a:xfrm>
          <a:prstGeom prst="rect">
            <a:avLst/>
          </a:prstGeom>
          <a:noFill/>
        </p:spPr>
        <p:txBody>
          <a:bodyPr wrap="square" rtlCol="0">
            <a:noAutofit/>
          </a:bodyPr>
          <a:lstStyle/>
          <a:p>
            <a:pPr marL="342900" lvl="0" indent="-342900">
              <a:spcAft>
                <a:spcPts val="1000"/>
              </a:spcAft>
              <a:buFont typeface="Arial" panose="020B0604020202020204" pitchFamily="34" charset="0"/>
              <a:buChar cha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a:t>
            </a:r>
            <a:r>
              <a:rPr kumimoji="0" lang="en-SG" sz="2400" b="1"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4 </a:t>
            </a:r>
            <a:r>
              <a:rPr lang="en-SG" sz="2400" dirty="0">
                <a:solidFill>
                  <a:prstClr val="black"/>
                </a:solidFill>
                <a:latin typeface="Arial" panose="020B0604020202020204" pitchFamily="34" charset="0"/>
                <a:cs typeface="Arial" panose="020B0604020202020204" pitchFamily="34" charset="0"/>
              </a:rPr>
              <a:t>– Each slide must carry the name(s) of members responsible for the slide contents and is likely to be the person presenting if the assignment is selected.</a:t>
            </a:r>
            <a:endPar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527070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par>
                                <p:cTn id="21" presetID="10"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P spid="13" grpId="0"/>
      <p:bldP spid="1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2D95E6A-04EA-ACAE-0440-46C059DA7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15E53-9910-8DBA-2201-68562FD8E0A8}"/>
              </a:ext>
            </a:extLst>
          </p:cNvPr>
          <p:cNvSpPr>
            <a:spLocks noGrp="1"/>
          </p:cNvSpPr>
          <p:nvPr>
            <p:ph type="ctrTitle"/>
          </p:nvPr>
        </p:nvSpPr>
        <p:spPr>
          <a:xfrm>
            <a:off x="0" y="0"/>
            <a:ext cx="12192000" cy="688065"/>
          </a:xfrm>
        </p:spPr>
        <p:txBody>
          <a:bodyPr lIns="288000" anchor="ctr" anchorCtr="0">
            <a:noAutofit/>
          </a:bodyPr>
          <a:lstStyle/>
          <a:p>
            <a:pPr algn="l"/>
            <a:r>
              <a:rPr lang="en-SG" sz="3200" b="1" dirty="0">
                <a:solidFill>
                  <a:srgbClr val="800000"/>
                </a:solidFill>
                <a:latin typeface="Arial" panose="020B0604020202020204" pitchFamily="34" charset="0"/>
                <a:cs typeface="Arial" panose="020B0604020202020204" pitchFamily="34" charset="0"/>
              </a:rPr>
              <a:t>Exploration of Dataset</a:t>
            </a:r>
          </a:p>
        </p:txBody>
      </p:sp>
      <p:sp>
        <p:nvSpPr>
          <p:cNvPr id="5" name="Slide Number Placeholder 4">
            <a:extLst>
              <a:ext uri="{FF2B5EF4-FFF2-40B4-BE49-F238E27FC236}">
                <a16:creationId xmlns:a16="http://schemas.microsoft.com/office/drawing/2014/main" id="{16BA29E8-E552-7AFA-CCD6-0A58F61FC381}"/>
              </a:ext>
            </a:extLst>
          </p:cNvPr>
          <p:cNvSpPr>
            <a:spLocks noGrp="1"/>
          </p:cNvSpPr>
          <p:nvPr>
            <p:ph type="sldNum" sz="quarter" idx="12"/>
          </p:nvPr>
        </p:nvSpPr>
        <p:spPr>
          <a:xfrm>
            <a:off x="11561522" y="6356350"/>
            <a:ext cx="518786" cy="36248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F2AC1-5349-40F4-976A-E0D325BAD41D}" type="slidenum">
              <a:rPr kumimoji="0" lang="en-SG" sz="2000" b="0" i="0" u="none" strike="noStrike" kern="1200" cap="none" spc="0" normalizeH="0" baseline="0" noProof="0" smtClean="0">
                <a:ln>
                  <a:noFill/>
                </a:ln>
                <a:solidFill>
                  <a:prstClr val="black">
                    <a:tint val="75000"/>
                  </a:prstClr>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SG" sz="2000" b="0" i="0" u="none" strike="noStrike" kern="1200" cap="none" spc="0" normalizeH="0" baseline="0" noProof="0">
              <a:ln>
                <a:noFill/>
              </a:ln>
              <a:solidFill>
                <a:prstClr val="black">
                  <a:tint val="75000"/>
                </a:prstClr>
              </a:solidFill>
              <a:effectLst/>
              <a:uLnTx/>
              <a:uFillTx/>
              <a:latin typeface="Arial Narrow" panose="020B0606020202030204" pitchFamily="34" charset="0"/>
              <a:ea typeface="+mn-ea"/>
              <a:cs typeface="+mn-cs"/>
            </a:endParaRPr>
          </a:p>
        </p:txBody>
      </p:sp>
      <p:sp>
        <p:nvSpPr>
          <p:cNvPr id="8" name="TextBox 7">
            <a:extLst>
              <a:ext uri="{FF2B5EF4-FFF2-40B4-BE49-F238E27FC236}">
                <a16:creationId xmlns:a16="http://schemas.microsoft.com/office/drawing/2014/main" id="{EB825E19-CFAB-C925-3D71-0EDB4E4E4BDE}"/>
              </a:ext>
            </a:extLst>
          </p:cNvPr>
          <p:cNvSpPr txBox="1"/>
          <p:nvPr/>
        </p:nvSpPr>
        <p:spPr>
          <a:xfrm>
            <a:off x="188931" y="598909"/>
            <a:ext cx="11814135" cy="569306"/>
          </a:xfrm>
          <a:prstGeom prst="rect">
            <a:avLst/>
          </a:prstGeom>
          <a:noFill/>
        </p:spPr>
        <p:txBody>
          <a:bodyPr wrap="square" rtlCol="0">
            <a:noAutofit/>
          </a:bodyPr>
          <a:lstStyle/>
          <a:p>
            <a:pPr lvl="0">
              <a:spcAft>
                <a:spcPts val="600"/>
              </a:spcAft>
            </a:pPr>
            <a:r>
              <a:rPr kumimoji="0" lang="en-SG" sz="1600" b="1"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rPr>
              <a:t>What you can cover</a:t>
            </a:r>
            <a:r>
              <a:rPr kumimoji="0" lang="en-SG" sz="1600" b="0"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rPr>
              <a:t>: </a:t>
            </a:r>
            <a:r>
              <a:rPr lang="en-SG" sz="1600" dirty="0">
                <a:solidFill>
                  <a:srgbClr val="0000CC"/>
                </a:solidFill>
                <a:latin typeface="Arial" panose="020B0604020202020204" pitchFamily="34" charset="0"/>
                <a:cs typeface="Arial" panose="020B0604020202020204" pitchFamily="34" charset="0"/>
              </a:rPr>
              <a:t>Brief description of dataset, characteristic affecting implementation (i.e. its strengths and weaknesses), feature engineering (selection), conditioning done to dataset (if any), etc. Include only the most pertinent and interesting findings.</a:t>
            </a:r>
            <a:endParaRPr kumimoji="0" lang="en-SG" sz="1600" b="0"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endParaRPr>
          </a:p>
        </p:txBody>
      </p:sp>
      <p:sp>
        <p:nvSpPr>
          <p:cNvPr id="10" name="Speech Bubble: Rectangle 9">
            <a:extLst>
              <a:ext uri="{FF2B5EF4-FFF2-40B4-BE49-F238E27FC236}">
                <a16:creationId xmlns:a16="http://schemas.microsoft.com/office/drawing/2014/main" id="{D3DF0E86-7458-3EA3-6B80-85853FD2671C}"/>
              </a:ext>
            </a:extLst>
          </p:cNvPr>
          <p:cNvSpPr/>
          <p:nvPr/>
        </p:nvSpPr>
        <p:spPr>
          <a:xfrm>
            <a:off x="12750956" y="453892"/>
            <a:ext cx="2141316" cy="1159668"/>
          </a:xfrm>
          <a:prstGeom prst="wedgeRectCallout">
            <a:avLst>
              <a:gd name="adj1" fmla="val -72745"/>
              <a:gd name="adj2" fmla="val -17500"/>
            </a:avLst>
          </a:prstGeom>
          <a:solidFill>
            <a:srgbClr val="FFFFCC"/>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Delete description (</a:t>
            </a:r>
            <a:r>
              <a:rPr kumimoji="0" lang="en-SG" sz="1800" b="0" i="0" u="none" strike="noStrike" kern="1200" cap="none" spc="0" normalizeH="0" baseline="0" noProof="0" dirty="0">
                <a:ln>
                  <a:noFill/>
                </a:ln>
                <a:solidFill>
                  <a:srgbClr val="0000CC"/>
                </a:solidFill>
                <a:effectLst/>
                <a:uLnTx/>
                <a:uFillTx/>
                <a:latin typeface="Arial Narrow" panose="020B0606020202030204" pitchFamily="34" charset="0"/>
                <a:ea typeface="+mn-ea"/>
                <a:cs typeface="+mn-cs"/>
              </a:rPr>
              <a:t>in blue</a:t>
            </a:r>
            <a:r>
              <a:rPr kumimoji="0" lang="en-SG" sz="18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 in your submitted slides</a:t>
            </a:r>
          </a:p>
        </p:txBody>
      </p:sp>
      <p:sp>
        <p:nvSpPr>
          <p:cNvPr id="4" name="TextBox 3">
            <a:extLst>
              <a:ext uri="{FF2B5EF4-FFF2-40B4-BE49-F238E27FC236}">
                <a16:creationId xmlns:a16="http://schemas.microsoft.com/office/drawing/2014/main" id="{116F72FA-9DEC-98D6-0CAD-AF77BCC60C1A}"/>
              </a:ext>
            </a:extLst>
          </p:cNvPr>
          <p:cNvSpPr txBox="1"/>
          <p:nvPr/>
        </p:nvSpPr>
        <p:spPr>
          <a:xfrm>
            <a:off x="1993900" y="6234075"/>
            <a:ext cx="9194800" cy="53324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2400" b="1"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anose="020B0604020202020204" pitchFamily="34" charset="0"/>
              </a:rPr>
              <a:t>Write name of person(s) responsible for slide</a:t>
            </a:r>
          </a:p>
        </p:txBody>
      </p:sp>
      <p:sp>
        <p:nvSpPr>
          <p:cNvPr id="6" name="TextBox 5">
            <a:extLst>
              <a:ext uri="{FF2B5EF4-FFF2-40B4-BE49-F238E27FC236}">
                <a16:creationId xmlns:a16="http://schemas.microsoft.com/office/drawing/2014/main" id="{5B869172-73DA-2A6A-DD9D-3656A790CE16}"/>
              </a:ext>
            </a:extLst>
          </p:cNvPr>
          <p:cNvSpPr txBox="1"/>
          <p:nvPr/>
        </p:nvSpPr>
        <p:spPr>
          <a:xfrm>
            <a:off x="338320" y="1298768"/>
            <a:ext cx="11664746" cy="1082047"/>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 1 </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This stage of dataset exploration</a:t>
            </a:r>
            <a:r>
              <a:rPr kumimoji="0" lang="en-SG" sz="24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could take between 2-3 slides</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But the group is free to distribute</a:t>
            </a:r>
            <a:r>
              <a:rPr kumimoji="0" lang="en-SG" sz="24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the allocation of slides to the different stages as they see fit. </a:t>
            </a:r>
            <a:endPar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3" name="Group 2">
            <a:extLst>
              <a:ext uri="{FF2B5EF4-FFF2-40B4-BE49-F238E27FC236}">
                <a16:creationId xmlns:a16="http://schemas.microsoft.com/office/drawing/2014/main" id="{00F0CD03-3BA3-0943-C4D9-3DB513A7EE36}"/>
              </a:ext>
            </a:extLst>
          </p:cNvPr>
          <p:cNvGrpSpPr/>
          <p:nvPr/>
        </p:nvGrpSpPr>
        <p:grpSpPr>
          <a:xfrm>
            <a:off x="2738295" y="3591607"/>
            <a:ext cx="6715406" cy="1249135"/>
            <a:chOff x="3164773" y="3475265"/>
            <a:chExt cx="8398662" cy="1249135"/>
          </a:xfrm>
        </p:grpSpPr>
        <p:sp>
          <p:nvSpPr>
            <p:cNvPr id="7" name="Rectangle 6">
              <a:extLst>
                <a:ext uri="{FF2B5EF4-FFF2-40B4-BE49-F238E27FC236}">
                  <a16:creationId xmlns:a16="http://schemas.microsoft.com/office/drawing/2014/main" id="{500F917D-1FB6-1BCA-0ACE-8051DB0B4E24}"/>
                </a:ext>
              </a:extLst>
            </p:cNvPr>
            <p:cNvSpPr/>
            <p:nvPr/>
          </p:nvSpPr>
          <p:spPr>
            <a:xfrm>
              <a:off x="3164773" y="3475265"/>
              <a:ext cx="8398662" cy="1249135"/>
            </a:xfrm>
            <a:prstGeom prst="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6000" rtlCol="0" anchor="t" anchorCtr="0"/>
            <a:lstStyle/>
            <a:p>
              <a:pPr>
                <a:tabLst>
                  <a:tab pos="5467350" algn="l"/>
                  <a:tab pos="6819900" algn="l"/>
                </a:tabLst>
              </a:pPr>
              <a:r>
                <a:rPr lang="en-SG" sz="1400" b="1" dirty="0">
                  <a:solidFill>
                    <a:schemeClr val="tx1"/>
                  </a:solidFill>
                  <a:latin typeface="Arial" panose="020B0604020202020204" pitchFamily="34" charset="0"/>
                  <a:cs typeface="Arial" panose="020B0604020202020204" pitchFamily="34" charset="0"/>
                </a:rPr>
                <a:t> Introduction	 Conclusion</a:t>
              </a:r>
            </a:p>
          </p:txBody>
        </p:sp>
        <p:grpSp>
          <p:nvGrpSpPr>
            <p:cNvPr id="9" name="Group 8">
              <a:extLst>
                <a:ext uri="{FF2B5EF4-FFF2-40B4-BE49-F238E27FC236}">
                  <a16:creationId xmlns:a16="http://schemas.microsoft.com/office/drawing/2014/main" id="{185C654E-D845-03C9-0791-52F9A14D2F68}"/>
                </a:ext>
              </a:extLst>
            </p:cNvPr>
            <p:cNvGrpSpPr/>
            <p:nvPr/>
          </p:nvGrpSpPr>
          <p:grpSpPr>
            <a:xfrm>
              <a:off x="3357416" y="3897010"/>
              <a:ext cx="8086462" cy="696837"/>
              <a:chOff x="707077" y="7992801"/>
              <a:chExt cx="10298377" cy="1128778"/>
            </a:xfrm>
          </p:grpSpPr>
          <p:sp>
            <p:nvSpPr>
              <p:cNvPr id="11" name="Rectangle 10">
                <a:extLst>
                  <a:ext uri="{FF2B5EF4-FFF2-40B4-BE49-F238E27FC236}">
                    <a16:creationId xmlns:a16="http://schemas.microsoft.com/office/drawing/2014/main" id="{95B3EA8C-0C8D-1657-CA01-98A63E9AF3AA}"/>
                  </a:ext>
                </a:extLst>
              </p:cNvPr>
              <p:cNvSpPr/>
              <p:nvPr/>
            </p:nvSpPr>
            <p:spPr>
              <a:xfrm>
                <a:off x="707077" y="7997142"/>
                <a:ext cx="1991421"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1"/>
                    </a:solidFill>
                    <a:latin typeface="Arial" panose="020B0604020202020204" pitchFamily="34" charset="0"/>
                    <a:cs typeface="Arial" panose="020B0604020202020204" pitchFamily="34" charset="0"/>
                  </a:rPr>
                  <a:t>Exploration of Dataset</a:t>
                </a:r>
                <a:endParaRPr lang="en-GB" sz="1400" b="1" dirty="0">
                  <a:solidFill>
                    <a:schemeClr val="tx1"/>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724CC29E-CC6F-CD56-F27C-3D5DEA4A4408}"/>
                  </a:ext>
                </a:extLst>
              </p:cNvPr>
              <p:cNvSpPr/>
              <p:nvPr/>
            </p:nvSpPr>
            <p:spPr>
              <a:xfrm>
                <a:off x="3456873"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1"/>
                    </a:solidFill>
                    <a:latin typeface="Arial" panose="020B0604020202020204" pitchFamily="34" charset="0"/>
                    <a:cs typeface="Arial" panose="020B0604020202020204" pitchFamily="34" charset="0"/>
                  </a:rPr>
                  <a:t>Design of AI Algorithm</a:t>
                </a:r>
                <a:endParaRPr lang="en-GB" sz="1400" b="1" dirty="0">
                  <a:solidFill>
                    <a:schemeClr val="tx1"/>
                  </a:solidFill>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37018DFC-51D5-6342-EBB9-1E03E9BB0CB5}"/>
                  </a:ext>
                </a:extLst>
              </p:cNvPr>
              <p:cNvSpPr/>
              <p:nvPr/>
            </p:nvSpPr>
            <p:spPr>
              <a:xfrm>
                <a:off x="6232732"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1"/>
                    </a:solidFill>
                    <a:latin typeface="Arial" panose="020B0604020202020204" pitchFamily="34" charset="0"/>
                    <a:cs typeface="Arial" panose="020B0604020202020204" pitchFamily="34" charset="0"/>
                  </a:rPr>
                  <a:t>Model Evaluation</a:t>
                </a:r>
                <a:endParaRPr lang="en-GB" sz="1400" b="1" dirty="0">
                  <a:solidFill>
                    <a:schemeClr val="tx1"/>
                  </a:solidFill>
                  <a:latin typeface="Arial" panose="020B0604020202020204" pitchFamily="34" charset="0"/>
                  <a:cs typeface="Arial" panose="020B0604020202020204" pitchFamily="34" charset="0"/>
                </a:endParaRPr>
              </a:p>
            </p:txBody>
          </p:sp>
          <p:sp>
            <p:nvSpPr>
              <p:cNvPr id="15" name="Arrow: Right 14">
                <a:extLst>
                  <a:ext uri="{FF2B5EF4-FFF2-40B4-BE49-F238E27FC236}">
                    <a16:creationId xmlns:a16="http://schemas.microsoft.com/office/drawing/2014/main" id="{385FDBB5-D8C9-D5A9-1DB3-B3F5676297B4}"/>
                  </a:ext>
                </a:extLst>
              </p:cNvPr>
              <p:cNvSpPr/>
              <p:nvPr/>
            </p:nvSpPr>
            <p:spPr>
              <a:xfrm>
                <a:off x="2770082" y="8254710"/>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8" name="Arrow: Right 27">
                <a:extLst>
                  <a:ext uri="{FF2B5EF4-FFF2-40B4-BE49-F238E27FC236}">
                    <a16:creationId xmlns:a16="http://schemas.microsoft.com/office/drawing/2014/main" id="{EC4BFDC6-F901-2B52-BAA2-E45865D08680}"/>
                  </a:ext>
                </a:extLst>
              </p:cNvPr>
              <p:cNvSpPr/>
              <p:nvPr/>
            </p:nvSpPr>
            <p:spPr>
              <a:xfrm>
                <a:off x="5564605" y="82624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9" name="Rectangle 28">
                <a:extLst>
                  <a:ext uri="{FF2B5EF4-FFF2-40B4-BE49-F238E27FC236}">
                    <a16:creationId xmlns:a16="http://schemas.microsoft.com/office/drawing/2014/main" id="{0FAAEE46-56ED-182B-9230-ED6EB7278E27}"/>
                  </a:ext>
                </a:extLst>
              </p:cNvPr>
              <p:cNvSpPr/>
              <p:nvPr/>
            </p:nvSpPr>
            <p:spPr>
              <a:xfrm>
                <a:off x="9014032" y="80182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1"/>
                    </a:solidFill>
                    <a:latin typeface="Arial" panose="020B0604020202020204" pitchFamily="34" charset="0"/>
                    <a:cs typeface="Arial" panose="020B0604020202020204" pitchFamily="34" charset="0"/>
                  </a:rPr>
                  <a:t>Visual Storytelling</a:t>
                </a:r>
                <a:endParaRPr lang="en-GB" sz="1400" b="1" dirty="0">
                  <a:solidFill>
                    <a:schemeClr val="tx1"/>
                  </a:solidFill>
                  <a:latin typeface="Arial" panose="020B0604020202020204" pitchFamily="34" charset="0"/>
                  <a:cs typeface="Arial" panose="020B0604020202020204" pitchFamily="34" charset="0"/>
                </a:endParaRPr>
              </a:p>
            </p:txBody>
          </p:sp>
          <p:sp>
            <p:nvSpPr>
              <p:cNvPr id="30" name="Arrow: Right 29">
                <a:extLst>
                  <a:ext uri="{FF2B5EF4-FFF2-40B4-BE49-F238E27FC236}">
                    <a16:creationId xmlns:a16="http://schemas.microsoft.com/office/drawing/2014/main" id="{B704BB15-D84E-A574-74BC-A0CD9399BE72}"/>
                  </a:ext>
                </a:extLst>
              </p:cNvPr>
              <p:cNvSpPr/>
              <p:nvPr/>
            </p:nvSpPr>
            <p:spPr>
              <a:xfrm>
                <a:off x="8358605" y="82878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grpSp>
      </p:grpSp>
      <p:sp>
        <p:nvSpPr>
          <p:cNvPr id="31" name="TextBox 30">
            <a:extLst>
              <a:ext uri="{FF2B5EF4-FFF2-40B4-BE49-F238E27FC236}">
                <a16:creationId xmlns:a16="http://schemas.microsoft.com/office/drawing/2014/main" id="{D4CBDEA7-B703-D850-B498-CA6795F9C6BA}"/>
              </a:ext>
            </a:extLst>
          </p:cNvPr>
          <p:cNvSpPr txBox="1"/>
          <p:nvPr/>
        </p:nvSpPr>
        <p:spPr>
          <a:xfrm>
            <a:off x="338320" y="2511368"/>
            <a:ext cx="11664746" cy="775175"/>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 2 </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Remember,</a:t>
            </a:r>
            <a:r>
              <a:rPr kumimoji="0" lang="en-SG" sz="24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each group can submit no more than 20 slides (maximum) in total. </a:t>
            </a:r>
            <a:endPar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2" name="TextBox 31">
            <a:extLst>
              <a:ext uri="{FF2B5EF4-FFF2-40B4-BE49-F238E27FC236}">
                <a16:creationId xmlns:a16="http://schemas.microsoft.com/office/drawing/2014/main" id="{F6B4BD25-159B-6C3B-0204-74515658C6EC}"/>
              </a:ext>
            </a:extLst>
          </p:cNvPr>
          <p:cNvSpPr txBox="1"/>
          <p:nvPr/>
        </p:nvSpPr>
        <p:spPr>
          <a:xfrm>
            <a:off x="338320" y="5168144"/>
            <a:ext cx="11664746" cy="775175"/>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 3 </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Replicate the template slides if you need more slide for each stage</a:t>
            </a:r>
            <a:r>
              <a:rPr kumimoji="0" lang="en-SG" sz="24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a:t>
            </a:r>
            <a:endPar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40586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P spid="31" grpId="0"/>
      <p:bldP spid="3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3217966-AD9F-8B7D-95E2-E6B070AB08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F4E192-A22F-5EC0-F171-F2164744AFBA}"/>
              </a:ext>
            </a:extLst>
          </p:cNvPr>
          <p:cNvSpPr>
            <a:spLocks noGrp="1"/>
          </p:cNvSpPr>
          <p:nvPr>
            <p:ph type="ctrTitle"/>
          </p:nvPr>
        </p:nvSpPr>
        <p:spPr>
          <a:xfrm>
            <a:off x="0" y="0"/>
            <a:ext cx="12192000" cy="688065"/>
          </a:xfrm>
        </p:spPr>
        <p:txBody>
          <a:bodyPr lIns="288000" anchor="ctr" anchorCtr="0">
            <a:noAutofit/>
          </a:bodyPr>
          <a:lstStyle/>
          <a:p>
            <a:pPr algn="l"/>
            <a:r>
              <a:rPr lang="en-SG" sz="3200" b="1" dirty="0">
                <a:solidFill>
                  <a:srgbClr val="800000"/>
                </a:solidFill>
                <a:latin typeface="Arial" panose="020B0604020202020204" pitchFamily="34" charset="0"/>
                <a:cs typeface="Arial" panose="020B0604020202020204" pitchFamily="34" charset="0"/>
              </a:rPr>
              <a:t>Design of AI Algorithm</a:t>
            </a:r>
          </a:p>
        </p:txBody>
      </p:sp>
      <p:sp>
        <p:nvSpPr>
          <p:cNvPr id="5" name="Slide Number Placeholder 4">
            <a:extLst>
              <a:ext uri="{FF2B5EF4-FFF2-40B4-BE49-F238E27FC236}">
                <a16:creationId xmlns:a16="http://schemas.microsoft.com/office/drawing/2014/main" id="{074F1FB3-8C3A-D383-FC1C-A075833887E0}"/>
              </a:ext>
            </a:extLst>
          </p:cNvPr>
          <p:cNvSpPr>
            <a:spLocks noGrp="1"/>
          </p:cNvSpPr>
          <p:nvPr>
            <p:ph type="sldNum" sz="quarter" idx="12"/>
          </p:nvPr>
        </p:nvSpPr>
        <p:spPr>
          <a:xfrm>
            <a:off x="11561522" y="6356350"/>
            <a:ext cx="518786" cy="36248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F2AC1-5349-40F4-976A-E0D325BAD41D}" type="slidenum">
              <a:rPr kumimoji="0" lang="en-SG" sz="2000" b="0" i="0" u="none" strike="noStrike" kern="1200" cap="none" spc="0" normalizeH="0" baseline="0" noProof="0" smtClean="0">
                <a:ln>
                  <a:noFill/>
                </a:ln>
                <a:solidFill>
                  <a:prstClr val="black">
                    <a:tint val="75000"/>
                  </a:prstClr>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SG" sz="2000" b="0" i="0" u="none" strike="noStrike" kern="1200" cap="none" spc="0" normalizeH="0" baseline="0" noProof="0">
              <a:ln>
                <a:noFill/>
              </a:ln>
              <a:solidFill>
                <a:prstClr val="black">
                  <a:tint val="75000"/>
                </a:prstClr>
              </a:solidFill>
              <a:effectLst/>
              <a:uLnTx/>
              <a:uFillTx/>
              <a:latin typeface="Arial Narrow" panose="020B0606020202030204" pitchFamily="34" charset="0"/>
              <a:ea typeface="+mn-ea"/>
              <a:cs typeface="+mn-cs"/>
            </a:endParaRPr>
          </a:p>
        </p:txBody>
      </p:sp>
      <p:sp>
        <p:nvSpPr>
          <p:cNvPr id="8" name="TextBox 7">
            <a:extLst>
              <a:ext uri="{FF2B5EF4-FFF2-40B4-BE49-F238E27FC236}">
                <a16:creationId xmlns:a16="http://schemas.microsoft.com/office/drawing/2014/main" id="{A8BF91CA-AD64-88F5-B693-2E29D158AC54}"/>
              </a:ext>
            </a:extLst>
          </p:cNvPr>
          <p:cNvSpPr txBox="1"/>
          <p:nvPr/>
        </p:nvSpPr>
        <p:spPr>
          <a:xfrm>
            <a:off x="188931" y="598909"/>
            <a:ext cx="11814135" cy="569306"/>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SG" sz="1600" b="1"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rPr>
              <a:t>What you can cover</a:t>
            </a:r>
            <a:r>
              <a:rPr kumimoji="0" lang="en-SG" sz="1600" b="0"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rPr>
              <a:t>: Selection</a:t>
            </a:r>
            <a:r>
              <a:rPr kumimoji="0" lang="en-SG" sz="1600" b="0" i="0" u="none" strike="noStrike" kern="1200" cap="none" spc="0" normalizeH="0" noProof="0" dirty="0">
                <a:ln>
                  <a:noFill/>
                </a:ln>
                <a:solidFill>
                  <a:srgbClr val="0000CC"/>
                </a:solidFill>
                <a:effectLst/>
                <a:uLnTx/>
                <a:uFillTx/>
                <a:latin typeface="Arial" panose="020B0604020202020204" pitchFamily="34" charset="0"/>
                <a:ea typeface="+mn-ea"/>
                <a:cs typeface="Arial" panose="020B0604020202020204" pitchFamily="34" charset="0"/>
              </a:rPr>
              <a:t> of learning algorithm based on dataset and objectives. The design of the AI algorithm, including its parameter selection, parameter fine tuning, learning curve, explainability visualisation (if applicable), etc</a:t>
            </a:r>
            <a:endParaRPr kumimoji="0" lang="en-SG" sz="1600" b="0"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endParaRPr>
          </a:p>
        </p:txBody>
      </p:sp>
      <p:sp>
        <p:nvSpPr>
          <p:cNvPr id="10" name="Speech Bubble: Rectangle 9">
            <a:extLst>
              <a:ext uri="{FF2B5EF4-FFF2-40B4-BE49-F238E27FC236}">
                <a16:creationId xmlns:a16="http://schemas.microsoft.com/office/drawing/2014/main" id="{3077D15A-15C8-F7EB-C3CA-AC321D06F1BE}"/>
              </a:ext>
            </a:extLst>
          </p:cNvPr>
          <p:cNvSpPr/>
          <p:nvPr/>
        </p:nvSpPr>
        <p:spPr>
          <a:xfrm>
            <a:off x="12750956" y="453892"/>
            <a:ext cx="2141316" cy="1159668"/>
          </a:xfrm>
          <a:prstGeom prst="wedgeRectCallout">
            <a:avLst>
              <a:gd name="adj1" fmla="val -72745"/>
              <a:gd name="adj2" fmla="val -17500"/>
            </a:avLst>
          </a:prstGeom>
          <a:solidFill>
            <a:srgbClr val="FFFFCC"/>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Delete description (</a:t>
            </a:r>
            <a:r>
              <a:rPr kumimoji="0" lang="en-SG" sz="1800" b="0" i="0" u="none" strike="noStrike" kern="1200" cap="none" spc="0" normalizeH="0" baseline="0" noProof="0" dirty="0">
                <a:ln>
                  <a:noFill/>
                </a:ln>
                <a:solidFill>
                  <a:srgbClr val="0000CC"/>
                </a:solidFill>
                <a:effectLst/>
                <a:uLnTx/>
                <a:uFillTx/>
                <a:latin typeface="Arial Narrow" panose="020B0606020202030204" pitchFamily="34" charset="0"/>
                <a:ea typeface="+mn-ea"/>
                <a:cs typeface="+mn-cs"/>
              </a:rPr>
              <a:t>in blue</a:t>
            </a:r>
            <a:r>
              <a:rPr kumimoji="0" lang="en-SG" sz="18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 in your submitted slides</a:t>
            </a:r>
          </a:p>
        </p:txBody>
      </p:sp>
      <p:sp>
        <p:nvSpPr>
          <p:cNvPr id="4" name="TextBox 3">
            <a:extLst>
              <a:ext uri="{FF2B5EF4-FFF2-40B4-BE49-F238E27FC236}">
                <a16:creationId xmlns:a16="http://schemas.microsoft.com/office/drawing/2014/main" id="{AB653421-E16A-E5D7-5A64-336E2181190D}"/>
              </a:ext>
            </a:extLst>
          </p:cNvPr>
          <p:cNvSpPr txBox="1"/>
          <p:nvPr/>
        </p:nvSpPr>
        <p:spPr>
          <a:xfrm>
            <a:off x="1993900" y="6234075"/>
            <a:ext cx="9194800" cy="53324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2400" b="1"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anose="020B0604020202020204" pitchFamily="34" charset="0"/>
              </a:rPr>
              <a:t>Write name of person(s) responsible for slide</a:t>
            </a:r>
          </a:p>
        </p:txBody>
      </p:sp>
      <p:sp>
        <p:nvSpPr>
          <p:cNvPr id="6" name="TextBox 5">
            <a:extLst>
              <a:ext uri="{FF2B5EF4-FFF2-40B4-BE49-F238E27FC236}">
                <a16:creationId xmlns:a16="http://schemas.microsoft.com/office/drawing/2014/main" id="{5C1305F6-5EDC-FA35-A87B-53EDD8C8B670}"/>
              </a:ext>
            </a:extLst>
          </p:cNvPr>
          <p:cNvSpPr txBox="1"/>
          <p:nvPr/>
        </p:nvSpPr>
        <p:spPr>
          <a:xfrm>
            <a:off x="338320" y="1298769"/>
            <a:ext cx="11664746" cy="1181626"/>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 1 </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Remember</a:t>
            </a:r>
            <a:r>
              <a:rPr lang="en-SG" sz="2400" dirty="0">
                <a:solidFill>
                  <a:prstClr val="black"/>
                </a:solidFill>
                <a:latin typeface="Arial" panose="020B0604020202020204" pitchFamily="34" charset="0"/>
                <a:cs typeface="Arial" panose="020B0604020202020204" pitchFamily="34" charset="0"/>
              </a:rPr>
              <a:t>, this assignment is mainly focused on data visualisation techniques for AI</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Avoid in depth discussion on the machine learning technicalities.</a:t>
            </a:r>
            <a:r>
              <a:rPr kumimoji="0" lang="en-SG" sz="24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Focus on how visualisation was used in the design of your AI algorithm.</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grpSp>
        <p:nvGrpSpPr>
          <p:cNvPr id="3" name="Group 2">
            <a:extLst>
              <a:ext uri="{FF2B5EF4-FFF2-40B4-BE49-F238E27FC236}">
                <a16:creationId xmlns:a16="http://schemas.microsoft.com/office/drawing/2014/main" id="{7786517A-D6AF-9B4E-C8EC-CDC1C9BB5741}"/>
              </a:ext>
            </a:extLst>
          </p:cNvPr>
          <p:cNvGrpSpPr/>
          <p:nvPr/>
        </p:nvGrpSpPr>
        <p:grpSpPr>
          <a:xfrm>
            <a:off x="2738295" y="3887173"/>
            <a:ext cx="6715406" cy="1249135"/>
            <a:chOff x="3164773" y="3475265"/>
            <a:chExt cx="8398662" cy="1249135"/>
          </a:xfrm>
        </p:grpSpPr>
        <p:sp>
          <p:nvSpPr>
            <p:cNvPr id="7" name="Rectangle 6">
              <a:extLst>
                <a:ext uri="{FF2B5EF4-FFF2-40B4-BE49-F238E27FC236}">
                  <a16:creationId xmlns:a16="http://schemas.microsoft.com/office/drawing/2014/main" id="{B32C4A6C-04D1-9CD1-F137-3D9D04AE023D}"/>
                </a:ext>
              </a:extLst>
            </p:cNvPr>
            <p:cNvSpPr/>
            <p:nvPr/>
          </p:nvSpPr>
          <p:spPr>
            <a:xfrm>
              <a:off x="3164773" y="3475265"/>
              <a:ext cx="8398662" cy="1249135"/>
            </a:xfrm>
            <a:prstGeom prst="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6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tab pos="5467350" algn="l"/>
                  <a:tab pos="6819900" algn="l"/>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Introduction	 Conclusion</a:t>
              </a:r>
            </a:p>
          </p:txBody>
        </p:sp>
        <p:grpSp>
          <p:nvGrpSpPr>
            <p:cNvPr id="9" name="Group 8">
              <a:extLst>
                <a:ext uri="{FF2B5EF4-FFF2-40B4-BE49-F238E27FC236}">
                  <a16:creationId xmlns:a16="http://schemas.microsoft.com/office/drawing/2014/main" id="{C7AC8E8F-EF58-AF22-3B6A-FB28A8E2778B}"/>
                </a:ext>
              </a:extLst>
            </p:cNvPr>
            <p:cNvGrpSpPr/>
            <p:nvPr/>
          </p:nvGrpSpPr>
          <p:grpSpPr>
            <a:xfrm>
              <a:off x="3357416" y="3897010"/>
              <a:ext cx="8086462" cy="696837"/>
              <a:chOff x="707077" y="7992801"/>
              <a:chExt cx="10298377" cy="1128778"/>
            </a:xfrm>
          </p:grpSpPr>
          <p:sp>
            <p:nvSpPr>
              <p:cNvPr id="11" name="Rectangle 10">
                <a:extLst>
                  <a:ext uri="{FF2B5EF4-FFF2-40B4-BE49-F238E27FC236}">
                    <a16:creationId xmlns:a16="http://schemas.microsoft.com/office/drawing/2014/main" id="{6754D606-1469-EC19-959A-5F03D41FC524}"/>
                  </a:ext>
                </a:extLst>
              </p:cNvPr>
              <p:cNvSpPr/>
              <p:nvPr/>
            </p:nvSpPr>
            <p:spPr>
              <a:xfrm>
                <a:off x="707077" y="7997142"/>
                <a:ext cx="1991421"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Exploration of Dataset</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 name="Rectangle 11">
                <a:extLst>
                  <a:ext uri="{FF2B5EF4-FFF2-40B4-BE49-F238E27FC236}">
                    <a16:creationId xmlns:a16="http://schemas.microsoft.com/office/drawing/2014/main" id="{45DAED6C-3575-3EA2-00BE-12A8C21D8FAB}"/>
                  </a:ext>
                </a:extLst>
              </p:cNvPr>
              <p:cNvSpPr/>
              <p:nvPr/>
            </p:nvSpPr>
            <p:spPr>
              <a:xfrm>
                <a:off x="3456873" y="79928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Design of AI Algorithm</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Rectangle 13">
                <a:extLst>
                  <a:ext uri="{FF2B5EF4-FFF2-40B4-BE49-F238E27FC236}">
                    <a16:creationId xmlns:a16="http://schemas.microsoft.com/office/drawing/2014/main" id="{0C5138C1-4952-C8BA-72B2-14C53FB1B941}"/>
                  </a:ext>
                </a:extLst>
              </p:cNvPr>
              <p:cNvSpPr/>
              <p:nvPr/>
            </p:nvSpPr>
            <p:spPr>
              <a:xfrm>
                <a:off x="6232732"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Model Evaluation</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5" name="Arrow: Right 14">
                <a:extLst>
                  <a:ext uri="{FF2B5EF4-FFF2-40B4-BE49-F238E27FC236}">
                    <a16:creationId xmlns:a16="http://schemas.microsoft.com/office/drawing/2014/main" id="{B0FBE113-B6CA-B611-BFB7-F129ACDEC6F7}"/>
                  </a:ext>
                </a:extLst>
              </p:cNvPr>
              <p:cNvSpPr/>
              <p:nvPr/>
            </p:nvSpPr>
            <p:spPr>
              <a:xfrm>
                <a:off x="2770082" y="8254710"/>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Arrow: Right 27">
                <a:extLst>
                  <a:ext uri="{FF2B5EF4-FFF2-40B4-BE49-F238E27FC236}">
                    <a16:creationId xmlns:a16="http://schemas.microsoft.com/office/drawing/2014/main" id="{EA331F89-A1B6-DEBB-2F07-001EA3CA84BF}"/>
                  </a:ext>
                </a:extLst>
              </p:cNvPr>
              <p:cNvSpPr/>
              <p:nvPr/>
            </p:nvSpPr>
            <p:spPr>
              <a:xfrm>
                <a:off x="5564605" y="82624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CAB5E09E-3936-DA6D-1C1A-AB3C23EB3ED5}"/>
                  </a:ext>
                </a:extLst>
              </p:cNvPr>
              <p:cNvSpPr/>
              <p:nvPr/>
            </p:nvSpPr>
            <p:spPr>
              <a:xfrm>
                <a:off x="9014032" y="80182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Visual Storytelling</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 name="Arrow: Right 29">
                <a:extLst>
                  <a:ext uri="{FF2B5EF4-FFF2-40B4-BE49-F238E27FC236}">
                    <a16:creationId xmlns:a16="http://schemas.microsoft.com/office/drawing/2014/main" id="{0CFDC5F0-A09E-37C9-8194-A52FD0E2BCF4}"/>
                  </a:ext>
                </a:extLst>
              </p:cNvPr>
              <p:cNvSpPr/>
              <p:nvPr/>
            </p:nvSpPr>
            <p:spPr>
              <a:xfrm>
                <a:off x="8358605" y="82878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1" name="TextBox 30">
            <a:extLst>
              <a:ext uri="{FF2B5EF4-FFF2-40B4-BE49-F238E27FC236}">
                <a16:creationId xmlns:a16="http://schemas.microsoft.com/office/drawing/2014/main" id="{C26C69B5-372C-A29A-A296-1E10A312BA87}"/>
              </a:ext>
            </a:extLst>
          </p:cNvPr>
          <p:cNvSpPr txBox="1"/>
          <p:nvPr/>
        </p:nvSpPr>
        <p:spPr>
          <a:xfrm>
            <a:off x="338320" y="2534660"/>
            <a:ext cx="11664746" cy="775175"/>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 2 </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This stage of the process may need to work closely</a:t>
            </a:r>
            <a:r>
              <a:rPr kumimoji="0" lang="en-SG" sz="24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with the Model Evaluation stage as the design of the AI algorithms is often an iterative process based on the evaluation of the model performance</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sp>
        <p:nvSpPr>
          <p:cNvPr id="13" name="TextBox 12">
            <a:extLst>
              <a:ext uri="{FF2B5EF4-FFF2-40B4-BE49-F238E27FC236}">
                <a16:creationId xmlns:a16="http://schemas.microsoft.com/office/drawing/2014/main" id="{3393B93B-8544-B9F8-7A67-FA027070BE72}"/>
              </a:ext>
            </a:extLst>
          </p:cNvPr>
          <p:cNvSpPr txBox="1"/>
          <p:nvPr/>
        </p:nvSpPr>
        <p:spPr>
          <a:xfrm>
            <a:off x="338320" y="5222075"/>
            <a:ext cx="11853680" cy="775175"/>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 3 </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You may use Gen AI tools to generate</a:t>
            </a:r>
            <a:r>
              <a:rPr kumimoji="0" lang="en-SG" sz="24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Python codes for your AI algorithms &amp; visualisation but acknowledge this (</a:t>
            </a:r>
            <a:r>
              <a:rPr kumimoji="0" lang="en-SG" sz="2400" b="0" i="0" u="none" strike="noStrike" kern="1200" cap="none" spc="0" normalizeH="0" noProof="0" dirty="0">
                <a:ln>
                  <a:noFill/>
                </a:ln>
                <a:solidFill>
                  <a:prstClr val="black"/>
                </a:solidFill>
                <a:effectLst/>
                <a:uLnTx/>
                <a:uFillTx/>
                <a:latin typeface="Arial Narrow" panose="020B0606020202030204" pitchFamily="34" charset="0"/>
                <a:cs typeface="Arial" panose="020B0604020202020204" pitchFamily="34" charset="0"/>
              </a:rPr>
              <a:t>in your slide notes where relevant</a:t>
            </a:r>
            <a:r>
              <a:rPr kumimoji="0" lang="en-SG" sz="24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spTree>
    <p:extLst>
      <p:ext uri="{BB962C8B-B14F-4D97-AF65-F5344CB8AC3E}">
        <p14:creationId xmlns:p14="http://schemas.microsoft.com/office/powerpoint/2010/main" val="1841099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P spid="31"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A99BCAA-53A2-F3AB-8CB5-34F3B6990B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1D8B8E-0FF5-9ADD-27E8-F7A85685E255}"/>
              </a:ext>
            </a:extLst>
          </p:cNvPr>
          <p:cNvSpPr>
            <a:spLocks noGrp="1"/>
          </p:cNvSpPr>
          <p:nvPr>
            <p:ph type="ctrTitle"/>
          </p:nvPr>
        </p:nvSpPr>
        <p:spPr>
          <a:xfrm>
            <a:off x="0" y="0"/>
            <a:ext cx="12192000" cy="688065"/>
          </a:xfrm>
        </p:spPr>
        <p:txBody>
          <a:bodyPr lIns="288000" anchor="ctr" anchorCtr="0">
            <a:noAutofit/>
          </a:bodyPr>
          <a:lstStyle/>
          <a:p>
            <a:pPr algn="l"/>
            <a:r>
              <a:rPr lang="en-SG" sz="3200" b="1" dirty="0">
                <a:solidFill>
                  <a:srgbClr val="800000"/>
                </a:solidFill>
                <a:latin typeface="Arial" panose="020B0604020202020204" pitchFamily="34" charset="0"/>
                <a:cs typeface="Arial" panose="020B0604020202020204" pitchFamily="34" charset="0"/>
              </a:rPr>
              <a:t>Model Evaluation and Performance</a:t>
            </a:r>
          </a:p>
        </p:txBody>
      </p:sp>
      <p:sp>
        <p:nvSpPr>
          <p:cNvPr id="5" name="Slide Number Placeholder 4">
            <a:extLst>
              <a:ext uri="{FF2B5EF4-FFF2-40B4-BE49-F238E27FC236}">
                <a16:creationId xmlns:a16="http://schemas.microsoft.com/office/drawing/2014/main" id="{AED83DF1-8AD7-50F9-AABD-125E11C6D943}"/>
              </a:ext>
            </a:extLst>
          </p:cNvPr>
          <p:cNvSpPr>
            <a:spLocks noGrp="1"/>
          </p:cNvSpPr>
          <p:nvPr>
            <p:ph type="sldNum" sz="quarter" idx="12"/>
          </p:nvPr>
        </p:nvSpPr>
        <p:spPr>
          <a:xfrm>
            <a:off x="11561522" y="6356350"/>
            <a:ext cx="518786" cy="36248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F2AC1-5349-40F4-976A-E0D325BAD41D}" type="slidenum">
              <a:rPr kumimoji="0" lang="en-SG" sz="2000" b="0" i="0" u="none" strike="noStrike" kern="1200" cap="none" spc="0" normalizeH="0" baseline="0" noProof="0" smtClean="0">
                <a:ln>
                  <a:noFill/>
                </a:ln>
                <a:solidFill>
                  <a:prstClr val="black">
                    <a:tint val="75000"/>
                  </a:prstClr>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SG" sz="2000" b="0" i="0" u="none" strike="noStrike" kern="1200" cap="none" spc="0" normalizeH="0" baseline="0" noProof="0">
              <a:ln>
                <a:noFill/>
              </a:ln>
              <a:solidFill>
                <a:prstClr val="black">
                  <a:tint val="75000"/>
                </a:prstClr>
              </a:solidFill>
              <a:effectLst/>
              <a:uLnTx/>
              <a:uFillTx/>
              <a:latin typeface="Arial Narrow" panose="020B0606020202030204" pitchFamily="34" charset="0"/>
              <a:ea typeface="+mn-ea"/>
              <a:cs typeface="+mn-cs"/>
            </a:endParaRPr>
          </a:p>
        </p:txBody>
      </p:sp>
      <p:sp>
        <p:nvSpPr>
          <p:cNvPr id="8" name="TextBox 7">
            <a:extLst>
              <a:ext uri="{FF2B5EF4-FFF2-40B4-BE49-F238E27FC236}">
                <a16:creationId xmlns:a16="http://schemas.microsoft.com/office/drawing/2014/main" id="{827E20F5-26FB-9C74-14F6-26B2FD59BA32}"/>
              </a:ext>
            </a:extLst>
          </p:cNvPr>
          <p:cNvSpPr txBox="1"/>
          <p:nvPr/>
        </p:nvSpPr>
        <p:spPr>
          <a:xfrm>
            <a:off x="188931" y="598909"/>
            <a:ext cx="11814135" cy="569306"/>
          </a:xfrm>
          <a:prstGeom prst="rect">
            <a:avLst/>
          </a:prstGeom>
          <a:noFill/>
        </p:spPr>
        <p:txBody>
          <a:bodyPr wrap="square" rtlCol="0">
            <a:noAutofit/>
          </a:bodyPr>
          <a:lstStyle/>
          <a:p>
            <a:pPr lvl="0">
              <a:spcAft>
                <a:spcPts val="600"/>
              </a:spcAft>
              <a:defRPr/>
            </a:pPr>
            <a:r>
              <a:rPr kumimoji="0" lang="en-SG" sz="1600" b="1"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rPr>
              <a:t>What you can cover</a:t>
            </a:r>
            <a:r>
              <a:rPr kumimoji="0" lang="en-SG" sz="1600" b="0"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rPr>
              <a:t>: Present visualisation</a:t>
            </a:r>
            <a:r>
              <a:rPr kumimoji="0" lang="en-SG" sz="1600" b="0" i="0" u="none" strike="noStrike" kern="1200" cap="none" spc="0" normalizeH="0" noProof="0" dirty="0">
                <a:ln>
                  <a:noFill/>
                </a:ln>
                <a:solidFill>
                  <a:srgbClr val="0000CC"/>
                </a:solidFill>
                <a:effectLst/>
                <a:uLnTx/>
                <a:uFillTx/>
                <a:latin typeface="Arial" panose="020B0604020202020204" pitchFamily="34" charset="0"/>
                <a:ea typeface="+mn-ea"/>
                <a:cs typeface="Arial" panose="020B0604020202020204" pitchFamily="34" charset="0"/>
              </a:rPr>
              <a:t> that highlights the model evaluation and performance. Highlight what are the factors that had significant influence on </a:t>
            </a:r>
            <a:r>
              <a:rPr lang="en-SG" sz="1600" dirty="0">
                <a:solidFill>
                  <a:srgbClr val="0000CC"/>
                </a:solidFill>
                <a:latin typeface="Arial" panose="020B0604020202020204" pitchFamily="34" charset="0"/>
                <a:cs typeface="Arial" panose="020B0604020202020204" pitchFamily="34" charset="0"/>
              </a:rPr>
              <a:t>its</a:t>
            </a:r>
            <a:r>
              <a:rPr kumimoji="0" lang="en-SG" sz="1600" b="0" i="0" u="none" strike="noStrike" kern="1200" cap="none" spc="0" normalizeH="0" noProof="0" dirty="0">
                <a:ln>
                  <a:noFill/>
                </a:ln>
                <a:solidFill>
                  <a:srgbClr val="0000CC"/>
                </a:solidFill>
                <a:effectLst/>
                <a:uLnTx/>
                <a:uFillTx/>
                <a:latin typeface="Arial" panose="020B0604020202020204" pitchFamily="34" charset="0"/>
                <a:ea typeface="+mn-ea"/>
                <a:cs typeface="Arial" panose="020B0604020202020204" pitchFamily="34" charset="0"/>
              </a:rPr>
              <a:t> performance. </a:t>
            </a:r>
            <a:r>
              <a:rPr lang="en-SG" sz="1600" dirty="0">
                <a:solidFill>
                  <a:srgbClr val="0000CC"/>
                </a:solidFill>
                <a:latin typeface="Arial" panose="020B0604020202020204" pitchFamily="34" charset="0"/>
                <a:cs typeface="Arial" panose="020B0604020202020204" pitchFamily="34" charset="0"/>
              </a:rPr>
              <a:t>Include only the most pertinent and interesting findings.</a:t>
            </a:r>
            <a:endParaRPr kumimoji="0" lang="en-SG" sz="1600" b="0"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endParaRPr>
          </a:p>
        </p:txBody>
      </p:sp>
      <p:sp>
        <p:nvSpPr>
          <p:cNvPr id="10" name="Speech Bubble: Rectangle 9">
            <a:extLst>
              <a:ext uri="{FF2B5EF4-FFF2-40B4-BE49-F238E27FC236}">
                <a16:creationId xmlns:a16="http://schemas.microsoft.com/office/drawing/2014/main" id="{12429BFD-9D5B-AE75-D2E5-54BB456AF5FC}"/>
              </a:ext>
            </a:extLst>
          </p:cNvPr>
          <p:cNvSpPr/>
          <p:nvPr/>
        </p:nvSpPr>
        <p:spPr>
          <a:xfrm>
            <a:off x="12750956" y="453892"/>
            <a:ext cx="2141316" cy="1159668"/>
          </a:xfrm>
          <a:prstGeom prst="wedgeRectCallout">
            <a:avLst>
              <a:gd name="adj1" fmla="val -72745"/>
              <a:gd name="adj2" fmla="val -17500"/>
            </a:avLst>
          </a:prstGeom>
          <a:solidFill>
            <a:srgbClr val="FFFFCC"/>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Delete description (</a:t>
            </a:r>
            <a:r>
              <a:rPr kumimoji="0" lang="en-SG" sz="1800" b="0" i="0" u="none" strike="noStrike" kern="1200" cap="none" spc="0" normalizeH="0" baseline="0" noProof="0" dirty="0">
                <a:ln>
                  <a:noFill/>
                </a:ln>
                <a:solidFill>
                  <a:srgbClr val="0000CC"/>
                </a:solidFill>
                <a:effectLst/>
                <a:uLnTx/>
                <a:uFillTx/>
                <a:latin typeface="Arial Narrow" panose="020B0606020202030204" pitchFamily="34" charset="0"/>
                <a:ea typeface="+mn-ea"/>
                <a:cs typeface="+mn-cs"/>
              </a:rPr>
              <a:t>in blue</a:t>
            </a:r>
            <a:r>
              <a:rPr kumimoji="0" lang="en-SG" sz="18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 in your submitted slides</a:t>
            </a:r>
          </a:p>
        </p:txBody>
      </p:sp>
      <p:sp>
        <p:nvSpPr>
          <p:cNvPr id="4" name="TextBox 3">
            <a:extLst>
              <a:ext uri="{FF2B5EF4-FFF2-40B4-BE49-F238E27FC236}">
                <a16:creationId xmlns:a16="http://schemas.microsoft.com/office/drawing/2014/main" id="{072632CD-8ECF-FB60-6B1B-C0C5AFD183E6}"/>
              </a:ext>
            </a:extLst>
          </p:cNvPr>
          <p:cNvSpPr txBox="1"/>
          <p:nvPr/>
        </p:nvSpPr>
        <p:spPr>
          <a:xfrm>
            <a:off x="1993900" y="6234075"/>
            <a:ext cx="9194800" cy="53324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2400" b="1"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anose="020B0604020202020204" pitchFamily="34" charset="0"/>
              </a:rPr>
              <a:t>Write name of person(s) responsible for slide</a:t>
            </a:r>
          </a:p>
        </p:txBody>
      </p:sp>
      <p:sp>
        <p:nvSpPr>
          <p:cNvPr id="6" name="TextBox 5">
            <a:extLst>
              <a:ext uri="{FF2B5EF4-FFF2-40B4-BE49-F238E27FC236}">
                <a16:creationId xmlns:a16="http://schemas.microsoft.com/office/drawing/2014/main" id="{78E8C272-48B6-5D93-99BC-AD8D91A55AF8}"/>
              </a:ext>
            </a:extLst>
          </p:cNvPr>
          <p:cNvSpPr txBox="1"/>
          <p:nvPr/>
        </p:nvSpPr>
        <p:spPr>
          <a:xfrm>
            <a:off x="338320" y="1298768"/>
            <a:ext cx="11664746" cy="1402887"/>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 1 </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Again,</a:t>
            </a:r>
            <a:r>
              <a:rPr kumimoji="0" lang="en-SG" sz="24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r</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emember, this assignment is mainly focused on data visualisation techniques for AI. So emphasise on how different plots were used to help evaluate the model performance.</a:t>
            </a:r>
          </a:p>
        </p:txBody>
      </p:sp>
      <p:grpSp>
        <p:nvGrpSpPr>
          <p:cNvPr id="3" name="Group 2">
            <a:extLst>
              <a:ext uri="{FF2B5EF4-FFF2-40B4-BE49-F238E27FC236}">
                <a16:creationId xmlns:a16="http://schemas.microsoft.com/office/drawing/2014/main" id="{4AE71741-F675-56FB-691C-6BA339030324}"/>
              </a:ext>
            </a:extLst>
          </p:cNvPr>
          <p:cNvGrpSpPr/>
          <p:nvPr/>
        </p:nvGrpSpPr>
        <p:grpSpPr>
          <a:xfrm>
            <a:off x="2738295" y="4297455"/>
            <a:ext cx="6715406" cy="1249135"/>
            <a:chOff x="3164773" y="3475265"/>
            <a:chExt cx="8398662" cy="1249135"/>
          </a:xfrm>
        </p:grpSpPr>
        <p:sp>
          <p:nvSpPr>
            <p:cNvPr id="7" name="Rectangle 6">
              <a:extLst>
                <a:ext uri="{FF2B5EF4-FFF2-40B4-BE49-F238E27FC236}">
                  <a16:creationId xmlns:a16="http://schemas.microsoft.com/office/drawing/2014/main" id="{1F3F8D70-3C2A-DDFD-8BCC-8E0204DC48E2}"/>
                </a:ext>
              </a:extLst>
            </p:cNvPr>
            <p:cNvSpPr/>
            <p:nvPr/>
          </p:nvSpPr>
          <p:spPr>
            <a:xfrm>
              <a:off x="3164773" y="3475265"/>
              <a:ext cx="8398662" cy="1249135"/>
            </a:xfrm>
            <a:prstGeom prst="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6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tab pos="5467350" algn="l"/>
                  <a:tab pos="6819900" algn="l"/>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Introduction	 Conclusion</a:t>
              </a:r>
            </a:p>
          </p:txBody>
        </p:sp>
        <p:grpSp>
          <p:nvGrpSpPr>
            <p:cNvPr id="9" name="Group 8">
              <a:extLst>
                <a:ext uri="{FF2B5EF4-FFF2-40B4-BE49-F238E27FC236}">
                  <a16:creationId xmlns:a16="http://schemas.microsoft.com/office/drawing/2014/main" id="{32EB4B9E-E2FF-6B28-ACE7-278D898554A5}"/>
                </a:ext>
              </a:extLst>
            </p:cNvPr>
            <p:cNvGrpSpPr/>
            <p:nvPr/>
          </p:nvGrpSpPr>
          <p:grpSpPr>
            <a:xfrm>
              <a:off x="3357416" y="3897010"/>
              <a:ext cx="8086462" cy="696837"/>
              <a:chOff x="707077" y="7992801"/>
              <a:chExt cx="10298377" cy="1128778"/>
            </a:xfrm>
          </p:grpSpPr>
          <p:sp>
            <p:nvSpPr>
              <p:cNvPr id="11" name="Rectangle 10">
                <a:extLst>
                  <a:ext uri="{FF2B5EF4-FFF2-40B4-BE49-F238E27FC236}">
                    <a16:creationId xmlns:a16="http://schemas.microsoft.com/office/drawing/2014/main" id="{AC77E8E0-4A45-6932-8FEC-EFC14D0637EA}"/>
                  </a:ext>
                </a:extLst>
              </p:cNvPr>
              <p:cNvSpPr/>
              <p:nvPr/>
            </p:nvSpPr>
            <p:spPr>
              <a:xfrm>
                <a:off x="707077" y="7997142"/>
                <a:ext cx="1991421"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Exploration of Dataset</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 name="Rectangle 11">
                <a:extLst>
                  <a:ext uri="{FF2B5EF4-FFF2-40B4-BE49-F238E27FC236}">
                    <a16:creationId xmlns:a16="http://schemas.microsoft.com/office/drawing/2014/main" id="{34BF1AF2-804C-B3B6-CED2-997BDC79F802}"/>
                  </a:ext>
                </a:extLst>
              </p:cNvPr>
              <p:cNvSpPr/>
              <p:nvPr/>
            </p:nvSpPr>
            <p:spPr>
              <a:xfrm>
                <a:off x="3456873"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Design of AI Algorithm</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Rectangle 13">
                <a:extLst>
                  <a:ext uri="{FF2B5EF4-FFF2-40B4-BE49-F238E27FC236}">
                    <a16:creationId xmlns:a16="http://schemas.microsoft.com/office/drawing/2014/main" id="{64BC7206-F4A5-AA5E-4E83-C4A3ECEF79FC}"/>
                  </a:ext>
                </a:extLst>
              </p:cNvPr>
              <p:cNvSpPr/>
              <p:nvPr/>
            </p:nvSpPr>
            <p:spPr>
              <a:xfrm>
                <a:off x="6232732" y="79928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Model Evaluation</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5" name="Arrow: Right 14">
                <a:extLst>
                  <a:ext uri="{FF2B5EF4-FFF2-40B4-BE49-F238E27FC236}">
                    <a16:creationId xmlns:a16="http://schemas.microsoft.com/office/drawing/2014/main" id="{6A3B2B70-BCA0-B3E7-C23B-72FA24F996F3}"/>
                  </a:ext>
                </a:extLst>
              </p:cNvPr>
              <p:cNvSpPr/>
              <p:nvPr/>
            </p:nvSpPr>
            <p:spPr>
              <a:xfrm>
                <a:off x="2770082" y="8254710"/>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Arrow: Right 27">
                <a:extLst>
                  <a:ext uri="{FF2B5EF4-FFF2-40B4-BE49-F238E27FC236}">
                    <a16:creationId xmlns:a16="http://schemas.microsoft.com/office/drawing/2014/main" id="{1181CE1A-85C3-9FB4-C308-87001D03382E}"/>
                  </a:ext>
                </a:extLst>
              </p:cNvPr>
              <p:cNvSpPr/>
              <p:nvPr/>
            </p:nvSpPr>
            <p:spPr>
              <a:xfrm>
                <a:off x="5564605" y="82624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0E508CC1-14FC-C0CB-3640-FE2E9CFA8BAB}"/>
                  </a:ext>
                </a:extLst>
              </p:cNvPr>
              <p:cNvSpPr/>
              <p:nvPr/>
            </p:nvSpPr>
            <p:spPr>
              <a:xfrm>
                <a:off x="9014032" y="80182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Visual Storytelling</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 name="Arrow: Right 29">
                <a:extLst>
                  <a:ext uri="{FF2B5EF4-FFF2-40B4-BE49-F238E27FC236}">
                    <a16:creationId xmlns:a16="http://schemas.microsoft.com/office/drawing/2014/main" id="{A6E03E2B-F1D1-E2F0-6809-CE7175E6F0F5}"/>
                  </a:ext>
                </a:extLst>
              </p:cNvPr>
              <p:cNvSpPr/>
              <p:nvPr/>
            </p:nvSpPr>
            <p:spPr>
              <a:xfrm>
                <a:off x="8358605" y="82878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1" name="TextBox 30">
            <a:extLst>
              <a:ext uri="{FF2B5EF4-FFF2-40B4-BE49-F238E27FC236}">
                <a16:creationId xmlns:a16="http://schemas.microsoft.com/office/drawing/2014/main" id="{DD957474-2D64-5AC9-F0BF-37EA7E5051C1}"/>
              </a:ext>
            </a:extLst>
          </p:cNvPr>
          <p:cNvSpPr txBox="1"/>
          <p:nvPr/>
        </p:nvSpPr>
        <p:spPr>
          <a:xfrm>
            <a:off x="338320" y="2624757"/>
            <a:ext cx="11664746" cy="1129096"/>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 2 </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In all your data visualisation, remember to apply appropriate</a:t>
            </a:r>
            <a:r>
              <a:rPr kumimoji="0" lang="en-SG" sz="24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human visual perception and psychological principles for effective graphics to make all your plots more visually accessible (</a:t>
            </a:r>
            <a:r>
              <a:rPr kumimoji="0" lang="en-SG" sz="2400" b="0" i="0" u="none" strike="noStrike" kern="1200" cap="none" spc="0" normalizeH="0" noProof="0" dirty="0">
                <a:ln>
                  <a:noFill/>
                </a:ln>
                <a:solidFill>
                  <a:prstClr val="black"/>
                </a:solidFill>
                <a:effectLst/>
                <a:uLnTx/>
                <a:uFillTx/>
                <a:latin typeface="Arial Narrow" panose="020B0606020202030204" pitchFamily="34" charset="0"/>
                <a:cs typeface="Arial" panose="020B0604020202020204" pitchFamily="34" charset="0"/>
              </a:rPr>
              <a:t>note: you may need to tweak your Python codes or enhance visual using </a:t>
            </a:r>
            <a:r>
              <a:rPr kumimoji="0" lang="en-SG" sz="2400" b="0" i="0" u="none" strike="noStrike" kern="1200" cap="none" spc="0" normalizeH="0" noProof="0" dirty="0" err="1">
                <a:ln>
                  <a:noFill/>
                </a:ln>
                <a:solidFill>
                  <a:prstClr val="black"/>
                </a:solidFill>
                <a:effectLst/>
                <a:uLnTx/>
                <a:uFillTx/>
                <a:latin typeface="Arial Narrow" panose="020B0606020202030204" pitchFamily="34" charset="0"/>
                <a:cs typeface="Arial" panose="020B0604020202020204" pitchFamily="34" charset="0"/>
              </a:rPr>
              <a:t>Powerpoint</a:t>
            </a:r>
            <a:r>
              <a:rPr kumimoji="0" lang="en-SG" sz="2400" b="0" i="0" u="none" strike="noStrike" kern="1200" cap="none" spc="0" normalizeH="0" noProof="0" dirty="0">
                <a:ln>
                  <a:noFill/>
                </a:ln>
                <a:solidFill>
                  <a:prstClr val="black"/>
                </a:solidFill>
                <a:effectLst/>
                <a:uLnTx/>
                <a:uFillTx/>
                <a:latin typeface="Arial Narrow" panose="020B0606020202030204" pitchFamily="34" charset="0"/>
                <a:cs typeface="Arial" panose="020B0604020202020204" pitchFamily="34" charset="0"/>
              </a:rPr>
              <a:t> features to address these requirements</a:t>
            </a:r>
            <a:r>
              <a:rPr kumimoji="0" lang="en-SG" sz="24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spTree>
    <p:extLst>
      <p:ext uri="{BB962C8B-B14F-4D97-AF65-F5344CB8AC3E}">
        <p14:creationId xmlns:p14="http://schemas.microsoft.com/office/powerpoint/2010/main" val="317115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C449F1E-9930-1C78-F4C1-8629536EA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B8B19E-F321-6F55-5460-C845FA5EA95C}"/>
              </a:ext>
            </a:extLst>
          </p:cNvPr>
          <p:cNvSpPr>
            <a:spLocks noGrp="1"/>
          </p:cNvSpPr>
          <p:nvPr>
            <p:ph type="ctrTitle"/>
          </p:nvPr>
        </p:nvSpPr>
        <p:spPr>
          <a:xfrm>
            <a:off x="0" y="0"/>
            <a:ext cx="12192000" cy="688065"/>
          </a:xfrm>
        </p:spPr>
        <p:txBody>
          <a:bodyPr lIns="288000" anchor="ctr" anchorCtr="0">
            <a:noAutofit/>
          </a:bodyPr>
          <a:lstStyle/>
          <a:p>
            <a:pPr algn="l"/>
            <a:r>
              <a:rPr lang="en-SG" sz="3200" b="1" dirty="0">
                <a:solidFill>
                  <a:srgbClr val="800000"/>
                </a:solidFill>
                <a:latin typeface="Arial" panose="020B0604020202020204" pitchFamily="34" charset="0"/>
                <a:cs typeface="Arial" panose="020B0604020202020204" pitchFamily="34" charset="0"/>
              </a:rPr>
              <a:t>Visual Storytelling</a:t>
            </a:r>
          </a:p>
        </p:txBody>
      </p:sp>
      <p:sp>
        <p:nvSpPr>
          <p:cNvPr id="5" name="Slide Number Placeholder 4">
            <a:extLst>
              <a:ext uri="{FF2B5EF4-FFF2-40B4-BE49-F238E27FC236}">
                <a16:creationId xmlns:a16="http://schemas.microsoft.com/office/drawing/2014/main" id="{8FA44376-CEEC-488C-D191-8F8D956AC09B}"/>
              </a:ext>
            </a:extLst>
          </p:cNvPr>
          <p:cNvSpPr>
            <a:spLocks noGrp="1"/>
          </p:cNvSpPr>
          <p:nvPr>
            <p:ph type="sldNum" sz="quarter" idx="12"/>
          </p:nvPr>
        </p:nvSpPr>
        <p:spPr>
          <a:xfrm>
            <a:off x="11561522" y="6356350"/>
            <a:ext cx="518786" cy="36248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F2AC1-5349-40F4-976A-E0D325BAD41D}" type="slidenum">
              <a:rPr kumimoji="0" lang="en-SG" sz="2000" b="0" i="0" u="none" strike="noStrike" kern="1200" cap="none" spc="0" normalizeH="0" baseline="0" noProof="0" smtClean="0">
                <a:ln>
                  <a:noFill/>
                </a:ln>
                <a:solidFill>
                  <a:prstClr val="black">
                    <a:tint val="75000"/>
                  </a:prstClr>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SG" sz="2000" b="0" i="0" u="none" strike="noStrike" kern="1200" cap="none" spc="0" normalizeH="0" baseline="0" noProof="0">
              <a:ln>
                <a:noFill/>
              </a:ln>
              <a:solidFill>
                <a:prstClr val="black">
                  <a:tint val="75000"/>
                </a:prstClr>
              </a:solidFill>
              <a:effectLst/>
              <a:uLnTx/>
              <a:uFillTx/>
              <a:latin typeface="Arial Narrow" panose="020B0606020202030204" pitchFamily="34" charset="0"/>
              <a:ea typeface="+mn-ea"/>
              <a:cs typeface="+mn-cs"/>
            </a:endParaRPr>
          </a:p>
        </p:txBody>
      </p:sp>
      <p:sp>
        <p:nvSpPr>
          <p:cNvPr id="8" name="TextBox 7">
            <a:extLst>
              <a:ext uri="{FF2B5EF4-FFF2-40B4-BE49-F238E27FC236}">
                <a16:creationId xmlns:a16="http://schemas.microsoft.com/office/drawing/2014/main" id="{3EF62DE2-ED10-9C64-98F0-3FD2D8795577}"/>
              </a:ext>
            </a:extLst>
          </p:cNvPr>
          <p:cNvSpPr txBox="1"/>
          <p:nvPr/>
        </p:nvSpPr>
        <p:spPr>
          <a:xfrm>
            <a:off x="188931" y="598909"/>
            <a:ext cx="11814135" cy="569306"/>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SG" sz="1600" b="1"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rPr>
              <a:t>What you can cover</a:t>
            </a:r>
            <a:r>
              <a:rPr kumimoji="0" lang="en-SG" sz="1600" b="0"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rPr>
              <a:t>: Present the </a:t>
            </a:r>
            <a:r>
              <a:rPr lang="en-SG" sz="1600" dirty="0">
                <a:solidFill>
                  <a:srgbClr val="0000CC"/>
                </a:solidFill>
                <a:latin typeface="Arial" panose="020B0604020202020204" pitchFamily="34" charset="0"/>
                <a:cs typeface="Arial" panose="020B0604020202020204" pitchFamily="34" charset="0"/>
              </a:rPr>
              <a:t>findings and insights from what you have gleaned from the analysis of your dataset. Treat this segment as if you were making a presentation to your bosses on what interesting and relevant insights the data that you have evaluated is telling the company. </a:t>
            </a:r>
            <a:endParaRPr kumimoji="0" lang="en-SG" sz="1600" b="0"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endParaRPr>
          </a:p>
        </p:txBody>
      </p:sp>
      <p:sp>
        <p:nvSpPr>
          <p:cNvPr id="10" name="Speech Bubble: Rectangle 9">
            <a:extLst>
              <a:ext uri="{FF2B5EF4-FFF2-40B4-BE49-F238E27FC236}">
                <a16:creationId xmlns:a16="http://schemas.microsoft.com/office/drawing/2014/main" id="{CDA1A3CD-3E55-3152-9EC0-B5F659D7FB94}"/>
              </a:ext>
            </a:extLst>
          </p:cNvPr>
          <p:cNvSpPr/>
          <p:nvPr/>
        </p:nvSpPr>
        <p:spPr>
          <a:xfrm>
            <a:off x="12750956" y="453892"/>
            <a:ext cx="2141316" cy="1159668"/>
          </a:xfrm>
          <a:prstGeom prst="wedgeRectCallout">
            <a:avLst>
              <a:gd name="adj1" fmla="val -72745"/>
              <a:gd name="adj2" fmla="val -17500"/>
            </a:avLst>
          </a:prstGeom>
          <a:solidFill>
            <a:srgbClr val="FFFFCC"/>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Delete description (</a:t>
            </a:r>
            <a:r>
              <a:rPr kumimoji="0" lang="en-SG" sz="1800" b="0" i="0" u="none" strike="noStrike" kern="1200" cap="none" spc="0" normalizeH="0" baseline="0" noProof="0" dirty="0">
                <a:ln>
                  <a:noFill/>
                </a:ln>
                <a:solidFill>
                  <a:srgbClr val="0000CC"/>
                </a:solidFill>
                <a:effectLst/>
                <a:uLnTx/>
                <a:uFillTx/>
                <a:latin typeface="Arial Narrow" panose="020B0606020202030204" pitchFamily="34" charset="0"/>
                <a:ea typeface="+mn-ea"/>
                <a:cs typeface="+mn-cs"/>
              </a:rPr>
              <a:t>in blue</a:t>
            </a:r>
            <a:r>
              <a:rPr kumimoji="0" lang="en-SG" sz="18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 in your submitted slides</a:t>
            </a:r>
          </a:p>
        </p:txBody>
      </p:sp>
      <p:sp>
        <p:nvSpPr>
          <p:cNvPr id="4" name="TextBox 3">
            <a:extLst>
              <a:ext uri="{FF2B5EF4-FFF2-40B4-BE49-F238E27FC236}">
                <a16:creationId xmlns:a16="http://schemas.microsoft.com/office/drawing/2014/main" id="{0FB3F5EF-EECD-23BA-9F04-5C2A21C5FAF3}"/>
              </a:ext>
            </a:extLst>
          </p:cNvPr>
          <p:cNvSpPr txBox="1"/>
          <p:nvPr/>
        </p:nvSpPr>
        <p:spPr>
          <a:xfrm>
            <a:off x="1993900" y="6234075"/>
            <a:ext cx="9194800" cy="53324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2400" b="1"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anose="020B0604020202020204" pitchFamily="34" charset="0"/>
              </a:rPr>
              <a:t>Write name of person(s) responsible for slide</a:t>
            </a:r>
          </a:p>
        </p:txBody>
      </p:sp>
      <p:sp>
        <p:nvSpPr>
          <p:cNvPr id="6" name="TextBox 5">
            <a:extLst>
              <a:ext uri="{FF2B5EF4-FFF2-40B4-BE49-F238E27FC236}">
                <a16:creationId xmlns:a16="http://schemas.microsoft.com/office/drawing/2014/main" id="{2BC9D0A8-E1E6-FE75-0A79-72874549DCF2}"/>
              </a:ext>
            </a:extLst>
          </p:cNvPr>
          <p:cNvSpPr txBox="1"/>
          <p:nvPr/>
        </p:nvSpPr>
        <p:spPr>
          <a:xfrm>
            <a:off x="338320" y="1536268"/>
            <a:ext cx="11664746" cy="1402887"/>
          </a:xfrm>
          <a:prstGeom prst="rect">
            <a:avLst/>
          </a:prstGeom>
          <a:noFill/>
        </p:spPr>
        <p:txBody>
          <a:bodyPr wrap="square" rtlCol="0">
            <a:noAutofit/>
          </a:bodyPr>
          <a:lstStyle/>
          <a:p>
            <a:pPr marL="342900" lvl="0" indent="-342900">
              <a:spcAft>
                <a:spcPts val="1000"/>
              </a:spcAft>
              <a:buFont typeface="Arial" panose="020B0604020202020204" pitchFamily="34" charset="0"/>
              <a:buChar cha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 1 </a:t>
            </a:r>
            <a:r>
              <a:rPr lang="en-SG" sz="2400" dirty="0">
                <a:solidFill>
                  <a:prstClr val="black"/>
                </a:solidFill>
                <a:latin typeface="Arial" panose="020B0604020202020204" pitchFamily="34" charset="0"/>
                <a:cs typeface="Arial" panose="020B0604020202020204" pitchFamily="34" charset="0"/>
              </a:rPr>
              <a:t>– This stage of the process provide lots of opportunity to apply appropriate human visual perception and psychological principles for effective graphics to visually communicate the insights obtained from your dataset and AI algorithm. </a:t>
            </a:r>
            <a:endPar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3" name="Group 2">
            <a:extLst>
              <a:ext uri="{FF2B5EF4-FFF2-40B4-BE49-F238E27FC236}">
                <a16:creationId xmlns:a16="http://schemas.microsoft.com/office/drawing/2014/main" id="{FAF683A6-15E3-D08F-0546-B60CDFB86BEB}"/>
              </a:ext>
            </a:extLst>
          </p:cNvPr>
          <p:cNvGrpSpPr/>
          <p:nvPr/>
        </p:nvGrpSpPr>
        <p:grpSpPr>
          <a:xfrm>
            <a:off x="2738295" y="4711417"/>
            <a:ext cx="6715406" cy="1249135"/>
            <a:chOff x="3164773" y="3475265"/>
            <a:chExt cx="8398662" cy="1249135"/>
          </a:xfrm>
        </p:grpSpPr>
        <p:sp>
          <p:nvSpPr>
            <p:cNvPr id="7" name="Rectangle 6">
              <a:extLst>
                <a:ext uri="{FF2B5EF4-FFF2-40B4-BE49-F238E27FC236}">
                  <a16:creationId xmlns:a16="http://schemas.microsoft.com/office/drawing/2014/main" id="{8DF50411-B02C-9DAA-B1E6-03E578429AFB}"/>
                </a:ext>
              </a:extLst>
            </p:cNvPr>
            <p:cNvSpPr/>
            <p:nvPr/>
          </p:nvSpPr>
          <p:spPr>
            <a:xfrm>
              <a:off x="3164773" y="3475265"/>
              <a:ext cx="8398662" cy="1249135"/>
            </a:xfrm>
            <a:prstGeom prst="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6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tab pos="5467350" algn="l"/>
                  <a:tab pos="6819900" algn="l"/>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Introduction	 Conclusion</a:t>
              </a:r>
            </a:p>
          </p:txBody>
        </p:sp>
        <p:grpSp>
          <p:nvGrpSpPr>
            <p:cNvPr id="9" name="Group 8">
              <a:extLst>
                <a:ext uri="{FF2B5EF4-FFF2-40B4-BE49-F238E27FC236}">
                  <a16:creationId xmlns:a16="http://schemas.microsoft.com/office/drawing/2014/main" id="{D13E41C3-6CDD-572E-5B92-D28A43B9EE32}"/>
                </a:ext>
              </a:extLst>
            </p:cNvPr>
            <p:cNvGrpSpPr/>
            <p:nvPr/>
          </p:nvGrpSpPr>
          <p:grpSpPr>
            <a:xfrm>
              <a:off x="3357416" y="3897010"/>
              <a:ext cx="8086462" cy="696837"/>
              <a:chOff x="707077" y="7992801"/>
              <a:chExt cx="10298377" cy="1128778"/>
            </a:xfrm>
          </p:grpSpPr>
          <p:sp>
            <p:nvSpPr>
              <p:cNvPr id="11" name="Rectangle 10">
                <a:extLst>
                  <a:ext uri="{FF2B5EF4-FFF2-40B4-BE49-F238E27FC236}">
                    <a16:creationId xmlns:a16="http://schemas.microsoft.com/office/drawing/2014/main" id="{E68B0D82-D1D7-AB89-1B62-B057B46902C4}"/>
                  </a:ext>
                </a:extLst>
              </p:cNvPr>
              <p:cNvSpPr/>
              <p:nvPr/>
            </p:nvSpPr>
            <p:spPr>
              <a:xfrm>
                <a:off x="707077" y="7997142"/>
                <a:ext cx="1991421"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Exploration of Dataset</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 name="Rectangle 11">
                <a:extLst>
                  <a:ext uri="{FF2B5EF4-FFF2-40B4-BE49-F238E27FC236}">
                    <a16:creationId xmlns:a16="http://schemas.microsoft.com/office/drawing/2014/main" id="{650EA62F-700B-17D3-6FAA-65D94B973B0C}"/>
                  </a:ext>
                </a:extLst>
              </p:cNvPr>
              <p:cNvSpPr/>
              <p:nvPr/>
            </p:nvSpPr>
            <p:spPr>
              <a:xfrm>
                <a:off x="3456873"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Design of AI Algorithm</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Rectangle 13">
                <a:extLst>
                  <a:ext uri="{FF2B5EF4-FFF2-40B4-BE49-F238E27FC236}">
                    <a16:creationId xmlns:a16="http://schemas.microsoft.com/office/drawing/2014/main" id="{0C44101A-C94E-19E1-490E-2571FBA2B06D}"/>
                  </a:ext>
                </a:extLst>
              </p:cNvPr>
              <p:cNvSpPr/>
              <p:nvPr/>
            </p:nvSpPr>
            <p:spPr>
              <a:xfrm>
                <a:off x="6232732"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Model Evaluation</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5" name="Arrow: Right 14">
                <a:extLst>
                  <a:ext uri="{FF2B5EF4-FFF2-40B4-BE49-F238E27FC236}">
                    <a16:creationId xmlns:a16="http://schemas.microsoft.com/office/drawing/2014/main" id="{474F08EC-5863-E4B8-6177-61906B727A83}"/>
                  </a:ext>
                </a:extLst>
              </p:cNvPr>
              <p:cNvSpPr/>
              <p:nvPr/>
            </p:nvSpPr>
            <p:spPr>
              <a:xfrm>
                <a:off x="2770082" y="8254710"/>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Arrow: Right 27">
                <a:extLst>
                  <a:ext uri="{FF2B5EF4-FFF2-40B4-BE49-F238E27FC236}">
                    <a16:creationId xmlns:a16="http://schemas.microsoft.com/office/drawing/2014/main" id="{3BBF1E92-05D7-6680-BFC1-D206DD65DD0C}"/>
                  </a:ext>
                </a:extLst>
              </p:cNvPr>
              <p:cNvSpPr/>
              <p:nvPr/>
            </p:nvSpPr>
            <p:spPr>
              <a:xfrm>
                <a:off x="5564605" y="82624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12C98913-2364-3E3C-735B-5A854E6A6A52}"/>
                  </a:ext>
                </a:extLst>
              </p:cNvPr>
              <p:cNvSpPr/>
              <p:nvPr/>
            </p:nvSpPr>
            <p:spPr>
              <a:xfrm>
                <a:off x="9014032" y="80182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Visual Storytelling</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 name="Arrow: Right 29">
                <a:extLst>
                  <a:ext uri="{FF2B5EF4-FFF2-40B4-BE49-F238E27FC236}">
                    <a16:creationId xmlns:a16="http://schemas.microsoft.com/office/drawing/2014/main" id="{0B53D84E-2C3D-41C2-C359-19F9CA51C497}"/>
                  </a:ext>
                </a:extLst>
              </p:cNvPr>
              <p:cNvSpPr/>
              <p:nvPr/>
            </p:nvSpPr>
            <p:spPr>
              <a:xfrm>
                <a:off x="8358605" y="82878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1" name="TextBox 30">
            <a:extLst>
              <a:ext uri="{FF2B5EF4-FFF2-40B4-BE49-F238E27FC236}">
                <a16:creationId xmlns:a16="http://schemas.microsoft.com/office/drawing/2014/main" id="{FE747D4A-6242-E966-79A8-2957AFE74302}"/>
              </a:ext>
            </a:extLst>
          </p:cNvPr>
          <p:cNvSpPr txBox="1"/>
          <p:nvPr/>
        </p:nvSpPr>
        <p:spPr>
          <a:xfrm>
            <a:off x="338320" y="3246170"/>
            <a:ext cx="11664746" cy="775175"/>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 2 </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You can also take advantage</a:t>
            </a:r>
            <a:r>
              <a:rPr kumimoji="0" lang="en-SG" sz="24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of </a:t>
            </a:r>
            <a:r>
              <a:rPr kumimoji="0" lang="en-SG" sz="2400" b="0" i="0" u="none" strike="noStrike" kern="1200" cap="none" spc="0" normalizeH="0" noProof="0" dirty="0" err="1">
                <a:ln>
                  <a:noFill/>
                </a:ln>
                <a:solidFill>
                  <a:prstClr val="black"/>
                </a:solidFill>
                <a:effectLst/>
                <a:uLnTx/>
                <a:uFillTx/>
                <a:latin typeface="Arial" panose="020B0604020202020204" pitchFamily="34" charset="0"/>
                <a:ea typeface="+mn-ea"/>
                <a:cs typeface="Arial" panose="020B0604020202020204" pitchFamily="34" charset="0"/>
              </a:rPr>
              <a:t>Powerpoint</a:t>
            </a:r>
            <a:r>
              <a:rPr kumimoji="0" lang="en-SG" sz="24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features like sequencing, animations, transitions, shape drawing, etc to enhance the effectiveness of your visual storytelling</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Most importantly, use the right chart for the message you want to convey. </a:t>
            </a:r>
          </a:p>
        </p:txBody>
      </p:sp>
    </p:spTree>
    <p:extLst>
      <p:ext uri="{BB962C8B-B14F-4D97-AF65-F5344CB8AC3E}">
        <p14:creationId xmlns:p14="http://schemas.microsoft.com/office/powerpoint/2010/main" val="240078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E8A1A75-394B-4F15-32F5-F0609110A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76045-C93B-A22E-B5AB-CD25D7A828B4}"/>
              </a:ext>
            </a:extLst>
          </p:cNvPr>
          <p:cNvSpPr>
            <a:spLocks noGrp="1"/>
          </p:cNvSpPr>
          <p:nvPr>
            <p:ph type="ctrTitle"/>
          </p:nvPr>
        </p:nvSpPr>
        <p:spPr>
          <a:xfrm>
            <a:off x="0" y="0"/>
            <a:ext cx="12192000" cy="688065"/>
          </a:xfrm>
        </p:spPr>
        <p:txBody>
          <a:bodyPr lIns="288000" anchor="ctr" anchorCtr="0">
            <a:noAutofit/>
          </a:bodyPr>
          <a:lstStyle/>
          <a:p>
            <a:pPr algn="l"/>
            <a:r>
              <a:rPr lang="en-SG" sz="3200" b="1" dirty="0">
                <a:solidFill>
                  <a:srgbClr val="800000"/>
                </a:solidFill>
                <a:latin typeface="Arial" panose="020B0604020202020204" pitchFamily="34" charset="0"/>
                <a:cs typeface="Arial" panose="020B0604020202020204" pitchFamily="34" charset="0"/>
              </a:rPr>
              <a:t>Conclusions</a:t>
            </a:r>
          </a:p>
        </p:txBody>
      </p:sp>
      <p:sp>
        <p:nvSpPr>
          <p:cNvPr id="5" name="Slide Number Placeholder 4">
            <a:extLst>
              <a:ext uri="{FF2B5EF4-FFF2-40B4-BE49-F238E27FC236}">
                <a16:creationId xmlns:a16="http://schemas.microsoft.com/office/drawing/2014/main" id="{117C3956-0455-2CE6-FCE8-4591EB3D5800}"/>
              </a:ext>
            </a:extLst>
          </p:cNvPr>
          <p:cNvSpPr>
            <a:spLocks noGrp="1"/>
          </p:cNvSpPr>
          <p:nvPr>
            <p:ph type="sldNum" sz="quarter" idx="12"/>
          </p:nvPr>
        </p:nvSpPr>
        <p:spPr>
          <a:xfrm>
            <a:off x="11561522" y="6356350"/>
            <a:ext cx="518786" cy="36248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F2AC1-5349-40F4-976A-E0D325BAD41D}" type="slidenum">
              <a:rPr kumimoji="0" lang="en-SG" sz="2000" b="0" i="0" u="none" strike="noStrike" kern="1200" cap="none" spc="0" normalizeH="0" baseline="0" noProof="0" smtClean="0">
                <a:ln>
                  <a:noFill/>
                </a:ln>
                <a:solidFill>
                  <a:prstClr val="black">
                    <a:tint val="75000"/>
                  </a:prstClr>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SG" sz="2000" b="0" i="0" u="none" strike="noStrike" kern="1200" cap="none" spc="0" normalizeH="0" baseline="0" noProof="0">
              <a:ln>
                <a:noFill/>
              </a:ln>
              <a:solidFill>
                <a:prstClr val="black">
                  <a:tint val="75000"/>
                </a:prstClr>
              </a:solidFill>
              <a:effectLst/>
              <a:uLnTx/>
              <a:uFillTx/>
              <a:latin typeface="Arial Narrow" panose="020B0606020202030204" pitchFamily="34" charset="0"/>
              <a:ea typeface="+mn-ea"/>
              <a:cs typeface="+mn-cs"/>
            </a:endParaRPr>
          </a:p>
        </p:txBody>
      </p:sp>
      <p:sp>
        <p:nvSpPr>
          <p:cNvPr id="8" name="TextBox 7">
            <a:extLst>
              <a:ext uri="{FF2B5EF4-FFF2-40B4-BE49-F238E27FC236}">
                <a16:creationId xmlns:a16="http://schemas.microsoft.com/office/drawing/2014/main" id="{79E994C8-FFF5-D2E9-D153-2768DFB3B74E}"/>
              </a:ext>
            </a:extLst>
          </p:cNvPr>
          <p:cNvSpPr txBox="1"/>
          <p:nvPr/>
        </p:nvSpPr>
        <p:spPr>
          <a:xfrm>
            <a:off x="188931" y="598909"/>
            <a:ext cx="11814135" cy="362484"/>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SG" sz="1600" b="1"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rPr>
              <a:t>What you can cover</a:t>
            </a:r>
            <a:r>
              <a:rPr kumimoji="0" lang="en-SG" sz="1600" b="0"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rPr>
              <a:t>: Quick summary of the contributions of the group in the assignment, especially highlighting</a:t>
            </a:r>
            <a:r>
              <a:rPr kumimoji="0" lang="en-SG" sz="1600" b="0" i="0" u="none" strike="noStrike" kern="1200" cap="none" spc="0" normalizeH="0" noProof="0" dirty="0">
                <a:ln>
                  <a:noFill/>
                </a:ln>
                <a:solidFill>
                  <a:srgbClr val="0000CC"/>
                </a:solidFill>
                <a:effectLst/>
                <a:uLnTx/>
                <a:uFillTx/>
                <a:latin typeface="Arial" panose="020B0604020202020204" pitchFamily="34" charset="0"/>
                <a:ea typeface="+mn-ea"/>
                <a:cs typeface="Arial" panose="020B0604020202020204" pitchFamily="34" charset="0"/>
              </a:rPr>
              <a:t> what was novel and original about the contributions.</a:t>
            </a:r>
            <a:r>
              <a:rPr kumimoji="0" lang="en-SG" sz="1600" b="0" i="0" u="none" strike="noStrike" kern="1200" cap="none" spc="0" normalizeH="0" baseline="0" noProof="0" dirty="0">
                <a:ln>
                  <a:noFill/>
                </a:ln>
                <a:solidFill>
                  <a:srgbClr val="0000CC"/>
                </a:solidFill>
                <a:effectLst/>
                <a:uLnTx/>
                <a:uFillTx/>
                <a:latin typeface="Arial" panose="020B0604020202020204" pitchFamily="34" charset="0"/>
                <a:ea typeface="+mn-ea"/>
                <a:cs typeface="Arial" panose="020B0604020202020204" pitchFamily="34" charset="0"/>
              </a:rPr>
              <a:t> </a:t>
            </a:r>
          </a:p>
        </p:txBody>
      </p:sp>
      <p:sp>
        <p:nvSpPr>
          <p:cNvPr id="10" name="Speech Bubble: Rectangle 9">
            <a:extLst>
              <a:ext uri="{FF2B5EF4-FFF2-40B4-BE49-F238E27FC236}">
                <a16:creationId xmlns:a16="http://schemas.microsoft.com/office/drawing/2014/main" id="{6B750114-0FCB-F98C-78C3-D5A52C3BE50F}"/>
              </a:ext>
            </a:extLst>
          </p:cNvPr>
          <p:cNvSpPr/>
          <p:nvPr/>
        </p:nvSpPr>
        <p:spPr>
          <a:xfrm>
            <a:off x="12750956" y="453892"/>
            <a:ext cx="2141316" cy="1159668"/>
          </a:xfrm>
          <a:prstGeom prst="wedgeRectCallout">
            <a:avLst>
              <a:gd name="adj1" fmla="val -72745"/>
              <a:gd name="adj2" fmla="val -17500"/>
            </a:avLst>
          </a:prstGeom>
          <a:solidFill>
            <a:srgbClr val="FFFFCC"/>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Delete description (</a:t>
            </a:r>
            <a:r>
              <a:rPr kumimoji="0" lang="en-SG" sz="1800" b="0" i="0" u="none" strike="noStrike" kern="1200" cap="none" spc="0" normalizeH="0" baseline="0" noProof="0" dirty="0">
                <a:ln>
                  <a:noFill/>
                </a:ln>
                <a:solidFill>
                  <a:srgbClr val="0000CC"/>
                </a:solidFill>
                <a:effectLst/>
                <a:uLnTx/>
                <a:uFillTx/>
                <a:latin typeface="Arial Narrow" panose="020B0606020202030204" pitchFamily="34" charset="0"/>
                <a:ea typeface="+mn-ea"/>
                <a:cs typeface="+mn-cs"/>
              </a:rPr>
              <a:t>in blue</a:t>
            </a:r>
            <a:r>
              <a:rPr kumimoji="0" lang="en-SG" sz="18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 in your submitted slides</a:t>
            </a:r>
          </a:p>
        </p:txBody>
      </p:sp>
      <p:sp>
        <p:nvSpPr>
          <p:cNvPr id="4" name="TextBox 3">
            <a:extLst>
              <a:ext uri="{FF2B5EF4-FFF2-40B4-BE49-F238E27FC236}">
                <a16:creationId xmlns:a16="http://schemas.microsoft.com/office/drawing/2014/main" id="{E2E4C5B4-F9D0-0457-88BC-92FA8AF347D6}"/>
              </a:ext>
            </a:extLst>
          </p:cNvPr>
          <p:cNvSpPr txBox="1"/>
          <p:nvPr/>
        </p:nvSpPr>
        <p:spPr>
          <a:xfrm>
            <a:off x="1993900" y="6234075"/>
            <a:ext cx="9194800" cy="53324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2400" b="1"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anose="020B0604020202020204" pitchFamily="34" charset="0"/>
              </a:rPr>
              <a:t>Write name of person(s) responsible for slide</a:t>
            </a:r>
          </a:p>
        </p:txBody>
      </p:sp>
      <p:sp>
        <p:nvSpPr>
          <p:cNvPr id="6" name="TextBox 5">
            <a:extLst>
              <a:ext uri="{FF2B5EF4-FFF2-40B4-BE49-F238E27FC236}">
                <a16:creationId xmlns:a16="http://schemas.microsoft.com/office/drawing/2014/main" id="{36FBFBAC-C5A0-8CAB-C7F1-A1B5A9AB43DE}"/>
              </a:ext>
            </a:extLst>
          </p:cNvPr>
          <p:cNvSpPr txBox="1"/>
          <p:nvPr/>
        </p:nvSpPr>
        <p:spPr>
          <a:xfrm>
            <a:off x="338320" y="1320807"/>
            <a:ext cx="11664746" cy="775175"/>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 1 </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Avoid repeating</a:t>
            </a:r>
            <a:r>
              <a:rPr kumimoji="0" lang="en-SG" sz="24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what was already covered in the previous slides</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p>
        </p:txBody>
      </p:sp>
      <p:sp>
        <p:nvSpPr>
          <p:cNvPr id="13" name="TextBox 12">
            <a:extLst>
              <a:ext uri="{FF2B5EF4-FFF2-40B4-BE49-F238E27FC236}">
                <a16:creationId xmlns:a16="http://schemas.microsoft.com/office/drawing/2014/main" id="{964A2870-5B03-3303-9341-B9F0E83F1A0B}"/>
              </a:ext>
            </a:extLst>
          </p:cNvPr>
          <p:cNvSpPr txBox="1"/>
          <p:nvPr/>
        </p:nvSpPr>
        <p:spPr>
          <a:xfrm>
            <a:off x="338320" y="2011217"/>
            <a:ext cx="11664746" cy="775175"/>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SG"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Bullet 2 </a:t>
            </a:r>
            <a:r>
              <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Instead, spend more time highlighting and summarising the novel contributions by </a:t>
            </a:r>
            <a:r>
              <a:rPr kumimoji="0" lang="en-SG" sz="2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group.</a:t>
            </a:r>
            <a:endParaRPr kumimoji="0" lang="en-SG"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17" name="Group 16">
            <a:extLst>
              <a:ext uri="{FF2B5EF4-FFF2-40B4-BE49-F238E27FC236}">
                <a16:creationId xmlns:a16="http://schemas.microsoft.com/office/drawing/2014/main" id="{B1971F0C-69C4-8A03-A149-45C924910749}"/>
              </a:ext>
            </a:extLst>
          </p:cNvPr>
          <p:cNvGrpSpPr/>
          <p:nvPr/>
        </p:nvGrpSpPr>
        <p:grpSpPr>
          <a:xfrm>
            <a:off x="2593916" y="3256393"/>
            <a:ext cx="6715406" cy="1249135"/>
            <a:chOff x="3164773" y="3475265"/>
            <a:chExt cx="8398662" cy="1249135"/>
          </a:xfrm>
        </p:grpSpPr>
        <p:sp>
          <p:nvSpPr>
            <p:cNvPr id="18" name="Rectangle 17">
              <a:extLst>
                <a:ext uri="{FF2B5EF4-FFF2-40B4-BE49-F238E27FC236}">
                  <a16:creationId xmlns:a16="http://schemas.microsoft.com/office/drawing/2014/main" id="{90891E4D-3097-5B0A-9DF9-129D3F9C01E3}"/>
                </a:ext>
              </a:extLst>
            </p:cNvPr>
            <p:cNvSpPr/>
            <p:nvPr/>
          </p:nvSpPr>
          <p:spPr>
            <a:xfrm>
              <a:off x="3164773" y="3475265"/>
              <a:ext cx="8398662" cy="1249135"/>
            </a:xfrm>
            <a:prstGeom prst="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6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tab pos="5467350" algn="l"/>
                  <a:tab pos="6819900" algn="l"/>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Introduction	</a:t>
              </a:r>
              <a:r>
                <a:rPr kumimoji="0" lang="en-SG" sz="1400" b="1"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 Conclusion</a:t>
              </a:r>
            </a:p>
          </p:txBody>
        </p:sp>
        <p:grpSp>
          <p:nvGrpSpPr>
            <p:cNvPr id="19" name="Group 18">
              <a:extLst>
                <a:ext uri="{FF2B5EF4-FFF2-40B4-BE49-F238E27FC236}">
                  <a16:creationId xmlns:a16="http://schemas.microsoft.com/office/drawing/2014/main" id="{CD719420-814E-29F2-8882-10C28657167E}"/>
                </a:ext>
              </a:extLst>
            </p:cNvPr>
            <p:cNvGrpSpPr/>
            <p:nvPr/>
          </p:nvGrpSpPr>
          <p:grpSpPr>
            <a:xfrm>
              <a:off x="3357416" y="3897010"/>
              <a:ext cx="8086462" cy="696837"/>
              <a:chOff x="707077" y="7992801"/>
              <a:chExt cx="10298377" cy="1128778"/>
            </a:xfrm>
          </p:grpSpPr>
          <p:sp>
            <p:nvSpPr>
              <p:cNvPr id="20" name="Rectangle 19">
                <a:extLst>
                  <a:ext uri="{FF2B5EF4-FFF2-40B4-BE49-F238E27FC236}">
                    <a16:creationId xmlns:a16="http://schemas.microsoft.com/office/drawing/2014/main" id="{B62E6446-46C5-3B85-C502-54CE52E84498}"/>
                  </a:ext>
                </a:extLst>
              </p:cNvPr>
              <p:cNvSpPr/>
              <p:nvPr/>
            </p:nvSpPr>
            <p:spPr>
              <a:xfrm>
                <a:off x="707077" y="7997142"/>
                <a:ext cx="1991421"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Exploration of Dataset</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Rectangle 20">
                <a:extLst>
                  <a:ext uri="{FF2B5EF4-FFF2-40B4-BE49-F238E27FC236}">
                    <a16:creationId xmlns:a16="http://schemas.microsoft.com/office/drawing/2014/main" id="{6BB12C42-F43A-93C2-C976-1DD841F2296B}"/>
                  </a:ext>
                </a:extLst>
              </p:cNvPr>
              <p:cNvSpPr/>
              <p:nvPr/>
            </p:nvSpPr>
            <p:spPr>
              <a:xfrm>
                <a:off x="3456873" y="79928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Design of AI Algorithm</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 name="Rectangle 21">
                <a:extLst>
                  <a:ext uri="{FF2B5EF4-FFF2-40B4-BE49-F238E27FC236}">
                    <a16:creationId xmlns:a16="http://schemas.microsoft.com/office/drawing/2014/main" id="{D899E142-EC8C-B1B1-3C6E-ED4568347E24}"/>
                  </a:ext>
                </a:extLst>
              </p:cNvPr>
              <p:cNvSpPr/>
              <p:nvPr/>
            </p:nvSpPr>
            <p:spPr>
              <a:xfrm>
                <a:off x="6232732" y="79928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Model Evaluation</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 name="Arrow: Right 22">
                <a:extLst>
                  <a:ext uri="{FF2B5EF4-FFF2-40B4-BE49-F238E27FC236}">
                    <a16:creationId xmlns:a16="http://schemas.microsoft.com/office/drawing/2014/main" id="{D636F35A-47DC-9CE2-28BF-2FD48DCAAE49}"/>
                  </a:ext>
                </a:extLst>
              </p:cNvPr>
              <p:cNvSpPr/>
              <p:nvPr/>
            </p:nvSpPr>
            <p:spPr>
              <a:xfrm>
                <a:off x="2770082" y="8254710"/>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Arrow: Right 23">
                <a:extLst>
                  <a:ext uri="{FF2B5EF4-FFF2-40B4-BE49-F238E27FC236}">
                    <a16:creationId xmlns:a16="http://schemas.microsoft.com/office/drawing/2014/main" id="{7150A761-5C3C-4888-9E5B-AA919DFCC911}"/>
                  </a:ext>
                </a:extLst>
              </p:cNvPr>
              <p:cNvSpPr/>
              <p:nvPr/>
            </p:nvSpPr>
            <p:spPr>
              <a:xfrm>
                <a:off x="5564605" y="82624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D929C3B8-012B-21EA-78A1-DF2C4A624563}"/>
                  </a:ext>
                </a:extLst>
              </p:cNvPr>
              <p:cNvSpPr/>
              <p:nvPr/>
            </p:nvSpPr>
            <p:spPr>
              <a:xfrm>
                <a:off x="9014032" y="80182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Visual Storytelling</a:t>
                </a:r>
                <a:endParaRPr kumimoji="0" lang="en-GB"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 name="Arrow: Right 25">
                <a:extLst>
                  <a:ext uri="{FF2B5EF4-FFF2-40B4-BE49-F238E27FC236}">
                    <a16:creationId xmlns:a16="http://schemas.microsoft.com/office/drawing/2014/main" id="{25CFD40F-8BD3-C3B4-2540-424915EC5154}"/>
                  </a:ext>
                </a:extLst>
              </p:cNvPr>
              <p:cNvSpPr/>
              <p:nvPr/>
            </p:nvSpPr>
            <p:spPr>
              <a:xfrm>
                <a:off x="8358605" y="82878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Tree>
    <p:extLst>
      <p:ext uri="{BB962C8B-B14F-4D97-AF65-F5344CB8AC3E}">
        <p14:creationId xmlns:p14="http://schemas.microsoft.com/office/powerpoint/2010/main" val="243087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P spid="1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24061</TotalTime>
  <Words>1590</Words>
  <Application>Microsoft Office PowerPoint</Application>
  <PresentationFormat>Widescreen</PresentationFormat>
  <Paragraphs>116</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Narrow</vt:lpstr>
      <vt:lpstr>Calibri</vt:lpstr>
      <vt:lpstr>Calibri Light</vt:lpstr>
      <vt:lpstr>Office Theme</vt:lpstr>
      <vt:lpstr>AI UX &amp; Data Visualisation Design Principles (CA6002)</vt:lpstr>
      <vt:lpstr>AI UX &amp; Data Visualisation Design Principles (CA6002) Assignment</vt:lpstr>
      <vt:lpstr>Introduction</vt:lpstr>
      <vt:lpstr>Exploration of Dataset</vt:lpstr>
      <vt:lpstr>Design of AI Algorithm</vt:lpstr>
      <vt:lpstr>Model Evaluation and Performance</vt:lpstr>
      <vt:lpstr>Visual Storytelling</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Artificial Intelligence (AI)?</dc:title>
  <dc:creator>Wooi Boon Goh</dc:creator>
  <cp:lastModifiedBy>Goh Wooi Boon (Assoc Prof)</cp:lastModifiedBy>
  <cp:revision>707</cp:revision>
  <cp:lastPrinted>2025-12-21T08:08:24Z</cp:lastPrinted>
  <dcterms:created xsi:type="dcterms:W3CDTF">2021-02-03T00:31:50Z</dcterms:created>
  <dcterms:modified xsi:type="dcterms:W3CDTF">2025-12-31T01:05:12Z</dcterms:modified>
</cp:coreProperties>
</file>