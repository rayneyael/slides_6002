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2" r:id="rId3"/>
    <p:sldId id="263" r:id="rId5"/>
  </p:sldIdLst>
  <p:sldSz cx="12191365" cy="6858000"/>
  <p:notesSz cx="6858000" cy="9144000"/>
  <p:custDataLst>
    <p:tags r:id="rId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50">
                <a:latin typeface="Segoe UI" panose="020B0502040204020203"/>
              </a:rPr>
              <a:t>This side-by-side comparison explains why two sources are combined before visualization. Blue identifies the primary OWID panel, while amber identifies the targeted GCB 2022 supplement; the shared metric cards make coverage and scope directly comparable. OWID remains authoritative for entity identity, total CO₂, population, per-capita emissions and growth. GCB contributes coal, oil and gas components only where the corresponding OWID field is absent, so observed OWID values are never averaged or overwritten. Raw-file counts are shown before the 1992–2021 project filter. A limitation is that OWID and GCB use different release vintages, which is why GCB is restricted to gap filling. Generative AI assisted layout and PowerPoint code; all statistics were verified against the local files.</a:t>
            </a:r>
            <a:endParaRPr sz="1050">
              <a:latin typeface="Segoe UI" panose="020B0502040204020203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50">
                <a:latin typeface="Segoe UI" panose="020B0502040204020203"/>
              </a:rPr>
              <a:t>Read the pipeline from left to right: country rows are filtered to 1992-2021, joined by ISO-3 and year, completed under an OWID-first rule, then used to derive analytical fields. Each transformation depends on the previous one, while the cards summarize the panel. It contains 6,378 entity-year records, 213 ISO-coded entities, 30 years and 22 variables. The provenance bar shows that 49.2% of rows already have all three fuel components in OWID; 50.8% gain at least one completed or verified component. Coverage equals 99.8% of a 213 by 30 grid. Keep fuel-source fields attached during interpretation. Generative AI assisted layout and code; all counts were checked against the CSV and preprocessing script.</a:t>
            </a:r>
            <a:endParaRPr sz="1050">
              <a:latin typeface="Segoe UI" panose="020B0502040204020203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4944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89888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37360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84832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32304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79776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27248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22191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4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17136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64608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0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59552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07024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1968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9440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44383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91856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39328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0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34272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81744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29216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76688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24160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771632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19104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66576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814048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161520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347472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94944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1042416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1389888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1737360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2084832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2432304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2779776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3127248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3474720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3822191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4169664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4517136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4864608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5212080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5559552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5907024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254496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601968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2608" y="182880"/>
            <a:ext cx="11594592" cy="13716"/>
          </a:xfrm>
          <a:prstGeom prst="rect">
            <a:avLst/>
          </a:prstGeom>
          <a:solidFill>
            <a:srgbClr val="1F2B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92608" y="6784848"/>
            <a:ext cx="11594592" cy="13716"/>
          </a:xfrm>
          <a:prstGeom prst="rect">
            <a:avLst/>
          </a:prstGeom>
          <a:solidFill>
            <a:srgbClr val="1F2B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2608" y="246888"/>
            <a:ext cx="7498079" cy="265176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BE0"/>
                </a:solidFill>
                <a:latin typeface="Consolas" panose="020B0609020204030204"/>
              </a:rPr>
              <a:t>EXPLORATION  ·  DATA SOURCES</a:t>
            </a:r>
            <a:endParaRPr sz="950" b="1" i="0">
              <a:solidFill>
                <a:srgbClr val="1F2BE0"/>
              </a:solidFill>
              <a:latin typeface="Consolas" panose="020B060902020403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92608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66274"/>
                </a:solidFill>
                <a:latin typeface="Consolas" panose="020B0609020204030204"/>
              </a:rPr>
              <a:t>PREPARED BY · [SHEN RUITING]</a:t>
            </a:r>
            <a:endParaRPr sz="750" b="1" i="0">
              <a:solidFill>
                <a:srgbClr val="566274"/>
              </a:solidFill>
              <a:latin typeface="Consolas" panose="020B060902020403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607040" y="651052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BE0"/>
                </a:solidFill>
                <a:latin typeface="Consolas" panose="020B0609020204030204"/>
              </a:rPr>
              <a:t>01 / 02</a:t>
            </a:r>
            <a:endParaRPr sz="800" b="0" i="0">
              <a:solidFill>
                <a:srgbClr val="1F2BE0"/>
              </a:solidFill>
              <a:latin typeface="Consolas" panose="020B0609020204030204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1384280" y="283464"/>
            <a:ext cx="59436" cy="59436"/>
          </a:xfrm>
          <a:prstGeom prst="rect">
            <a:avLst/>
          </a:prstGeom>
          <a:solidFill>
            <a:srgbClr val="1F2B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462004" y="333756"/>
            <a:ext cx="59436" cy="59436"/>
          </a:xfrm>
          <a:prstGeom prst="rect">
            <a:avLst/>
          </a:prstGeom>
          <a:solidFill>
            <a:srgbClr val="1F2B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539728" y="384048"/>
            <a:ext cx="59436" cy="59436"/>
          </a:xfrm>
          <a:prstGeom prst="rect">
            <a:avLst/>
          </a:prstGeom>
          <a:solidFill>
            <a:srgbClr val="1F2B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617452" y="434340"/>
            <a:ext cx="59436" cy="59436"/>
          </a:xfrm>
          <a:prstGeom prst="rect">
            <a:avLst/>
          </a:prstGeom>
          <a:solidFill>
            <a:srgbClr val="1F2B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695176" y="484632"/>
            <a:ext cx="59436" cy="59436"/>
          </a:xfrm>
          <a:prstGeom prst="rect">
            <a:avLst/>
          </a:prstGeom>
          <a:solidFill>
            <a:srgbClr val="1F2B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2608" y="566928"/>
            <a:ext cx="114300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1">
                <a:solidFill>
                  <a:srgbClr val="1F2BE0"/>
                </a:solidFill>
                <a:latin typeface="Georgia" panose="02040502050405020303"/>
              </a:rPr>
              <a:t>Two complementary sources make emissions structure visible.</a:t>
            </a:r>
            <a:endParaRPr sz="2500" b="0" i="1">
              <a:solidFill>
                <a:srgbClr val="1F2BE0"/>
              </a:solidFill>
              <a:latin typeface="Georgia" panose="02040502050405020303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10896" y="1252728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60E5"/>
                </a:solidFill>
                <a:latin typeface="Segoe UI" panose="020B0502040204020203"/>
              </a:rPr>
              <a:t>OWID supplies the country-year backbone; GCB 2022 adds missing fuel detail without replacing observed OWID values.</a:t>
            </a:r>
            <a:endParaRPr sz="1250" b="0" i="0">
              <a:solidFill>
                <a:srgbClr val="5560E5"/>
              </a:solidFill>
              <a:latin typeface="Segoe UI" panose="020B0502040204020203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47472" y="1792224"/>
            <a:ext cx="5257800" cy="3401568"/>
          </a:xfrm>
          <a:prstGeom prst="roundRect">
            <a:avLst/>
          </a:prstGeom>
          <a:solidFill>
            <a:srgbClr val="E8F3F8">
              <a:alpha val="97000"/>
            </a:srgbClr>
          </a:solidFill>
          <a:ln w="12700">
            <a:solidFill>
              <a:srgbClr val="0073B4"/>
            </a:solidFill>
          </a:ln>
          <a:effectLst>
            <a:outerShdw blurRad="50800" dist="254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30352" y="1947672"/>
            <a:ext cx="1600200" cy="256032"/>
          </a:xfrm>
          <a:prstGeom prst="roundRect">
            <a:avLst/>
          </a:prstGeom>
          <a:solidFill>
            <a:srgbClr val="0073B4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2" y="197510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onsolas" panose="020B0609020204030204"/>
              </a:rPr>
              <a:t>PRIMARY PANEL</a:t>
            </a:r>
            <a:endParaRPr sz="800" b="1" i="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48640" y="2286000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0073B4"/>
                </a:solidFill>
                <a:latin typeface="Segoe UI" panose="020B0502040204020203"/>
              </a:rPr>
              <a:t>OWID CO₂ DATA</a:t>
            </a:r>
            <a:endParaRPr sz="1720" b="1" i="0">
              <a:solidFill>
                <a:srgbClr val="0073B4"/>
              </a:solidFill>
              <a:latin typeface="Segoe UI" panose="020B0502040204020203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48640" y="2624328"/>
            <a:ext cx="4800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22034"/>
                </a:solidFill>
                <a:latin typeface="Segoe UI" panose="020B0502040204020203"/>
              </a:rPr>
              <a:t>Authoritative entity-year panel for emissions scale, intensity, population and annual change.</a:t>
            </a:r>
            <a:endParaRPr sz="1040" b="0" i="0">
              <a:solidFill>
                <a:srgbClr val="122034"/>
              </a:solidFill>
              <a:latin typeface="Segoe UI" panose="020B0502040204020203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548640" y="3108960"/>
            <a:ext cx="2331720" cy="548640"/>
          </a:xfrm>
          <a:prstGeom prst="roundRect">
            <a:avLst/>
          </a:prstGeom>
          <a:solidFill>
            <a:srgbClr val="FFFFFF">
              <a:alpha val="88000"/>
            </a:srgbClr>
          </a:solidFill>
          <a:ln w="8255">
            <a:solidFill>
              <a:srgbClr val="007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" y="3172968"/>
            <a:ext cx="2148839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073B4"/>
                </a:solidFill>
                <a:latin typeface="Georgia" panose="02040502050405020303"/>
              </a:rPr>
              <a:t>50,411</a:t>
            </a:r>
            <a:endParaRPr sz="1550" b="1" i="0">
              <a:solidFill>
                <a:srgbClr val="0073B4"/>
              </a:solidFill>
              <a:latin typeface="Georgia" panose="02040502050405020303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40080" y="3438144"/>
            <a:ext cx="2148839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566274"/>
                </a:solidFill>
                <a:latin typeface="Consolas" panose="020B0609020204030204"/>
              </a:rPr>
              <a:t>ROWS</a:t>
            </a:r>
            <a:endParaRPr sz="760" b="1" i="0">
              <a:solidFill>
                <a:srgbClr val="566274"/>
              </a:solidFill>
              <a:latin typeface="Consolas" panose="020B0609020204030204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3063240" y="3108960"/>
            <a:ext cx="2331720" cy="548640"/>
          </a:xfrm>
          <a:prstGeom prst="roundRect">
            <a:avLst/>
          </a:prstGeom>
          <a:solidFill>
            <a:srgbClr val="FFFFFF">
              <a:alpha val="88000"/>
            </a:srgbClr>
          </a:solidFill>
          <a:ln w="8255">
            <a:solidFill>
              <a:srgbClr val="007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54680" y="3172968"/>
            <a:ext cx="2148839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073B4"/>
                </a:solidFill>
                <a:latin typeface="Georgia" panose="02040502050405020303"/>
              </a:rPr>
              <a:t>79</a:t>
            </a:r>
            <a:endParaRPr sz="1550" b="1" i="0">
              <a:solidFill>
                <a:srgbClr val="0073B4"/>
              </a:solidFill>
              <a:latin typeface="Georgia" panose="02040502050405020303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154680" y="3438144"/>
            <a:ext cx="2148839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566274"/>
                </a:solidFill>
                <a:latin typeface="Consolas" panose="020B0609020204030204"/>
              </a:rPr>
              <a:t>VARIABLES</a:t>
            </a:r>
            <a:endParaRPr sz="760" b="1" i="0">
              <a:solidFill>
                <a:srgbClr val="566274"/>
              </a:solidFill>
              <a:latin typeface="Consolas" panose="020B0609020204030204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548640" y="3749039"/>
            <a:ext cx="2331720" cy="548640"/>
          </a:xfrm>
          <a:prstGeom prst="roundRect">
            <a:avLst/>
          </a:prstGeom>
          <a:solidFill>
            <a:srgbClr val="FFFFFF">
              <a:alpha val="88000"/>
            </a:srgbClr>
          </a:solidFill>
          <a:ln w="8255">
            <a:solidFill>
              <a:srgbClr val="007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" y="3813048"/>
            <a:ext cx="2148839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073B4"/>
                </a:solidFill>
                <a:latin typeface="Georgia" panose="02040502050405020303"/>
              </a:rPr>
              <a:t>1750–2024</a:t>
            </a:r>
            <a:endParaRPr sz="1550" b="1" i="0">
              <a:solidFill>
                <a:srgbClr val="0073B4"/>
              </a:solidFill>
              <a:latin typeface="Georgia" panose="02040502050405020303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40080" y="4078224"/>
            <a:ext cx="2148839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566274"/>
                </a:solidFill>
                <a:latin typeface="Consolas" panose="020B0609020204030204"/>
              </a:rPr>
              <a:t>YEARS</a:t>
            </a:r>
            <a:endParaRPr sz="760" b="1" i="0">
              <a:solidFill>
                <a:srgbClr val="566274"/>
              </a:solidFill>
              <a:latin typeface="Consolas" panose="020B0609020204030204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3063240" y="3749039"/>
            <a:ext cx="2331720" cy="548640"/>
          </a:xfrm>
          <a:prstGeom prst="roundRect">
            <a:avLst/>
          </a:prstGeom>
          <a:solidFill>
            <a:srgbClr val="FFFFFF">
              <a:alpha val="88000"/>
            </a:srgbClr>
          </a:solidFill>
          <a:ln w="8255">
            <a:solidFill>
              <a:srgbClr val="007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54680" y="3813048"/>
            <a:ext cx="2148839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073B4"/>
                </a:solidFill>
                <a:latin typeface="Georgia" panose="02040502050405020303"/>
              </a:rPr>
              <a:t>218</a:t>
            </a:r>
            <a:endParaRPr sz="1550" b="1" i="0">
              <a:solidFill>
                <a:srgbClr val="0073B4"/>
              </a:solidFill>
              <a:latin typeface="Georgia" panose="02040502050405020303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154680" y="4078224"/>
            <a:ext cx="2148839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566274"/>
                </a:solidFill>
                <a:latin typeface="Consolas" panose="020B0609020204030204"/>
              </a:rPr>
              <a:t>ISO ENTITIES</a:t>
            </a:r>
            <a:endParaRPr sz="760" b="1" i="0">
              <a:solidFill>
                <a:srgbClr val="566274"/>
              </a:solidFill>
              <a:latin typeface="Consolas" panose="020B060902020403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76072" y="4453128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>
                <a:solidFill>
                  <a:srgbClr val="0073B4"/>
                </a:solidFill>
                <a:latin typeface="Consolas" panose="020B0609020204030204"/>
              </a:rPr>
              <a:t>ANALYTIC CORE</a:t>
            </a:r>
            <a:endParaRPr sz="820" b="1" i="0">
              <a:solidFill>
                <a:srgbClr val="0073B4"/>
              </a:solidFill>
              <a:latin typeface="Consolas" panose="020B0609020204030204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975104" y="4407408"/>
            <a:ext cx="338328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122034"/>
                </a:solidFill>
                <a:latin typeface="Segoe UI" panose="020B0502040204020203"/>
              </a:rPr>
              <a:t>Total CO₂ · population · per-capita</a:t>
            </a:r>
            <a:endParaRPr sz="1020" b="0" i="0">
              <a:solidFill>
                <a:srgbClr val="122034"/>
              </a:solidFill>
              <a:latin typeface="Segoe UI" panose="020B0502040204020203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122034"/>
                </a:solidFill>
                <a:latin typeface="Segoe UI" panose="020B0502040204020203"/>
              </a:rPr>
              <a:t>absolute growth · percentage growth</a:t>
            </a:r>
            <a:endParaRPr sz="1020" b="0" i="0">
              <a:solidFill>
                <a:srgbClr val="122034"/>
              </a:solidFill>
              <a:latin typeface="Segoe UI" panose="020B0502040204020203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583680" y="1792224"/>
            <a:ext cx="5257800" cy="3401568"/>
          </a:xfrm>
          <a:prstGeom prst="roundRect">
            <a:avLst/>
          </a:prstGeom>
          <a:solidFill>
            <a:srgbClr val="FAF1E4">
              <a:alpha val="97000"/>
            </a:srgbClr>
          </a:solidFill>
          <a:ln w="12700">
            <a:solidFill>
              <a:srgbClr val="D97A00"/>
            </a:solidFill>
          </a:ln>
          <a:effectLst>
            <a:outerShdw blurRad="50800" dist="254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766560" y="1947672"/>
            <a:ext cx="1600200" cy="256032"/>
          </a:xfrm>
          <a:prstGeom prst="roundRect">
            <a:avLst/>
          </a:prstGeom>
          <a:solidFill>
            <a:srgbClr val="D97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58000" y="197510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Consolas" panose="020B0609020204030204"/>
              </a:rPr>
              <a:t>TARGETED SUPPLEMENT</a:t>
            </a:r>
            <a:endParaRPr sz="800" b="1" i="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784848" y="2286000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D97A00"/>
                </a:solidFill>
                <a:latin typeface="Segoe UI" panose="020B0502040204020203"/>
              </a:rPr>
              <a:t>GLOBAL CARBON BUDGET 2022</a:t>
            </a:r>
            <a:endParaRPr sz="1720" b="1" i="0">
              <a:solidFill>
                <a:srgbClr val="D97A00"/>
              </a:solidFill>
              <a:latin typeface="Segoe UI" panose="020B0502040204020203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784848" y="2624328"/>
            <a:ext cx="4800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22034"/>
                </a:solidFill>
                <a:latin typeface="Segoe UI" panose="020B0502040204020203"/>
              </a:rPr>
              <a:t>Independent fuel-component table used only where the corresponding OWID component is absent.</a:t>
            </a:r>
            <a:endParaRPr sz="1040" b="0" i="0">
              <a:solidFill>
                <a:srgbClr val="122034"/>
              </a:solidFill>
              <a:latin typeface="Segoe UI" panose="020B0502040204020203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6784848" y="3108960"/>
            <a:ext cx="2331720" cy="548640"/>
          </a:xfrm>
          <a:prstGeom prst="roundRect">
            <a:avLst/>
          </a:prstGeom>
          <a:solidFill>
            <a:srgbClr val="FFFFFF">
              <a:alpha val="88000"/>
            </a:srgbClr>
          </a:solidFill>
          <a:ln w="8255">
            <a:solidFill>
              <a:srgbClr val="D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76288" y="3172968"/>
            <a:ext cx="2148839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D97A00"/>
                </a:solidFill>
                <a:latin typeface="Georgia" panose="02040502050405020303"/>
              </a:rPr>
              <a:t>63,104</a:t>
            </a:r>
            <a:endParaRPr sz="1550" b="1" i="0">
              <a:solidFill>
                <a:srgbClr val="D97A00"/>
              </a:solidFill>
              <a:latin typeface="Georgia" panose="02040502050405020303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876288" y="3438144"/>
            <a:ext cx="2148839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566274"/>
                </a:solidFill>
                <a:latin typeface="Consolas" panose="020B0609020204030204"/>
              </a:rPr>
              <a:t>ROWS</a:t>
            </a:r>
            <a:endParaRPr sz="760" b="1" i="0">
              <a:solidFill>
                <a:srgbClr val="566274"/>
              </a:solidFill>
              <a:latin typeface="Consolas" panose="020B0609020204030204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9299448" y="3108960"/>
            <a:ext cx="2331720" cy="548640"/>
          </a:xfrm>
          <a:prstGeom prst="roundRect">
            <a:avLst/>
          </a:prstGeom>
          <a:solidFill>
            <a:srgbClr val="FFFFFF">
              <a:alpha val="88000"/>
            </a:srgbClr>
          </a:solidFill>
          <a:ln w="8255">
            <a:solidFill>
              <a:srgbClr val="D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390888" y="3172968"/>
            <a:ext cx="2148839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D97A00"/>
                </a:solidFill>
                <a:latin typeface="Georgia" panose="02040502050405020303"/>
              </a:rPr>
              <a:t>11</a:t>
            </a:r>
            <a:endParaRPr sz="1550" b="1" i="0">
              <a:solidFill>
                <a:srgbClr val="D97A00"/>
              </a:solidFill>
              <a:latin typeface="Georgia" panose="02040502050405020303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9390888" y="3438144"/>
            <a:ext cx="2148839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566274"/>
                </a:solidFill>
                <a:latin typeface="Consolas" panose="020B0609020204030204"/>
              </a:rPr>
              <a:t>VARIABLES</a:t>
            </a:r>
            <a:endParaRPr sz="760" b="1" i="0">
              <a:solidFill>
                <a:srgbClr val="566274"/>
              </a:solidFill>
              <a:latin typeface="Consolas" panose="020B0609020204030204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6784848" y="3749039"/>
            <a:ext cx="2331720" cy="548640"/>
          </a:xfrm>
          <a:prstGeom prst="roundRect">
            <a:avLst/>
          </a:prstGeom>
          <a:solidFill>
            <a:srgbClr val="FFFFFF">
              <a:alpha val="88000"/>
            </a:srgbClr>
          </a:solidFill>
          <a:ln w="8255">
            <a:solidFill>
              <a:srgbClr val="D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876288" y="3813048"/>
            <a:ext cx="2148839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D97A00"/>
                </a:solidFill>
                <a:latin typeface="Georgia" panose="02040502050405020303"/>
              </a:rPr>
              <a:t>1750–2021</a:t>
            </a:r>
            <a:endParaRPr sz="1550" b="1" i="0">
              <a:solidFill>
                <a:srgbClr val="D97A00"/>
              </a:solidFill>
              <a:latin typeface="Georgia" panose="02040502050405020303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876288" y="4078224"/>
            <a:ext cx="2148839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566274"/>
                </a:solidFill>
                <a:latin typeface="Consolas" panose="020B0609020204030204"/>
              </a:rPr>
              <a:t>YEARS</a:t>
            </a:r>
            <a:endParaRPr sz="760" b="1" i="0">
              <a:solidFill>
                <a:srgbClr val="566274"/>
              </a:solidFill>
              <a:latin typeface="Consolas" panose="020B0609020204030204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9299448" y="3749039"/>
            <a:ext cx="2331720" cy="548640"/>
          </a:xfrm>
          <a:prstGeom prst="roundRect">
            <a:avLst/>
          </a:prstGeom>
          <a:solidFill>
            <a:srgbClr val="FFFFFF">
              <a:alpha val="88000"/>
            </a:srgbClr>
          </a:solidFill>
          <a:ln w="8255">
            <a:solidFill>
              <a:srgbClr val="D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390888" y="3813048"/>
            <a:ext cx="2148839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D97A00"/>
                </a:solidFill>
                <a:latin typeface="Georgia" panose="02040502050405020303"/>
              </a:rPr>
              <a:t>225</a:t>
            </a:r>
            <a:endParaRPr sz="1550" b="1" i="0">
              <a:solidFill>
                <a:srgbClr val="D97A00"/>
              </a:solidFill>
              <a:latin typeface="Georgia" panose="02040502050405020303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9390888" y="4078224"/>
            <a:ext cx="2148839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566274"/>
                </a:solidFill>
                <a:latin typeface="Consolas" panose="020B0609020204030204"/>
              </a:rPr>
              <a:t>ISO ENTITIES</a:t>
            </a:r>
            <a:endParaRPr sz="760" b="1" i="0">
              <a:solidFill>
                <a:srgbClr val="566274"/>
              </a:solidFill>
              <a:latin typeface="Consolas" panose="020B0609020204030204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812280" y="4453128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>
                <a:solidFill>
                  <a:srgbClr val="D97A00"/>
                </a:solidFill>
                <a:latin typeface="Consolas" panose="020B0609020204030204"/>
              </a:rPr>
              <a:t>FUEL DETAIL</a:t>
            </a:r>
            <a:endParaRPr sz="820" b="1" i="0">
              <a:solidFill>
                <a:srgbClr val="D97A00"/>
              </a:solidFill>
              <a:latin typeface="Consolas" panose="020B0609020204030204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8211312" y="4407408"/>
            <a:ext cx="338328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122034"/>
                </a:solidFill>
                <a:latin typeface="Segoe UI" panose="020B0502040204020203"/>
              </a:rPr>
              <a:t>Coal · Oil · Gas components</a:t>
            </a:r>
            <a:endParaRPr sz="1020" b="0" i="0">
              <a:solidFill>
                <a:srgbClr val="122034"/>
              </a:solidFill>
              <a:latin typeface="Segoe UI" panose="020B0502040204020203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122034"/>
                </a:solidFill>
                <a:latin typeface="Segoe UI" panose="020B0502040204020203"/>
              </a:rPr>
              <a:t>ISO-3 + year for deterministic matching</a:t>
            </a:r>
            <a:endParaRPr sz="1020" b="0" i="0">
              <a:solidFill>
                <a:srgbClr val="122034"/>
              </a:solidFill>
              <a:latin typeface="Segoe UI" panose="020B0502040204020203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5806440" y="2962656"/>
            <a:ext cx="530352" cy="530352"/>
          </a:xfrm>
          <a:prstGeom prst="ellipse">
            <a:avLst/>
          </a:prstGeom>
          <a:solidFill>
            <a:srgbClr val="1F2BE0">
              <a:alpha val="10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806440" y="2944368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 panose="020B0502040204020203"/>
              </a:rPr>
              <a:t>+</a:t>
            </a:r>
            <a:endParaRPr sz="20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347472" y="5358384"/>
            <a:ext cx="11494008" cy="896112"/>
          </a:xfrm>
          <a:prstGeom prst="roundRect">
            <a:avLst/>
          </a:prstGeom>
          <a:solidFill>
            <a:srgbClr val="F0EBDE">
              <a:alpha val="98000"/>
            </a:srgbClr>
          </a:solidFill>
          <a:ln w="10160">
            <a:solidFill>
              <a:srgbClr val="1F2BE0"/>
            </a:solidFill>
          </a:ln>
          <a:effectLst>
            <a:outerShdw blurRad="50800" dist="254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30352" y="54681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2BE0"/>
                </a:solidFill>
                <a:latin typeface="Consolas" panose="020B0609020204030204"/>
              </a:rPr>
              <a:t>WHY COMBINE</a:t>
            </a:r>
            <a:endParaRPr sz="850" b="1" i="0">
              <a:solidFill>
                <a:srgbClr val="1F2BE0"/>
              </a:solidFill>
              <a:latin typeface="Consolas" panose="020B0609020204030204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1673352" y="5532120"/>
            <a:ext cx="2331720" cy="502920"/>
          </a:xfrm>
          <a:prstGeom prst="roundRect">
            <a:avLst/>
          </a:prstGeom>
          <a:solidFill>
            <a:srgbClr val="E8F3F8">
              <a:alpha val="100000"/>
            </a:srgbClr>
          </a:solidFill>
          <a:ln w="8890">
            <a:solidFill>
              <a:srgbClr val="007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764792" y="5577840"/>
            <a:ext cx="214883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073B4"/>
                </a:solidFill>
                <a:latin typeface="Segoe UI" panose="020B0502040204020203"/>
              </a:rPr>
              <a:t>OWID</a:t>
            </a:r>
            <a:endParaRPr sz="980" b="1" i="0">
              <a:solidFill>
                <a:srgbClr val="0073B4"/>
              </a:solidFill>
              <a:latin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073B4"/>
                </a:solidFill>
                <a:latin typeface="Segoe UI" panose="020B0502040204020203"/>
              </a:rPr>
              <a:t>consistent backbone</a:t>
            </a:r>
            <a:endParaRPr sz="980" b="1" i="0">
              <a:solidFill>
                <a:srgbClr val="0073B4"/>
              </a:solidFill>
              <a:latin typeface="Segoe UI" panose="020B0502040204020203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4617720" y="5532120"/>
            <a:ext cx="2331720" cy="502920"/>
          </a:xfrm>
          <a:prstGeom prst="roundRect">
            <a:avLst/>
          </a:prstGeom>
          <a:solidFill>
            <a:srgbClr val="FAF1E4">
              <a:alpha val="100000"/>
            </a:srgbClr>
          </a:solidFill>
          <a:ln w="8890">
            <a:solidFill>
              <a:srgbClr val="D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709159" y="5577840"/>
            <a:ext cx="214883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D97A00"/>
                </a:solidFill>
                <a:latin typeface="Segoe UI" panose="020B0502040204020203"/>
              </a:rPr>
              <a:t>GCB</a:t>
            </a:r>
            <a:endParaRPr sz="980" b="1" i="0">
              <a:solidFill>
                <a:srgbClr val="D97A00"/>
              </a:solidFill>
              <a:latin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D97A00"/>
                </a:solidFill>
                <a:latin typeface="Segoe UI" panose="020B0502040204020203"/>
              </a:rPr>
              <a:t>traceable gap fill</a:t>
            </a:r>
            <a:endParaRPr sz="980" b="1" i="0">
              <a:solidFill>
                <a:srgbClr val="D97A00"/>
              </a:solidFill>
              <a:latin typeface="Segoe UI" panose="020B0502040204020203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7562088" y="5532120"/>
            <a:ext cx="3840480" cy="502920"/>
          </a:xfrm>
          <a:prstGeom prst="roundRect">
            <a:avLst/>
          </a:prstGeom>
          <a:solidFill>
            <a:srgbClr val="E8F3EE">
              <a:alpha val="100000"/>
            </a:srgbClr>
          </a:solidFill>
          <a:ln w="8890">
            <a:solidFill>
              <a:srgbClr val="0088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653527" y="557784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08863"/>
                </a:solidFill>
                <a:latin typeface="Segoe UI" panose="020B0502040204020203"/>
              </a:rPr>
              <a:t>Comparable scale · intensity · fuel mix</a:t>
            </a:r>
            <a:endParaRPr sz="980" b="1" i="0">
              <a:solidFill>
                <a:srgbClr val="008863"/>
              </a:solidFill>
              <a:latin typeface="Segoe UI" panose="020B0502040204020203"/>
            </a:endParaRPr>
          </a:p>
        </p:txBody>
      </p:sp>
      <p:cxnSp>
        <p:nvCxnSpPr>
          <p:cNvPr id="118" name="Connector 117"/>
          <p:cNvCxnSpPr/>
          <p:nvPr/>
        </p:nvCxnSpPr>
        <p:spPr>
          <a:xfrm>
            <a:off x="4096512" y="5788152"/>
            <a:ext cx="411480" cy="0"/>
          </a:xfrm>
          <a:prstGeom prst="line">
            <a:avLst/>
          </a:prstGeom>
          <a:ln w="17780">
            <a:solidFill>
              <a:srgbClr val="1F2BE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040880" y="5788152"/>
            <a:ext cx="411480" cy="0"/>
          </a:xfrm>
          <a:prstGeom prst="line">
            <a:avLst/>
          </a:prstGeom>
          <a:ln w="17780">
            <a:solidFill>
              <a:srgbClr val="1F2BE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502920" y="6281928"/>
            <a:ext cx="1106424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566274"/>
                </a:solidFill>
                <a:latin typeface="Consolas" panose="020B0609020204030204"/>
              </a:rPr>
              <a:t>Source files: OWID CO₂ dataset (primary)  ·  Global Carbon Budget 2022 v27 (fuel supplement)</a:t>
            </a:r>
            <a:endParaRPr sz="660" b="0" i="0">
              <a:solidFill>
                <a:srgbClr val="566274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4944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89888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37360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84832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32304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79776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27248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22191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4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17136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64608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0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59552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07024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1968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9440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44383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91856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39328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0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34272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81744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29216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76688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24160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771632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19104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66576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814048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161520" y="0"/>
            <a:ext cx="6400" cy="68580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347472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94944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1042416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1389888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1737360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2084832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2432304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2779776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3127248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3474720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3822191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4169664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4517136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4864608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5212080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5559552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5907024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254496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601968"/>
            <a:ext cx="12191695" cy="6400"/>
          </a:xfrm>
          <a:prstGeom prst="rect">
            <a:avLst/>
          </a:prstGeom>
          <a:solidFill>
            <a:srgbClr val="D7D8F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2608" y="182880"/>
            <a:ext cx="11594592" cy="13716"/>
          </a:xfrm>
          <a:prstGeom prst="rect">
            <a:avLst/>
          </a:prstGeom>
          <a:solidFill>
            <a:srgbClr val="1F2B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92608" y="6784848"/>
            <a:ext cx="11594592" cy="13716"/>
          </a:xfrm>
          <a:prstGeom prst="rect">
            <a:avLst/>
          </a:prstGeom>
          <a:solidFill>
            <a:srgbClr val="1F2B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2608" y="246888"/>
            <a:ext cx="7498079" cy="265176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BE0"/>
                </a:solidFill>
                <a:latin typeface="Consolas" panose="020B0609020204030204"/>
              </a:rPr>
              <a:t>EXPLORATION  ·  DATA PREPARATION</a:t>
            </a:r>
            <a:endParaRPr sz="950" b="1" i="0">
              <a:solidFill>
                <a:srgbClr val="1F2BE0"/>
              </a:solidFill>
              <a:latin typeface="Consolas" panose="020B060902020403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92608" y="65105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66274"/>
                </a:solidFill>
                <a:latin typeface="Consolas" panose="020B0609020204030204"/>
              </a:rPr>
              <a:t>PREPARED BY · [SHEN RUITING]</a:t>
            </a:r>
            <a:endParaRPr sz="750" b="1" i="0">
              <a:solidFill>
                <a:srgbClr val="566274"/>
              </a:solidFill>
              <a:latin typeface="Consolas" panose="020B060902020403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607040" y="651052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BE0"/>
                </a:solidFill>
                <a:latin typeface="Consolas" panose="020B0609020204030204"/>
              </a:rPr>
              <a:t>02 / 02</a:t>
            </a:r>
            <a:endParaRPr sz="800" b="0" i="0">
              <a:solidFill>
                <a:srgbClr val="1F2BE0"/>
              </a:solidFill>
              <a:latin typeface="Consolas" panose="020B0609020204030204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1384280" y="283464"/>
            <a:ext cx="59436" cy="59436"/>
          </a:xfrm>
          <a:prstGeom prst="rect">
            <a:avLst/>
          </a:prstGeom>
          <a:solidFill>
            <a:srgbClr val="1F2B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462004" y="333756"/>
            <a:ext cx="59436" cy="59436"/>
          </a:xfrm>
          <a:prstGeom prst="rect">
            <a:avLst/>
          </a:prstGeom>
          <a:solidFill>
            <a:srgbClr val="1F2B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539728" y="384048"/>
            <a:ext cx="59436" cy="59436"/>
          </a:xfrm>
          <a:prstGeom prst="rect">
            <a:avLst/>
          </a:prstGeom>
          <a:solidFill>
            <a:srgbClr val="1F2B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617452" y="434340"/>
            <a:ext cx="59436" cy="59436"/>
          </a:xfrm>
          <a:prstGeom prst="rect">
            <a:avLst/>
          </a:prstGeom>
          <a:solidFill>
            <a:srgbClr val="1F2B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695176" y="484632"/>
            <a:ext cx="59436" cy="59436"/>
          </a:xfrm>
          <a:prstGeom prst="rect">
            <a:avLst/>
          </a:prstGeom>
          <a:solidFill>
            <a:srgbClr val="1F2B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2608" y="566928"/>
            <a:ext cx="114300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1">
                <a:solidFill>
                  <a:srgbClr val="1F2BE0"/>
                </a:solidFill>
                <a:latin typeface="Georgia" panose="02040502050405020303"/>
              </a:rPr>
              <a:t>A traceable left join becomes a 6,378-row analysis panel.</a:t>
            </a:r>
            <a:endParaRPr sz="2500" b="0" i="1">
              <a:solidFill>
                <a:srgbClr val="1F2BE0"/>
              </a:solidFill>
              <a:latin typeface="Georgia" panose="02040502050405020303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10896" y="1252728"/>
            <a:ext cx="113385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60E5"/>
                </a:solidFill>
                <a:latin typeface="Segoe UI" panose="020B0502040204020203"/>
              </a:rPr>
              <a:t>ISO-3 × year preserves OWID identity, completes missing fuel components and records provenance for every fuel field.</a:t>
            </a:r>
            <a:endParaRPr sz="1250" b="0" i="0">
              <a:solidFill>
                <a:srgbClr val="5560E5"/>
              </a:solidFill>
              <a:latin typeface="Segoe UI" panose="020B0502040204020203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256032" y="1773936"/>
            <a:ext cx="11676888" cy="4590288"/>
          </a:xfrm>
          <a:prstGeom prst="rect">
            <a:avLst/>
          </a:prstGeom>
          <a:solidFill>
            <a:srgbClr val="F0EBDE">
              <a:alpha val="98000"/>
            </a:srgbClr>
          </a:solidFill>
          <a:ln w="10160">
            <a:solidFill>
              <a:srgbClr val="1F2BE0"/>
            </a:solidFill>
          </a:ln>
          <a:effectLst>
            <a:outerShdw blurRad="50800" dist="254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8" y="1901952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2BE0"/>
                </a:solidFill>
                <a:latin typeface="Consolas" panose="020B0609020204030204"/>
              </a:rPr>
              <a:t>TRACEABLE MERGE PIPELINE</a:t>
            </a:r>
            <a:endParaRPr sz="850" b="1" i="0">
              <a:solidFill>
                <a:srgbClr val="1F2BE0"/>
              </a:solidFill>
              <a:latin typeface="Consolas" panose="020B0609020204030204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475488" y="2157984"/>
            <a:ext cx="1965960" cy="1005840"/>
          </a:xfrm>
          <a:prstGeom prst="roundRect">
            <a:avLst/>
          </a:prstGeom>
          <a:solidFill>
            <a:srgbClr val="E8F3F8">
              <a:alpha val="100000"/>
            </a:srgbClr>
          </a:solidFill>
          <a:ln w="10795">
            <a:solidFill>
              <a:srgbClr val="007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3504" y="2240280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73B4"/>
                </a:solidFill>
                <a:latin typeface="Consolas" panose="020B0609020204030204"/>
              </a:rPr>
              <a:t>01  FILTER</a:t>
            </a:r>
            <a:endParaRPr sz="780" b="1" i="0">
              <a:solidFill>
                <a:srgbClr val="0073B4"/>
              </a:solidFill>
              <a:latin typeface="Consolas" panose="020B060902020403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85216" y="2441448"/>
            <a:ext cx="174650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073B4"/>
                </a:solidFill>
                <a:latin typeface="Segoe UI" panose="020B0502040204020203"/>
              </a:rPr>
              <a:t>1992–2021</a:t>
            </a:r>
            <a:endParaRPr sz="1220" b="1" i="0">
              <a:solidFill>
                <a:srgbClr val="0073B4"/>
              </a:solidFill>
              <a:latin typeface="Segoe UI" panose="020B0502040204020203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94360" y="2706624"/>
            <a:ext cx="172821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22034"/>
                </a:solidFill>
                <a:latin typeface="Segoe UI" panose="020B0502040204020203"/>
              </a:rPr>
              <a:t>ISO-coded country rows</a:t>
            </a:r>
            <a:endParaRPr sz="880" b="0" i="0">
              <a:solidFill>
                <a:srgbClr val="122034"/>
              </a:solidFill>
              <a:latin typeface="Segoe UI" panose="020B0502040204020203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2770632" y="2157984"/>
            <a:ext cx="1965960" cy="1005840"/>
          </a:xfrm>
          <a:prstGeom prst="roundRect">
            <a:avLst/>
          </a:prstGeom>
          <a:solidFill>
            <a:srgbClr val="F0F1FB">
              <a:alpha val="100000"/>
            </a:srgbClr>
          </a:solidFill>
          <a:ln w="10795">
            <a:solidFill>
              <a:srgbClr val="1F2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898648" y="2240280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2BE0"/>
                </a:solidFill>
                <a:latin typeface="Consolas" panose="020B0609020204030204"/>
              </a:rPr>
              <a:t>02  LEFT JOIN</a:t>
            </a:r>
            <a:endParaRPr sz="780" b="1" i="0">
              <a:solidFill>
                <a:srgbClr val="1F2BE0"/>
              </a:solidFill>
              <a:latin typeface="Consolas" panose="020B060902020403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880360" y="2441448"/>
            <a:ext cx="174650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F2BE0"/>
                </a:solidFill>
                <a:latin typeface="Segoe UI" panose="020B0502040204020203"/>
              </a:rPr>
              <a:t>ISO-3 × YEAR</a:t>
            </a:r>
            <a:endParaRPr sz="1220" b="1" i="0">
              <a:solidFill>
                <a:srgbClr val="1F2BE0"/>
              </a:solidFill>
              <a:latin typeface="Segoe UI" panose="020B0502040204020203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889503" y="2706624"/>
            <a:ext cx="172821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22034"/>
                </a:solidFill>
                <a:latin typeface="Segoe UI" panose="020B0502040204020203"/>
              </a:rPr>
              <a:t>OWID remains the main table</a:t>
            </a:r>
            <a:endParaRPr sz="880" b="0" i="0">
              <a:solidFill>
                <a:srgbClr val="122034"/>
              </a:solidFill>
              <a:latin typeface="Segoe UI" panose="020B0502040204020203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5065776" y="2157984"/>
            <a:ext cx="1965960" cy="1005840"/>
          </a:xfrm>
          <a:prstGeom prst="roundRect">
            <a:avLst/>
          </a:prstGeom>
          <a:solidFill>
            <a:srgbClr val="FAF1E4">
              <a:alpha val="100000"/>
            </a:srgbClr>
          </a:solidFill>
          <a:ln w="10795">
            <a:solidFill>
              <a:srgbClr val="D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93792" y="2240280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D97A00"/>
                </a:solidFill>
                <a:latin typeface="Consolas" panose="020B0609020204030204"/>
              </a:rPr>
              <a:t>03  COMPLETE</a:t>
            </a:r>
            <a:endParaRPr sz="780" b="1" i="0">
              <a:solidFill>
                <a:srgbClr val="D97A00"/>
              </a:solidFill>
              <a:latin typeface="Consolas" panose="020B06090202040302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175504" y="2441448"/>
            <a:ext cx="174650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D97A00"/>
                </a:solidFill>
                <a:latin typeface="Segoe UI" panose="020B0502040204020203"/>
              </a:rPr>
              <a:t>OWID → GCB</a:t>
            </a:r>
            <a:endParaRPr sz="1220" b="1" i="0">
              <a:solidFill>
                <a:srgbClr val="D97A00"/>
              </a:solidFill>
              <a:latin typeface="Segoe UI" panose="020B0502040204020203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184648" y="2706624"/>
            <a:ext cx="172821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22034"/>
                </a:solidFill>
                <a:latin typeface="Segoe UI" panose="020B0502040204020203"/>
              </a:rPr>
              <a:t>Coal · gas · oil + provenance</a:t>
            </a:r>
            <a:endParaRPr sz="880" b="0" i="0">
              <a:solidFill>
                <a:srgbClr val="122034"/>
              </a:solidFill>
              <a:latin typeface="Segoe UI" panose="020B0502040204020203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7360920" y="2157984"/>
            <a:ext cx="1965960" cy="1005840"/>
          </a:xfrm>
          <a:prstGeom prst="roundRect">
            <a:avLst/>
          </a:prstGeom>
          <a:solidFill>
            <a:srgbClr val="F0F1FB">
              <a:alpha val="100000"/>
            </a:srgbClr>
          </a:solidFill>
          <a:ln w="10795">
            <a:solidFill>
              <a:srgbClr val="1F2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88936" y="2240280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2BE0"/>
                </a:solidFill>
                <a:latin typeface="Consolas" panose="020B0609020204030204"/>
              </a:rPr>
              <a:t>04  CORE CHECK</a:t>
            </a:r>
            <a:endParaRPr sz="780" b="1" i="0">
              <a:solidFill>
                <a:srgbClr val="1F2BE0"/>
              </a:solidFill>
              <a:latin typeface="Consolas" panose="020B0609020204030204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470648" y="2441448"/>
            <a:ext cx="174650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F2BE0"/>
                </a:solidFill>
                <a:latin typeface="Segoe UI" panose="020B0502040204020203"/>
              </a:rPr>
              <a:t>Complete measures</a:t>
            </a:r>
            <a:endParaRPr sz="1220" b="1" i="0">
              <a:solidFill>
                <a:srgbClr val="1F2BE0"/>
              </a:solidFill>
              <a:latin typeface="Segoe UI" panose="020B0502040204020203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479792" y="2722500"/>
            <a:ext cx="1728216" cy="288290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22034"/>
                </a:solidFill>
                <a:latin typeface="Segoe UI" panose="020B0502040204020203" charset="0"/>
                <a:cs typeface="Segoe UI" panose="020B0502040204020203" charset="0"/>
              </a:rPr>
              <a:t>Total + population</a:t>
            </a:r>
            <a:endParaRPr sz="880" b="0" i="0">
              <a:solidFill>
                <a:srgbClr val="122034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22034"/>
                </a:solidFill>
                <a:latin typeface="Segoe UI" panose="020B0502040204020203" charset="0"/>
                <a:cs typeface="Segoe UI" panose="020B0502040204020203" charset="0"/>
              </a:rPr>
              <a:t>Per-capita + growth</a:t>
            </a:r>
            <a:endParaRPr sz="880" b="0" i="0">
              <a:solidFill>
                <a:srgbClr val="12203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9656064" y="2157984"/>
            <a:ext cx="1965960" cy="1005840"/>
          </a:xfrm>
          <a:prstGeom prst="roundRect">
            <a:avLst/>
          </a:prstGeom>
          <a:solidFill>
            <a:srgbClr val="E8F3EE">
              <a:alpha val="100000"/>
            </a:srgbClr>
          </a:solidFill>
          <a:ln w="10795">
            <a:solidFill>
              <a:srgbClr val="0088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84080" y="2240280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8863"/>
                </a:solidFill>
                <a:latin typeface="Consolas" panose="020B0609020204030204"/>
              </a:rPr>
              <a:t>05  ENGINEER</a:t>
            </a:r>
            <a:endParaRPr sz="780" b="1" i="0">
              <a:solidFill>
                <a:srgbClr val="008863"/>
              </a:solidFill>
              <a:latin typeface="Consolas" panose="020B0609020204030204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765792" y="2441448"/>
            <a:ext cx="174650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08863"/>
                </a:solidFill>
                <a:latin typeface="Segoe UI" panose="020B0502040204020203"/>
              </a:rPr>
              <a:t>Analysis fields</a:t>
            </a:r>
            <a:endParaRPr sz="1220" b="1" i="0">
              <a:solidFill>
                <a:srgbClr val="008863"/>
              </a:solidFill>
              <a:latin typeface="Segoe UI" panose="020B0502040204020203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774936" y="2706624"/>
            <a:ext cx="172821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22034"/>
                </a:solidFill>
                <a:latin typeface="Segoe UI" panose="020B0502040204020203"/>
              </a:rPr>
              <a:t>Fuel shares + interpretation flags</a:t>
            </a:r>
            <a:endParaRPr sz="880" b="0" i="0">
              <a:solidFill>
                <a:srgbClr val="122034"/>
              </a:solidFill>
              <a:latin typeface="Segoe UI" panose="020B0502040204020203"/>
            </a:endParaRPr>
          </a:p>
        </p:txBody>
      </p:sp>
      <p:cxnSp>
        <p:nvCxnSpPr>
          <p:cNvPr id="92" name="Connector 91"/>
          <p:cNvCxnSpPr/>
          <p:nvPr/>
        </p:nvCxnSpPr>
        <p:spPr>
          <a:xfrm>
            <a:off x="2459736" y="2660904"/>
            <a:ext cx="201168" cy="0"/>
          </a:xfrm>
          <a:prstGeom prst="line">
            <a:avLst/>
          </a:prstGeom>
          <a:ln w="15875">
            <a:solidFill>
              <a:srgbClr val="1F2BE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54880" y="2660904"/>
            <a:ext cx="201168" cy="0"/>
          </a:xfrm>
          <a:prstGeom prst="line">
            <a:avLst/>
          </a:prstGeom>
          <a:ln w="15875">
            <a:solidFill>
              <a:srgbClr val="1F2BE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050024" y="2660904"/>
            <a:ext cx="201168" cy="0"/>
          </a:xfrm>
          <a:prstGeom prst="line">
            <a:avLst/>
          </a:prstGeom>
          <a:ln w="15875">
            <a:solidFill>
              <a:srgbClr val="1F2BE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345168" y="2660904"/>
            <a:ext cx="201168" cy="0"/>
          </a:xfrm>
          <a:prstGeom prst="line">
            <a:avLst/>
          </a:prstGeom>
          <a:ln w="15875">
            <a:solidFill>
              <a:srgbClr val="1F2BE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48640" y="3218688"/>
            <a:ext cx="1104595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66274"/>
                </a:solidFill>
                <a:latin typeface="Consolas" panose="020B0609020204030204"/>
              </a:rPr>
              <a:t>Priority: observed OWID value  →  GCB value  →  verified zero.  Existing OWID values are never overwritten.</a:t>
            </a:r>
            <a:endParaRPr sz="840" b="0" i="0">
              <a:solidFill>
                <a:srgbClr val="566274"/>
              </a:solidFill>
              <a:latin typeface="Consolas" panose="020B0609020204030204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475488" y="3547872"/>
            <a:ext cx="2487168" cy="749808"/>
          </a:xfrm>
          <a:prstGeom prst="roundRect">
            <a:avLst/>
          </a:prstGeom>
          <a:solidFill>
            <a:srgbClr val="FFFFFF">
              <a:alpha val="92000"/>
            </a:srgbClr>
          </a:solidFill>
          <a:ln w="8255">
            <a:solidFill>
              <a:srgbClr val="1F2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5216" y="3639312"/>
            <a:ext cx="226771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BE0"/>
                </a:solidFill>
                <a:latin typeface="Georgia" panose="02040502050405020303"/>
              </a:rPr>
              <a:t>6,378</a:t>
            </a:r>
            <a:endParaRPr sz="1800" b="1" i="0">
              <a:solidFill>
                <a:srgbClr val="1F2BE0"/>
              </a:solidFill>
              <a:latin typeface="Georgia" panose="02040502050405020303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85216" y="3986784"/>
            <a:ext cx="226771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66274"/>
                </a:solidFill>
                <a:latin typeface="Consolas" panose="020B0609020204030204"/>
              </a:rPr>
              <a:t>ENTITY–YEAR ROWS</a:t>
            </a:r>
            <a:endParaRPr sz="800" b="1" i="0">
              <a:solidFill>
                <a:srgbClr val="566274"/>
              </a:solidFill>
              <a:latin typeface="Consolas" panose="020B0609020204030204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3337560" y="3547872"/>
            <a:ext cx="2487168" cy="749808"/>
          </a:xfrm>
          <a:prstGeom prst="roundRect">
            <a:avLst/>
          </a:prstGeom>
          <a:solidFill>
            <a:srgbClr val="FFFFFF">
              <a:alpha val="92000"/>
            </a:srgbClr>
          </a:solidFill>
          <a:ln w="8255">
            <a:solidFill>
              <a:srgbClr val="1F2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447288" y="3639312"/>
            <a:ext cx="226771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BE0"/>
                </a:solidFill>
                <a:latin typeface="Georgia" panose="02040502050405020303"/>
              </a:rPr>
              <a:t>213</a:t>
            </a:r>
            <a:endParaRPr sz="1800" b="1" i="0">
              <a:solidFill>
                <a:srgbClr val="1F2BE0"/>
              </a:solidFill>
              <a:latin typeface="Georgia" panose="02040502050405020303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3447288" y="3986784"/>
            <a:ext cx="226771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66274"/>
                </a:solidFill>
                <a:latin typeface="Consolas" panose="020B0609020204030204"/>
              </a:rPr>
              <a:t>ISO ENTITIES</a:t>
            </a:r>
            <a:endParaRPr sz="800" b="1" i="0">
              <a:solidFill>
                <a:srgbClr val="566274"/>
              </a:solidFill>
              <a:latin typeface="Consolas" panose="020B0609020204030204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6199632" y="3547872"/>
            <a:ext cx="2487168" cy="749808"/>
          </a:xfrm>
          <a:prstGeom prst="roundRect">
            <a:avLst/>
          </a:prstGeom>
          <a:solidFill>
            <a:srgbClr val="FFFFFF">
              <a:alpha val="92000"/>
            </a:srgbClr>
          </a:solidFill>
          <a:ln w="8255">
            <a:solidFill>
              <a:srgbClr val="1F2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09360" y="3639312"/>
            <a:ext cx="226771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BE0"/>
                </a:solidFill>
                <a:latin typeface="Georgia" panose="02040502050405020303"/>
              </a:rPr>
              <a:t>30</a:t>
            </a:r>
            <a:endParaRPr sz="1800" b="1" i="0">
              <a:solidFill>
                <a:srgbClr val="1F2BE0"/>
              </a:solidFill>
              <a:latin typeface="Georgia" panose="02040502050405020303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6309360" y="3986784"/>
            <a:ext cx="226771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66274"/>
                </a:solidFill>
                <a:latin typeface="Consolas" panose="020B0609020204030204"/>
              </a:rPr>
              <a:t>YEARS</a:t>
            </a:r>
            <a:endParaRPr sz="800" b="1" i="0">
              <a:solidFill>
                <a:srgbClr val="566274"/>
              </a:solidFill>
              <a:latin typeface="Consolas" panose="020B0609020204030204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9061704" y="3547872"/>
            <a:ext cx="2487168" cy="749808"/>
          </a:xfrm>
          <a:prstGeom prst="roundRect">
            <a:avLst/>
          </a:prstGeom>
          <a:solidFill>
            <a:srgbClr val="FFFFFF">
              <a:alpha val="92000"/>
            </a:srgbClr>
          </a:solidFill>
          <a:ln w="8255">
            <a:solidFill>
              <a:srgbClr val="1F2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171432" y="3639312"/>
            <a:ext cx="226771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BE0"/>
                </a:solidFill>
                <a:latin typeface="Georgia" panose="02040502050405020303"/>
              </a:rPr>
              <a:t>22</a:t>
            </a:r>
            <a:endParaRPr sz="1800" b="1" i="0">
              <a:solidFill>
                <a:srgbClr val="1F2BE0"/>
              </a:solidFill>
              <a:latin typeface="Georgia" panose="02040502050405020303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9171432" y="3986784"/>
            <a:ext cx="226771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66274"/>
                </a:solidFill>
                <a:latin typeface="Consolas" panose="020B0609020204030204"/>
              </a:rPr>
              <a:t>ANALYSIS VARIABLES</a:t>
            </a:r>
            <a:endParaRPr sz="800" b="1" i="0">
              <a:solidFill>
                <a:srgbClr val="566274"/>
              </a:solidFill>
              <a:latin typeface="Consolas" panose="020B0609020204030204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475488" y="4489704"/>
            <a:ext cx="6839712" cy="1051560"/>
          </a:xfrm>
          <a:prstGeom prst="roundRect">
            <a:avLst/>
          </a:prstGeom>
          <a:solidFill>
            <a:srgbClr val="FFFFFF">
              <a:alpha val="90000"/>
            </a:srgbClr>
          </a:solidFill>
          <a:ln w="7620">
            <a:solidFill>
              <a:srgbClr val="1F2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58368" y="4590288"/>
            <a:ext cx="13716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BE0"/>
                </a:solidFill>
                <a:latin typeface="Consolas" panose="020B0609020204030204"/>
              </a:rPr>
              <a:t>FUEL PROVENANCE</a:t>
            </a:r>
            <a:endParaRPr sz="800" b="1" i="0">
              <a:solidFill>
                <a:srgbClr val="1F2BE0"/>
              </a:solidFill>
              <a:latin typeface="Consolas" panose="020B0609020204030204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667512" y="4892040"/>
            <a:ext cx="3140195" cy="182880"/>
          </a:xfrm>
          <a:prstGeom prst="rect">
            <a:avLst/>
          </a:prstGeom>
          <a:solidFill>
            <a:srgbClr val="0073B4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807707" y="4892040"/>
            <a:ext cx="3242316" cy="182880"/>
          </a:xfrm>
          <a:prstGeom prst="rect">
            <a:avLst/>
          </a:prstGeom>
          <a:solidFill>
            <a:srgbClr val="D97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58368" y="5120640"/>
            <a:ext cx="30632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3B4"/>
                </a:solidFill>
                <a:latin typeface="Segoe UI" panose="020B0502040204020203"/>
              </a:rPr>
              <a:t>49.2% already complete in OWID</a:t>
            </a:r>
            <a:endParaRPr sz="880" b="1" i="0">
              <a:solidFill>
                <a:srgbClr val="0073B4"/>
              </a:solidFill>
              <a:latin typeface="Segoe UI" panose="020B0502040204020203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3767328" y="512064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D97A00"/>
                </a:solidFill>
                <a:latin typeface="Segoe UI" panose="020B0502040204020203"/>
              </a:rPr>
              <a:t>50.8% gain ≥1 completed fuel component</a:t>
            </a:r>
            <a:endParaRPr sz="880" b="1" i="0">
              <a:solidFill>
                <a:srgbClr val="D97A00"/>
              </a:solidFill>
              <a:latin typeface="Segoe UI" panose="020B0502040204020203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7516368" y="4489704"/>
            <a:ext cx="4160520" cy="1051560"/>
          </a:xfrm>
          <a:prstGeom prst="roundRect">
            <a:avLst/>
          </a:prstGeom>
          <a:solidFill>
            <a:srgbClr val="FFFFFF">
              <a:alpha val="90000"/>
            </a:srgbClr>
          </a:solidFill>
          <a:ln w="7620">
            <a:solidFill>
              <a:srgbClr val="1F2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699248" y="4590288"/>
            <a:ext cx="2057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BE0"/>
                </a:solidFill>
                <a:latin typeface="Consolas" panose="020B0609020204030204"/>
              </a:rPr>
              <a:t>WHAT THE PANEL SUPPORTS</a:t>
            </a:r>
            <a:endParaRPr sz="800" b="1" i="0">
              <a:solidFill>
                <a:srgbClr val="1F2BE0"/>
              </a:solidFill>
              <a:latin typeface="Consolas" panose="020B0609020204030204"/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7699248" y="4882896"/>
            <a:ext cx="1700784" cy="228600"/>
          </a:xfrm>
          <a:prstGeom prst="roundRect">
            <a:avLst/>
          </a:prstGeom>
          <a:solidFill>
            <a:srgbClr val="F0F1FB">
              <a:alpha val="100000"/>
            </a:srgbClr>
          </a:solidFill>
          <a:ln w="6985">
            <a:solidFill>
              <a:srgbClr val="1F2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772400" y="4910328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2BE0"/>
                </a:solidFill>
                <a:latin typeface="Consolas" panose="020B0609020204030204"/>
              </a:rPr>
              <a:t>SCALE</a:t>
            </a:r>
            <a:endParaRPr sz="780" b="1" i="0">
              <a:solidFill>
                <a:srgbClr val="1F2BE0"/>
              </a:solidFill>
              <a:latin typeface="Consolas" panose="020B0609020204030204"/>
            </a:endParaRPr>
          </a:p>
        </p:txBody>
      </p:sp>
      <p:sp>
        <p:nvSpPr>
          <p:cNvPr id="119" name="Rounded Rectangle 118"/>
          <p:cNvSpPr/>
          <p:nvPr/>
        </p:nvSpPr>
        <p:spPr>
          <a:xfrm>
            <a:off x="9646920" y="4882896"/>
            <a:ext cx="1700784" cy="228600"/>
          </a:xfrm>
          <a:prstGeom prst="roundRect">
            <a:avLst/>
          </a:prstGeom>
          <a:solidFill>
            <a:srgbClr val="F0F1FB">
              <a:alpha val="100000"/>
            </a:srgbClr>
          </a:solidFill>
          <a:ln w="6985">
            <a:solidFill>
              <a:srgbClr val="1F2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720072" y="4910328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2BE0"/>
                </a:solidFill>
                <a:latin typeface="Consolas" panose="020B0609020204030204"/>
              </a:rPr>
              <a:t>INTENSITY</a:t>
            </a:r>
            <a:endParaRPr sz="780" b="1" i="0">
              <a:solidFill>
                <a:srgbClr val="1F2BE0"/>
              </a:solidFill>
              <a:latin typeface="Consolas" panose="020B0609020204030204"/>
            </a:endParaRPr>
          </a:p>
        </p:txBody>
      </p:sp>
      <p:sp>
        <p:nvSpPr>
          <p:cNvPr id="121" name="Rounded Rectangle 120"/>
          <p:cNvSpPr/>
          <p:nvPr/>
        </p:nvSpPr>
        <p:spPr>
          <a:xfrm>
            <a:off x="7699248" y="5193792"/>
            <a:ext cx="1700784" cy="228600"/>
          </a:xfrm>
          <a:prstGeom prst="roundRect">
            <a:avLst/>
          </a:prstGeom>
          <a:solidFill>
            <a:srgbClr val="F0F1FB">
              <a:alpha val="100000"/>
            </a:srgbClr>
          </a:solidFill>
          <a:ln w="6985">
            <a:solidFill>
              <a:srgbClr val="1F2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772400" y="5221224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2BE0"/>
                </a:solidFill>
                <a:latin typeface="Consolas" panose="020B0609020204030204"/>
              </a:rPr>
              <a:t>DYNAMICS</a:t>
            </a:r>
            <a:endParaRPr sz="780" b="1" i="0">
              <a:solidFill>
                <a:srgbClr val="1F2BE0"/>
              </a:solidFill>
              <a:latin typeface="Consolas" panose="020B0609020204030204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9646920" y="5193792"/>
            <a:ext cx="1700784" cy="228600"/>
          </a:xfrm>
          <a:prstGeom prst="roundRect">
            <a:avLst/>
          </a:prstGeom>
          <a:solidFill>
            <a:srgbClr val="F0F1FB">
              <a:alpha val="100000"/>
            </a:srgbClr>
          </a:solidFill>
          <a:ln w="6985">
            <a:solidFill>
              <a:srgbClr val="1F2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20072" y="5221224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2BE0"/>
                </a:solidFill>
                <a:latin typeface="Consolas" panose="020B0609020204030204"/>
              </a:rPr>
              <a:t>FUEL MIX</a:t>
            </a:r>
            <a:endParaRPr sz="780" b="1" i="0">
              <a:solidFill>
                <a:srgbClr val="1F2BE0"/>
              </a:solidFill>
              <a:latin typeface="Consolas" panose="020B060902020403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475488" y="5687568"/>
            <a:ext cx="11201400" cy="438912"/>
          </a:xfrm>
          <a:prstGeom prst="roundRect">
            <a:avLst/>
          </a:prstGeom>
          <a:solidFill>
            <a:srgbClr val="F0F1FB">
              <a:alpha val="100000"/>
            </a:srgbClr>
          </a:solidFill>
          <a:ln w="6985">
            <a:solidFill>
              <a:srgbClr val="1F2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58952" y="5797296"/>
            <a:ext cx="146304" cy="146304"/>
          </a:xfrm>
          <a:prstGeom prst="ellipse">
            <a:avLst/>
          </a:prstGeom>
          <a:solidFill>
            <a:srgbClr val="1F2B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58952" y="5779008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Segoe UI" panose="020B0502040204020203"/>
              </a:rPr>
              <a:t>✓</a:t>
            </a:r>
            <a:endParaRPr sz="68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969264" y="5769864"/>
            <a:ext cx="28803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F2BE0"/>
                </a:solidFill>
                <a:latin typeface="Segoe UI" panose="020B0502040204020203"/>
              </a:rPr>
              <a:t>99.8% entity–year coverage</a:t>
            </a:r>
            <a:endParaRPr sz="880" b="1" i="0">
              <a:solidFill>
                <a:srgbClr val="1F2BE0"/>
              </a:solidFill>
              <a:latin typeface="Segoe UI" panose="020B0502040204020203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4251960" y="5797296"/>
            <a:ext cx="146304" cy="146304"/>
          </a:xfrm>
          <a:prstGeom prst="ellipse">
            <a:avLst/>
          </a:prstGeom>
          <a:solidFill>
            <a:srgbClr val="1F2B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251960" y="5779008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Segoe UI" panose="020B0502040204020203"/>
              </a:rPr>
              <a:t>✓</a:t>
            </a:r>
            <a:endParaRPr sz="68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4462272" y="5769864"/>
            <a:ext cx="28803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F2BE0"/>
                </a:solidFill>
                <a:latin typeface="Segoe UI" panose="020B0502040204020203"/>
              </a:rPr>
              <a:t>0 missing core measures</a:t>
            </a:r>
            <a:endParaRPr sz="880" b="1" i="0">
              <a:solidFill>
                <a:srgbClr val="1F2BE0"/>
              </a:solidFill>
              <a:latin typeface="Segoe UI" panose="020B0502040204020203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7726679" y="5797296"/>
            <a:ext cx="146304" cy="146304"/>
          </a:xfrm>
          <a:prstGeom prst="ellipse">
            <a:avLst/>
          </a:prstGeom>
          <a:solidFill>
            <a:srgbClr val="1F2BE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26679" y="5779008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Segoe UI" panose="020B0502040204020203"/>
              </a:rPr>
              <a:t>✓</a:t>
            </a:r>
            <a:endParaRPr sz="68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7936992" y="5769864"/>
            <a:ext cx="28803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F2BE0"/>
                </a:solidFill>
                <a:latin typeface="Segoe UI" panose="020B0502040204020203"/>
              </a:rPr>
              <a:t>3 fuel-source fields retained</a:t>
            </a:r>
            <a:endParaRPr sz="880" b="1" i="0">
              <a:solidFill>
                <a:srgbClr val="1F2BE0"/>
              </a:solidFill>
              <a:latin typeface="Segoe UI" panose="020B0502040204020203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530352" y="6199632"/>
            <a:ext cx="1106424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66274"/>
                </a:solidFill>
                <a:latin typeface="Consolas" panose="020B0609020204030204"/>
              </a:rPr>
              <a:t>Output: co2_panel_1992_2021.csv  ·  one row = one ISO-coded entity in one year</a:t>
            </a:r>
            <a:endParaRPr sz="670" b="0" i="0">
              <a:solidFill>
                <a:srgbClr val="566274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GQ0MGQwMzljZTE0ZTg5YjY4YTg1OTEzZmNiZWMxM2I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1940</Words>
  <Application>WPS 演示</Application>
  <PresentationFormat>Converted Presentation</PresentationFormat>
  <Paragraphs>169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Arial</vt:lpstr>
      <vt:lpstr>Consolas</vt:lpstr>
      <vt:lpstr>Georgia</vt:lpstr>
      <vt:lpstr>Segoe UI</vt:lpstr>
      <vt:lpstr>Segoe UI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沈瑞庭</cp:lastModifiedBy>
  <cp:revision>19</cp:revision>
  <dcterms:created xsi:type="dcterms:W3CDTF">2026-08-26T17:04:00Z</dcterms:created>
  <dcterms:modified xsi:type="dcterms:W3CDTF">2026-08-29T07:21:37Z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7BC8E20DF30147EDB3E070AB1FAADAD9_13</vt:lpwstr>
  </property>
  <property fmtid="{D5CDD505-2E9C-101B-9397-08002B2CF9AE}" pid="3" name="KSOProductBuildVer">
    <vt:lpwstr>2052-12.1.0.18276</vt:lpwstr>
  </property>
</Properties>
</file>